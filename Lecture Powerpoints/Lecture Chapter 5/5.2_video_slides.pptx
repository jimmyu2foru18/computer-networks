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4"/>
    <p:sldMasterId id="214748365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6858000" cx="12192000"/>
  <p:notesSz cx="6858000" cy="9144000"/>
  <p:embeddedFontLst>
    <p:embeddedFont>
      <p:font typeface="Gill Sans"/>
      <p:regular r:id="rId51"/>
      <p:bold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56">
          <p15:clr>
            <a:srgbClr val="A4A3A4"/>
          </p15:clr>
        </p15:guide>
        <p15:guide id="2" pos="28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56" orient="horz"/>
        <p:guide pos="285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GillSans-regular.fntdata"/><Relationship Id="rId50" Type="http://schemas.openxmlformats.org/officeDocument/2006/relationships/slide" Target="slides/slide44.xml"/><Relationship Id="rId52" Type="http://schemas.openxmlformats.org/officeDocument/2006/relationships/font" Target="fonts/GillSans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2" name="Google Shape;6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7" name="Google Shape;7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6" name="Google Shape;7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7" name="Google Shape;7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0" name="Google Shape;7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3" name="Google Shape;8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4" name="Google Shape;95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9" name="Google Shape;107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7" name="Google Shape;119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8" name="Google Shape;132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3" name="Google Shape;145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6" name="Google Shape;158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7" name="Google Shape;171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2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4" name="Google Shape;185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5" name="Google Shape;185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7" name="Shape 1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Google Shape;198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9" name="Google Shape;198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0" name="Google Shape;199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9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1" name="Google Shape;212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2" name="Google Shape;212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3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5" name="Google Shape;227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6" name="Google Shape;227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3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5" name="Google Shape;243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6" name="Google Shape;243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1" name="Shape 2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2" name="Google Shape;244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3" name="Google Shape;244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4" name="Google Shape;244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2" name="Shape 2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" name="Google Shape;269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4" name="Google Shape;269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5" name="Google Shape;2695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5" name="Shape 2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6" name="Google Shape;270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7" name="Google Shape;270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8" name="Google Shape;2708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5" name="Shape 2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6" name="Google Shape;272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7" name="Google Shape;272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8" name="Google Shape;272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1" name="Shape 2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2" name="Google Shape;283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3" name="Google Shape;283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4" name="Google Shape;2834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2" name="Shape 2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3" name="Google Shape;284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4" name="Google Shape;284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5" name="Google Shape;284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3" name="Shape 2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4" name="Google Shape;286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5" name="Google Shape;286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6" name="Google Shape;286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2" name="Shape 3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3" name="Google Shape;303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4" name="Google Shape;303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5" name="Google Shape;303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7" name="Shape 3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8" name="Google Shape;318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9" name="Google Shape;318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0" name="Google Shape;3190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8" name="Shape 3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9" name="Google Shape;334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0" name="Google Shape;335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1" name="Google Shape;3351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3" name="Shape 3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4" name="Google Shape;350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5" name="Google Shape;350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6" name="Google Shape;350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8" name="Shape 3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9" name="Google Shape;3659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0" name="Google Shape;366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1" name="Google Shape;3661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9" name="Shape 3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0" name="Google Shape;382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1" name="Google Shape;382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2" name="Google Shape;3822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4" name="Shape 3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5" name="Google Shape;3975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6" name="Google Shape;397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7" name="Google Shape;3977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1" name="Shape 3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2" name="Google Shape;398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3" name="Google Shape;3983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4" name="Google Shape;3984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4" name="Shape 4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5" name="Google Shape;4175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6" name="Google Shape;4176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7" name="Google Shape;4177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9" name="Shape 4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0" name="Google Shape;439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1" name="Google Shape;439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2" name="Google Shape;4392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4" name="Shape 4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5" name="Google Shape;4565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6" name="Google Shape;4566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7" name="Google Shape;4567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8" name="Shape 4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9" name="Google Shape;473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0" name="Google Shape;474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1" name="Google Shape;4741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2" name="Shape 4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3" name="Google Shape;4923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4" name="Google Shape;4924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5" name="Google Shape;4925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2" name="Shape 5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3" name="Google Shape;5173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4" name="Google Shape;5174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5" name="Google Shape;5175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9" name="Shape 5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0" name="Google Shape;5220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1" name="Google Shape;5221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2" name="Google Shape;5222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8" name="Shape 5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9" name="Google Shape;5269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0" name="Google Shape;5270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1" name="Google Shape;5271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0.jp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17.png"/><Relationship Id="rId11" Type="http://schemas.openxmlformats.org/officeDocument/2006/relationships/image" Target="../media/image7.png"/><Relationship Id="rId22" Type="http://schemas.openxmlformats.org/officeDocument/2006/relationships/image" Target="../media/image28.png"/><Relationship Id="rId10" Type="http://schemas.openxmlformats.org/officeDocument/2006/relationships/image" Target="../media/image34.png"/><Relationship Id="rId21" Type="http://schemas.openxmlformats.org/officeDocument/2006/relationships/image" Target="../media/image19.png"/><Relationship Id="rId13" Type="http://schemas.openxmlformats.org/officeDocument/2006/relationships/image" Target="../media/image13.png"/><Relationship Id="rId12" Type="http://schemas.openxmlformats.org/officeDocument/2006/relationships/image" Target="../media/image11.png"/><Relationship Id="rId23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3.png"/><Relationship Id="rId4" Type="http://schemas.openxmlformats.org/officeDocument/2006/relationships/image" Target="../media/image3.png"/><Relationship Id="rId9" Type="http://schemas.openxmlformats.org/officeDocument/2006/relationships/image" Target="../media/image10.png"/><Relationship Id="rId15" Type="http://schemas.openxmlformats.org/officeDocument/2006/relationships/image" Target="../media/image8.png"/><Relationship Id="rId14" Type="http://schemas.openxmlformats.org/officeDocument/2006/relationships/image" Target="../media/image5.png"/><Relationship Id="rId17" Type="http://schemas.openxmlformats.org/officeDocument/2006/relationships/image" Target="../media/image14.png"/><Relationship Id="rId16" Type="http://schemas.openxmlformats.org/officeDocument/2006/relationships/image" Target="../media/image9.png"/><Relationship Id="rId5" Type="http://schemas.openxmlformats.org/officeDocument/2006/relationships/image" Target="../media/image35.png"/><Relationship Id="rId19" Type="http://schemas.openxmlformats.org/officeDocument/2006/relationships/image" Target="../media/image21.png"/><Relationship Id="rId6" Type="http://schemas.openxmlformats.org/officeDocument/2006/relationships/image" Target="../media/image2.png"/><Relationship Id="rId18" Type="http://schemas.openxmlformats.org/officeDocument/2006/relationships/image" Target="../media/image16.png"/><Relationship Id="rId7" Type="http://schemas.openxmlformats.org/officeDocument/2006/relationships/image" Target="../media/image25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40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title"/>
          </p:nvPr>
        </p:nvSpPr>
        <p:spPr>
          <a:xfrm>
            <a:off x="580529" y="65042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6000"/>
              <a:t>Network Layer:</a:t>
            </a:r>
            <a:br>
              <a:rPr lang="en-US" sz="6000"/>
            </a:br>
            <a:r>
              <a:rPr lang="en-US" sz="6000"/>
              <a:t>Control Plane</a:t>
            </a:r>
            <a:endParaRPr sz="6000"/>
          </a:p>
        </p:txBody>
      </p:sp>
      <p:sp>
        <p:nvSpPr>
          <p:cNvPr id="55" name="Google Shape;55;p11"/>
          <p:cNvSpPr txBox="1"/>
          <p:nvPr>
            <p:ph idx="2" type="body"/>
          </p:nvPr>
        </p:nvSpPr>
        <p:spPr>
          <a:xfrm>
            <a:off x="661015" y="2338373"/>
            <a:ext cx="871692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638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</a:rPr>
              <a:t>introduction</a:t>
            </a:r>
            <a:endParaRPr/>
          </a:p>
          <a:p>
            <a:pPr indent="-274638" lvl="0" marL="2857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ct val="100000"/>
              <a:buChar char="▪"/>
            </a:pPr>
            <a:r>
              <a:rPr lang="en-US" sz="3600">
                <a:solidFill>
                  <a:srgbClr val="000000"/>
                </a:solidFill>
              </a:rPr>
              <a:t>routing algorithms</a:t>
            </a:r>
            <a:endParaRPr/>
          </a:p>
          <a:p>
            <a:pPr indent="-273050" lvl="1" marL="7461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 sz="3200">
                <a:solidFill>
                  <a:srgbClr val="000000"/>
                </a:solidFill>
              </a:rPr>
              <a:t>link state</a:t>
            </a:r>
            <a:endParaRPr/>
          </a:p>
          <a:p>
            <a:pPr indent="-273050" lvl="1" marL="7461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 sz="3200">
                <a:solidFill>
                  <a:srgbClr val="000000"/>
                </a:solidFill>
              </a:rPr>
              <a:t>distance vector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</a:rPr>
              <a:t>intra-ISP routing: OSPF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</a:rPr>
              <a:t>routing among ISPs: BGP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</a:rPr>
              <a:t>SDN control plane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</a:rPr>
              <a:t>Internet Control Message Protocol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</a:rPr>
              <a:t>Network management, configuration</a:t>
            </a:r>
            <a:endParaRPr/>
          </a:p>
          <a:p>
            <a:pPr indent="-121284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None/>
            </a:pPr>
            <a:r>
              <a:t/>
            </a:r>
            <a:endParaRPr>
              <a:solidFill>
                <a:srgbClr val="BFBFBF"/>
              </a:solidFill>
            </a:endParaRPr>
          </a:p>
        </p:txBody>
      </p:sp>
      <p:grpSp>
        <p:nvGrpSpPr>
          <p:cNvPr id="56" name="Google Shape;56;p11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57" name="Google Shape;57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11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59" name="Google Shape;59;p11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60" name="Google Shape;60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" name="Google Shape;61;p11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" type="body"/>
          </p:nvPr>
        </p:nvSpPr>
        <p:spPr>
          <a:xfrm>
            <a:off x="749710" y="1443808"/>
            <a:ext cx="603454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>
                <a:solidFill>
                  <a:srgbClr val="C00000"/>
                </a:solidFill>
              </a:rPr>
              <a:t>Routing</a:t>
            </a:r>
            <a:r>
              <a:rPr lang="en-US">
                <a:solidFill>
                  <a:srgbClr val="C00000"/>
                </a:solidFill>
              </a:rPr>
              <a:t> algorithm goal: </a:t>
            </a:r>
            <a:r>
              <a:rPr lang="en-US"/>
              <a:t>determine “good” paths (equivalently, routes), from sending hosts to receiving host, through network of routers</a:t>
            </a:r>
            <a:endParaRPr/>
          </a:p>
          <a:p>
            <a:pPr indent="-277813" lvl="0" marL="4079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C00000"/>
                </a:solidFill>
              </a:rPr>
              <a:t>path: </a:t>
            </a:r>
            <a:r>
              <a:rPr lang="en-US"/>
              <a:t>sequence of routers packets traverse from given initial source host to final destination host</a:t>
            </a:r>
            <a:endParaRPr/>
          </a:p>
          <a:p>
            <a:pPr indent="-277813" lvl="0" marL="4079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C00000"/>
                </a:solidFill>
              </a:rPr>
              <a:t>“good”: </a:t>
            </a:r>
            <a:r>
              <a:rPr lang="en-US"/>
              <a:t>least “cost”, “fastest”, “least congested”</a:t>
            </a:r>
            <a:endParaRPr/>
          </a:p>
          <a:p>
            <a:pPr indent="-277813" lvl="0" marL="4079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routing: a “top-10” networking challenge!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8" name="Google Shape;68;p12"/>
          <p:cNvSpPr txBox="1"/>
          <p:nvPr>
            <p:ph type="title"/>
          </p:nvPr>
        </p:nvSpPr>
        <p:spPr>
          <a:xfrm>
            <a:off x="838200" y="33383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Routing algorithm</a:t>
            </a:r>
            <a:endParaRPr/>
          </a:p>
        </p:txBody>
      </p:sp>
      <p:sp>
        <p:nvSpPr>
          <p:cNvPr id="69" name="Google Shape;69;p12"/>
          <p:cNvSpPr/>
          <p:nvPr/>
        </p:nvSpPr>
        <p:spPr>
          <a:xfrm>
            <a:off x="9058928" y="2579084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2"/>
          <p:cNvSpPr/>
          <p:nvPr/>
        </p:nvSpPr>
        <p:spPr>
          <a:xfrm>
            <a:off x="7347816" y="1339341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" name="Google Shape;71;p12"/>
          <p:cNvGrpSpPr/>
          <p:nvPr/>
        </p:nvGrpSpPr>
        <p:grpSpPr>
          <a:xfrm>
            <a:off x="7279090" y="2802557"/>
            <a:ext cx="1458912" cy="933450"/>
            <a:chOff x="2889" y="1631"/>
            <a:chExt cx="980" cy="743"/>
          </a:xfrm>
        </p:grpSpPr>
        <p:sp>
          <p:nvSpPr>
            <p:cNvPr id="72" name="Google Shape;72;p12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2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" name="Google Shape;74;p12"/>
          <p:cNvSpPr/>
          <p:nvPr/>
        </p:nvSpPr>
        <p:spPr>
          <a:xfrm>
            <a:off x="7786141" y="4196440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2"/>
          <p:cNvSpPr txBox="1"/>
          <p:nvPr/>
        </p:nvSpPr>
        <p:spPr>
          <a:xfrm>
            <a:off x="7753014" y="1001767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76" name="Google Shape;76;p12"/>
          <p:cNvSpPr txBox="1"/>
          <p:nvPr/>
        </p:nvSpPr>
        <p:spPr>
          <a:xfrm>
            <a:off x="7380648" y="5293081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77" name="Google Shape;77;p12"/>
          <p:cNvSpPr/>
          <p:nvPr/>
        </p:nvSpPr>
        <p:spPr>
          <a:xfrm>
            <a:off x="10295886" y="2692846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8" name="Google Shape;78;p12"/>
          <p:cNvGrpSpPr/>
          <p:nvPr/>
        </p:nvGrpSpPr>
        <p:grpSpPr>
          <a:xfrm>
            <a:off x="10911440" y="3441356"/>
            <a:ext cx="687393" cy="721548"/>
            <a:chOff x="5203089" y="1751190"/>
            <a:chExt cx="858331" cy="662414"/>
          </a:xfrm>
        </p:grpSpPr>
        <p:sp>
          <p:nvSpPr>
            <p:cNvPr id="79" name="Google Shape;79;p12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12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1" name="Google Shape;81;p12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" name="Google Shape;82;p12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" name="Google Shape;83;p12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" name="Google Shape;84;p12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5" name="Google Shape;85;p12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86" name="Google Shape;86;p12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87" name="Google Shape;87;p12"/>
          <p:cNvGrpSpPr/>
          <p:nvPr/>
        </p:nvGrpSpPr>
        <p:grpSpPr>
          <a:xfrm>
            <a:off x="10844911" y="2707477"/>
            <a:ext cx="594613" cy="648336"/>
            <a:chOff x="5203089" y="1751190"/>
            <a:chExt cx="858331" cy="662414"/>
          </a:xfrm>
        </p:grpSpPr>
        <p:sp>
          <p:nvSpPr>
            <p:cNvPr id="88" name="Google Shape;88;p12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2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0" name="Google Shape;90;p12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1" name="Google Shape;91;p12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" name="Google Shape;92;p12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3" name="Google Shape;93;p12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" name="Google Shape;94;p12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" name="Google Shape;95;p12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6" name="Google Shape;96;p12"/>
          <p:cNvSpPr/>
          <p:nvPr/>
        </p:nvSpPr>
        <p:spPr>
          <a:xfrm>
            <a:off x="9614553" y="1295348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9500941" y="1364501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98" name="Google Shape;98;p12"/>
          <p:cNvSpPr/>
          <p:nvPr/>
        </p:nvSpPr>
        <p:spPr>
          <a:xfrm>
            <a:off x="9352808" y="3191214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10991507" y="4191243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cxnSp>
        <p:nvCxnSpPr>
          <p:cNvPr id="100" name="Google Shape;100;p12"/>
          <p:cNvCxnSpPr/>
          <p:nvPr/>
        </p:nvCxnSpPr>
        <p:spPr>
          <a:xfrm rot="10800000">
            <a:off x="10633660" y="3093431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" name="Google Shape;101;p12"/>
          <p:cNvCxnSpPr/>
          <p:nvPr/>
        </p:nvCxnSpPr>
        <p:spPr>
          <a:xfrm rot="10800000">
            <a:off x="10734575" y="3153990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" name="Google Shape;102;p12"/>
          <p:cNvCxnSpPr/>
          <p:nvPr/>
        </p:nvCxnSpPr>
        <p:spPr>
          <a:xfrm flipH="1" rot="10800000">
            <a:off x="10710637" y="3146727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" name="Google Shape;103;p12"/>
          <p:cNvCxnSpPr/>
          <p:nvPr/>
        </p:nvCxnSpPr>
        <p:spPr>
          <a:xfrm rot="10800000">
            <a:off x="10644514" y="3108202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" name="Google Shape;104;p12"/>
          <p:cNvCxnSpPr/>
          <p:nvPr/>
        </p:nvCxnSpPr>
        <p:spPr>
          <a:xfrm rot="10800000">
            <a:off x="10624360" y="3584948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" name="Google Shape;105;p12"/>
          <p:cNvCxnSpPr/>
          <p:nvPr/>
        </p:nvCxnSpPr>
        <p:spPr>
          <a:xfrm rot="10800000">
            <a:off x="9968935" y="3601048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6" name="Google Shape;106;p12"/>
          <p:cNvCxnSpPr/>
          <p:nvPr/>
        </p:nvCxnSpPr>
        <p:spPr>
          <a:xfrm rot="10800000">
            <a:off x="9293356" y="3601048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" name="Google Shape;107;p12"/>
          <p:cNvCxnSpPr/>
          <p:nvPr/>
        </p:nvCxnSpPr>
        <p:spPr>
          <a:xfrm flipH="1">
            <a:off x="9350608" y="3020978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" name="Google Shape;108;p12"/>
          <p:cNvCxnSpPr/>
          <p:nvPr/>
        </p:nvCxnSpPr>
        <p:spPr>
          <a:xfrm>
            <a:off x="9806809" y="3020978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9" name="Google Shape;109;p12"/>
          <p:cNvCxnSpPr/>
          <p:nvPr/>
        </p:nvCxnSpPr>
        <p:spPr>
          <a:xfrm>
            <a:off x="10211408" y="2267998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" name="Google Shape;110;p12"/>
          <p:cNvCxnSpPr/>
          <p:nvPr/>
        </p:nvCxnSpPr>
        <p:spPr>
          <a:xfrm flipH="1">
            <a:off x="9872459" y="2208319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11" name="Google Shape;111;p12"/>
          <p:cNvGrpSpPr/>
          <p:nvPr/>
        </p:nvGrpSpPr>
        <p:grpSpPr>
          <a:xfrm>
            <a:off x="7635978" y="1640631"/>
            <a:ext cx="3578867" cy="3640284"/>
            <a:chOff x="7562238" y="2127325"/>
            <a:chExt cx="3578867" cy="3640284"/>
          </a:xfrm>
        </p:grpSpPr>
        <p:grpSp>
          <p:nvGrpSpPr>
            <p:cNvPr id="112" name="Google Shape;112;p12"/>
            <p:cNvGrpSpPr/>
            <p:nvPr/>
          </p:nvGrpSpPr>
          <p:grpSpPr>
            <a:xfrm>
              <a:off x="7857253" y="2127325"/>
              <a:ext cx="3283852" cy="3640284"/>
              <a:chOff x="7881336" y="2104198"/>
              <a:chExt cx="3283852" cy="3640284"/>
            </a:xfrm>
          </p:grpSpPr>
          <p:cxnSp>
            <p:nvCxnSpPr>
              <p:cNvPr id="113" name="Google Shape;113;p12"/>
              <p:cNvCxnSpPr/>
              <p:nvPr/>
            </p:nvCxnSpPr>
            <p:spPr>
              <a:xfrm flipH="1" rot="5400000">
                <a:off x="9813692" y="5228612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" name="Google Shape;114;p12"/>
              <p:cNvCxnSpPr/>
              <p:nvPr/>
            </p:nvCxnSpPr>
            <p:spPr>
              <a:xfrm rot="10800000">
                <a:off x="10234009" y="5382159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" name="Google Shape;115;p12"/>
              <p:cNvCxnSpPr/>
              <p:nvPr/>
            </p:nvCxnSpPr>
            <p:spPr>
              <a:xfrm>
                <a:off x="9457042" y="4815390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12"/>
              <p:cNvCxnSpPr/>
              <p:nvPr/>
            </p:nvCxnSpPr>
            <p:spPr>
              <a:xfrm flipH="1" rot="10800000">
                <a:off x="8874149" y="4815390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12"/>
              <p:cNvCxnSpPr/>
              <p:nvPr/>
            </p:nvCxnSpPr>
            <p:spPr>
              <a:xfrm>
                <a:off x="8845827" y="5085749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" name="Google Shape;118;p12"/>
              <p:cNvCxnSpPr/>
              <p:nvPr/>
            </p:nvCxnSpPr>
            <p:spPr>
              <a:xfrm>
                <a:off x="8234290" y="5094207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" name="Google Shape;119;p12"/>
              <p:cNvCxnSpPr/>
              <p:nvPr/>
            </p:nvCxnSpPr>
            <p:spPr>
              <a:xfrm flipH="1" rot="10800000">
                <a:off x="7972450" y="5267343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0" name="Google Shape;120;p12"/>
              <p:cNvCxnSpPr/>
              <p:nvPr/>
            </p:nvCxnSpPr>
            <p:spPr>
              <a:xfrm flipH="1">
                <a:off x="8397900" y="5259125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" name="Google Shape;121;p12"/>
              <p:cNvCxnSpPr/>
              <p:nvPr/>
            </p:nvCxnSpPr>
            <p:spPr>
              <a:xfrm rot="10800000">
                <a:off x="8512814" y="5284804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" name="Google Shape;122;p12"/>
              <p:cNvCxnSpPr/>
              <p:nvPr/>
            </p:nvCxnSpPr>
            <p:spPr>
              <a:xfrm>
                <a:off x="8512814" y="5234921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" name="Google Shape;123;p12"/>
              <p:cNvCxnSpPr/>
              <p:nvPr/>
            </p:nvCxnSpPr>
            <p:spPr>
              <a:xfrm>
                <a:off x="8271861" y="3806843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" name="Google Shape;124;p12"/>
              <p:cNvCxnSpPr/>
              <p:nvPr/>
            </p:nvCxnSpPr>
            <p:spPr>
              <a:xfrm flipH="1" rot="10800000">
                <a:off x="7881336" y="4017980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" name="Google Shape;125;p12"/>
              <p:cNvCxnSpPr/>
              <p:nvPr/>
            </p:nvCxnSpPr>
            <p:spPr>
              <a:xfrm flipH="1" rot="5400000">
                <a:off x="9909628" y="5560344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" name="Google Shape;126;p12"/>
              <p:cNvCxnSpPr/>
              <p:nvPr/>
            </p:nvCxnSpPr>
            <p:spPr>
              <a:xfrm flipH="1" rot="10800000">
                <a:off x="8483508" y="5013435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" name="Google Shape;127;p12"/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8" name="Google Shape;128;p12"/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9" name="Google Shape;129;p12"/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0" name="Google Shape;130;p12"/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" name="Google Shape;131;p12"/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2" name="Google Shape;132;p12"/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3" name="Google Shape;133;p12"/>
              <p:cNvCxnSpPr/>
              <p:nvPr/>
            </p:nvCxnSpPr>
            <p:spPr>
              <a:xfrm rot="10800000">
                <a:off x="10706077" y="2695840"/>
                <a:ext cx="353541" cy="678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4" name="Google Shape;134;p12"/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5" name="Google Shape;135;p12"/>
              <p:cNvCxnSpPr/>
              <p:nvPr/>
            </p:nvCxnSpPr>
            <p:spPr>
              <a:xfrm flipH="1" rot="10800000">
                <a:off x="9402788" y="4090252"/>
                <a:ext cx="429324" cy="7056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" name="Google Shape;136;p12"/>
              <p:cNvCxnSpPr/>
              <p:nvPr/>
            </p:nvCxnSpPr>
            <p:spPr>
              <a:xfrm flipH="1" rot="10800000">
                <a:off x="8268637" y="4024329"/>
                <a:ext cx="969051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ntenna_radiation_stylized" id="137" name="Google Shape;137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38" name="Google Shape;13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ell_tower_radiation copy" id="139" name="Google Shape;139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" name="Google Shape;140;p12"/>
            <p:cNvSpPr/>
            <p:nvPr/>
          </p:nvSpPr>
          <p:spPr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1" name="Google Shape;141;p12"/>
          <p:cNvCxnSpPr/>
          <p:nvPr/>
        </p:nvCxnSpPr>
        <p:spPr>
          <a:xfrm>
            <a:off x="8281600" y="2213665"/>
            <a:ext cx="227964" cy="1743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2" name="Google Shape;142;p12"/>
          <p:cNvGrpSpPr/>
          <p:nvPr/>
        </p:nvGrpSpPr>
        <p:grpSpPr>
          <a:xfrm>
            <a:off x="8124438" y="1822682"/>
            <a:ext cx="298450" cy="464008"/>
            <a:chOff x="3130" y="3288"/>
            <a:chExt cx="410" cy="742"/>
          </a:xfrm>
        </p:grpSpPr>
        <p:cxnSp>
          <p:nvCxnSpPr>
            <p:cNvPr id="143" name="Google Shape;143;p12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12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" name="Google Shape;145;p12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" name="Google Shape;146;p12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" name="Google Shape;147;p12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" name="Google Shape;148;p12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" name="Google Shape;149;p12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12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" name="Google Shape;151;p12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" name="Google Shape;152;p12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" name="Google Shape;153;p12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" name="Google Shape;154;p12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12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12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" name="Google Shape;157;p12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access_point_stylized_small" id="158" name="Google Shape;158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87622" y="3375205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159" name="Google Shape;159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64350" y="5037538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" name="Google Shape;160;p12"/>
          <p:cNvGrpSpPr/>
          <p:nvPr/>
        </p:nvGrpSpPr>
        <p:grpSpPr>
          <a:xfrm>
            <a:off x="9923105" y="4852343"/>
            <a:ext cx="309740" cy="190838"/>
            <a:chOff x="3668110" y="2448910"/>
            <a:chExt cx="3794234" cy="2165130"/>
          </a:xfrm>
        </p:grpSpPr>
        <p:sp>
          <p:nvSpPr>
            <p:cNvPr id="161" name="Google Shape;161;p12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2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3" name="Google Shape;163;p12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64" name="Google Shape;164;p12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2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12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12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8" name="Google Shape;168;p12"/>
          <p:cNvGrpSpPr/>
          <p:nvPr/>
        </p:nvGrpSpPr>
        <p:grpSpPr>
          <a:xfrm>
            <a:off x="8750359" y="4480726"/>
            <a:ext cx="393760" cy="218578"/>
            <a:chOff x="7493876" y="2774731"/>
            <a:chExt cx="1481958" cy="894622"/>
          </a:xfrm>
        </p:grpSpPr>
        <p:sp>
          <p:nvSpPr>
            <p:cNvPr id="169" name="Google Shape;169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70" name="Google Shape;170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71" name="Google Shape;171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2" name="Google Shape;172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6" name="Google Shape;176;p12"/>
          <p:cNvGrpSpPr/>
          <p:nvPr/>
        </p:nvGrpSpPr>
        <p:grpSpPr>
          <a:xfrm>
            <a:off x="8385260" y="4707739"/>
            <a:ext cx="309740" cy="190838"/>
            <a:chOff x="3668110" y="2448910"/>
            <a:chExt cx="3794234" cy="2165130"/>
          </a:xfrm>
        </p:grpSpPr>
        <p:sp>
          <p:nvSpPr>
            <p:cNvPr id="177" name="Google Shape;177;p12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12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9" name="Google Shape;179;p12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80" name="Google Shape;180;p12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12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12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12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4" name="Google Shape;184;p12"/>
          <p:cNvGrpSpPr/>
          <p:nvPr/>
        </p:nvGrpSpPr>
        <p:grpSpPr>
          <a:xfrm>
            <a:off x="8513567" y="2325615"/>
            <a:ext cx="353678" cy="168275"/>
            <a:chOff x="7493876" y="2774731"/>
            <a:chExt cx="1481958" cy="894622"/>
          </a:xfrm>
        </p:grpSpPr>
        <p:sp>
          <p:nvSpPr>
            <p:cNvPr id="185" name="Google Shape;185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86" name="Google Shape;186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87" name="Google Shape;187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8" name="Google Shape;188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2" name="Google Shape;192;p12"/>
          <p:cNvGrpSpPr/>
          <p:nvPr/>
        </p:nvGrpSpPr>
        <p:grpSpPr>
          <a:xfrm>
            <a:off x="10957825" y="3114671"/>
            <a:ext cx="170989" cy="97052"/>
            <a:chOff x="7493876" y="2774731"/>
            <a:chExt cx="1481958" cy="894622"/>
          </a:xfrm>
        </p:grpSpPr>
        <p:sp>
          <p:nvSpPr>
            <p:cNvPr id="193" name="Google Shape;193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94" name="Google Shape;194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95" name="Google Shape;195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6" name="Google Shape;196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0" name="Google Shape;200;p12"/>
          <p:cNvGrpSpPr/>
          <p:nvPr/>
        </p:nvGrpSpPr>
        <p:grpSpPr>
          <a:xfrm>
            <a:off x="10484349" y="3009444"/>
            <a:ext cx="353678" cy="198344"/>
            <a:chOff x="7493876" y="2774731"/>
            <a:chExt cx="1481958" cy="894622"/>
          </a:xfrm>
        </p:grpSpPr>
        <p:sp>
          <p:nvSpPr>
            <p:cNvPr id="201" name="Google Shape;201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03" name="Google Shape;203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4" name="Google Shape;204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8" name="Google Shape;208;p12"/>
          <p:cNvGrpSpPr/>
          <p:nvPr/>
        </p:nvGrpSpPr>
        <p:grpSpPr>
          <a:xfrm>
            <a:off x="10022464" y="1715598"/>
            <a:ext cx="353678" cy="198344"/>
            <a:chOff x="7493876" y="2774731"/>
            <a:chExt cx="1481958" cy="894622"/>
          </a:xfrm>
        </p:grpSpPr>
        <p:sp>
          <p:nvSpPr>
            <p:cNvPr id="209" name="Google Shape;209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0" name="Google Shape;210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1" name="Google Shape;211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2" name="Google Shape;212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6" name="Google Shape;216;p12"/>
          <p:cNvGrpSpPr/>
          <p:nvPr/>
        </p:nvGrpSpPr>
        <p:grpSpPr>
          <a:xfrm>
            <a:off x="10600954" y="2126673"/>
            <a:ext cx="353678" cy="198344"/>
            <a:chOff x="7493876" y="2774731"/>
            <a:chExt cx="1481958" cy="894622"/>
          </a:xfrm>
        </p:grpSpPr>
        <p:sp>
          <p:nvSpPr>
            <p:cNvPr id="217" name="Google Shape;217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8" name="Google Shape;218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9" name="Google Shape;219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0" name="Google Shape;220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4" name="Google Shape;224;p12"/>
          <p:cNvGrpSpPr/>
          <p:nvPr/>
        </p:nvGrpSpPr>
        <p:grpSpPr>
          <a:xfrm>
            <a:off x="10717565" y="1621269"/>
            <a:ext cx="353678" cy="198344"/>
            <a:chOff x="7493876" y="2774731"/>
            <a:chExt cx="1481958" cy="894622"/>
          </a:xfrm>
        </p:grpSpPr>
        <p:sp>
          <p:nvSpPr>
            <p:cNvPr id="225" name="Google Shape;225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6" name="Google Shape;226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7" name="Google Shape;227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8" name="Google Shape;228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2" name="Google Shape;232;p12"/>
          <p:cNvGrpSpPr/>
          <p:nvPr/>
        </p:nvGrpSpPr>
        <p:grpSpPr>
          <a:xfrm>
            <a:off x="10053866" y="2174871"/>
            <a:ext cx="353678" cy="198344"/>
            <a:chOff x="7493876" y="2774731"/>
            <a:chExt cx="1481958" cy="894622"/>
          </a:xfrm>
        </p:grpSpPr>
        <p:sp>
          <p:nvSpPr>
            <p:cNvPr id="233" name="Google Shape;233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4" name="Google Shape;234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5" name="Google Shape;235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6" name="Google Shape;236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0" name="Google Shape;240;p12"/>
          <p:cNvGrpSpPr/>
          <p:nvPr/>
        </p:nvGrpSpPr>
        <p:grpSpPr>
          <a:xfrm>
            <a:off x="9570878" y="2907338"/>
            <a:ext cx="367224" cy="240304"/>
            <a:chOff x="7493876" y="2774731"/>
            <a:chExt cx="1481958" cy="894622"/>
          </a:xfrm>
        </p:grpSpPr>
        <p:sp>
          <p:nvSpPr>
            <p:cNvPr id="241" name="Google Shape;241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42" name="Google Shape;242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43" name="Google Shape;243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4" name="Google Shape;244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8" name="Google Shape;248;p12"/>
          <p:cNvGrpSpPr/>
          <p:nvPr/>
        </p:nvGrpSpPr>
        <p:grpSpPr>
          <a:xfrm>
            <a:off x="10448999" y="3505631"/>
            <a:ext cx="353678" cy="198344"/>
            <a:chOff x="7493876" y="2774731"/>
            <a:chExt cx="1481958" cy="894622"/>
          </a:xfrm>
        </p:grpSpPr>
        <p:sp>
          <p:nvSpPr>
            <p:cNvPr id="249" name="Google Shape;249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50" name="Google Shape;250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51" name="Google Shape;251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52" name="Google Shape;252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6" name="Google Shape;256;p12"/>
          <p:cNvGrpSpPr/>
          <p:nvPr/>
        </p:nvGrpSpPr>
        <p:grpSpPr>
          <a:xfrm>
            <a:off x="10999722" y="3882431"/>
            <a:ext cx="228295" cy="120400"/>
            <a:chOff x="7493876" y="2774731"/>
            <a:chExt cx="1481958" cy="894622"/>
          </a:xfrm>
        </p:grpSpPr>
        <p:sp>
          <p:nvSpPr>
            <p:cNvPr id="257" name="Google Shape;257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58" name="Google Shape;258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59" name="Google Shape;259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0" name="Google Shape;260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4" name="Google Shape;264;p12"/>
          <p:cNvGrpSpPr/>
          <p:nvPr/>
        </p:nvGrpSpPr>
        <p:grpSpPr>
          <a:xfrm>
            <a:off x="7512814" y="1869919"/>
            <a:ext cx="534987" cy="414882"/>
            <a:chOff x="7432700" y="2327293"/>
            <a:chExt cx="534987" cy="414882"/>
          </a:xfrm>
        </p:grpSpPr>
        <p:pic>
          <p:nvPicPr>
            <p:cNvPr descr="antenna_stylized" id="265" name="Google Shape;265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266" name="Google Shape;266;p1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12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268" name="Google Shape;268;p1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" name="Google Shape;269;p12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12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2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2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2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2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5" name="Google Shape;275;p12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276" name="Google Shape;276;p1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2" name="Google Shape;282;p12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2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2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2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2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2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8" name="Google Shape;288;p12"/>
          <p:cNvGrpSpPr/>
          <p:nvPr/>
        </p:nvGrpSpPr>
        <p:grpSpPr>
          <a:xfrm>
            <a:off x="8711521" y="1833033"/>
            <a:ext cx="530702" cy="478009"/>
            <a:chOff x="8631407" y="2290407"/>
            <a:chExt cx="530702" cy="478009"/>
          </a:xfrm>
        </p:grpSpPr>
        <p:pic>
          <p:nvPicPr>
            <p:cNvPr descr="light2.png" id="289" name="Google Shape;289;p1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90" name="Google Shape;290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1" name="Google Shape;291;p12"/>
          <p:cNvGrpSpPr/>
          <p:nvPr/>
        </p:nvGrpSpPr>
        <p:grpSpPr>
          <a:xfrm>
            <a:off x="8573279" y="1572430"/>
            <a:ext cx="849312" cy="226109"/>
            <a:chOff x="8493165" y="2029804"/>
            <a:chExt cx="849312" cy="226109"/>
          </a:xfrm>
        </p:grpSpPr>
        <p:pic>
          <p:nvPicPr>
            <p:cNvPr descr="car_icon_small" id="292" name="Google Shape;292;p1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93" name="Google Shape;293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4" name="Google Shape;294;p12"/>
          <p:cNvGrpSpPr/>
          <p:nvPr/>
        </p:nvGrpSpPr>
        <p:grpSpPr>
          <a:xfrm>
            <a:off x="7567258" y="2838730"/>
            <a:ext cx="857739" cy="583764"/>
            <a:chOff x="7487144" y="3296104"/>
            <a:chExt cx="857739" cy="583764"/>
          </a:xfrm>
        </p:grpSpPr>
        <p:grpSp>
          <p:nvGrpSpPr>
            <p:cNvPr id="295" name="Google Shape;295;p12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296" name="Google Shape;296;p12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297" name="Google Shape;297;p12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8" name="Google Shape;298;p12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299" name="Google Shape;299;p12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0" name="Google Shape;300;p12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12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12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12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12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p12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06" name="Google Shape;306;p12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307" name="Google Shape;307;p12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8" name="Google Shape;308;p12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9" name="Google Shape;309;p12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0" name="Google Shape;310;p12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" name="Google Shape;311;p12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2" name="Google Shape;312;p12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13" name="Google Shape;313;p12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12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315;p12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12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p12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p12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9" name="Google Shape;319;p12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320" name="Google Shape;320;p12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1" name="Google Shape;321;p12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2" name="Google Shape;322;p12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323" name="Google Shape;323;p12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24" name="Google Shape;324;p12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25" name="Google Shape;325;p12"/>
          <p:cNvGrpSpPr/>
          <p:nvPr/>
        </p:nvGrpSpPr>
        <p:grpSpPr>
          <a:xfrm>
            <a:off x="11138687" y="2941791"/>
            <a:ext cx="518448" cy="1212242"/>
            <a:chOff x="11058573" y="3399165"/>
            <a:chExt cx="518448" cy="1212242"/>
          </a:xfrm>
        </p:grpSpPr>
        <p:grpSp>
          <p:nvGrpSpPr>
            <p:cNvPr id="326" name="Google Shape;326;p12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27" name="Google Shape;327;p12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28" name="Google Shape;328;p12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329" name="Google Shape;329;p12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30" name="Google Shape;330;p12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31" name="Google Shape;331;p12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32" name="Google Shape;332;p12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33" name="Google Shape;333;p12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34" name="Google Shape;334;p12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335" name="Google Shape;335;p12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36" name="Google Shape;336;p12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37" name="Google Shape;337;p12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338" name="Google Shape;338;p12"/>
          <p:cNvGrpSpPr/>
          <p:nvPr/>
        </p:nvGrpSpPr>
        <p:grpSpPr>
          <a:xfrm flipH="1">
            <a:off x="8054595" y="4413467"/>
            <a:ext cx="345630" cy="320302"/>
            <a:chOff x="2839" y="3501"/>
            <a:chExt cx="755" cy="803"/>
          </a:xfrm>
        </p:grpSpPr>
        <p:pic>
          <p:nvPicPr>
            <p:cNvPr descr="desktop_computer_stylized_medium" id="339" name="Google Shape;339;p12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0" name="Google Shape;340;p12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1" name="Google Shape;341;p12"/>
          <p:cNvGrpSpPr/>
          <p:nvPr/>
        </p:nvGrpSpPr>
        <p:grpSpPr>
          <a:xfrm>
            <a:off x="9275421" y="5366115"/>
            <a:ext cx="310186" cy="312008"/>
            <a:chOff x="877" y="1008"/>
            <a:chExt cx="2747" cy="2626"/>
          </a:xfrm>
        </p:grpSpPr>
        <p:pic>
          <p:nvPicPr>
            <p:cNvPr descr="antenna_stylized" id="342" name="Google Shape;342;p12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343" name="Google Shape;343;p12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4" name="Google Shape;344;p12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345" name="Google Shape;345;p12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12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12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12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12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2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2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2" name="Google Shape;352;p12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53" name="Google Shape;353;p1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1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p1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1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1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1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9" name="Google Shape;359;p12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2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12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2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12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2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5" name="Google Shape;365;p12"/>
          <p:cNvGrpSpPr/>
          <p:nvPr/>
        </p:nvGrpSpPr>
        <p:grpSpPr>
          <a:xfrm flipH="1">
            <a:off x="8227649" y="5017963"/>
            <a:ext cx="345630" cy="320302"/>
            <a:chOff x="2839" y="3501"/>
            <a:chExt cx="755" cy="803"/>
          </a:xfrm>
        </p:grpSpPr>
        <p:pic>
          <p:nvPicPr>
            <p:cNvPr descr="desktop_computer_stylized_medium" id="366" name="Google Shape;366;p12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7" name="Google Shape;367;p12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p12"/>
          <p:cNvGrpSpPr/>
          <p:nvPr/>
        </p:nvGrpSpPr>
        <p:grpSpPr>
          <a:xfrm flipH="1">
            <a:off x="8625874" y="5039436"/>
            <a:ext cx="345630" cy="320302"/>
            <a:chOff x="2839" y="3501"/>
            <a:chExt cx="755" cy="803"/>
          </a:xfrm>
        </p:grpSpPr>
        <p:pic>
          <p:nvPicPr>
            <p:cNvPr descr="desktop_computer_stylized_medium" id="369" name="Google Shape;369;p12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0" name="Google Shape;370;p12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1" name="Google Shape;371;p12"/>
          <p:cNvGrpSpPr/>
          <p:nvPr/>
        </p:nvGrpSpPr>
        <p:grpSpPr>
          <a:xfrm>
            <a:off x="9608486" y="5308444"/>
            <a:ext cx="319264" cy="256836"/>
            <a:chOff x="877" y="1008"/>
            <a:chExt cx="2747" cy="2626"/>
          </a:xfrm>
        </p:grpSpPr>
        <p:pic>
          <p:nvPicPr>
            <p:cNvPr descr="antenna_stylized" id="372" name="Google Shape;372;p12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373" name="Google Shape;373;p12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4" name="Google Shape;374;p12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375" name="Google Shape;375;p12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6" name="Google Shape;376;p12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12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2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12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12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2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2" name="Google Shape;382;p12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83" name="Google Shape;383;p1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p1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1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" name="Google Shape;386;p1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1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1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9" name="Google Shape;389;p12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2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2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2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12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12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5" name="Google Shape;395;p12"/>
          <p:cNvSpPr/>
          <p:nvPr/>
        </p:nvSpPr>
        <p:spPr>
          <a:xfrm>
            <a:off x="10227333" y="5150277"/>
            <a:ext cx="34049" cy="332924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10233710" y="5170229"/>
            <a:ext cx="20333" cy="308020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10229258" y="5326059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10100039" y="5187705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9" name="Google Shape;399;p12"/>
          <p:cNvGrpSpPr/>
          <p:nvPr/>
        </p:nvGrpSpPr>
        <p:grpSpPr>
          <a:xfrm>
            <a:off x="10164793" y="5184197"/>
            <a:ext cx="69517" cy="21877"/>
            <a:chOff x="613" y="2566"/>
            <a:chExt cx="721" cy="144"/>
          </a:xfrm>
        </p:grpSpPr>
        <p:sp>
          <p:nvSpPr>
            <p:cNvPr id="400" name="Google Shape;400;p12"/>
            <p:cNvSpPr/>
            <p:nvPr/>
          </p:nvSpPr>
          <p:spPr>
            <a:xfrm>
              <a:off x="613" y="2566"/>
              <a:ext cx="721" cy="14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12"/>
            <p:cNvSpPr/>
            <p:nvPr/>
          </p:nvSpPr>
          <p:spPr>
            <a:xfrm>
              <a:off x="625" y="2581"/>
              <a:ext cx="696" cy="11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2" name="Google Shape;402;p12"/>
          <p:cNvSpPr/>
          <p:nvPr/>
        </p:nvSpPr>
        <p:spPr>
          <a:xfrm>
            <a:off x="10101242" y="5236056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3" name="Google Shape;403;p12"/>
          <p:cNvGrpSpPr/>
          <p:nvPr/>
        </p:nvGrpSpPr>
        <p:grpSpPr>
          <a:xfrm>
            <a:off x="10164745" y="5231416"/>
            <a:ext cx="69517" cy="19515"/>
            <a:chOff x="615" y="2564"/>
            <a:chExt cx="721" cy="139"/>
          </a:xfrm>
        </p:grpSpPr>
        <p:sp>
          <p:nvSpPr>
            <p:cNvPr id="404" name="Google Shape;404;p12"/>
            <p:cNvSpPr/>
            <p:nvPr/>
          </p:nvSpPr>
          <p:spPr>
            <a:xfrm>
              <a:off x="615" y="2564"/>
              <a:ext cx="721" cy="139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12"/>
            <p:cNvSpPr/>
            <p:nvPr/>
          </p:nvSpPr>
          <p:spPr>
            <a:xfrm>
              <a:off x="628" y="2581"/>
              <a:ext cx="696" cy="10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6" name="Google Shape;406;p12"/>
          <p:cNvSpPr/>
          <p:nvPr/>
        </p:nvSpPr>
        <p:spPr>
          <a:xfrm>
            <a:off x="10101242" y="5284407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10102445" y="5328244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8" name="Google Shape;408;p12"/>
          <p:cNvGrpSpPr/>
          <p:nvPr/>
        </p:nvGrpSpPr>
        <p:grpSpPr>
          <a:xfrm>
            <a:off x="10163591" y="5327014"/>
            <a:ext cx="69541" cy="19618"/>
            <a:chOff x="618" y="2586"/>
            <a:chExt cx="720" cy="124"/>
          </a:xfrm>
        </p:grpSpPr>
        <p:sp>
          <p:nvSpPr>
            <p:cNvPr id="409" name="Google Shape;409;p12"/>
            <p:cNvSpPr/>
            <p:nvPr/>
          </p:nvSpPr>
          <p:spPr>
            <a:xfrm>
              <a:off x="618" y="2586"/>
              <a:ext cx="720" cy="12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12"/>
            <p:cNvSpPr/>
            <p:nvPr/>
          </p:nvSpPr>
          <p:spPr>
            <a:xfrm>
              <a:off x="630" y="2586"/>
              <a:ext cx="695" cy="10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1" name="Google Shape;411;p12"/>
          <p:cNvSpPr/>
          <p:nvPr/>
        </p:nvSpPr>
        <p:spPr>
          <a:xfrm>
            <a:off x="10229740" y="5284407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2" name="Google Shape;412;p12"/>
          <p:cNvGrpSpPr/>
          <p:nvPr/>
        </p:nvGrpSpPr>
        <p:grpSpPr>
          <a:xfrm>
            <a:off x="10163589" y="5280912"/>
            <a:ext cx="70700" cy="19515"/>
            <a:chOff x="613" y="2571"/>
            <a:chExt cx="732" cy="134"/>
          </a:xfrm>
        </p:grpSpPr>
        <p:sp>
          <p:nvSpPr>
            <p:cNvPr id="413" name="Google Shape;413;p12"/>
            <p:cNvSpPr/>
            <p:nvPr/>
          </p:nvSpPr>
          <p:spPr>
            <a:xfrm>
              <a:off x="613" y="2571"/>
              <a:ext cx="732" cy="13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12"/>
            <p:cNvSpPr/>
            <p:nvPr/>
          </p:nvSpPr>
          <p:spPr>
            <a:xfrm>
              <a:off x="625" y="2587"/>
              <a:ext cx="720" cy="10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5" name="Google Shape;415;p12"/>
          <p:cNvSpPr/>
          <p:nvPr/>
        </p:nvSpPr>
        <p:spPr>
          <a:xfrm>
            <a:off x="10224686" y="5149694"/>
            <a:ext cx="8422" cy="332778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10232627" y="5233872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10232988" y="5186249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10257051" y="5467472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10231424" y="5467909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10091617" y="5476793"/>
            <a:ext cx="143898" cy="21845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10100039" y="5482472"/>
            <a:ext cx="128257" cy="11505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10111950" y="5434121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10133607" y="5434121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10153941" y="5434121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10203150" y="5354750"/>
            <a:ext cx="9625" cy="110538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6" name="Google Shape;426;p12"/>
          <p:cNvGrpSpPr/>
          <p:nvPr/>
        </p:nvGrpSpPr>
        <p:grpSpPr>
          <a:xfrm flipH="1">
            <a:off x="7847721" y="4794366"/>
            <a:ext cx="345630" cy="320302"/>
            <a:chOff x="2839" y="3501"/>
            <a:chExt cx="755" cy="803"/>
          </a:xfrm>
        </p:grpSpPr>
        <p:pic>
          <p:nvPicPr>
            <p:cNvPr descr="desktop_computer_stylized_medium" id="427" name="Google Shape;427;p12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8" name="Google Shape;428;p12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9" name="Google Shape;429;p12"/>
          <p:cNvGrpSpPr/>
          <p:nvPr/>
        </p:nvGrpSpPr>
        <p:grpSpPr>
          <a:xfrm>
            <a:off x="7823964" y="1373031"/>
            <a:ext cx="415925" cy="385763"/>
            <a:chOff x="2751" y="1851"/>
            <a:chExt cx="462" cy="478"/>
          </a:xfrm>
        </p:grpSpPr>
        <p:pic>
          <p:nvPicPr>
            <p:cNvPr descr="iphone_stylized_small" id="430" name="Google Shape;430;p12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31" name="Google Shape;431;p12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2" name="Google Shape;432;p12"/>
          <p:cNvGrpSpPr/>
          <p:nvPr/>
        </p:nvGrpSpPr>
        <p:grpSpPr>
          <a:xfrm>
            <a:off x="10327730" y="4787257"/>
            <a:ext cx="177192" cy="330833"/>
            <a:chOff x="4140" y="429"/>
            <a:chExt cx="1425" cy="2396"/>
          </a:xfrm>
        </p:grpSpPr>
        <p:sp>
          <p:nvSpPr>
            <p:cNvPr id="433" name="Google Shape;433;p1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12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1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1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12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8" name="Google Shape;438;p12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439" name="Google Shape;439;p12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12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1" name="Google Shape;441;p12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2" name="Google Shape;442;p12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443" name="Google Shape;443;p12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12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5" name="Google Shape;445;p12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2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7" name="Google Shape;447;p12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448" name="Google Shape;448;p12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12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0" name="Google Shape;450;p1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51" name="Google Shape;451;p12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452" name="Google Shape;452;p12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12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4" name="Google Shape;454;p12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1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12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1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12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12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12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12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12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2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5" name="Google Shape;465;p12"/>
          <p:cNvGrpSpPr/>
          <p:nvPr/>
        </p:nvGrpSpPr>
        <p:grpSpPr>
          <a:xfrm>
            <a:off x="6645453" y="2199599"/>
            <a:ext cx="1038308" cy="956788"/>
            <a:chOff x="6571713" y="2686293"/>
            <a:chExt cx="1038308" cy="956788"/>
          </a:xfrm>
        </p:grpSpPr>
        <p:sp>
          <p:nvSpPr>
            <p:cNvPr id="466" name="Google Shape;466;p12"/>
            <p:cNvSpPr/>
            <p:nvPr/>
          </p:nvSpPr>
          <p:spPr>
            <a:xfrm flipH="1">
              <a:off x="7291095" y="2700162"/>
              <a:ext cx="318926" cy="942919"/>
            </a:xfrm>
            <a:custGeom>
              <a:rect b="b" l="l" r="r" t="t"/>
              <a:pathLst>
                <a:path extrusionOk="0" h="10279" w="10319">
                  <a:moveTo>
                    <a:pt x="2669" y="10279"/>
                  </a:moveTo>
                  <a:lnTo>
                    <a:pt x="0" y="9878"/>
                  </a:lnTo>
                  <a:lnTo>
                    <a:pt x="10319" y="0"/>
                  </a:lnTo>
                  <a:lnTo>
                    <a:pt x="10319" y="8912"/>
                  </a:lnTo>
                  <a:lnTo>
                    <a:pt x="2669" y="10279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7" name="Google Shape;467;p12"/>
            <p:cNvGrpSpPr/>
            <p:nvPr/>
          </p:nvGrpSpPr>
          <p:grpSpPr>
            <a:xfrm>
              <a:off x="6571713" y="2686293"/>
              <a:ext cx="764135" cy="854075"/>
              <a:chOff x="6571713" y="2686293"/>
              <a:chExt cx="764135" cy="854075"/>
            </a:xfrm>
          </p:grpSpPr>
          <p:sp>
            <p:nvSpPr>
              <p:cNvPr id="468" name="Google Shape;468;p12"/>
              <p:cNvSpPr/>
              <p:nvPr/>
            </p:nvSpPr>
            <p:spPr>
              <a:xfrm>
                <a:off x="6641713" y="2722275"/>
                <a:ext cx="647951" cy="777228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7F7F7F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12"/>
              <p:cNvSpPr/>
              <p:nvPr/>
            </p:nvSpPr>
            <p:spPr>
              <a:xfrm>
                <a:off x="6642457" y="3037370"/>
                <a:ext cx="648594" cy="158772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12"/>
              <p:cNvSpPr txBox="1"/>
              <p:nvPr/>
            </p:nvSpPr>
            <p:spPr>
              <a:xfrm>
                <a:off x="6571713" y="2686293"/>
                <a:ext cx="764135" cy="854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application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transport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network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link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physical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71" name="Google Shape;471;p12"/>
              <p:cNvCxnSpPr/>
              <p:nvPr/>
            </p:nvCxnSpPr>
            <p:spPr>
              <a:xfrm>
                <a:off x="6638631" y="2891320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2" name="Google Shape;472;p12"/>
              <p:cNvCxnSpPr/>
              <p:nvPr/>
            </p:nvCxnSpPr>
            <p:spPr>
              <a:xfrm>
                <a:off x="6638631" y="3040545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3" name="Google Shape;473;p12"/>
              <p:cNvCxnSpPr/>
              <p:nvPr/>
            </p:nvCxnSpPr>
            <p:spPr>
              <a:xfrm>
                <a:off x="6638631" y="3189770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4" name="Google Shape;474;p12"/>
              <p:cNvCxnSpPr/>
              <p:nvPr/>
            </p:nvCxnSpPr>
            <p:spPr>
              <a:xfrm>
                <a:off x="6638631" y="3338995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475" name="Google Shape;475;p12"/>
          <p:cNvGrpSpPr/>
          <p:nvPr/>
        </p:nvGrpSpPr>
        <p:grpSpPr>
          <a:xfrm>
            <a:off x="10275746" y="4871177"/>
            <a:ext cx="970347" cy="854075"/>
            <a:chOff x="10202006" y="5357871"/>
            <a:chExt cx="970347" cy="854075"/>
          </a:xfrm>
        </p:grpSpPr>
        <p:sp>
          <p:nvSpPr>
            <p:cNvPr id="476" name="Google Shape;476;p12"/>
            <p:cNvSpPr/>
            <p:nvPr/>
          </p:nvSpPr>
          <p:spPr>
            <a:xfrm>
              <a:off x="10202006" y="5397682"/>
              <a:ext cx="281273" cy="773122"/>
            </a:xfrm>
            <a:custGeom>
              <a:rect b="b" l="l" r="r" t="t"/>
              <a:pathLst>
                <a:path extrusionOk="0" h="10000" w="10001">
                  <a:moveTo>
                    <a:pt x="112" y="7638"/>
                  </a:moveTo>
                  <a:cubicBezTo>
                    <a:pt x="75" y="7370"/>
                    <a:pt x="37" y="7102"/>
                    <a:pt x="0" y="6834"/>
                  </a:cubicBezTo>
                  <a:lnTo>
                    <a:pt x="9647" y="0"/>
                  </a:lnTo>
                  <a:cubicBezTo>
                    <a:pt x="9534" y="4702"/>
                    <a:pt x="10099" y="5298"/>
                    <a:pt x="9986" y="10000"/>
                  </a:cubicBezTo>
                  <a:lnTo>
                    <a:pt x="112" y="7638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77" name="Google Shape;477;p12"/>
            <p:cNvGrpSpPr/>
            <p:nvPr/>
          </p:nvGrpSpPr>
          <p:grpSpPr>
            <a:xfrm>
              <a:off x="10408218" y="5357871"/>
              <a:ext cx="764135" cy="854075"/>
              <a:chOff x="6571713" y="2686293"/>
              <a:chExt cx="764135" cy="854075"/>
            </a:xfrm>
          </p:grpSpPr>
          <p:sp>
            <p:nvSpPr>
              <p:cNvPr id="478" name="Google Shape;478;p12"/>
              <p:cNvSpPr/>
              <p:nvPr/>
            </p:nvSpPr>
            <p:spPr>
              <a:xfrm>
                <a:off x="6641713" y="2722275"/>
                <a:ext cx="647951" cy="777228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7F7F7F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12"/>
              <p:cNvSpPr/>
              <p:nvPr/>
            </p:nvSpPr>
            <p:spPr>
              <a:xfrm>
                <a:off x="6642457" y="3037370"/>
                <a:ext cx="648594" cy="158772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12"/>
              <p:cNvSpPr txBox="1"/>
              <p:nvPr/>
            </p:nvSpPr>
            <p:spPr>
              <a:xfrm>
                <a:off x="6571713" y="2686293"/>
                <a:ext cx="764135" cy="854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application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transport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network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link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physical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81" name="Google Shape;481;p12"/>
              <p:cNvCxnSpPr/>
              <p:nvPr/>
            </p:nvCxnSpPr>
            <p:spPr>
              <a:xfrm>
                <a:off x="6638631" y="2891320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82" name="Google Shape;482;p12"/>
              <p:cNvCxnSpPr/>
              <p:nvPr/>
            </p:nvCxnSpPr>
            <p:spPr>
              <a:xfrm>
                <a:off x="6638631" y="3040545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83" name="Google Shape;483;p12"/>
              <p:cNvCxnSpPr/>
              <p:nvPr/>
            </p:nvCxnSpPr>
            <p:spPr>
              <a:xfrm>
                <a:off x="6638631" y="3189770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84" name="Google Shape;484;p12"/>
              <p:cNvCxnSpPr/>
              <p:nvPr/>
            </p:nvCxnSpPr>
            <p:spPr>
              <a:xfrm>
                <a:off x="6638631" y="3338995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485" name="Google Shape;485;p12"/>
          <p:cNvGrpSpPr/>
          <p:nvPr/>
        </p:nvGrpSpPr>
        <p:grpSpPr>
          <a:xfrm>
            <a:off x="10076248" y="5129706"/>
            <a:ext cx="214974" cy="403920"/>
            <a:chOff x="4140" y="429"/>
            <a:chExt cx="1425" cy="2396"/>
          </a:xfrm>
        </p:grpSpPr>
        <p:sp>
          <p:nvSpPr>
            <p:cNvPr id="486" name="Google Shape;486;p1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12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1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1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12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1" name="Google Shape;491;p12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492" name="Google Shape;492;p12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12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4" name="Google Shape;494;p12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5" name="Google Shape;495;p12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496" name="Google Shape;496;p12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12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8" name="Google Shape;498;p12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12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0" name="Google Shape;500;p12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501" name="Google Shape;501;p12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12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3" name="Google Shape;503;p1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04" name="Google Shape;504;p12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505" name="Google Shape;505;p12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12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7" name="Google Shape;507;p12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1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1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12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1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12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12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12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12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12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12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8" name="Google Shape;518;p12"/>
          <p:cNvGrpSpPr/>
          <p:nvPr/>
        </p:nvGrpSpPr>
        <p:grpSpPr>
          <a:xfrm>
            <a:off x="9172528" y="3469930"/>
            <a:ext cx="367224" cy="240304"/>
            <a:chOff x="7493876" y="2774731"/>
            <a:chExt cx="1481958" cy="894622"/>
          </a:xfrm>
        </p:grpSpPr>
        <p:sp>
          <p:nvSpPr>
            <p:cNvPr id="519" name="Google Shape;519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20" name="Google Shape;520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21" name="Google Shape;521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2" name="Google Shape;522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26" name="Google Shape;526;p12"/>
          <p:cNvGrpSpPr/>
          <p:nvPr/>
        </p:nvGrpSpPr>
        <p:grpSpPr>
          <a:xfrm>
            <a:off x="9675294" y="3513069"/>
            <a:ext cx="367224" cy="240304"/>
            <a:chOff x="7493876" y="2774731"/>
            <a:chExt cx="1481958" cy="894622"/>
          </a:xfrm>
        </p:grpSpPr>
        <p:sp>
          <p:nvSpPr>
            <p:cNvPr id="527" name="Google Shape;527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28" name="Google Shape;528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29" name="Google Shape;529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30" name="Google Shape;530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" name="Google Shape;532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" name="Google Shape;533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34" name="Google Shape;534;p12"/>
          <p:cNvGrpSpPr/>
          <p:nvPr/>
        </p:nvGrpSpPr>
        <p:grpSpPr>
          <a:xfrm>
            <a:off x="8123810" y="3479300"/>
            <a:ext cx="354986" cy="175668"/>
            <a:chOff x="7493876" y="2774731"/>
            <a:chExt cx="1481958" cy="894622"/>
          </a:xfrm>
        </p:grpSpPr>
        <p:sp>
          <p:nvSpPr>
            <p:cNvPr id="535" name="Google Shape;535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36" name="Google Shape;536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37" name="Google Shape;537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38" name="Google Shape;538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2" name="Google Shape;542;p12"/>
          <p:cNvGrpSpPr/>
          <p:nvPr/>
        </p:nvGrpSpPr>
        <p:grpSpPr>
          <a:xfrm>
            <a:off x="9321633" y="4288992"/>
            <a:ext cx="393760" cy="218578"/>
            <a:chOff x="7493876" y="2774731"/>
            <a:chExt cx="1481958" cy="894622"/>
          </a:xfrm>
        </p:grpSpPr>
        <p:sp>
          <p:nvSpPr>
            <p:cNvPr id="543" name="Google Shape;543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4" name="Google Shape;544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5" name="Google Shape;545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6" name="Google Shape;546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" name="Google Shape;548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" name="Google Shape;549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0" name="Google Shape;550;p12"/>
          <p:cNvGrpSpPr/>
          <p:nvPr/>
        </p:nvGrpSpPr>
        <p:grpSpPr>
          <a:xfrm>
            <a:off x="7848738" y="2976754"/>
            <a:ext cx="3007624" cy="1690703"/>
            <a:chOff x="7774998" y="3463448"/>
            <a:chExt cx="3007624" cy="1690703"/>
          </a:xfrm>
        </p:grpSpPr>
        <p:grpSp>
          <p:nvGrpSpPr>
            <p:cNvPr id="551" name="Google Shape;551;p12"/>
            <p:cNvGrpSpPr/>
            <p:nvPr/>
          </p:nvGrpSpPr>
          <p:grpSpPr>
            <a:xfrm>
              <a:off x="7774998" y="4090572"/>
              <a:ext cx="571917" cy="577694"/>
              <a:chOff x="7774998" y="4090572"/>
              <a:chExt cx="571917" cy="577694"/>
            </a:xfrm>
          </p:grpSpPr>
          <p:sp>
            <p:nvSpPr>
              <p:cNvPr id="552" name="Google Shape;552;p12"/>
              <p:cNvSpPr/>
              <p:nvPr/>
            </p:nvSpPr>
            <p:spPr>
              <a:xfrm rot="10800000">
                <a:off x="7818844" y="4090572"/>
                <a:ext cx="487903" cy="154569"/>
              </a:xfrm>
              <a:custGeom>
                <a:rect b="b" l="l" r="r" t="t"/>
                <a:pathLst>
                  <a:path extrusionOk="0" h="10000" w="14245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53" name="Google Shape;553;p12"/>
              <p:cNvGrpSpPr/>
              <p:nvPr/>
            </p:nvGrpSpPr>
            <p:grpSpPr>
              <a:xfrm>
                <a:off x="7774998" y="4206600"/>
                <a:ext cx="571917" cy="461666"/>
                <a:chOff x="9980560" y="726571"/>
                <a:chExt cx="659732" cy="461666"/>
              </a:xfrm>
            </p:grpSpPr>
            <p:sp>
              <p:nvSpPr>
                <p:cNvPr id="554" name="Google Shape;554;p12"/>
                <p:cNvSpPr/>
                <p:nvPr/>
              </p:nvSpPr>
              <p:spPr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5" name="Google Shape;555;p12"/>
                <p:cNvSpPr/>
                <p:nvPr/>
              </p:nvSpPr>
              <p:spPr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6" name="Google Shape;556;p12"/>
                <p:cNvSpPr txBox="1"/>
                <p:nvPr/>
              </p:nvSpPr>
              <p:spPr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57" name="Google Shape;557;p12"/>
                <p:cNvCxnSpPr/>
                <p:nvPr/>
              </p:nvCxnSpPr>
              <p:spPr>
                <a:xfrm>
                  <a:off x="10038335" y="895309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58" name="Google Shape;558;p12"/>
                <p:cNvCxnSpPr/>
                <p:nvPr/>
              </p:nvCxnSpPr>
              <p:spPr>
                <a:xfrm>
                  <a:off x="10038335" y="1018248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559" name="Google Shape;559;p12"/>
            <p:cNvGrpSpPr/>
            <p:nvPr/>
          </p:nvGrpSpPr>
          <p:grpSpPr>
            <a:xfrm>
              <a:off x="8692628" y="3463448"/>
              <a:ext cx="571917" cy="574365"/>
              <a:chOff x="8692628" y="3463448"/>
              <a:chExt cx="571917" cy="574365"/>
            </a:xfrm>
          </p:grpSpPr>
          <p:sp>
            <p:nvSpPr>
              <p:cNvPr id="560" name="Google Shape;560;p12"/>
              <p:cNvSpPr/>
              <p:nvPr/>
            </p:nvSpPr>
            <p:spPr>
              <a:xfrm flipH="1">
                <a:off x="8735937" y="3883244"/>
                <a:ext cx="487903" cy="154569"/>
              </a:xfrm>
              <a:custGeom>
                <a:rect b="b" l="l" r="r" t="t"/>
                <a:pathLst>
                  <a:path extrusionOk="0" h="10000" w="14245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61" name="Google Shape;561;p12"/>
              <p:cNvGrpSpPr/>
              <p:nvPr/>
            </p:nvGrpSpPr>
            <p:grpSpPr>
              <a:xfrm>
                <a:off x="8692628" y="3463448"/>
                <a:ext cx="571917" cy="461666"/>
                <a:chOff x="9980560" y="726571"/>
                <a:chExt cx="659732" cy="461666"/>
              </a:xfrm>
            </p:grpSpPr>
            <p:sp>
              <p:nvSpPr>
                <p:cNvPr id="562" name="Google Shape;562;p12"/>
                <p:cNvSpPr/>
                <p:nvPr/>
              </p:nvSpPr>
              <p:spPr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3" name="Google Shape;563;p12"/>
                <p:cNvSpPr/>
                <p:nvPr/>
              </p:nvSpPr>
              <p:spPr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4" name="Google Shape;564;p12"/>
                <p:cNvSpPr txBox="1"/>
                <p:nvPr/>
              </p:nvSpPr>
              <p:spPr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65" name="Google Shape;565;p12"/>
                <p:cNvCxnSpPr/>
                <p:nvPr/>
              </p:nvCxnSpPr>
              <p:spPr>
                <a:xfrm>
                  <a:off x="10038335" y="895309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66" name="Google Shape;566;p12"/>
                <p:cNvCxnSpPr/>
                <p:nvPr/>
              </p:nvCxnSpPr>
              <p:spPr>
                <a:xfrm>
                  <a:off x="10038335" y="1018248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567" name="Google Shape;567;p12"/>
            <p:cNvGrpSpPr/>
            <p:nvPr/>
          </p:nvGrpSpPr>
          <p:grpSpPr>
            <a:xfrm>
              <a:off x="9846130" y="3502221"/>
              <a:ext cx="571917" cy="607211"/>
              <a:chOff x="9846130" y="3502221"/>
              <a:chExt cx="571917" cy="607211"/>
            </a:xfrm>
          </p:grpSpPr>
          <p:sp>
            <p:nvSpPr>
              <p:cNvPr id="568" name="Google Shape;568;p12"/>
              <p:cNvSpPr/>
              <p:nvPr/>
            </p:nvSpPr>
            <p:spPr>
              <a:xfrm>
                <a:off x="9904716" y="3925785"/>
                <a:ext cx="466702" cy="183647"/>
              </a:xfrm>
              <a:custGeom>
                <a:rect b="b" l="l" r="r" t="t"/>
                <a:pathLst>
                  <a:path extrusionOk="0" h="12676" w="10000">
                    <a:moveTo>
                      <a:pt x="1334" y="12676"/>
                    </a:moveTo>
                    <a:lnTo>
                      <a:pt x="51" y="7461"/>
                    </a:ln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1334" y="12676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69" name="Google Shape;569;p12"/>
              <p:cNvGrpSpPr/>
              <p:nvPr/>
            </p:nvGrpSpPr>
            <p:grpSpPr>
              <a:xfrm>
                <a:off x="9846130" y="3502221"/>
                <a:ext cx="571917" cy="461666"/>
                <a:chOff x="9980560" y="726571"/>
                <a:chExt cx="659732" cy="461666"/>
              </a:xfrm>
            </p:grpSpPr>
            <p:sp>
              <p:nvSpPr>
                <p:cNvPr id="570" name="Google Shape;570;p12"/>
                <p:cNvSpPr/>
                <p:nvPr/>
              </p:nvSpPr>
              <p:spPr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1" name="Google Shape;571;p12"/>
                <p:cNvSpPr/>
                <p:nvPr/>
              </p:nvSpPr>
              <p:spPr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2" name="Google Shape;572;p12"/>
                <p:cNvSpPr txBox="1"/>
                <p:nvPr/>
              </p:nvSpPr>
              <p:spPr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73" name="Google Shape;573;p12"/>
                <p:cNvCxnSpPr/>
                <p:nvPr/>
              </p:nvCxnSpPr>
              <p:spPr>
                <a:xfrm>
                  <a:off x="10038335" y="895309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74" name="Google Shape;574;p12"/>
                <p:cNvCxnSpPr/>
                <p:nvPr/>
              </p:nvCxnSpPr>
              <p:spPr>
                <a:xfrm>
                  <a:off x="10038335" y="1018248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575" name="Google Shape;575;p12"/>
            <p:cNvGrpSpPr/>
            <p:nvPr/>
          </p:nvGrpSpPr>
          <p:grpSpPr>
            <a:xfrm>
              <a:off x="9554792" y="4299763"/>
              <a:ext cx="571917" cy="630904"/>
              <a:chOff x="9554792" y="4299763"/>
              <a:chExt cx="571917" cy="630904"/>
            </a:xfrm>
          </p:grpSpPr>
          <p:sp>
            <p:nvSpPr>
              <p:cNvPr id="576" name="Google Shape;576;p12"/>
              <p:cNvSpPr/>
              <p:nvPr/>
            </p:nvSpPr>
            <p:spPr>
              <a:xfrm>
                <a:off x="9598301" y="4724405"/>
                <a:ext cx="466702" cy="206262"/>
              </a:xfrm>
              <a:custGeom>
                <a:rect b="b" l="l" r="r" t="t"/>
                <a:pathLst>
                  <a:path extrusionOk="0" h="14237" w="10000">
                    <a:moveTo>
                      <a:pt x="434" y="14237"/>
                    </a:moveTo>
                    <a:cubicBezTo>
                      <a:pt x="306" y="11978"/>
                      <a:pt x="179" y="9720"/>
                      <a:pt x="51" y="7461"/>
                    </a:cubicBez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434" y="14237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77" name="Google Shape;577;p12"/>
              <p:cNvGrpSpPr/>
              <p:nvPr/>
            </p:nvGrpSpPr>
            <p:grpSpPr>
              <a:xfrm>
                <a:off x="9554792" y="4299763"/>
                <a:ext cx="571917" cy="461666"/>
                <a:chOff x="9980560" y="726571"/>
                <a:chExt cx="659732" cy="461666"/>
              </a:xfrm>
            </p:grpSpPr>
            <p:sp>
              <p:nvSpPr>
                <p:cNvPr id="578" name="Google Shape;578;p12"/>
                <p:cNvSpPr/>
                <p:nvPr/>
              </p:nvSpPr>
              <p:spPr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9" name="Google Shape;579;p12"/>
                <p:cNvSpPr/>
                <p:nvPr/>
              </p:nvSpPr>
              <p:spPr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0" name="Google Shape;580;p12"/>
                <p:cNvSpPr txBox="1"/>
                <p:nvPr/>
              </p:nvSpPr>
              <p:spPr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81" name="Google Shape;581;p12"/>
                <p:cNvCxnSpPr/>
                <p:nvPr/>
              </p:nvCxnSpPr>
              <p:spPr>
                <a:xfrm>
                  <a:off x="10038335" y="895309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82" name="Google Shape;582;p12"/>
                <p:cNvCxnSpPr/>
                <p:nvPr/>
              </p:nvCxnSpPr>
              <p:spPr>
                <a:xfrm>
                  <a:off x="10038335" y="1018248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583" name="Google Shape;583;p12"/>
            <p:cNvGrpSpPr/>
            <p:nvPr/>
          </p:nvGrpSpPr>
          <p:grpSpPr>
            <a:xfrm>
              <a:off x="10153753" y="4577638"/>
              <a:ext cx="628869" cy="576513"/>
              <a:chOff x="10153753" y="4577638"/>
              <a:chExt cx="628869" cy="576513"/>
            </a:xfrm>
          </p:grpSpPr>
          <p:sp>
            <p:nvSpPr>
              <p:cNvPr id="584" name="Google Shape;584;p12"/>
              <p:cNvSpPr/>
              <p:nvPr/>
            </p:nvSpPr>
            <p:spPr>
              <a:xfrm>
                <a:off x="10153753" y="5002899"/>
                <a:ext cx="590332" cy="151252"/>
              </a:xfrm>
              <a:custGeom>
                <a:rect b="b" l="l" r="r" t="t"/>
                <a:pathLst>
                  <a:path extrusionOk="0" h="10440" w="12649">
                    <a:moveTo>
                      <a:pt x="175" y="10440"/>
                    </a:moveTo>
                    <a:cubicBezTo>
                      <a:pt x="47" y="8181"/>
                      <a:pt x="128" y="9045"/>
                      <a:pt x="0" y="6786"/>
                    </a:cubicBezTo>
                    <a:cubicBezTo>
                      <a:pt x="1563" y="2515"/>
                      <a:pt x="1463" y="3373"/>
                      <a:pt x="2263" y="217"/>
                    </a:cubicBezTo>
                    <a:lnTo>
                      <a:pt x="12649" y="0"/>
                    </a:lnTo>
                    <a:lnTo>
                      <a:pt x="175" y="1044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85" name="Google Shape;585;p12"/>
              <p:cNvGrpSpPr/>
              <p:nvPr/>
            </p:nvGrpSpPr>
            <p:grpSpPr>
              <a:xfrm>
                <a:off x="10210705" y="4577638"/>
                <a:ext cx="571917" cy="461666"/>
                <a:chOff x="9980560" y="726571"/>
                <a:chExt cx="659732" cy="461666"/>
              </a:xfrm>
            </p:grpSpPr>
            <p:sp>
              <p:nvSpPr>
                <p:cNvPr id="586" name="Google Shape;586;p12"/>
                <p:cNvSpPr/>
                <p:nvPr/>
              </p:nvSpPr>
              <p:spPr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7" name="Google Shape;587;p12"/>
                <p:cNvSpPr/>
                <p:nvPr/>
              </p:nvSpPr>
              <p:spPr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8" name="Google Shape;588;p12"/>
                <p:cNvSpPr txBox="1"/>
                <p:nvPr/>
              </p:nvSpPr>
              <p:spPr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89" name="Google Shape;589;p12"/>
                <p:cNvCxnSpPr/>
                <p:nvPr/>
              </p:nvCxnSpPr>
              <p:spPr>
                <a:xfrm>
                  <a:off x="10038335" y="895309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90" name="Google Shape;590;p12"/>
                <p:cNvCxnSpPr/>
                <p:nvPr/>
              </p:nvCxnSpPr>
              <p:spPr>
                <a:xfrm>
                  <a:off x="10038335" y="1018248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591" name="Google Shape;591;p12"/>
          <p:cNvGrpSpPr/>
          <p:nvPr/>
        </p:nvGrpSpPr>
        <p:grpSpPr>
          <a:xfrm>
            <a:off x="9857298" y="4503289"/>
            <a:ext cx="393760" cy="218578"/>
            <a:chOff x="7493876" y="2774731"/>
            <a:chExt cx="1481958" cy="894622"/>
          </a:xfrm>
        </p:grpSpPr>
        <p:sp>
          <p:nvSpPr>
            <p:cNvPr id="592" name="Google Shape;592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93" name="Google Shape;593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94" name="Google Shape;594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5" name="Google Shape;595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" name="Google Shape;597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" name="Google Shape;598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99" name="Google Shape;599;p12"/>
          <p:cNvSpPr/>
          <p:nvPr/>
        </p:nvSpPr>
        <p:spPr>
          <a:xfrm>
            <a:off x="7362436" y="2627566"/>
            <a:ext cx="3064097" cy="2683755"/>
          </a:xfrm>
          <a:custGeom>
            <a:rect b="b" l="l" r="r" t="t"/>
            <a:pathLst>
              <a:path extrusionOk="0" h="2683755" w="3064097">
                <a:moveTo>
                  <a:pt x="0" y="0"/>
                </a:moveTo>
                <a:lnTo>
                  <a:pt x="980661" y="1007165"/>
                </a:lnTo>
                <a:lnTo>
                  <a:pt x="2014330" y="1011756"/>
                </a:lnTo>
                <a:lnTo>
                  <a:pt x="2478156" y="1007165"/>
                </a:lnTo>
                <a:lnTo>
                  <a:pt x="2054087" y="1709530"/>
                </a:lnTo>
                <a:lnTo>
                  <a:pt x="2753026" y="2050143"/>
                </a:lnTo>
                <a:lnTo>
                  <a:pt x="2769703" y="2675452"/>
                </a:lnTo>
                <a:cubicBezTo>
                  <a:pt x="2903519" y="2686485"/>
                  <a:pt x="2930284" y="2684136"/>
                  <a:pt x="3064097" y="2681787"/>
                </a:cubicBezTo>
              </a:path>
            </a:pathLst>
          </a:custGeom>
          <a:noFill/>
          <a:ln cap="flat" cmpd="sng" w="317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3"/>
          <p:cNvSpPr txBox="1"/>
          <p:nvPr>
            <p:ph type="title"/>
          </p:nvPr>
        </p:nvSpPr>
        <p:spPr>
          <a:xfrm>
            <a:off x="838200" y="348585"/>
            <a:ext cx="686045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Graph abstraction: link costs</a:t>
            </a:r>
            <a:endParaRPr/>
          </a:p>
        </p:txBody>
      </p:sp>
      <p:grpSp>
        <p:nvGrpSpPr>
          <p:cNvPr id="606" name="Google Shape;606;p13"/>
          <p:cNvGrpSpPr/>
          <p:nvPr/>
        </p:nvGrpSpPr>
        <p:grpSpPr>
          <a:xfrm>
            <a:off x="1238864" y="1288538"/>
            <a:ext cx="3571875" cy="2236788"/>
            <a:chOff x="3162" y="1071"/>
            <a:chExt cx="2250" cy="1409"/>
          </a:xfrm>
        </p:grpSpPr>
        <p:sp>
          <p:nvSpPr>
            <p:cNvPr id="607" name="Google Shape;607;p13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13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13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0" name="Google Shape;610;p13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1" name="Google Shape;611;p13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12" name="Google Shape;612;p13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13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13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5" name="Google Shape;615;p13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6" name="Google Shape;616;p13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17" name="Google Shape;617;p13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13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13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0" name="Google Shape;620;p13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1" name="Google Shape;621;p13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22" name="Google Shape;622;p13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13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13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5" name="Google Shape;625;p13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6" name="Google Shape;626;p13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27" name="Google Shape;627;p13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13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13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30" name="Google Shape;630;p13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1" name="Google Shape;631;p13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32" name="Google Shape;632;p13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13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13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35" name="Google Shape;635;p13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6" name="Google Shape;636;p13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37" name="Google Shape;637;p13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13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13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13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13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13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13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13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13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13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13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48" name="Google Shape;648;p13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649" name="Google Shape;649;p13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13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1" name="Google Shape;651;p13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652" name="Google Shape;652;p13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13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4" name="Google Shape;654;p13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655" name="Google Shape;655;p13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13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657" name="Google Shape;657;p13"/>
            <p:cNvGrpSpPr/>
            <p:nvPr/>
          </p:nvGrpSpPr>
          <p:grpSpPr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658" name="Google Shape;658;p13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13"/>
              <p:cNvSpPr txBox="1"/>
              <p:nvPr/>
            </p:nvSpPr>
            <p:spPr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0" name="Google Shape;660;p13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661" name="Google Shape;661;p13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13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3" name="Google Shape;663;p13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664" name="Google Shape;664;p13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13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666" name="Google Shape;666;p13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13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13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13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13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13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13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13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13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13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6" name="Google Shape;676;p13"/>
          <p:cNvSpPr txBox="1"/>
          <p:nvPr/>
        </p:nvSpPr>
        <p:spPr>
          <a:xfrm>
            <a:off x="1411748" y="3898081"/>
            <a:ext cx="248080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graph: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 = (N,E)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3"/>
          <p:cNvSpPr txBox="1"/>
          <p:nvPr/>
        </p:nvSpPr>
        <p:spPr>
          <a:xfrm>
            <a:off x="5456905" y="1415845"/>
            <a:ext cx="5884606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a,b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cost of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direct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link connecting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c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w,z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5,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u,z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∞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8016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cost defined by network operator: could always be 1, or inversely related to bandwidth, or related to congestion</a:t>
            </a:r>
            <a:endParaRPr/>
          </a:p>
        </p:txBody>
      </p:sp>
      <p:sp>
        <p:nvSpPr>
          <p:cNvPr id="678" name="Google Shape;678;p13"/>
          <p:cNvSpPr txBox="1"/>
          <p:nvPr/>
        </p:nvSpPr>
        <p:spPr>
          <a:xfrm>
            <a:off x="1638300" y="4537178"/>
            <a:ext cx="511447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set of routers = {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u, v, w, x, y, z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679" name="Google Shape;679;p13"/>
          <p:cNvSpPr txBox="1"/>
          <p:nvPr/>
        </p:nvSpPr>
        <p:spPr>
          <a:xfrm>
            <a:off x="1638300" y="5106769"/>
            <a:ext cx="100759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set of links =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u,v), (u,x), (v,x), (v,w), (x,w), (x,y), (w,y), (w,z), (y,z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4"/>
          <p:cNvSpPr txBox="1"/>
          <p:nvPr>
            <p:ph type="title"/>
          </p:nvPr>
        </p:nvSpPr>
        <p:spPr>
          <a:xfrm>
            <a:off x="838200" y="348585"/>
            <a:ext cx="832054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Routing algorithm classification</a:t>
            </a:r>
            <a:endParaRPr/>
          </a:p>
        </p:txBody>
      </p:sp>
      <p:cxnSp>
        <p:nvCxnSpPr>
          <p:cNvPr id="686" name="Google Shape;686;p14"/>
          <p:cNvCxnSpPr/>
          <p:nvPr/>
        </p:nvCxnSpPr>
        <p:spPr>
          <a:xfrm>
            <a:off x="6091084" y="1312606"/>
            <a:ext cx="0" cy="5043948"/>
          </a:xfrm>
          <a:prstGeom prst="straightConnector1">
            <a:avLst/>
          </a:prstGeom>
          <a:noFill/>
          <a:ln cap="flat" cmpd="sng" w="25400">
            <a:solidFill>
              <a:srgbClr val="0000A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687" name="Google Shape;687;p14"/>
          <p:cNvCxnSpPr/>
          <p:nvPr/>
        </p:nvCxnSpPr>
        <p:spPr>
          <a:xfrm rot="10800000">
            <a:off x="235974" y="3441290"/>
            <a:ext cx="11665974" cy="0"/>
          </a:xfrm>
          <a:prstGeom prst="straightConnector1">
            <a:avLst/>
          </a:prstGeom>
          <a:noFill/>
          <a:ln cap="flat" cmpd="sng" w="25400">
            <a:solidFill>
              <a:srgbClr val="0000A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688" name="Google Shape;688;p14"/>
          <p:cNvSpPr txBox="1"/>
          <p:nvPr/>
        </p:nvSpPr>
        <p:spPr>
          <a:xfrm>
            <a:off x="4542504" y="6312310"/>
            <a:ext cx="35812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global or decentralized information?</a:t>
            </a:r>
            <a:endParaRPr/>
          </a:p>
        </p:txBody>
      </p:sp>
      <p:grpSp>
        <p:nvGrpSpPr>
          <p:cNvPr id="689" name="Google Shape;689;p14"/>
          <p:cNvGrpSpPr/>
          <p:nvPr/>
        </p:nvGrpSpPr>
        <p:grpSpPr>
          <a:xfrm>
            <a:off x="3996813" y="1474838"/>
            <a:ext cx="4513007" cy="1209368"/>
            <a:chOff x="3996813" y="1474838"/>
            <a:chExt cx="4513007" cy="1209368"/>
          </a:xfrm>
        </p:grpSpPr>
        <p:sp>
          <p:nvSpPr>
            <p:cNvPr id="690" name="Google Shape;690;p14"/>
            <p:cNvSpPr/>
            <p:nvPr/>
          </p:nvSpPr>
          <p:spPr>
            <a:xfrm>
              <a:off x="5987845" y="1519084"/>
              <a:ext cx="221226" cy="116512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14"/>
            <p:cNvSpPr txBox="1"/>
            <p:nvPr/>
          </p:nvSpPr>
          <p:spPr>
            <a:xfrm>
              <a:off x="3996813" y="1474838"/>
              <a:ext cx="4513007" cy="1209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1301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global: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all routers have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complete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topology, link cost info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“link state”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algorithms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692" name="Google Shape;692;p14"/>
          <p:cNvGrpSpPr/>
          <p:nvPr/>
        </p:nvGrpSpPr>
        <p:grpSpPr>
          <a:xfrm>
            <a:off x="3465869" y="4326195"/>
            <a:ext cx="6179575" cy="2458065"/>
            <a:chOff x="3465869" y="4326195"/>
            <a:chExt cx="6179575" cy="2458065"/>
          </a:xfrm>
        </p:grpSpPr>
        <p:sp>
          <p:nvSpPr>
            <p:cNvPr id="693" name="Google Shape;693;p14"/>
            <p:cNvSpPr/>
            <p:nvPr/>
          </p:nvSpPr>
          <p:spPr>
            <a:xfrm>
              <a:off x="6002594" y="4365523"/>
              <a:ext cx="147483" cy="179930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14"/>
            <p:cNvSpPr txBox="1"/>
            <p:nvPr/>
          </p:nvSpPr>
          <p:spPr>
            <a:xfrm>
              <a:off x="3465869" y="4326195"/>
              <a:ext cx="6179575" cy="2458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1301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decentralized: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iterative process of computation, exchange of info with neighbors</a:t>
              </a:r>
              <a:endParaRPr/>
            </a:p>
            <a:p>
              <a:pPr indent="-233362" lvl="0" marL="407988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routers initially only know link costs to attached neighbors</a:t>
              </a:r>
              <a:endParaRPr/>
            </a:p>
            <a:p>
              <a:pPr indent="-233362" lvl="0" marL="407988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“distance vector”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algorithms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5" name="Google Shape;695;p14"/>
          <p:cNvSpPr txBox="1"/>
          <p:nvPr/>
        </p:nvSpPr>
        <p:spPr>
          <a:xfrm>
            <a:off x="250724" y="2823539"/>
            <a:ext cx="125361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fast do routes change?</a:t>
            </a:r>
            <a:endParaRPr/>
          </a:p>
        </p:txBody>
      </p:sp>
      <p:sp>
        <p:nvSpPr>
          <p:cNvPr id="696" name="Google Shape;696;p14"/>
          <p:cNvSpPr/>
          <p:nvPr/>
        </p:nvSpPr>
        <p:spPr>
          <a:xfrm>
            <a:off x="10171471" y="1184788"/>
            <a:ext cx="176981" cy="10323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7" name="Google Shape;697;p14"/>
          <p:cNvGrpSpPr/>
          <p:nvPr/>
        </p:nvGrpSpPr>
        <p:grpSpPr>
          <a:xfrm>
            <a:off x="8740391" y="2620951"/>
            <a:ext cx="3451609" cy="2373608"/>
            <a:chOff x="8740391" y="2620951"/>
            <a:chExt cx="3451609" cy="2373608"/>
          </a:xfrm>
        </p:grpSpPr>
        <p:sp>
          <p:nvSpPr>
            <p:cNvPr id="698" name="Google Shape;698;p14"/>
            <p:cNvSpPr/>
            <p:nvPr/>
          </p:nvSpPr>
          <p:spPr>
            <a:xfrm>
              <a:off x="8922775" y="3314699"/>
              <a:ext cx="2580968" cy="2101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14"/>
            <p:cNvSpPr txBox="1"/>
            <p:nvPr/>
          </p:nvSpPr>
          <p:spPr>
            <a:xfrm>
              <a:off x="8740391" y="2620951"/>
              <a:ext cx="3451609" cy="2373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57150" lvl="0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b="0" i="0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dynamic</a:t>
              </a:r>
              <a:r>
                <a:rPr b="0" i="1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routes change more quickly</a:t>
              </a:r>
              <a:endParaRPr/>
            </a:p>
            <a:p>
              <a:pPr indent="-233362" lvl="1" marL="34925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periodic updates or in response to link cost changes</a:t>
              </a:r>
              <a:endParaRPr/>
            </a:p>
          </p:txBody>
        </p:sp>
      </p:grpSp>
      <p:grpSp>
        <p:nvGrpSpPr>
          <p:cNvPr id="700" name="Google Shape;700;p14"/>
          <p:cNvGrpSpPr/>
          <p:nvPr/>
        </p:nvGrpSpPr>
        <p:grpSpPr>
          <a:xfrm>
            <a:off x="1313787" y="3013586"/>
            <a:ext cx="3022237" cy="1209367"/>
            <a:chOff x="1313787" y="3013586"/>
            <a:chExt cx="3022237" cy="1209367"/>
          </a:xfrm>
        </p:grpSpPr>
        <p:sp>
          <p:nvSpPr>
            <p:cNvPr id="701" name="Google Shape;701;p14"/>
            <p:cNvSpPr/>
            <p:nvPr/>
          </p:nvSpPr>
          <p:spPr>
            <a:xfrm>
              <a:off x="1465006" y="3314699"/>
              <a:ext cx="2531807" cy="22491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14"/>
            <p:cNvSpPr txBox="1"/>
            <p:nvPr/>
          </p:nvSpPr>
          <p:spPr>
            <a:xfrm>
              <a:off x="1313787" y="3013586"/>
              <a:ext cx="3022237" cy="1209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1301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static: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routes change slowly over time</a:t>
              </a:r>
              <a:endParaRPr b="0" i="0" sz="2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703" name="Google Shape;703;p14"/>
          <p:cNvSpPr/>
          <p:nvPr/>
        </p:nvSpPr>
        <p:spPr>
          <a:xfrm>
            <a:off x="4365523" y="2064775"/>
            <a:ext cx="1622322" cy="737419"/>
          </a:xfrm>
          <a:prstGeom prst="ellipse">
            <a:avLst/>
          </a:prstGeom>
          <a:noFill/>
          <a:ln cap="flat" cmpd="sng" w="317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4"/>
          <p:cNvSpPr/>
          <p:nvPr/>
        </p:nvSpPr>
        <p:spPr>
          <a:xfrm>
            <a:off x="3883742" y="5624052"/>
            <a:ext cx="2281083" cy="737419"/>
          </a:xfrm>
          <a:prstGeom prst="ellipse">
            <a:avLst/>
          </a:prstGeom>
          <a:noFill/>
          <a:ln cap="flat" cmpd="sng" w="317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1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711" name="Google Shape;7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15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5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 state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distance vector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6"/>
          <p:cNvSpPr txBox="1"/>
          <p:nvPr>
            <p:ph type="title"/>
          </p:nvPr>
        </p:nvSpPr>
        <p:spPr>
          <a:xfrm>
            <a:off x="838200" y="348585"/>
            <a:ext cx="9839632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link-state routing algorithm</a:t>
            </a:r>
            <a:endParaRPr/>
          </a:p>
        </p:txBody>
      </p:sp>
      <p:sp>
        <p:nvSpPr>
          <p:cNvPr id="720" name="Google Shape;720;p16"/>
          <p:cNvSpPr txBox="1"/>
          <p:nvPr/>
        </p:nvSpPr>
        <p:spPr>
          <a:xfrm>
            <a:off x="750989" y="1541236"/>
            <a:ext cx="5875442" cy="4903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centralized: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 topology, link costs known to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nodes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accomplished via “link state broadcast”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nodes have same info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computes least cost paths from one node (“source”) to all other nodes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gives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forwarding table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that node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iterative: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after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iterations, know least cost path to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destinations</a:t>
            </a:r>
            <a:endParaRPr/>
          </a:p>
        </p:txBody>
      </p:sp>
      <p:grpSp>
        <p:nvGrpSpPr>
          <p:cNvPr id="721" name="Google Shape;721;p16"/>
          <p:cNvGrpSpPr/>
          <p:nvPr/>
        </p:nvGrpSpPr>
        <p:grpSpPr>
          <a:xfrm>
            <a:off x="7315200" y="1524000"/>
            <a:ext cx="4441371" cy="4882184"/>
            <a:chOff x="7315200" y="1524000"/>
            <a:chExt cx="4441371" cy="4882184"/>
          </a:xfrm>
        </p:grpSpPr>
        <p:sp>
          <p:nvSpPr>
            <p:cNvPr id="722" name="Google Shape;722;p16"/>
            <p:cNvSpPr txBox="1"/>
            <p:nvPr/>
          </p:nvSpPr>
          <p:spPr>
            <a:xfrm>
              <a:off x="7387774" y="2168014"/>
              <a:ext cx="4310742" cy="4238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73050" lvl="0" marL="403225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1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="0" baseline="-25000" i="1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a,b</a:t>
              </a:r>
              <a:r>
                <a:rPr b="0" i="1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sng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direct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link cost from node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;  = ∞ if not direct neighbors</a:t>
              </a:r>
              <a:endParaRPr/>
            </a:p>
            <a:p>
              <a:pPr indent="-273050" lvl="0" marL="403225" marR="0" rtl="0" algn="l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1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D(a):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current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estimate of cost of least-cost-path from source to destination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  <a:p>
              <a:pPr indent="-273050" lvl="0" marL="403225" marR="0" rtl="0" algn="l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1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p(a):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predecessor node along path from source to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  <a:p>
              <a:pPr indent="-273050" lvl="0" marL="403225" marR="0" rtl="0" algn="l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1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N':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set of nodes whose least-cost-path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definitively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known</a:t>
              </a:r>
              <a:endParaRPr/>
            </a:p>
            <a:p>
              <a:pPr indent="-44450" lvl="0" marL="352425" marR="0" rtl="0" algn="l">
                <a:lnSpc>
                  <a:spcPct val="75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23" name="Google Shape;723;p16"/>
            <p:cNvSpPr/>
            <p:nvPr/>
          </p:nvSpPr>
          <p:spPr>
            <a:xfrm>
              <a:off x="7315200" y="1828800"/>
              <a:ext cx="4441371" cy="4339771"/>
            </a:xfrm>
            <a:prstGeom prst="rect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16"/>
            <p:cNvSpPr txBox="1"/>
            <p:nvPr/>
          </p:nvSpPr>
          <p:spPr>
            <a:xfrm>
              <a:off x="7823199" y="1524000"/>
              <a:ext cx="1608967" cy="5847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notation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0" name="Google Shape;730;p17"/>
          <p:cNvGrpSpPr/>
          <p:nvPr/>
        </p:nvGrpSpPr>
        <p:grpSpPr>
          <a:xfrm>
            <a:off x="1088571" y="3643090"/>
            <a:ext cx="1669144" cy="2786743"/>
            <a:chOff x="391885" y="3599543"/>
            <a:chExt cx="1669144" cy="2786743"/>
          </a:xfrm>
        </p:grpSpPr>
        <p:sp>
          <p:nvSpPr>
            <p:cNvPr id="731" name="Google Shape;731;p17"/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17"/>
            <p:cNvSpPr/>
            <p:nvPr/>
          </p:nvSpPr>
          <p:spPr>
            <a:xfrm>
              <a:off x="1161143" y="3715658"/>
              <a:ext cx="899886" cy="258354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33" name="Google Shape;733;p17"/>
            <p:cNvCxnSpPr/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734" name="Google Shape;734;p17"/>
          <p:cNvSpPr txBox="1"/>
          <p:nvPr>
            <p:ph type="title"/>
          </p:nvPr>
        </p:nvSpPr>
        <p:spPr>
          <a:xfrm>
            <a:off x="838200" y="348585"/>
            <a:ext cx="9839632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link-state routing algorithm</a:t>
            </a:r>
            <a:endParaRPr/>
          </a:p>
        </p:txBody>
      </p:sp>
      <p:sp>
        <p:nvSpPr>
          <p:cNvPr id="735" name="Google Shape;735;p17"/>
          <p:cNvSpPr txBox="1"/>
          <p:nvPr/>
        </p:nvSpPr>
        <p:spPr>
          <a:xfrm>
            <a:off x="2157412" y="1225689"/>
            <a:ext cx="9799235" cy="241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Initialization: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  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{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}                              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/* compute least cost path from u to all other nodes */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    for all nodes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      if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adjacent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/* </a:t>
            </a:r>
            <a:r>
              <a:rPr b="0" i="1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initially</a:t>
            </a:r>
            <a:r>
              <a:rPr b="0" i="1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knows direct-path-cost only to  direct neighbors    */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          then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= c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u,a      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/* but may not be </a:t>
            </a:r>
            <a:r>
              <a:rPr b="0" i="1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minimum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cost!                                                    */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      else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∞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 </a:t>
            </a:r>
            <a:endParaRPr/>
          </a:p>
        </p:txBody>
      </p:sp>
      <p:sp>
        <p:nvSpPr>
          <p:cNvPr id="736" name="Google Shape;736;p17"/>
          <p:cNvSpPr txBox="1"/>
          <p:nvPr/>
        </p:nvSpPr>
        <p:spPr>
          <a:xfrm>
            <a:off x="2179184" y="3194942"/>
            <a:ext cx="3075073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1" i="0" sz="24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15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until all nodes in N'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737" name="Google Shape;737;p17"/>
          <p:cNvSpPr txBox="1"/>
          <p:nvPr/>
        </p:nvSpPr>
        <p:spPr>
          <a:xfrm>
            <a:off x="2767012" y="3546934"/>
            <a:ext cx="7463582" cy="2657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update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D(b)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all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adjacent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1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D(b) = </a:t>
            </a:r>
            <a:r>
              <a:rPr b="1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1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 </a:t>
            </a:r>
            <a:r>
              <a:rPr b="1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D(b),  D(a) + c</a:t>
            </a:r>
            <a:r>
              <a:rPr b="1" baseline="-2500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a,b  </a:t>
            </a:r>
            <a:r>
              <a:rPr b="1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="1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/* new least-path-cost to </a:t>
            </a: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either old least-cost-path to</a:t>
            </a: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 known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least-cost-path to </a:t>
            </a: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plus direct-cost from </a:t>
            </a: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*/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8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744" name="Google Shape;744;p18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745" name="Google Shape;745;p18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746" name="Google Shape;746;p18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/>
          </a:p>
        </p:txBody>
      </p:sp>
      <p:sp>
        <p:nvSpPr>
          <p:cNvPr id="747" name="Google Shape;747;p18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/>
          </a:p>
        </p:txBody>
      </p:sp>
      <p:sp>
        <p:nvSpPr>
          <p:cNvPr id="748" name="Google Shape;748;p18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/>
          </a:p>
        </p:txBody>
      </p:sp>
      <p:sp>
        <p:nvSpPr>
          <p:cNvPr id="749" name="Google Shape;749;p18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/>
          </a:p>
        </p:txBody>
      </p:sp>
      <p:cxnSp>
        <p:nvCxnSpPr>
          <p:cNvPr id="750" name="Google Shape;750;p18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51" name="Google Shape;751;p18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752" name="Google Shape;752;p18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18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18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5" name="Google Shape;755;p18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6" name="Google Shape;756;p18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57" name="Google Shape;757;p18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18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18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0" name="Google Shape;760;p18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1" name="Google Shape;761;p18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62" name="Google Shape;762;p18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18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18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5" name="Google Shape;765;p18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6" name="Google Shape;766;p18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67" name="Google Shape;767;p18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18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18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0" name="Google Shape;770;p18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1" name="Google Shape;771;p18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72" name="Google Shape;772;p18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18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18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5" name="Google Shape;775;p18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6" name="Google Shape;776;p18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77" name="Google Shape;777;p18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18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18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80" name="Google Shape;780;p18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1" name="Google Shape;781;p18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82" name="Google Shape;782;p18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18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18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18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18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18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18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18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18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18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18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3" name="Google Shape;793;p18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794" name="Google Shape;794;p18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18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6" name="Google Shape;796;p18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797" name="Google Shape;797;p18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18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9" name="Google Shape;799;p18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800" name="Google Shape;800;p18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18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802" name="Google Shape;802;p18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803" name="Google Shape;803;p18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" name="Google Shape;804;p18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5" name="Google Shape;805;p18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806" name="Google Shape;806;p18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7" name="Google Shape;807;p18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8" name="Google Shape;808;p18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809" name="Google Shape;809;p18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0" name="Google Shape;810;p18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811" name="Google Shape;811;p18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18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18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18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18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18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18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18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18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18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1" name="Google Shape;821;p18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</p:txBody>
      </p:sp>
      <p:sp>
        <p:nvSpPr>
          <p:cNvPr id="822" name="Google Shape;822;p18"/>
          <p:cNvSpPr txBox="1"/>
          <p:nvPr/>
        </p:nvSpPr>
        <p:spPr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5,u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4,x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</p:txBody>
      </p:sp>
      <p:grpSp>
        <p:nvGrpSpPr>
          <p:cNvPr id="823" name="Google Shape;823;p18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824" name="Google Shape;824;p18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  <p:sp>
          <p:nvSpPr>
            <p:cNvPr id="825" name="Google Shape;825;p18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18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18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/>
            </a:p>
          </p:txBody>
        </p:sp>
        <p:sp>
          <p:nvSpPr>
            <p:cNvPr id="828" name="Google Shape;828;p18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829" name="Google Shape;829;p18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830" name="Google Shape;830;p18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1" name="Google Shape;831;p18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2" name="Google Shape;832;p18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3" name="Google Shape;833;p18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4" name="Google Shape;834;p18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35" name="Google Shape;835;p18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836" name="Google Shape;836;p18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837" name="Google Shape;837;p18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838" name="Google Shape;838;p18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839" name="Google Shape;839;p18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sp>
        <p:nvSpPr>
          <p:cNvPr id="840" name="Google Shape;840;p18"/>
          <p:cNvSpPr/>
          <p:nvPr/>
        </p:nvSpPr>
        <p:spPr>
          <a:xfrm>
            <a:off x="4413452" y="4056991"/>
            <a:ext cx="6165083" cy="757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13A3"/>
                </a:solidFill>
                <a:latin typeface="Calibri"/>
                <a:ea typeface="Calibri"/>
                <a:cs typeface="Calibri"/>
                <a:sym typeface="Calibri"/>
              </a:rPr>
              <a:t>Initialization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(step 0):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For all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if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adjacent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= c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u,a </a:t>
            </a:r>
            <a:endParaRPr b="0" baseline="-2500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19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847" name="Google Shape;847;p19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848" name="Google Shape;848;p19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849" name="Google Shape;849;p19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/>
          </a:p>
        </p:txBody>
      </p:sp>
      <p:sp>
        <p:nvSpPr>
          <p:cNvPr id="850" name="Google Shape;850;p19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/>
          </a:p>
        </p:txBody>
      </p:sp>
      <p:sp>
        <p:nvSpPr>
          <p:cNvPr id="851" name="Google Shape;851;p19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/>
          </a:p>
        </p:txBody>
      </p:sp>
      <p:sp>
        <p:nvSpPr>
          <p:cNvPr id="852" name="Google Shape;852;p19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/>
          </a:p>
        </p:txBody>
      </p:sp>
      <p:cxnSp>
        <p:nvCxnSpPr>
          <p:cNvPr id="853" name="Google Shape;853;p19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4" name="Google Shape;854;p19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</p:txBody>
      </p:sp>
      <p:sp>
        <p:nvSpPr>
          <p:cNvPr id="855" name="Google Shape;855;p19"/>
          <p:cNvSpPr txBox="1"/>
          <p:nvPr/>
        </p:nvSpPr>
        <p:spPr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5,u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4,x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</p:txBody>
      </p:sp>
      <p:grpSp>
        <p:nvGrpSpPr>
          <p:cNvPr id="856" name="Google Shape;856;p19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857" name="Google Shape;857;p19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  <p:sp>
          <p:nvSpPr>
            <p:cNvPr id="858" name="Google Shape;858;p19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19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19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/>
            </a:p>
          </p:txBody>
        </p:sp>
        <p:sp>
          <p:nvSpPr>
            <p:cNvPr id="861" name="Google Shape;861;p19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862" name="Google Shape;862;p19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863" name="Google Shape;863;p19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4" name="Google Shape;864;p19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5" name="Google Shape;865;p19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6" name="Google Shape;866;p19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7" name="Google Shape;867;p19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68" name="Google Shape;868;p19"/>
          <p:cNvSpPr txBox="1"/>
          <p:nvPr/>
        </p:nvSpPr>
        <p:spPr>
          <a:xfrm>
            <a:off x="5517465" y="3427169"/>
            <a:ext cx="1221809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    </a:t>
            </a:r>
            <a:endParaRPr/>
          </a:p>
        </p:txBody>
      </p:sp>
      <p:sp>
        <p:nvSpPr>
          <p:cNvPr id="869" name="Google Shape;869;p19"/>
          <p:cNvSpPr txBox="1"/>
          <p:nvPr/>
        </p:nvSpPr>
        <p:spPr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/>
          </a:p>
        </p:txBody>
      </p:sp>
      <p:grpSp>
        <p:nvGrpSpPr>
          <p:cNvPr id="870" name="Google Shape;870;p19"/>
          <p:cNvGrpSpPr/>
          <p:nvPr/>
        </p:nvGrpSpPr>
        <p:grpSpPr>
          <a:xfrm>
            <a:off x="3119488" y="1277257"/>
            <a:ext cx="4176312" cy="1355408"/>
            <a:chOff x="3119488" y="1277257"/>
            <a:chExt cx="4176312" cy="1355408"/>
          </a:xfrm>
        </p:grpSpPr>
        <p:sp>
          <p:nvSpPr>
            <p:cNvPr id="871" name="Google Shape;871;p19"/>
            <p:cNvSpPr/>
            <p:nvPr/>
          </p:nvSpPr>
          <p:spPr>
            <a:xfrm>
              <a:off x="6845203" y="1277257"/>
              <a:ext cx="450597" cy="402666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72" name="Google Shape;872;p19"/>
            <p:cNvCxnSpPr>
              <a:stCxn id="871" idx="2"/>
              <a:endCxn id="873" idx="6"/>
            </p:cNvCxnSpPr>
            <p:nvPr/>
          </p:nvCxnSpPr>
          <p:spPr>
            <a:xfrm flipH="1">
              <a:off x="3421603" y="1478590"/>
              <a:ext cx="3423600" cy="10062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873" name="Google Shape;873;p19"/>
            <p:cNvSpPr/>
            <p:nvPr/>
          </p:nvSpPr>
          <p:spPr>
            <a:xfrm>
              <a:off x="3119488" y="2337133"/>
              <a:ext cx="302217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4" name="Google Shape;874;p19"/>
          <p:cNvSpPr/>
          <p:nvPr/>
        </p:nvSpPr>
        <p:spPr>
          <a:xfrm>
            <a:off x="6843529" y="2025568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75" name="Google Shape;875;p19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876" name="Google Shape;876;p19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877" name="Google Shape;877;p19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878" name="Google Shape;878;p19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879" name="Google Shape;879;p19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880" name="Google Shape;880;p19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pSp>
        <p:nvGrpSpPr>
          <p:cNvPr id="881" name="Google Shape;881;p19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882" name="Google Shape;882;p19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19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19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85" name="Google Shape;885;p19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6" name="Google Shape;886;p19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87" name="Google Shape;887;p19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19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19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90" name="Google Shape;890;p19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1" name="Google Shape;891;p19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2" name="Google Shape;892;p19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19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19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95" name="Google Shape;895;p19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6" name="Google Shape;896;p19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7" name="Google Shape;897;p19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19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19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00" name="Google Shape;900;p19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1" name="Google Shape;901;p19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02" name="Google Shape;902;p19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19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19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05" name="Google Shape;905;p19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6" name="Google Shape;906;p19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07" name="Google Shape;907;p19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19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19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10" name="Google Shape;910;p19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1" name="Google Shape;911;p19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12" name="Google Shape;912;p19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19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19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19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19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19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19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19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19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3" name="Google Shape;923;p19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924" name="Google Shape;924;p19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" name="Google Shape;925;p19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26" name="Google Shape;926;p19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927" name="Google Shape;927;p1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8" name="Google Shape;928;p19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29" name="Google Shape;929;p19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930" name="Google Shape;930;p19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1" name="Google Shape;931;p19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932" name="Google Shape;932;p19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933" name="Google Shape;933;p19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4" name="Google Shape;934;p19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5" name="Google Shape;935;p19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936" name="Google Shape;936;p1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7" name="Google Shape;937;p19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8" name="Google Shape;938;p19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939" name="Google Shape;939;p1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0" name="Google Shape;940;p19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941" name="Google Shape;941;p19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19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19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19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19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19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19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19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19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19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51" name="Google Shape;951;p19"/>
          <p:cNvCxnSpPr/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7" name="Google Shape;957;p20"/>
          <p:cNvGrpSpPr/>
          <p:nvPr/>
        </p:nvGrpSpPr>
        <p:grpSpPr>
          <a:xfrm>
            <a:off x="4454071" y="3833590"/>
            <a:ext cx="1669144" cy="2786743"/>
            <a:chOff x="391885" y="3599543"/>
            <a:chExt cx="1669144" cy="2786743"/>
          </a:xfrm>
        </p:grpSpPr>
        <p:sp>
          <p:nvSpPr>
            <p:cNvPr id="958" name="Google Shape;958;p20"/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20"/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60" name="Google Shape;960;p20"/>
            <p:cNvCxnSpPr/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961" name="Google Shape;961;p20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962" name="Google Shape;962;p20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963" name="Google Shape;963;p20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964" name="Google Shape;964;p20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/>
          </a:p>
        </p:txBody>
      </p:sp>
      <p:sp>
        <p:nvSpPr>
          <p:cNvPr id="965" name="Google Shape;965;p20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/>
          </a:p>
        </p:txBody>
      </p:sp>
      <p:sp>
        <p:nvSpPr>
          <p:cNvPr id="966" name="Google Shape;966;p20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/>
          </a:p>
        </p:txBody>
      </p:sp>
      <p:sp>
        <p:nvSpPr>
          <p:cNvPr id="967" name="Google Shape;967;p20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/>
          </a:p>
        </p:txBody>
      </p:sp>
      <p:cxnSp>
        <p:nvCxnSpPr>
          <p:cNvPr id="968" name="Google Shape;968;p20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9" name="Google Shape;969;p20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</p:txBody>
      </p:sp>
      <p:sp>
        <p:nvSpPr>
          <p:cNvPr id="970" name="Google Shape;970;p20"/>
          <p:cNvSpPr txBox="1"/>
          <p:nvPr/>
        </p:nvSpPr>
        <p:spPr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5,u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4,x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</p:txBody>
      </p:sp>
      <p:grpSp>
        <p:nvGrpSpPr>
          <p:cNvPr id="971" name="Google Shape;971;p20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972" name="Google Shape;972;p20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  <p:sp>
          <p:nvSpPr>
            <p:cNvPr id="973" name="Google Shape;973;p20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20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20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/>
            </a:p>
          </p:txBody>
        </p:sp>
        <p:sp>
          <p:nvSpPr>
            <p:cNvPr id="976" name="Google Shape;976;p20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977" name="Google Shape;977;p20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978" name="Google Shape;978;p20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9" name="Google Shape;979;p20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0" name="Google Shape;980;p20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1" name="Google Shape;981;p20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2" name="Google Shape;982;p20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3" name="Google Shape;983;p20"/>
          <p:cNvSpPr txBox="1"/>
          <p:nvPr/>
        </p:nvSpPr>
        <p:spPr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    </a:t>
            </a:r>
            <a:endParaRPr/>
          </a:p>
        </p:txBody>
      </p:sp>
      <p:sp>
        <p:nvSpPr>
          <p:cNvPr id="984" name="Google Shape;984;p20"/>
          <p:cNvSpPr txBox="1"/>
          <p:nvPr/>
        </p:nvSpPr>
        <p:spPr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/>
          </a:p>
        </p:txBody>
      </p:sp>
      <p:sp>
        <p:nvSpPr>
          <p:cNvPr id="985" name="Google Shape;985;p20"/>
          <p:cNvSpPr/>
          <p:nvPr/>
        </p:nvSpPr>
        <p:spPr>
          <a:xfrm>
            <a:off x="6843529" y="2025568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86" name="Google Shape;986;p20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987" name="Google Shape;987;p20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988" name="Google Shape;988;p20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989" name="Google Shape;989;p20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990" name="Google Shape;990;p20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991" name="Google Shape;991;p20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pSp>
        <p:nvGrpSpPr>
          <p:cNvPr id="992" name="Google Shape;992;p20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993" name="Google Shape;993;p20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20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20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96" name="Google Shape;996;p20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7" name="Google Shape;997;p20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98" name="Google Shape;998;p20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01" name="Google Shape;1001;p20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2" name="Google Shape;1002;p20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03" name="Google Shape;1003;p20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20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06" name="Google Shape;1006;p20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7" name="Google Shape;1007;p20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08" name="Google Shape;1008;p20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20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11" name="Google Shape;1011;p20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2" name="Google Shape;1012;p20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13" name="Google Shape;1013;p20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20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20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16" name="Google Shape;1016;p20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7" name="Google Shape;1017;p20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18" name="Google Shape;1018;p20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20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20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21" name="Google Shape;1021;p20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2" name="Google Shape;1022;p20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23" name="Google Shape;1023;p20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20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20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20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20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20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4" name="Google Shape;1034;p20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035" name="Google Shape;1035;p20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6" name="Google Shape;1036;p20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37" name="Google Shape;1037;p20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038" name="Google Shape;1038;p20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9" name="Google Shape;1039;p20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40" name="Google Shape;1040;p20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041" name="Google Shape;1041;p20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2" name="Google Shape;1042;p20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1043" name="Google Shape;1043;p20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044" name="Google Shape;1044;p20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5" name="Google Shape;1045;p20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46" name="Google Shape;1046;p20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047" name="Google Shape;1047;p20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8" name="Google Shape;1048;p20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49" name="Google Shape;1049;p20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050" name="Google Shape;1050;p20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1" name="Google Shape;1051;p20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1052" name="Google Shape;1052;p20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20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20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20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20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20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20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20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20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20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62" name="Google Shape;1062;p20"/>
          <p:cNvCxnSpPr/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63" name="Google Shape;1063;p20"/>
          <p:cNvSpPr txBox="1"/>
          <p:nvPr/>
        </p:nvSpPr>
        <p:spPr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update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D(b)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all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adjacent to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not in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200"/>
              <a:buFont typeface="Calibri"/>
              <a:buNone/>
            </a:pP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D(b) = </a:t>
            </a:r>
            <a:r>
              <a:rPr b="1" i="0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( D(b), D(a) + c</a:t>
            </a:r>
            <a:r>
              <a:rPr b="1" baseline="-25000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a,b </a:t>
            </a: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/>
          </a:p>
        </p:txBody>
      </p:sp>
      <p:grpSp>
        <p:nvGrpSpPr>
          <p:cNvPr id="1064" name="Google Shape;1064;p20"/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065" name="Google Shape;1065;p20"/>
            <p:cNvSpPr txBox="1"/>
            <p:nvPr/>
          </p:nvSpPr>
          <p:spPr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20"/>
            <p:cNvSpPr txBox="1"/>
            <p:nvPr/>
          </p:nvSpPr>
          <p:spPr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2,x</a:t>
              </a:r>
              <a:endParaRPr/>
            </a:p>
          </p:txBody>
        </p:sp>
        <p:sp>
          <p:nvSpPr>
            <p:cNvPr id="1067" name="Google Shape;1067;p20"/>
            <p:cNvSpPr txBox="1"/>
            <p:nvPr/>
          </p:nvSpPr>
          <p:spPr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4,x</a:t>
              </a:r>
              <a:endParaRPr/>
            </a:p>
          </p:txBody>
        </p:sp>
        <p:sp>
          <p:nvSpPr>
            <p:cNvPr id="1068" name="Google Shape;1068;p20"/>
            <p:cNvSpPr txBox="1"/>
            <p:nvPr/>
          </p:nvSpPr>
          <p:spPr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grpSp>
        <p:nvGrpSpPr>
          <p:cNvPr id="1069" name="Google Shape;1069;p20"/>
          <p:cNvGrpSpPr/>
          <p:nvPr/>
        </p:nvGrpSpPr>
        <p:grpSpPr>
          <a:xfrm>
            <a:off x="6514034" y="5634994"/>
            <a:ext cx="5187639" cy="1034693"/>
            <a:chOff x="4625273" y="5620004"/>
            <a:chExt cx="5187639" cy="1034693"/>
          </a:xfrm>
        </p:grpSpPr>
        <p:sp>
          <p:nvSpPr>
            <p:cNvPr id="1070" name="Google Shape;1070;p20"/>
            <p:cNvSpPr/>
            <p:nvPr/>
          </p:nvSpPr>
          <p:spPr>
            <a:xfrm>
              <a:off x="4661941" y="5696262"/>
              <a:ext cx="5066675" cy="929390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20"/>
            <p:cNvSpPr txBox="1"/>
            <p:nvPr/>
          </p:nvSpPr>
          <p:spPr>
            <a:xfrm>
              <a:off x="4667745" y="5620004"/>
              <a:ext cx="494718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D(v) = min ( D(v), D(x) + c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x,v </a:t>
              </a: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= min(2, 1+2) = 2 </a:t>
              </a:r>
              <a:endParaRPr/>
            </a:p>
          </p:txBody>
        </p:sp>
        <p:sp>
          <p:nvSpPr>
            <p:cNvPr id="1072" name="Google Shape;1072;p20"/>
            <p:cNvSpPr txBox="1"/>
            <p:nvPr/>
          </p:nvSpPr>
          <p:spPr>
            <a:xfrm>
              <a:off x="4625273" y="5937296"/>
              <a:ext cx="5187639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D(w) = min ( D(w), D(x) + c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x,w </a:t>
              </a: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= min (5, 1+3) = 4 </a:t>
              </a:r>
              <a:endParaRPr/>
            </a:p>
          </p:txBody>
        </p:sp>
        <p:sp>
          <p:nvSpPr>
            <p:cNvPr id="1073" name="Google Shape;1073;p20"/>
            <p:cNvSpPr txBox="1"/>
            <p:nvPr/>
          </p:nvSpPr>
          <p:spPr>
            <a:xfrm>
              <a:off x="4702721" y="6254587"/>
              <a:ext cx="50777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D(y) = min ( D(y), D(x) + c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x,y </a:t>
              </a: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= min(inf,1+1) = 2  </a:t>
              </a:r>
              <a:endParaRPr/>
            </a:p>
          </p:txBody>
        </p:sp>
      </p:grpSp>
      <p:grpSp>
        <p:nvGrpSpPr>
          <p:cNvPr id="1074" name="Google Shape;1074;p20"/>
          <p:cNvGrpSpPr/>
          <p:nvPr/>
        </p:nvGrpSpPr>
        <p:grpSpPr>
          <a:xfrm>
            <a:off x="11325192" y="5891134"/>
            <a:ext cx="706683" cy="802632"/>
            <a:chOff x="11325192" y="5891134"/>
            <a:chExt cx="706683" cy="802632"/>
          </a:xfrm>
        </p:grpSpPr>
        <p:pic>
          <p:nvPicPr>
            <p:cNvPr descr="A picture containing object, drawing, room, lamp&#10;&#10;Description automatically generated" id="1075" name="Google Shape;1075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533739" y="5891134"/>
              <a:ext cx="498136" cy="4497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object, drawing, room, lamp&#10;&#10;Description automatically generated" id="1076" name="Google Shape;1076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325192" y="6244060"/>
              <a:ext cx="498136" cy="4497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21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1083" name="Google Shape;1083;p21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084" name="Google Shape;1084;p21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1085" name="Google Shape;1085;p21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/>
          </a:p>
        </p:txBody>
      </p:sp>
      <p:sp>
        <p:nvSpPr>
          <p:cNvPr id="1086" name="Google Shape;1086;p21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/>
          </a:p>
        </p:txBody>
      </p:sp>
      <p:sp>
        <p:nvSpPr>
          <p:cNvPr id="1087" name="Google Shape;1087;p21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/>
          </a:p>
        </p:txBody>
      </p:sp>
      <p:sp>
        <p:nvSpPr>
          <p:cNvPr id="1088" name="Google Shape;1088;p21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/>
          </a:p>
        </p:txBody>
      </p:sp>
      <p:cxnSp>
        <p:nvCxnSpPr>
          <p:cNvPr id="1089" name="Google Shape;1089;p21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0" name="Google Shape;1090;p21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</p:txBody>
      </p:sp>
      <p:sp>
        <p:nvSpPr>
          <p:cNvPr id="1091" name="Google Shape;1091;p21"/>
          <p:cNvSpPr txBox="1"/>
          <p:nvPr/>
        </p:nvSpPr>
        <p:spPr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5,u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4,x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</p:txBody>
      </p:sp>
      <p:grpSp>
        <p:nvGrpSpPr>
          <p:cNvPr id="1092" name="Google Shape;1092;p21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1093" name="Google Shape;1093;p21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  <p:sp>
          <p:nvSpPr>
            <p:cNvPr id="1094" name="Google Shape;1094;p21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21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21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/>
            </a:p>
          </p:txBody>
        </p:sp>
        <p:sp>
          <p:nvSpPr>
            <p:cNvPr id="1097" name="Google Shape;1097;p21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098" name="Google Shape;1098;p21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1099" name="Google Shape;1099;p21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0" name="Google Shape;1100;p21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1" name="Google Shape;1101;p21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2" name="Google Shape;1102;p21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3" name="Google Shape;1103;p21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4" name="Google Shape;1104;p21"/>
          <p:cNvSpPr txBox="1"/>
          <p:nvPr/>
        </p:nvSpPr>
        <p:spPr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</p:txBody>
      </p:sp>
      <p:sp>
        <p:nvSpPr>
          <p:cNvPr id="1105" name="Google Shape;1105;p21"/>
          <p:cNvSpPr txBox="1"/>
          <p:nvPr/>
        </p:nvSpPr>
        <p:spPr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/>
          </a:p>
        </p:txBody>
      </p:sp>
      <p:sp>
        <p:nvSpPr>
          <p:cNvPr id="1106" name="Google Shape;1106;p21"/>
          <p:cNvSpPr/>
          <p:nvPr/>
        </p:nvSpPr>
        <p:spPr>
          <a:xfrm>
            <a:off x="6843529" y="2025568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07" name="Google Shape;1107;p21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1108" name="Google Shape;1108;p21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1109" name="Google Shape;1109;p21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1110" name="Google Shape;1110;p21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111" name="Google Shape;1111;p21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1112" name="Google Shape;1112;p21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pSp>
        <p:nvGrpSpPr>
          <p:cNvPr id="1113" name="Google Shape;1113;p21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114" name="Google Shape;1114;p21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21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21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17" name="Google Shape;1117;p21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8" name="Google Shape;1118;p21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19" name="Google Shape;1119;p21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21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21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22" name="Google Shape;1122;p21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3" name="Google Shape;1123;p21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24" name="Google Shape;1124;p21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21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21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27" name="Google Shape;1127;p21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8" name="Google Shape;1128;p21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29" name="Google Shape;1129;p21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21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21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32" name="Google Shape;1132;p21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3" name="Google Shape;1133;p21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34" name="Google Shape;1134;p21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21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21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37" name="Google Shape;1137;p21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8" name="Google Shape;1138;p21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39" name="Google Shape;1139;p21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21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21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42" name="Google Shape;1142;p21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3" name="Google Shape;1143;p21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4" name="Google Shape;1144;p21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21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21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21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21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21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21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21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21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21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21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55" name="Google Shape;1155;p21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156" name="Google Shape;1156;p21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7" name="Google Shape;1157;p21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58" name="Google Shape;1158;p21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159" name="Google Shape;1159;p21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0" name="Google Shape;1160;p21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1" name="Google Shape;1161;p21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162" name="Google Shape;1162;p21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3" name="Google Shape;1163;p21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1164" name="Google Shape;1164;p21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165" name="Google Shape;1165;p21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6" name="Google Shape;1166;p21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7" name="Google Shape;1167;p21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168" name="Google Shape;1168;p21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9" name="Google Shape;1169;p21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0" name="Google Shape;1170;p21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171" name="Google Shape;1171;p21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2" name="Google Shape;1172;p21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1173" name="Google Shape;1173;p21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21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21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21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21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21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21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21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21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21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83" name="Google Shape;1183;p21"/>
          <p:cNvCxnSpPr/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84" name="Google Shape;1184;p21"/>
          <p:cNvSpPr txBox="1"/>
          <p:nvPr/>
        </p:nvSpPr>
        <p:spPr>
          <a:xfrm>
            <a:off x="9564285" y="2301914"/>
            <a:ext cx="3786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∞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21"/>
          <p:cNvSpPr txBox="1"/>
          <p:nvPr/>
        </p:nvSpPr>
        <p:spPr>
          <a:xfrm>
            <a:off x="8206722" y="2260378"/>
            <a:ext cx="52610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2,x</a:t>
            </a:r>
            <a:endParaRPr/>
          </a:p>
        </p:txBody>
      </p:sp>
      <p:sp>
        <p:nvSpPr>
          <p:cNvPr id="1186" name="Google Shape;1186;p21"/>
          <p:cNvSpPr txBox="1"/>
          <p:nvPr/>
        </p:nvSpPr>
        <p:spPr>
          <a:xfrm>
            <a:off x="5566247" y="2271953"/>
            <a:ext cx="52610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4,x</a:t>
            </a:r>
            <a:endParaRPr/>
          </a:p>
        </p:txBody>
      </p:sp>
      <p:sp>
        <p:nvSpPr>
          <p:cNvPr id="1187" name="Google Shape;1187;p21"/>
          <p:cNvSpPr txBox="1"/>
          <p:nvPr/>
        </p:nvSpPr>
        <p:spPr>
          <a:xfrm>
            <a:off x="4263633" y="2255616"/>
            <a:ext cx="54053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2,u</a:t>
            </a:r>
            <a:endParaRPr/>
          </a:p>
        </p:txBody>
      </p:sp>
      <p:grpSp>
        <p:nvGrpSpPr>
          <p:cNvPr id="1188" name="Google Shape;1188;p21"/>
          <p:cNvGrpSpPr/>
          <p:nvPr/>
        </p:nvGrpSpPr>
        <p:grpSpPr>
          <a:xfrm>
            <a:off x="3117557" y="1351723"/>
            <a:ext cx="5481203" cy="1572238"/>
            <a:chOff x="-1091379" y="187714"/>
            <a:chExt cx="5481203" cy="1572238"/>
          </a:xfrm>
        </p:grpSpPr>
        <p:sp>
          <p:nvSpPr>
            <p:cNvPr id="1189" name="Google Shape;1189;p21"/>
            <p:cNvSpPr/>
            <p:nvPr/>
          </p:nvSpPr>
          <p:spPr>
            <a:xfrm>
              <a:off x="4024279" y="187714"/>
              <a:ext cx="365545" cy="336679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90" name="Google Shape;1190;p21"/>
            <p:cNvCxnSpPr>
              <a:stCxn id="1189" idx="2"/>
              <a:endCxn id="1191" idx="6"/>
            </p:cNvCxnSpPr>
            <p:nvPr/>
          </p:nvCxnSpPr>
          <p:spPr>
            <a:xfrm flipH="1">
              <a:off x="-789221" y="356054"/>
              <a:ext cx="4813500" cy="12561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191" name="Google Shape;1191;p21"/>
            <p:cNvSpPr/>
            <p:nvPr/>
          </p:nvSpPr>
          <p:spPr>
            <a:xfrm>
              <a:off x="-1091379" y="1464420"/>
              <a:ext cx="302217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2" name="Google Shape;1192;p21"/>
          <p:cNvSpPr/>
          <p:nvPr/>
        </p:nvSpPr>
        <p:spPr>
          <a:xfrm>
            <a:off x="8195837" y="2316864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93" name="Google Shape;1193;p21"/>
          <p:cNvSpPr txBox="1"/>
          <p:nvPr/>
        </p:nvSpPr>
        <p:spPr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</a:t>
            </a:r>
            <a:endParaRPr/>
          </a:p>
        </p:txBody>
      </p:sp>
      <p:cxnSp>
        <p:nvCxnSpPr>
          <p:cNvPr id="1194" name="Google Shape;1194;p21"/>
          <p:cNvCxnSpPr/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0" name="Google Shape;1200;p22"/>
          <p:cNvGrpSpPr/>
          <p:nvPr/>
        </p:nvGrpSpPr>
        <p:grpSpPr>
          <a:xfrm>
            <a:off x="4454071" y="3833590"/>
            <a:ext cx="1669144" cy="2786743"/>
            <a:chOff x="391885" y="3599543"/>
            <a:chExt cx="1669144" cy="2786743"/>
          </a:xfrm>
        </p:grpSpPr>
        <p:sp>
          <p:nvSpPr>
            <p:cNvPr id="1201" name="Google Shape;1201;p22"/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22"/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03" name="Google Shape;1203;p22"/>
            <p:cNvCxnSpPr/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204" name="Google Shape;1204;p22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1205" name="Google Shape;1205;p22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206" name="Google Shape;1206;p22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1207" name="Google Shape;1207;p22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/>
          </a:p>
        </p:txBody>
      </p:sp>
      <p:sp>
        <p:nvSpPr>
          <p:cNvPr id="1208" name="Google Shape;1208;p22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/>
          </a:p>
        </p:txBody>
      </p:sp>
      <p:sp>
        <p:nvSpPr>
          <p:cNvPr id="1209" name="Google Shape;1209;p22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/>
          </a:p>
        </p:txBody>
      </p:sp>
      <p:sp>
        <p:nvSpPr>
          <p:cNvPr id="1210" name="Google Shape;1210;p22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/>
          </a:p>
        </p:txBody>
      </p:sp>
      <p:cxnSp>
        <p:nvCxnSpPr>
          <p:cNvPr id="1211" name="Google Shape;1211;p22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2" name="Google Shape;1212;p22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</p:txBody>
      </p:sp>
      <p:grpSp>
        <p:nvGrpSpPr>
          <p:cNvPr id="1213" name="Google Shape;1213;p22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1214" name="Google Shape;1214;p22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  <p:sp>
          <p:nvSpPr>
            <p:cNvPr id="1215" name="Google Shape;1215;p22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22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22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/>
            </a:p>
          </p:txBody>
        </p:sp>
        <p:sp>
          <p:nvSpPr>
            <p:cNvPr id="1218" name="Google Shape;1218;p22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219" name="Google Shape;1219;p22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1220" name="Google Shape;1220;p22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1" name="Google Shape;1221;p22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2" name="Google Shape;1222;p22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3" name="Google Shape;1223;p22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4" name="Google Shape;1224;p22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5" name="Google Shape;1225;p22"/>
          <p:cNvSpPr txBox="1"/>
          <p:nvPr/>
        </p:nvSpPr>
        <p:spPr>
          <a:xfrm>
            <a:off x="5517465" y="3427169"/>
            <a:ext cx="122180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</p:txBody>
      </p:sp>
      <p:sp>
        <p:nvSpPr>
          <p:cNvPr id="1226" name="Google Shape;1226;p22"/>
          <p:cNvSpPr txBox="1"/>
          <p:nvPr/>
        </p:nvSpPr>
        <p:spPr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/>
          </a:p>
        </p:txBody>
      </p:sp>
      <p:sp>
        <p:nvSpPr>
          <p:cNvPr id="1227" name="Google Shape;1227;p22"/>
          <p:cNvSpPr/>
          <p:nvPr/>
        </p:nvSpPr>
        <p:spPr>
          <a:xfrm>
            <a:off x="6843529" y="2025568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28" name="Google Shape;1228;p22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1229" name="Google Shape;1229;p22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1230" name="Google Shape;1230;p22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1231" name="Google Shape;1231;p22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232" name="Google Shape;1232;p22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1233" name="Google Shape;1233;p22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pSp>
        <p:nvGrpSpPr>
          <p:cNvPr id="1234" name="Google Shape;1234;p22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35" name="Google Shape;1235;p22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22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22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38" name="Google Shape;1238;p22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9" name="Google Shape;1239;p22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40" name="Google Shape;1240;p22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22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22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43" name="Google Shape;1243;p22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4" name="Google Shape;1244;p22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45" name="Google Shape;1245;p22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22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22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48" name="Google Shape;1248;p22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9" name="Google Shape;1249;p22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50" name="Google Shape;1250;p22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22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22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3" name="Google Shape;1253;p22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4" name="Google Shape;1254;p22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55" name="Google Shape;1255;p22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22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22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8" name="Google Shape;1258;p22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9" name="Google Shape;1259;p22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60" name="Google Shape;1260;p22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22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22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63" name="Google Shape;1263;p22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4" name="Google Shape;1264;p22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65" name="Google Shape;1265;p22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22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22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22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22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22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22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22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22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22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22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76" name="Google Shape;1276;p22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277" name="Google Shape;1277;p22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8" name="Google Shape;1278;p22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79" name="Google Shape;1279;p22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280" name="Google Shape;1280;p22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1" name="Google Shape;1281;p22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82" name="Google Shape;1282;p22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283" name="Google Shape;1283;p22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4" name="Google Shape;1284;p22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1285" name="Google Shape;1285;p22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286" name="Google Shape;1286;p22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7" name="Google Shape;1287;p22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88" name="Google Shape;1288;p22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289" name="Google Shape;1289;p22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0" name="Google Shape;1290;p22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91" name="Google Shape;1291;p22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292" name="Google Shape;1292;p22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3" name="Google Shape;1293;p22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1294" name="Google Shape;1294;p22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22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22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22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22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22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22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22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22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22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304" name="Google Shape;1304;p22"/>
          <p:cNvCxnSpPr/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305" name="Google Shape;1305;p22"/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306" name="Google Shape;1306;p22"/>
            <p:cNvSpPr txBox="1"/>
            <p:nvPr/>
          </p:nvSpPr>
          <p:spPr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22"/>
            <p:cNvSpPr txBox="1"/>
            <p:nvPr/>
          </p:nvSpPr>
          <p:spPr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2,x</a:t>
              </a:r>
              <a:endParaRPr/>
            </a:p>
          </p:txBody>
        </p:sp>
        <p:sp>
          <p:nvSpPr>
            <p:cNvPr id="1308" name="Google Shape;1308;p22"/>
            <p:cNvSpPr txBox="1"/>
            <p:nvPr/>
          </p:nvSpPr>
          <p:spPr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4,x</a:t>
              </a:r>
              <a:endParaRPr/>
            </a:p>
          </p:txBody>
        </p:sp>
        <p:sp>
          <p:nvSpPr>
            <p:cNvPr id="1309" name="Google Shape;1309;p22"/>
            <p:cNvSpPr txBox="1"/>
            <p:nvPr/>
          </p:nvSpPr>
          <p:spPr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310" name="Google Shape;1310;p22"/>
          <p:cNvSpPr/>
          <p:nvPr/>
        </p:nvSpPr>
        <p:spPr>
          <a:xfrm>
            <a:off x="8195837" y="2316864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11" name="Google Shape;1311;p22"/>
          <p:cNvSpPr txBox="1"/>
          <p:nvPr/>
        </p:nvSpPr>
        <p:spPr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</a:t>
            </a:r>
            <a:endParaRPr/>
          </a:p>
        </p:txBody>
      </p:sp>
      <p:sp>
        <p:nvSpPr>
          <p:cNvPr id="1312" name="Google Shape;1312;p22"/>
          <p:cNvSpPr txBox="1"/>
          <p:nvPr/>
        </p:nvSpPr>
        <p:spPr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update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D(b)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all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adjacent to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not in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200"/>
              <a:buFont typeface="Calibri"/>
              <a:buNone/>
            </a:pP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D(b) = </a:t>
            </a:r>
            <a:r>
              <a:rPr b="1" i="0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( D(b), D(a) + c</a:t>
            </a:r>
            <a:r>
              <a:rPr b="1" baseline="-25000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a,b </a:t>
            </a: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/>
          </a:p>
        </p:txBody>
      </p:sp>
      <p:grpSp>
        <p:nvGrpSpPr>
          <p:cNvPr id="1313" name="Google Shape;1313;p22"/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314" name="Google Shape;1314;p22"/>
            <p:cNvSpPr txBox="1"/>
            <p:nvPr/>
          </p:nvSpPr>
          <p:spPr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1315" name="Google Shape;1315;p22"/>
            <p:cNvSpPr txBox="1"/>
            <p:nvPr/>
          </p:nvSpPr>
          <p:spPr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  <p:sp>
          <p:nvSpPr>
            <p:cNvPr id="1316" name="Google Shape;1316;p22"/>
            <p:cNvSpPr txBox="1"/>
            <p:nvPr/>
          </p:nvSpPr>
          <p:spPr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grpSp>
        <p:nvGrpSpPr>
          <p:cNvPr id="1317" name="Google Shape;1317;p22"/>
          <p:cNvGrpSpPr/>
          <p:nvPr/>
        </p:nvGrpSpPr>
        <p:grpSpPr>
          <a:xfrm>
            <a:off x="6497409" y="5402237"/>
            <a:ext cx="5187639" cy="1034693"/>
            <a:chOff x="4625273" y="5620004"/>
            <a:chExt cx="5187639" cy="1034693"/>
          </a:xfrm>
        </p:grpSpPr>
        <p:sp>
          <p:nvSpPr>
            <p:cNvPr id="1318" name="Google Shape;1318;p22"/>
            <p:cNvSpPr/>
            <p:nvPr/>
          </p:nvSpPr>
          <p:spPr>
            <a:xfrm>
              <a:off x="4661941" y="5934396"/>
              <a:ext cx="5066675" cy="691255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9" name="Google Shape;1319;p22"/>
            <p:cNvSpPr txBox="1"/>
            <p:nvPr/>
          </p:nvSpPr>
          <p:spPr>
            <a:xfrm>
              <a:off x="4667745" y="5620004"/>
              <a:ext cx="184731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1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0" name="Google Shape;1320;p22"/>
            <p:cNvSpPr txBox="1"/>
            <p:nvPr/>
          </p:nvSpPr>
          <p:spPr>
            <a:xfrm>
              <a:off x="4625273" y="5937296"/>
              <a:ext cx="5187639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D(w) = min ( D(w), D(y) + c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x,w </a:t>
              </a: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= min (4, 2+1) = 3 </a:t>
              </a:r>
              <a:endParaRPr/>
            </a:p>
          </p:txBody>
        </p:sp>
        <p:sp>
          <p:nvSpPr>
            <p:cNvPr id="1321" name="Google Shape;1321;p22"/>
            <p:cNvSpPr txBox="1"/>
            <p:nvPr/>
          </p:nvSpPr>
          <p:spPr>
            <a:xfrm>
              <a:off x="4702721" y="6254587"/>
              <a:ext cx="504375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D(z) = min ( D(z), D(y) + c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y,x </a:t>
              </a: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= min(inf,2+2) = 4  </a:t>
              </a:r>
              <a:endParaRPr/>
            </a:p>
          </p:txBody>
        </p:sp>
      </p:grpSp>
      <p:grpSp>
        <p:nvGrpSpPr>
          <p:cNvPr id="1322" name="Google Shape;1322;p22"/>
          <p:cNvGrpSpPr/>
          <p:nvPr/>
        </p:nvGrpSpPr>
        <p:grpSpPr>
          <a:xfrm>
            <a:off x="11325192" y="5675005"/>
            <a:ext cx="706683" cy="802632"/>
            <a:chOff x="11325192" y="5891134"/>
            <a:chExt cx="706683" cy="802632"/>
          </a:xfrm>
        </p:grpSpPr>
        <p:pic>
          <p:nvPicPr>
            <p:cNvPr descr="A picture containing object, drawing, room, lamp&#10;&#10;Description automatically generated" id="1323" name="Google Shape;1323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533739" y="5891134"/>
              <a:ext cx="498136" cy="4497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object, drawing, room, lamp&#10;&#10;Description automatically generated" id="1324" name="Google Shape;1324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325192" y="6244060"/>
              <a:ext cx="498136" cy="44970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325" name="Google Shape;1325;p22"/>
          <p:cNvCxnSpPr/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23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1332" name="Google Shape;1332;p23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333" name="Google Shape;1333;p23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1334" name="Google Shape;1334;p23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/>
          </a:p>
        </p:txBody>
      </p:sp>
      <p:sp>
        <p:nvSpPr>
          <p:cNvPr id="1335" name="Google Shape;1335;p23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/>
          </a:p>
        </p:txBody>
      </p:sp>
      <p:sp>
        <p:nvSpPr>
          <p:cNvPr id="1336" name="Google Shape;1336;p23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/>
          </a:p>
        </p:txBody>
      </p:sp>
      <p:sp>
        <p:nvSpPr>
          <p:cNvPr id="1337" name="Google Shape;1337;p23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/>
          </a:p>
        </p:txBody>
      </p:sp>
      <p:cxnSp>
        <p:nvCxnSpPr>
          <p:cNvPr id="1338" name="Google Shape;1338;p23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9" name="Google Shape;1339;p23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</p:txBody>
      </p:sp>
      <p:grpSp>
        <p:nvGrpSpPr>
          <p:cNvPr id="1340" name="Google Shape;1340;p23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1341" name="Google Shape;1341;p23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  <p:sp>
          <p:nvSpPr>
            <p:cNvPr id="1342" name="Google Shape;1342;p23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23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23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/>
            </a:p>
          </p:txBody>
        </p:sp>
        <p:sp>
          <p:nvSpPr>
            <p:cNvPr id="1345" name="Google Shape;1345;p23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346" name="Google Shape;1346;p23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1347" name="Google Shape;1347;p23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8" name="Google Shape;1348;p23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9" name="Google Shape;1349;p23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0" name="Google Shape;1350;p23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1" name="Google Shape;1351;p23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2" name="Google Shape;1352;p23"/>
          <p:cNvSpPr txBox="1"/>
          <p:nvPr/>
        </p:nvSpPr>
        <p:spPr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</p:txBody>
      </p:sp>
      <p:sp>
        <p:nvSpPr>
          <p:cNvPr id="1353" name="Google Shape;1353;p23"/>
          <p:cNvSpPr txBox="1"/>
          <p:nvPr/>
        </p:nvSpPr>
        <p:spPr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/>
          </a:p>
        </p:txBody>
      </p:sp>
      <p:sp>
        <p:nvSpPr>
          <p:cNvPr id="1354" name="Google Shape;1354;p23"/>
          <p:cNvSpPr/>
          <p:nvPr/>
        </p:nvSpPr>
        <p:spPr>
          <a:xfrm>
            <a:off x="6843529" y="2025568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55" name="Google Shape;1355;p23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1356" name="Google Shape;1356;p23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1357" name="Google Shape;1357;p23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1358" name="Google Shape;1358;p23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359" name="Google Shape;1359;p23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1360" name="Google Shape;1360;p23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pSp>
        <p:nvGrpSpPr>
          <p:cNvPr id="1361" name="Google Shape;1361;p23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362" name="Google Shape;1362;p23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23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23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65" name="Google Shape;1365;p23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6" name="Google Shape;1366;p23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67" name="Google Shape;1367;p23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23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23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70" name="Google Shape;1370;p23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1" name="Google Shape;1371;p23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72" name="Google Shape;1372;p23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23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23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75" name="Google Shape;1375;p23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6" name="Google Shape;1376;p23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77" name="Google Shape;1377;p23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23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23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80" name="Google Shape;1380;p23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1" name="Google Shape;1381;p23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82" name="Google Shape;1382;p23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23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23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85" name="Google Shape;1385;p23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6" name="Google Shape;1386;p23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87" name="Google Shape;1387;p23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23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23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90" name="Google Shape;1390;p23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1" name="Google Shape;1391;p23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92" name="Google Shape;1392;p23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23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23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23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23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23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23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23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23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23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23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03" name="Google Shape;1403;p23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404" name="Google Shape;1404;p23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5" name="Google Shape;1405;p23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06" name="Google Shape;1406;p23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407" name="Google Shape;1407;p23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8" name="Google Shape;1408;p23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09" name="Google Shape;1409;p23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410" name="Google Shape;1410;p23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1" name="Google Shape;1411;p23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1412" name="Google Shape;1412;p23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413" name="Google Shape;1413;p23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4" name="Google Shape;1414;p23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15" name="Google Shape;1415;p23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416" name="Google Shape;1416;p23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7" name="Google Shape;1417;p23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18" name="Google Shape;1418;p23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419" name="Google Shape;1419;p23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0" name="Google Shape;1420;p23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1421" name="Google Shape;1421;p23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23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23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23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23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23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23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23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23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23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31" name="Google Shape;1431;p23"/>
          <p:cNvCxnSpPr/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432" name="Google Shape;1432;p23"/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433" name="Google Shape;1433;p23"/>
            <p:cNvSpPr txBox="1"/>
            <p:nvPr/>
          </p:nvSpPr>
          <p:spPr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23"/>
            <p:cNvSpPr txBox="1"/>
            <p:nvPr/>
          </p:nvSpPr>
          <p:spPr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2,x</a:t>
              </a:r>
              <a:endParaRPr/>
            </a:p>
          </p:txBody>
        </p:sp>
        <p:sp>
          <p:nvSpPr>
            <p:cNvPr id="1435" name="Google Shape;1435;p23"/>
            <p:cNvSpPr txBox="1"/>
            <p:nvPr/>
          </p:nvSpPr>
          <p:spPr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4,x</a:t>
              </a:r>
              <a:endParaRPr/>
            </a:p>
          </p:txBody>
        </p:sp>
        <p:sp>
          <p:nvSpPr>
            <p:cNvPr id="1436" name="Google Shape;1436;p23"/>
            <p:cNvSpPr txBox="1"/>
            <p:nvPr/>
          </p:nvSpPr>
          <p:spPr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437" name="Google Shape;1437;p23"/>
          <p:cNvSpPr/>
          <p:nvPr/>
        </p:nvSpPr>
        <p:spPr>
          <a:xfrm>
            <a:off x="8195837" y="2316864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38" name="Google Shape;1438;p23"/>
          <p:cNvSpPr txBox="1"/>
          <p:nvPr/>
        </p:nvSpPr>
        <p:spPr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</a:t>
            </a:r>
            <a:endParaRPr/>
          </a:p>
        </p:txBody>
      </p:sp>
      <p:grpSp>
        <p:nvGrpSpPr>
          <p:cNvPr id="1439" name="Google Shape;1439;p23"/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440" name="Google Shape;1440;p23"/>
            <p:cNvSpPr txBox="1"/>
            <p:nvPr/>
          </p:nvSpPr>
          <p:spPr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1441" name="Google Shape;1441;p23"/>
            <p:cNvSpPr txBox="1"/>
            <p:nvPr/>
          </p:nvSpPr>
          <p:spPr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  <p:sp>
          <p:nvSpPr>
            <p:cNvPr id="1442" name="Google Shape;1442;p23"/>
            <p:cNvSpPr txBox="1"/>
            <p:nvPr/>
          </p:nvSpPr>
          <p:spPr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grpSp>
        <p:nvGrpSpPr>
          <p:cNvPr id="1443" name="Google Shape;1443;p23"/>
          <p:cNvGrpSpPr/>
          <p:nvPr/>
        </p:nvGrpSpPr>
        <p:grpSpPr>
          <a:xfrm>
            <a:off x="3109189" y="1355510"/>
            <a:ext cx="1542110" cy="1873826"/>
            <a:chOff x="3109189" y="1355510"/>
            <a:chExt cx="1542110" cy="1873826"/>
          </a:xfrm>
        </p:grpSpPr>
        <p:sp>
          <p:nvSpPr>
            <p:cNvPr id="1444" name="Google Shape;1444;p23"/>
            <p:cNvSpPr/>
            <p:nvPr/>
          </p:nvSpPr>
          <p:spPr>
            <a:xfrm>
              <a:off x="4336203" y="1355510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45" name="Google Shape;1445;p23"/>
            <p:cNvCxnSpPr>
              <a:stCxn id="1444" idx="2"/>
              <a:endCxn id="1446" idx="6"/>
            </p:cNvCxnSpPr>
            <p:nvPr/>
          </p:nvCxnSpPr>
          <p:spPr>
            <a:xfrm flipH="1">
              <a:off x="3411303" y="1503276"/>
              <a:ext cx="924900" cy="15783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446" name="Google Shape;1446;p23"/>
            <p:cNvSpPr/>
            <p:nvPr/>
          </p:nvSpPr>
          <p:spPr>
            <a:xfrm>
              <a:off x="3109189" y="2933804"/>
              <a:ext cx="302217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7" name="Google Shape;1447;p23"/>
          <p:cNvSpPr/>
          <p:nvPr/>
        </p:nvSpPr>
        <p:spPr>
          <a:xfrm>
            <a:off x="4252576" y="2608159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48" name="Google Shape;1448;p23"/>
          <p:cNvSpPr txBox="1"/>
          <p:nvPr/>
        </p:nvSpPr>
        <p:spPr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</a:t>
            </a:r>
            <a:endParaRPr/>
          </a:p>
        </p:txBody>
      </p:sp>
      <p:cxnSp>
        <p:nvCxnSpPr>
          <p:cNvPr id="1449" name="Google Shape;1449;p23"/>
          <p:cNvCxnSpPr/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50" name="Google Shape;1450;p23"/>
          <p:cNvCxnSpPr/>
          <p:nvPr/>
        </p:nvCxnSpPr>
        <p:spPr>
          <a:xfrm flipH="1" rot="10800000">
            <a:off x="1137745" y="5040040"/>
            <a:ext cx="502342" cy="281976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6" name="Google Shape;1456;p24"/>
          <p:cNvGrpSpPr/>
          <p:nvPr/>
        </p:nvGrpSpPr>
        <p:grpSpPr>
          <a:xfrm>
            <a:off x="4454071" y="3833590"/>
            <a:ext cx="1669144" cy="2786743"/>
            <a:chOff x="391885" y="3599543"/>
            <a:chExt cx="1669144" cy="2786743"/>
          </a:xfrm>
        </p:grpSpPr>
        <p:sp>
          <p:nvSpPr>
            <p:cNvPr id="1457" name="Google Shape;1457;p24"/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1458;p24"/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59" name="Google Shape;1459;p24"/>
            <p:cNvCxnSpPr/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460" name="Google Shape;1460;p24"/>
          <p:cNvSpPr txBox="1"/>
          <p:nvPr/>
        </p:nvSpPr>
        <p:spPr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update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D(b)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all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adjacent to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not in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200"/>
              <a:buFont typeface="Calibri"/>
              <a:buNone/>
            </a:pP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D(b) = </a:t>
            </a:r>
            <a:r>
              <a:rPr b="1" i="0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( D(b), D(a) + c</a:t>
            </a:r>
            <a:r>
              <a:rPr b="1" baseline="-25000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a,b </a:t>
            </a: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/>
          </a:p>
        </p:txBody>
      </p:sp>
      <p:grpSp>
        <p:nvGrpSpPr>
          <p:cNvPr id="1461" name="Google Shape;1461;p24"/>
          <p:cNvGrpSpPr/>
          <p:nvPr/>
        </p:nvGrpSpPr>
        <p:grpSpPr>
          <a:xfrm>
            <a:off x="6497409" y="5402237"/>
            <a:ext cx="5183535" cy="749181"/>
            <a:chOff x="4625273" y="5620004"/>
            <a:chExt cx="5183535" cy="749181"/>
          </a:xfrm>
        </p:grpSpPr>
        <p:sp>
          <p:nvSpPr>
            <p:cNvPr id="1462" name="Google Shape;1462;p24"/>
            <p:cNvSpPr/>
            <p:nvPr/>
          </p:nvSpPr>
          <p:spPr>
            <a:xfrm>
              <a:off x="4661941" y="5934396"/>
              <a:ext cx="5066675" cy="434789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3" name="Google Shape;1463;p24"/>
            <p:cNvSpPr txBox="1"/>
            <p:nvPr/>
          </p:nvSpPr>
          <p:spPr>
            <a:xfrm>
              <a:off x="4667745" y="5620004"/>
              <a:ext cx="184731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1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4" name="Google Shape;1464;p24"/>
            <p:cNvSpPr txBox="1"/>
            <p:nvPr/>
          </p:nvSpPr>
          <p:spPr>
            <a:xfrm>
              <a:off x="4625273" y="5937296"/>
              <a:ext cx="518353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D(w) = min ( D(w), D(v) + c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v,w </a:t>
              </a: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= min (3, 2+3) = 3 </a:t>
              </a:r>
              <a:endParaRPr/>
            </a:p>
          </p:txBody>
        </p:sp>
      </p:grpSp>
      <p:sp>
        <p:nvSpPr>
          <p:cNvPr id="1465" name="Google Shape;1465;p24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1466" name="Google Shape;1466;p24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467" name="Google Shape;1467;p24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1468" name="Google Shape;1468;p24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/>
          </a:p>
        </p:txBody>
      </p:sp>
      <p:sp>
        <p:nvSpPr>
          <p:cNvPr id="1469" name="Google Shape;1469;p24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/>
          </a:p>
        </p:txBody>
      </p:sp>
      <p:sp>
        <p:nvSpPr>
          <p:cNvPr id="1470" name="Google Shape;1470;p24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/>
          </a:p>
        </p:txBody>
      </p:sp>
      <p:sp>
        <p:nvSpPr>
          <p:cNvPr id="1471" name="Google Shape;1471;p24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/>
          </a:p>
        </p:txBody>
      </p:sp>
      <p:cxnSp>
        <p:nvCxnSpPr>
          <p:cNvPr id="1472" name="Google Shape;1472;p24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3" name="Google Shape;1473;p24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</p:txBody>
      </p:sp>
      <p:grpSp>
        <p:nvGrpSpPr>
          <p:cNvPr id="1474" name="Google Shape;1474;p24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1475" name="Google Shape;1475;p24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  <p:sp>
          <p:nvSpPr>
            <p:cNvPr id="1476" name="Google Shape;1476;p24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24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24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/>
            </a:p>
          </p:txBody>
        </p:sp>
        <p:sp>
          <p:nvSpPr>
            <p:cNvPr id="1479" name="Google Shape;1479;p24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480" name="Google Shape;1480;p24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1481" name="Google Shape;1481;p24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82" name="Google Shape;1482;p24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83" name="Google Shape;1483;p24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84" name="Google Shape;1484;p24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85" name="Google Shape;1485;p24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86" name="Google Shape;1486;p24"/>
          <p:cNvSpPr txBox="1"/>
          <p:nvPr/>
        </p:nvSpPr>
        <p:spPr>
          <a:xfrm>
            <a:off x="5517465" y="3427169"/>
            <a:ext cx="122180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</p:txBody>
      </p:sp>
      <p:sp>
        <p:nvSpPr>
          <p:cNvPr id="1487" name="Google Shape;1487;p24"/>
          <p:cNvSpPr txBox="1"/>
          <p:nvPr/>
        </p:nvSpPr>
        <p:spPr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/>
          </a:p>
        </p:txBody>
      </p:sp>
      <p:sp>
        <p:nvSpPr>
          <p:cNvPr id="1488" name="Google Shape;1488;p24"/>
          <p:cNvSpPr/>
          <p:nvPr/>
        </p:nvSpPr>
        <p:spPr>
          <a:xfrm>
            <a:off x="6843529" y="2025568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89" name="Google Shape;1489;p24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1490" name="Google Shape;1490;p24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1491" name="Google Shape;1491;p24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1492" name="Google Shape;1492;p24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493" name="Google Shape;1493;p24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1494" name="Google Shape;1494;p24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pSp>
        <p:nvGrpSpPr>
          <p:cNvPr id="1495" name="Google Shape;1495;p24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496" name="Google Shape;1496;p24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24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24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99" name="Google Shape;1499;p24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0" name="Google Shape;1500;p24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01" name="Google Shape;1501;p24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24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24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04" name="Google Shape;1504;p24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5" name="Google Shape;1505;p24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06" name="Google Shape;1506;p24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24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24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09" name="Google Shape;1509;p24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0" name="Google Shape;1510;p24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11" name="Google Shape;1511;p24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24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24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14" name="Google Shape;1514;p24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5" name="Google Shape;1515;p24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16" name="Google Shape;1516;p24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24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24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19" name="Google Shape;1519;p24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0" name="Google Shape;1520;p24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21" name="Google Shape;1521;p24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24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24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24" name="Google Shape;1524;p24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5" name="Google Shape;1525;p24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26" name="Google Shape;1526;p24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24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24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24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24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24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24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24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24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24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24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37" name="Google Shape;1537;p24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538" name="Google Shape;1538;p24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9" name="Google Shape;1539;p24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0" name="Google Shape;1540;p24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541" name="Google Shape;1541;p24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2" name="Google Shape;1542;p24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3" name="Google Shape;1543;p24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544" name="Google Shape;1544;p24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5" name="Google Shape;1545;p24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1546" name="Google Shape;1546;p24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547" name="Google Shape;1547;p24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8" name="Google Shape;1548;p24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9" name="Google Shape;1549;p24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550" name="Google Shape;1550;p24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1" name="Google Shape;1551;p24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52" name="Google Shape;1552;p24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553" name="Google Shape;1553;p24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4" name="Google Shape;1554;p24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1555" name="Google Shape;1555;p24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24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24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24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24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24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24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24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24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24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65" name="Google Shape;1565;p24"/>
          <p:cNvCxnSpPr/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566" name="Google Shape;1566;p24"/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567" name="Google Shape;1567;p24"/>
            <p:cNvSpPr txBox="1"/>
            <p:nvPr/>
          </p:nvSpPr>
          <p:spPr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24"/>
            <p:cNvSpPr txBox="1"/>
            <p:nvPr/>
          </p:nvSpPr>
          <p:spPr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2,x</a:t>
              </a:r>
              <a:endParaRPr/>
            </a:p>
          </p:txBody>
        </p:sp>
        <p:sp>
          <p:nvSpPr>
            <p:cNvPr id="1569" name="Google Shape;1569;p24"/>
            <p:cNvSpPr txBox="1"/>
            <p:nvPr/>
          </p:nvSpPr>
          <p:spPr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4,x</a:t>
              </a:r>
              <a:endParaRPr/>
            </a:p>
          </p:txBody>
        </p:sp>
        <p:sp>
          <p:nvSpPr>
            <p:cNvPr id="1570" name="Google Shape;1570;p24"/>
            <p:cNvSpPr txBox="1"/>
            <p:nvPr/>
          </p:nvSpPr>
          <p:spPr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571" name="Google Shape;1571;p24"/>
          <p:cNvSpPr/>
          <p:nvPr/>
        </p:nvSpPr>
        <p:spPr>
          <a:xfrm>
            <a:off x="8195837" y="2316864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72" name="Google Shape;1572;p24"/>
          <p:cNvSpPr txBox="1"/>
          <p:nvPr/>
        </p:nvSpPr>
        <p:spPr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</a:t>
            </a:r>
            <a:endParaRPr/>
          </a:p>
        </p:txBody>
      </p:sp>
      <p:grpSp>
        <p:nvGrpSpPr>
          <p:cNvPr id="1573" name="Google Shape;1573;p24"/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574" name="Google Shape;1574;p24"/>
            <p:cNvSpPr txBox="1"/>
            <p:nvPr/>
          </p:nvSpPr>
          <p:spPr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1575" name="Google Shape;1575;p24"/>
            <p:cNvSpPr txBox="1"/>
            <p:nvPr/>
          </p:nvSpPr>
          <p:spPr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  <p:sp>
          <p:nvSpPr>
            <p:cNvPr id="1576" name="Google Shape;1576;p24"/>
            <p:cNvSpPr txBox="1"/>
            <p:nvPr/>
          </p:nvSpPr>
          <p:spPr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577" name="Google Shape;1577;p24"/>
          <p:cNvSpPr/>
          <p:nvPr/>
        </p:nvSpPr>
        <p:spPr>
          <a:xfrm>
            <a:off x="4252576" y="2608159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78" name="Google Shape;1578;p24"/>
          <p:cNvSpPr txBox="1"/>
          <p:nvPr/>
        </p:nvSpPr>
        <p:spPr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</a:t>
            </a:r>
            <a:endParaRPr/>
          </a:p>
        </p:txBody>
      </p:sp>
      <p:cxnSp>
        <p:nvCxnSpPr>
          <p:cNvPr id="1579" name="Google Shape;1579;p24"/>
          <p:cNvCxnSpPr/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580" name="Google Shape;1580;p24"/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1581" name="Google Shape;1581;p24"/>
            <p:cNvSpPr txBox="1"/>
            <p:nvPr/>
          </p:nvSpPr>
          <p:spPr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1582" name="Google Shape;1582;p24"/>
            <p:cNvSpPr txBox="1"/>
            <p:nvPr/>
          </p:nvSpPr>
          <p:spPr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</p:grpSp>
      <p:cxnSp>
        <p:nvCxnSpPr>
          <p:cNvPr id="1583" name="Google Shape;1583;p24"/>
          <p:cNvCxnSpPr/>
          <p:nvPr/>
        </p:nvCxnSpPr>
        <p:spPr>
          <a:xfrm flipH="1" rot="10800000">
            <a:off x="1170996" y="5023414"/>
            <a:ext cx="502342" cy="281976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25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1590" name="Google Shape;1590;p25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591" name="Google Shape;1591;p25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1592" name="Google Shape;1592;p25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/>
          </a:p>
        </p:txBody>
      </p:sp>
      <p:sp>
        <p:nvSpPr>
          <p:cNvPr id="1593" name="Google Shape;1593;p25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/>
          </a:p>
        </p:txBody>
      </p:sp>
      <p:sp>
        <p:nvSpPr>
          <p:cNvPr id="1594" name="Google Shape;1594;p25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/>
          </a:p>
        </p:txBody>
      </p:sp>
      <p:sp>
        <p:nvSpPr>
          <p:cNvPr id="1595" name="Google Shape;1595;p25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/>
          </a:p>
        </p:txBody>
      </p:sp>
      <p:cxnSp>
        <p:nvCxnSpPr>
          <p:cNvPr id="1596" name="Google Shape;1596;p25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7" name="Google Shape;1597;p25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</p:txBody>
      </p:sp>
      <p:grpSp>
        <p:nvGrpSpPr>
          <p:cNvPr id="1598" name="Google Shape;1598;p25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1599" name="Google Shape;1599;p25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  <p:sp>
          <p:nvSpPr>
            <p:cNvPr id="1600" name="Google Shape;1600;p25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25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25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/>
            </a:p>
          </p:txBody>
        </p:sp>
        <p:sp>
          <p:nvSpPr>
            <p:cNvPr id="1603" name="Google Shape;1603;p25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604" name="Google Shape;1604;p25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1605" name="Google Shape;1605;p25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06" name="Google Shape;1606;p25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07" name="Google Shape;1607;p25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08" name="Google Shape;1608;p25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09" name="Google Shape;1609;p25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10" name="Google Shape;1610;p25"/>
          <p:cNvSpPr txBox="1"/>
          <p:nvPr/>
        </p:nvSpPr>
        <p:spPr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</p:txBody>
      </p:sp>
      <p:sp>
        <p:nvSpPr>
          <p:cNvPr id="1611" name="Google Shape;1611;p25"/>
          <p:cNvSpPr txBox="1"/>
          <p:nvPr/>
        </p:nvSpPr>
        <p:spPr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/>
          </a:p>
        </p:txBody>
      </p:sp>
      <p:sp>
        <p:nvSpPr>
          <p:cNvPr id="1612" name="Google Shape;1612;p25"/>
          <p:cNvSpPr/>
          <p:nvPr/>
        </p:nvSpPr>
        <p:spPr>
          <a:xfrm>
            <a:off x="6843529" y="2025568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13" name="Google Shape;1613;p25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1614" name="Google Shape;1614;p25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1615" name="Google Shape;1615;p25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1616" name="Google Shape;1616;p25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617" name="Google Shape;1617;p25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1618" name="Google Shape;1618;p25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pSp>
        <p:nvGrpSpPr>
          <p:cNvPr id="1619" name="Google Shape;1619;p25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620" name="Google Shape;1620;p25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25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25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23" name="Google Shape;1623;p25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4" name="Google Shape;1624;p25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25" name="Google Shape;1625;p25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25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25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28" name="Google Shape;1628;p25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9" name="Google Shape;1629;p25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30" name="Google Shape;1630;p25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25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25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33" name="Google Shape;1633;p25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4" name="Google Shape;1634;p25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35" name="Google Shape;1635;p25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25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25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38" name="Google Shape;1638;p25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9" name="Google Shape;1639;p25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40" name="Google Shape;1640;p25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25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25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43" name="Google Shape;1643;p25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4" name="Google Shape;1644;p25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45" name="Google Shape;1645;p25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25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25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48" name="Google Shape;1648;p25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9" name="Google Shape;1649;p25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50" name="Google Shape;1650;p25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25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25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25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25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25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25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25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25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25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p25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61" name="Google Shape;1661;p25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662" name="Google Shape;1662;p25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3" name="Google Shape;1663;p25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64" name="Google Shape;1664;p25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665" name="Google Shape;1665;p2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6" name="Google Shape;1666;p25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67" name="Google Shape;1667;p25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668" name="Google Shape;1668;p25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9" name="Google Shape;1669;p25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1670" name="Google Shape;1670;p25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671" name="Google Shape;1671;p25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2" name="Google Shape;1672;p25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3" name="Google Shape;1673;p25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674" name="Google Shape;1674;p2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5" name="Google Shape;1675;p25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6" name="Google Shape;1676;p25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677" name="Google Shape;1677;p2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8" name="Google Shape;1678;p25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1679" name="Google Shape;1679;p25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25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25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25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25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25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25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25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p25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25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689" name="Google Shape;1689;p25"/>
          <p:cNvCxnSpPr/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690" name="Google Shape;1690;p25"/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691" name="Google Shape;1691;p25"/>
            <p:cNvSpPr txBox="1"/>
            <p:nvPr/>
          </p:nvSpPr>
          <p:spPr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25"/>
            <p:cNvSpPr txBox="1"/>
            <p:nvPr/>
          </p:nvSpPr>
          <p:spPr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2,x</a:t>
              </a:r>
              <a:endParaRPr/>
            </a:p>
          </p:txBody>
        </p:sp>
        <p:sp>
          <p:nvSpPr>
            <p:cNvPr id="1693" name="Google Shape;1693;p25"/>
            <p:cNvSpPr txBox="1"/>
            <p:nvPr/>
          </p:nvSpPr>
          <p:spPr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4,x</a:t>
              </a:r>
              <a:endParaRPr/>
            </a:p>
          </p:txBody>
        </p:sp>
        <p:sp>
          <p:nvSpPr>
            <p:cNvPr id="1694" name="Google Shape;1694;p25"/>
            <p:cNvSpPr txBox="1"/>
            <p:nvPr/>
          </p:nvSpPr>
          <p:spPr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695" name="Google Shape;1695;p25"/>
          <p:cNvSpPr/>
          <p:nvPr/>
        </p:nvSpPr>
        <p:spPr>
          <a:xfrm>
            <a:off x="8195837" y="2316864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96" name="Google Shape;1696;p25"/>
          <p:cNvSpPr txBox="1"/>
          <p:nvPr/>
        </p:nvSpPr>
        <p:spPr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</a:t>
            </a:r>
            <a:endParaRPr/>
          </a:p>
        </p:txBody>
      </p:sp>
      <p:grpSp>
        <p:nvGrpSpPr>
          <p:cNvPr id="1697" name="Google Shape;1697;p25"/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698" name="Google Shape;1698;p25"/>
            <p:cNvSpPr txBox="1"/>
            <p:nvPr/>
          </p:nvSpPr>
          <p:spPr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1699" name="Google Shape;1699;p25"/>
            <p:cNvSpPr txBox="1"/>
            <p:nvPr/>
          </p:nvSpPr>
          <p:spPr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  <p:sp>
          <p:nvSpPr>
            <p:cNvPr id="1700" name="Google Shape;1700;p25"/>
            <p:cNvSpPr txBox="1"/>
            <p:nvPr/>
          </p:nvSpPr>
          <p:spPr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701" name="Google Shape;1701;p25"/>
          <p:cNvSpPr/>
          <p:nvPr/>
        </p:nvSpPr>
        <p:spPr>
          <a:xfrm>
            <a:off x="4252576" y="2608159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02" name="Google Shape;1702;p25"/>
          <p:cNvSpPr txBox="1"/>
          <p:nvPr/>
        </p:nvSpPr>
        <p:spPr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</a:t>
            </a:r>
            <a:endParaRPr/>
          </a:p>
        </p:txBody>
      </p:sp>
      <p:cxnSp>
        <p:nvCxnSpPr>
          <p:cNvPr id="1703" name="Google Shape;1703;p25"/>
          <p:cNvCxnSpPr/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704" name="Google Shape;1704;p25"/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1705" name="Google Shape;1705;p25"/>
            <p:cNvSpPr txBox="1"/>
            <p:nvPr/>
          </p:nvSpPr>
          <p:spPr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1706" name="Google Shape;1706;p25"/>
            <p:cNvSpPr txBox="1"/>
            <p:nvPr/>
          </p:nvSpPr>
          <p:spPr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</p:grpSp>
      <p:cxnSp>
        <p:nvCxnSpPr>
          <p:cNvPr id="1707" name="Google Shape;1707;p25"/>
          <p:cNvCxnSpPr/>
          <p:nvPr/>
        </p:nvCxnSpPr>
        <p:spPr>
          <a:xfrm flipH="1" rot="10800000">
            <a:off x="1170996" y="5023414"/>
            <a:ext cx="502342" cy="281976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708" name="Google Shape;1708;p25"/>
          <p:cNvGrpSpPr/>
          <p:nvPr/>
        </p:nvGrpSpPr>
        <p:grpSpPr>
          <a:xfrm>
            <a:off x="3082834" y="1345224"/>
            <a:ext cx="2890824" cy="2192195"/>
            <a:chOff x="1559224" y="-432243"/>
            <a:chExt cx="2890824" cy="2192195"/>
          </a:xfrm>
        </p:grpSpPr>
        <p:sp>
          <p:nvSpPr>
            <p:cNvPr id="1709" name="Google Shape;1709;p25"/>
            <p:cNvSpPr/>
            <p:nvPr/>
          </p:nvSpPr>
          <p:spPr>
            <a:xfrm>
              <a:off x="4134952" y="-432243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10" name="Google Shape;1710;p25"/>
            <p:cNvCxnSpPr>
              <a:stCxn id="1709" idx="2"/>
              <a:endCxn id="1711" idx="6"/>
            </p:cNvCxnSpPr>
            <p:nvPr/>
          </p:nvCxnSpPr>
          <p:spPr>
            <a:xfrm flipH="1">
              <a:off x="1861552" y="-284477"/>
              <a:ext cx="2273400" cy="18966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711" name="Google Shape;1711;p25"/>
            <p:cNvSpPr/>
            <p:nvPr/>
          </p:nvSpPr>
          <p:spPr>
            <a:xfrm>
              <a:off x="1559224" y="1464420"/>
              <a:ext cx="302217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2" name="Google Shape;1712;p25"/>
          <p:cNvSpPr/>
          <p:nvPr/>
        </p:nvSpPr>
        <p:spPr>
          <a:xfrm>
            <a:off x="5545236" y="2930322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13" name="Google Shape;1713;p25"/>
          <p:cNvSpPr txBox="1"/>
          <p:nvPr/>
        </p:nvSpPr>
        <p:spPr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uxyvw</a:t>
            </a:r>
            <a:endParaRPr/>
          </a:p>
        </p:txBody>
      </p:sp>
      <p:cxnSp>
        <p:nvCxnSpPr>
          <p:cNvPr id="1714" name="Google Shape;1714;p25"/>
          <p:cNvCxnSpPr/>
          <p:nvPr/>
        </p:nvCxnSpPr>
        <p:spPr>
          <a:xfrm rot="10800000">
            <a:off x="2879488" y="5005314"/>
            <a:ext cx="0" cy="88353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0" name="Google Shape;1720;p26"/>
          <p:cNvGrpSpPr/>
          <p:nvPr/>
        </p:nvGrpSpPr>
        <p:grpSpPr>
          <a:xfrm>
            <a:off x="4454071" y="3833590"/>
            <a:ext cx="1669144" cy="2786743"/>
            <a:chOff x="391885" y="3599543"/>
            <a:chExt cx="1669144" cy="2786743"/>
          </a:xfrm>
        </p:grpSpPr>
        <p:sp>
          <p:nvSpPr>
            <p:cNvPr id="1721" name="Google Shape;1721;p26"/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26"/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23" name="Google Shape;1723;p26"/>
            <p:cNvCxnSpPr/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724" name="Google Shape;1724;p26"/>
          <p:cNvSpPr txBox="1"/>
          <p:nvPr/>
        </p:nvSpPr>
        <p:spPr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update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D(b)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all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adjacent to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not in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200"/>
              <a:buFont typeface="Calibri"/>
              <a:buNone/>
            </a:pP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D(b) = </a:t>
            </a:r>
            <a:r>
              <a:rPr b="1" i="0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( D(b), D(a) + c</a:t>
            </a:r>
            <a:r>
              <a:rPr b="1" baseline="-25000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a,b </a:t>
            </a: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/>
          </a:p>
        </p:txBody>
      </p:sp>
      <p:grpSp>
        <p:nvGrpSpPr>
          <p:cNvPr id="1725" name="Google Shape;1725;p26"/>
          <p:cNvGrpSpPr/>
          <p:nvPr/>
        </p:nvGrpSpPr>
        <p:grpSpPr>
          <a:xfrm>
            <a:off x="6497409" y="5402237"/>
            <a:ext cx="5103343" cy="749181"/>
            <a:chOff x="4625273" y="5620004"/>
            <a:chExt cx="5103343" cy="749181"/>
          </a:xfrm>
        </p:grpSpPr>
        <p:sp>
          <p:nvSpPr>
            <p:cNvPr id="1726" name="Google Shape;1726;p26"/>
            <p:cNvSpPr/>
            <p:nvPr/>
          </p:nvSpPr>
          <p:spPr>
            <a:xfrm>
              <a:off x="4661941" y="5934396"/>
              <a:ext cx="5066675" cy="434789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26"/>
            <p:cNvSpPr txBox="1"/>
            <p:nvPr/>
          </p:nvSpPr>
          <p:spPr>
            <a:xfrm>
              <a:off x="4667745" y="5620004"/>
              <a:ext cx="184731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1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26"/>
            <p:cNvSpPr txBox="1"/>
            <p:nvPr/>
          </p:nvSpPr>
          <p:spPr>
            <a:xfrm>
              <a:off x="4625273" y="5937296"/>
              <a:ext cx="508895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D(z) = min ( D(z), D(w) + c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w,z </a:t>
              </a: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= min (4, 3+5) = 4 </a:t>
              </a:r>
              <a:endParaRPr/>
            </a:p>
          </p:txBody>
        </p:sp>
      </p:grpSp>
      <p:sp>
        <p:nvSpPr>
          <p:cNvPr id="1729" name="Google Shape;1729;p26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1730" name="Google Shape;1730;p26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731" name="Google Shape;1731;p26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1732" name="Google Shape;1732;p26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/>
          </a:p>
        </p:txBody>
      </p:sp>
      <p:sp>
        <p:nvSpPr>
          <p:cNvPr id="1733" name="Google Shape;1733;p26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/>
          </a:p>
        </p:txBody>
      </p:sp>
      <p:sp>
        <p:nvSpPr>
          <p:cNvPr id="1734" name="Google Shape;1734;p26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/>
          </a:p>
        </p:txBody>
      </p:sp>
      <p:sp>
        <p:nvSpPr>
          <p:cNvPr id="1735" name="Google Shape;1735;p26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/>
          </a:p>
        </p:txBody>
      </p:sp>
      <p:cxnSp>
        <p:nvCxnSpPr>
          <p:cNvPr id="1736" name="Google Shape;1736;p26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7" name="Google Shape;1737;p26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</p:txBody>
      </p:sp>
      <p:grpSp>
        <p:nvGrpSpPr>
          <p:cNvPr id="1738" name="Google Shape;1738;p26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1739" name="Google Shape;1739;p26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  <p:sp>
          <p:nvSpPr>
            <p:cNvPr id="1740" name="Google Shape;1740;p26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26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26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/>
            </a:p>
          </p:txBody>
        </p:sp>
        <p:sp>
          <p:nvSpPr>
            <p:cNvPr id="1743" name="Google Shape;1743;p26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744" name="Google Shape;1744;p26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1745" name="Google Shape;1745;p26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46" name="Google Shape;1746;p26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47" name="Google Shape;1747;p26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48" name="Google Shape;1748;p26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49" name="Google Shape;1749;p26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50" name="Google Shape;1750;p26"/>
          <p:cNvSpPr txBox="1"/>
          <p:nvPr/>
        </p:nvSpPr>
        <p:spPr>
          <a:xfrm>
            <a:off x="5517465" y="3427169"/>
            <a:ext cx="122180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</p:txBody>
      </p:sp>
      <p:sp>
        <p:nvSpPr>
          <p:cNvPr id="1751" name="Google Shape;1751;p26"/>
          <p:cNvSpPr txBox="1"/>
          <p:nvPr/>
        </p:nvSpPr>
        <p:spPr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/>
          </a:p>
        </p:txBody>
      </p:sp>
      <p:sp>
        <p:nvSpPr>
          <p:cNvPr id="1752" name="Google Shape;1752;p26"/>
          <p:cNvSpPr/>
          <p:nvPr/>
        </p:nvSpPr>
        <p:spPr>
          <a:xfrm>
            <a:off x="6843529" y="2025568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53" name="Google Shape;1753;p26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1754" name="Google Shape;1754;p26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1755" name="Google Shape;1755;p26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1756" name="Google Shape;1756;p26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757" name="Google Shape;1757;p26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1758" name="Google Shape;1758;p26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pSp>
        <p:nvGrpSpPr>
          <p:cNvPr id="1759" name="Google Shape;1759;p26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760" name="Google Shape;1760;p26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26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26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63" name="Google Shape;1763;p26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4" name="Google Shape;1764;p26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65" name="Google Shape;1765;p26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26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26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68" name="Google Shape;1768;p26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9" name="Google Shape;1769;p26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70" name="Google Shape;1770;p26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26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26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73" name="Google Shape;1773;p26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4" name="Google Shape;1774;p26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75" name="Google Shape;1775;p26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26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26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78" name="Google Shape;1778;p26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9" name="Google Shape;1779;p26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80" name="Google Shape;1780;p26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26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26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83" name="Google Shape;1783;p26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4" name="Google Shape;1784;p26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85" name="Google Shape;1785;p26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26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26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88" name="Google Shape;1788;p26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9" name="Google Shape;1789;p26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90" name="Google Shape;1790;p26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26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26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26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p26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26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26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26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26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26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26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01" name="Google Shape;1801;p26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802" name="Google Shape;1802;p26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3" name="Google Shape;1803;p26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04" name="Google Shape;1804;p26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805" name="Google Shape;1805;p26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6" name="Google Shape;1806;p26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07" name="Google Shape;1807;p26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808" name="Google Shape;1808;p26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9" name="Google Shape;1809;p26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1810" name="Google Shape;1810;p26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811" name="Google Shape;1811;p26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2" name="Google Shape;1812;p26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13" name="Google Shape;1813;p26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814" name="Google Shape;1814;p26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5" name="Google Shape;1815;p26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16" name="Google Shape;1816;p26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17" name="Google Shape;1817;p26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8" name="Google Shape;1818;p26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1819" name="Google Shape;1819;p26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26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26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26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26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26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26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26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26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26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829" name="Google Shape;1829;p26"/>
          <p:cNvCxnSpPr/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830" name="Google Shape;1830;p26"/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831" name="Google Shape;1831;p26"/>
            <p:cNvSpPr txBox="1"/>
            <p:nvPr/>
          </p:nvSpPr>
          <p:spPr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p26"/>
            <p:cNvSpPr txBox="1"/>
            <p:nvPr/>
          </p:nvSpPr>
          <p:spPr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2,x</a:t>
              </a:r>
              <a:endParaRPr/>
            </a:p>
          </p:txBody>
        </p:sp>
        <p:sp>
          <p:nvSpPr>
            <p:cNvPr id="1833" name="Google Shape;1833;p26"/>
            <p:cNvSpPr txBox="1"/>
            <p:nvPr/>
          </p:nvSpPr>
          <p:spPr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4,x</a:t>
              </a:r>
              <a:endParaRPr/>
            </a:p>
          </p:txBody>
        </p:sp>
        <p:sp>
          <p:nvSpPr>
            <p:cNvPr id="1834" name="Google Shape;1834;p26"/>
            <p:cNvSpPr txBox="1"/>
            <p:nvPr/>
          </p:nvSpPr>
          <p:spPr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835" name="Google Shape;1835;p26"/>
          <p:cNvSpPr/>
          <p:nvPr/>
        </p:nvSpPr>
        <p:spPr>
          <a:xfrm>
            <a:off x="8195837" y="2316864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36" name="Google Shape;1836;p26"/>
          <p:cNvSpPr txBox="1"/>
          <p:nvPr/>
        </p:nvSpPr>
        <p:spPr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</a:t>
            </a:r>
            <a:endParaRPr/>
          </a:p>
        </p:txBody>
      </p:sp>
      <p:grpSp>
        <p:nvGrpSpPr>
          <p:cNvPr id="1837" name="Google Shape;1837;p26"/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838" name="Google Shape;1838;p26"/>
            <p:cNvSpPr txBox="1"/>
            <p:nvPr/>
          </p:nvSpPr>
          <p:spPr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1839" name="Google Shape;1839;p26"/>
            <p:cNvSpPr txBox="1"/>
            <p:nvPr/>
          </p:nvSpPr>
          <p:spPr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  <p:sp>
          <p:nvSpPr>
            <p:cNvPr id="1840" name="Google Shape;1840;p26"/>
            <p:cNvSpPr txBox="1"/>
            <p:nvPr/>
          </p:nvSpPr>
          <p:spPr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841" name="Google Shape;1841;p26"/>
          <p:cNvSpPr/>
          <p:nvPr/>
        </p:nvSpPr>
        <p:spPr>
          <a:xfrm>
            <a:off x="4252576" y="2608159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42" name="Google Shape;1842;p26"/>
          <p:cNvSpPr txBox="1"/>
          <p:nvPr/>
        </p:nvSpPr>
        <p:spPr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</a:t>
            </a:r>
            <a:endParaRPr/>
          </a:p>
        </p:txBody>
      </p:sp>
      <p:cxnSp>
        <p:nvCxnSpPr>
          <p:cNvPr id="1843" name="Google Shape;1843;p26"/>
          <p:cNvCxnSpPr/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844" name="Google Shape;1844;p26"/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1845" name="Google Shape;1845;p26"/>
            <p:cNvSpPr txBox="1"/>
            <p:nvPr/>
          </p:nvSpPr>
          <p:spPr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1846" name="Google Shape;1846;p26"/>
            <p:cNvSpPr txBox="1"/>
            <p:nvPr/>
          </p:nvSpPr>
          <p:spPr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</p:grpSp>
      <p:cxnSp>
        <p:nvCxnSpPr>
          <p:cNvPr id="1847" name="Google Shape;1847;p26"/>
          <p:cNvCxnSpPr/>
          <p:nvPr/>
        </p:nvCxnSpPr>
        <p:spPr>
          <a:xfrm flipH="1" rot="10800000">
            <a:off x="1170996" y="5023414"/>
            <a:ext cx="502342" cy="281976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48" name="Google Shape;1848;p26"/>
          <p:cNvSpPr/>
          <p:nvPr/>
        </p:nvSpPr>
        <p:spPr>
          <a:xfrm>
            <a:off x="5545236" y="2930322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49" name="Google Shape;1849;p26"/>
          <p:cNvSpPr txBox="1"/>
          <p:nvPr/>
        </p:nvSpPr>
        <p:spPr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uxyvw</a:t>
            </a:r>
            <a:endParaRPr/>
          </a:p>
        </p:txBody>
      </p:sp>
      <p:sp>
        <p:nvSpPr>
          <p:cNvPr id="1850" name="Google Shape;1850;p26"/>
          <p:cNvSpPr txBox="1"/>
          <p:nvPr/>
        </p:nvSpPr>
        <p:spPr>
          <a:xfrm>
            <a:off x="9497173" y="3197610"/>
            <a:ext cx="52610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4,y</a:t>
            </a:r>
            <a:endParaRPr/>
          </a:p>
        </p:txBody>
      </p:sp>
      <p:cxnSp>
        <p:nvCxnSpPr>
          <p:cNvPr id="1851" name="Google Shape;1851;p26"/>
          <p:cNvCxnSpPr/>
          <p:nvPr/>
        </p:nvCxnSpPr>
        <p:spPr>
          <a:xfrm rot="10800000">
            <a:off x="2879488" y="5005314"/>
            <a:ext cx="0" cy="88353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6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27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1858" name="Google Shape;1858;p27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859" name="Google Shape;1859;p27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1860" name="Google Shape;1860;p27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/>
          </a:p>
        </p:txBody>
      </p:sp>
      <p:sp>
        <p:nvSpPr>
          <p:cNvPr id="1861" name="Google Shape;1861;p27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/>
          </a:p>
        </p:txBody>
      </p:sp>
      <p:sp>
        <p:nvSpPr>
          <p:cNvPr id="1862" name="Google Shape;1862;p27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/>
          </a:p>
        </p:txBody>
      </p:sp>
      <p:sp>
        <p:nvSpPr>
          <p:cNvPr id="1863" name="Google Shape;1863;p27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/>
          </a:p>
        </p:txBody>
      </p:sp>
      <p:cxnSp>
        <p:nvCxnSpPr>
          <p:cNvPr id="1864" name="Google Shape;1864;p27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5" name="Google Shape;1865;p27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</p:txBody>
      </p:sp>
      <p:grpSp>
        <p:nvGrpSpPr>
          <p:cNvPr id="1866" name="Google Shape;1866;p27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1867" name="Google Shape;1867;p27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  <p:sp>
          <p:nvSpPr>
            <p:cNvPr id="1868" name="Google Shape;1868;p27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27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27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/>
            </a:p>
          </p:txBody>
        </p:sp>
        <p:sp>
          <p:nvSpPr>
            <p:cNvPr id="1871" name="Google Shape;1871;p27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872" name="Google Shape;1872;p27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1873" name="Google Shape;1873;p27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74" name="Google Shape;1874;p27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75" name="Google Shape;1875;p27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76" name="Google Shape;1876;p27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77" name="Google Shape;1877;p27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78" name="Google Shape;1878;p27"/>
          <p:cNvSpPr txBox="1"/>
          <p:nvPr/>
        </p:nvSpPr>
        <p:spPr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</p:txBody>
      </p:sp>
      <p:sp>
        <p:nvSpPr>
          <p:cNvPr id="1879" name="Google Shape;1879;p27"/>
          <p:cNvSpPr txBox="1"/>
          <p:nvPr/>
        </p:nvSpPr>
        <p:spPr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/>
          </a:p>
        </p:txBody>
      </p:sp>
      <p:sp>
        <p:nvSpPr>
          <p:cNvPr id="1880" name="Google Shape;1880;p27"/>
          <p:cNvSpPr/>
          <p:nvPr/>
        </p:nvSpPr>
        <p:spPr>
          <a:xfrm>
            <a:off x="6843529" y="2025568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81" name="Google Shape;1881;p27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1882" name="Google Shape;1882;p27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1883" name="Google Shape;1883;p27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1884" name="Google Shape;1884;p27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885" name="Google Shape;1885;p27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1886" name="Google Shape;1886;p27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pSp>
        <p:nvGrpSpPr>
          <p:cNvPr id="1887" name="Google Shape;1887;p27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888" name="Google Shape;1888;p27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27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27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91" name="Google Shape;1891;p27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2" name="Google Shape;1892;p27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93" name="Google Shape;1893;p27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27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27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96" name="Google Shape;1896;p27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7" name="Google Shape;1897;p27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98" name="Google Shape;1898;p27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27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27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01" name="Google Shape;1901;p27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2" name="Google Shape;1902;p27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03" name="Google Shape;1903;p27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27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27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06" name="Google Shape;1906;p27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7" name="Google Shape;1907;p27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08" name="Google Shape;1908;p27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27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27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11" name="Google Shape;1911;p27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2" name="Google Shape;1912;p27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13" name="Google Shape;1913;p27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27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27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16" name="Google Shape;1916;p27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7" name="Google Shape;1917;p27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18" name="Google Shape;1918;p27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27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27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27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27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27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27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27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27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27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27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29" name="Google Shape;1929;p27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30" name="Google Shape;1930;p27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1" name="Google Shape;1931;p27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32" name="Google Shape;1932;p27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33" name="Google Shape;1933;p27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4" name="Google Shape;1934;p27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35" name="Google Shape;1935;p27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36" name="Google Shape;1936;p27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7" name="Google Shape;1937;p27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1938" name="Google Shape;1938;p27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39" name="Google Shape;1939;p27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0" name="Google Shape;1940;p27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41" name="Google Shape;1941;p27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42" name="Google Shape;1942;p27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3" name="Google Shape;1943;p27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44" name="Google Shape;1944;p27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945" name="Google Shape;1945;p27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6" name="Google Shape;1946;p27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1947" name="Google Shape;1947;p27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27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27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p27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p27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2" name="Google Shape;1952;p27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p27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4" name="Google Shape;1954;p27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5" name="Google Shape;1955;p27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6" name="Google Shape;1956;p27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957" name="Google Shape;1957;p27"/>
          <p:cNvCxnSpPr/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958" name="Google Shape;1958;p27"/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959" name="Google Shape;1959;p27"/>
            <p:cNvSpPr txBox="1"/>
            <p:nvPr/>
          </p:nvSpPr>
          <p:spPr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0" name="Google Shape;1960;p27"/>
            <p:cNvSpPr txBox="1"/>
            <p:nvPr/>
          </p:nvSpPr>
          <p:spPr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2,x</a:t>
              </a:r>
              <a:endParaRPr/>
            </a:p>
          </p:txBody>
        </p:sp>
        <p:sp>
          <p:nvSpPr>
            <p:cNvPr id="1961" name="Google Shape;1961;p27"/>
            <p:cNvSpPr txBox="1"/>
            <p:nvPr/>
          </p:nvSpPr>
          <p:spPr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4,x</a:t>
              </a:r>
              <a:endParaRPr/>
            </a:p>
          </p:txBody>
        </p:sp>
        <p:sp>
          <p:nvSpPr>
            <p:cNvPr id="1962" name="Google Shape;1962;p27"/>
            <p:cNvSpPr txBox="1"/>
            <p:nvPr/>
          </p:nvSpPr>
          <p:spPr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963" name="Google Shape;1963;p27"/>
          <p:cNvSpPr/>
          <p:nvPr/>
        </p:nvSpPr>
        <p:spPr>
          <a:xfrm>
            <a:off x="8195837" y="2316864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64" name="Google Shape;1964;p27"/>
          <p:cNvSpPr txBox="1"/>
          <p:nvPr/>
        </p:nvSpPr>
        <p:spPr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</a:t>
            </a:r>
            <a:endParaRPr/>
          </a:p>
        </p:txBody>
      </p:sp>
      <p:grpSp>
        <p:nvGrpSpPr>
          <p:cNvPr id="1965" name="Google Shape;1965;p27"/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966" name="Google Shape;1966;p27"/>
            <p:cNvSpPr txBox="1"/>
            <p:nvPr/>
          </p:nvSpPr>
          <p:spPr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1967" name="Google Shape;1967;p27"/>
            <p:cNvSpPr txBox="1"/>
            <p:nvPr/>
          </p:nvSpPr>
          <p:spPr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  <p:sp>
          <p:nvSpPr>
            <p:cNvPr id="1968" name="Google Shape;1968;p27"/>
            <p:cNvSpPr txBox="1"/>
            <p:nvPr/>
          </p:nvSpPr>
          <p:spPr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969" name="Google Shape;1969;p27"/>
          <p:cNvSpPr/>
          <p:nvPr/>
        </p:nvSpPr>
        <p:spPr>
          <a:xfrm>
            <a:off x="4252576" y="2608159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70" name="Google Shape;1970;p27"/>
          <p:cNvSpPr txBox="1"/>
          <p:nvPr/>
        </p:nvSpPr>
        <p:spPr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</a:t>
            </a:r>
            <a:endParaRPr/>
          </a:p>
        </p:txBody>
      </p:sp>
      <p:cxnSp>
        <p:nvCxnSpPr>
          <p:cNvPr id="1971" name="Google Shape;1971;p27"/>
          <p:cNvCxnSpPr/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972" name="Google Shape;1972;p27"/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1973" name="Google Shape;1973;p27"/>
            <p:cNvSpPr txBox="1"/>
            <p:nvPr/>
          </p:nvSpPr>
          <p:spPr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1974" name="Google Shape;1974;p27"/>
            <p:cNvSpPr txBox="1"/>
            <p:nvPr/>
          </p:nvSpPr>
          <p:spPr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</p:grpSp>
      <p:cxnSp>
        <p:nvCxnSpPr>
          <p:cNvPr id="1975" name="Google Shape;1975;p27"/>
          <p:cNvCxnSpPr/>
          <p:nvPr/>
        </p:nvCxnSpPr>
        <p:spPr>
          <a:xfrm flipH="1" rot="10800000">
            <a:off x="1170996" y="5023414"/>
            <a:ext cx="502342" cy="281976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76" name="Google Shape;1976;p27"/>
          <p:cNvSpPr/>
          <p:nvPr/>
        </p:nvSpPr>
        <p:spPr>
          <a:xfrm>
            <a:off x="5545236" y="2930322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77" name="Google Shape;1977;p27"/>
          <p:cNvSpPr txBox="1"/>
          <p:nvPr/>
        </p:nvSpPr>
        <p:spPr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uxyvw</a:t>
            </a:r>
            <a:endParaRPr/>
          </a:p>
        </p:txBody>
      </p:sp>
      <p:sp>
        <p:nvSpPr>
          <p:cNvPr id="1978" name="Google Shape;1978;p27"/>
          <p:cNvSpPr txBox="1"/>
          <p:nvPr/>
        </p:nvSpPr>
        <p:spPr>
          <a:xfrm>
            <a:off x="9497173" y="3197610"/>
            <a:ext cx="52610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4,y</a:t>
            </a:r>
            <a:endParaRPr/>
          </a:p>
        </p:txBody>
      </p:sp>
      <p:grpSp>
        <p:nvGrpSpPr>
          <p:cNvPr id="1979" name="Google Shape;1979;p27"/>
          <p:cNvGrpSpPr/>
          <p:nvPr/>
        </p:nvGrpSpPr>
        <p:grpSpPr>
          <a:xfrm>
            <a:off x="3084763" y="1369564"/>
            <a:ext cx="6736985" cy="2493877"/>
            <a:chOff x="-2329870" y="-444558"/>
            <a:chExt cx="6736985" cy="2493877"/>
          </a:xfrm>
        </p:grpSpPr>
        <p:sp>
          <p:nvSpPr>
            <p:cNvPr id="1980" name="Google Shape;1980;p27"/>
            <p:cNvSpPr/>
            <p:nvPr/>
          </p:nvSpPr>
          <p:spPr>
            <a:xfrm>
              <a:off x="4092019" y="-444558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81" name="Google Shape;1981;p27"/>
            <p:cNvCxnSpPr>
              <a:stCxn id="1980" idx="2"/>
              <a:endCxn id="1982" idx="6"/>
            </p:cNvCxnSpPr>
            <p:nvPr/>
          </p:nvCxnSpPr>
          <p:spPr>
            <a:xfrm flipH="1">
              <a:off x="-2027681" y="-296792"/>
              <a:ext cx="6119700" cy="21984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982" name="Google Shape;1982;p27"/>
            <p:cNvSpPr/>
            <p:nvPr/>
          </p:nvSpPr>
          <p:spPr>
            <a:xfrm>
              <a:off x="-2329870" y="1753787"/>
              <a:ext cx="302217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3" name="Google Shape;1983;p27"/>
          <p:cNvSpPr/>
          <p:nvPr/>
        </p:nvSpPr>
        <p:spPr>
          <a:xfrm>
            <a:off x="9438034" y="3267919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84" name="Google Shape;1984;p27"/>
          <p:cNvSpPr txBox="1"/>
          <p:nvPr/>
        </p:nvSpPr>
        <p:spPr>
          <a:xfrm>
            <a:off x="2380129" y="3488080"/>
            <a:ext cx="102624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uxyvwz</a:t>
            </a:r>
            <a:endParaRPr/>
          </a:p>
        </p:txBody>
      </p:sp>
      <p:cxnSp>
        <p:nvCxnSpPr>
          <p:cNvPr id="1985" name="Google Shape;1985;p27"/>
          <p:cNvCxnSpPr/>
          <p:nvPr/>
        </p:nvCxnSpPr>
        <p:spPr>
          <a:xfrm rot="10800000">
            <a:off x="2879488" y="5005314"/>
            <a:ext cx="0" cy="88353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86" name="Google Shape;1986;p27"/>
          <p:cNvCxnSpPr/>
          <p:nvPr/>
        </p:nvCxnSpPr>
        <p:spPr>
          <a:xfrm flipH="1" rot="10800000">
            <a:off x="3059661" y="5610320"/>
            <a:ext cx="606730" cy="44806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28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1993" name="Google Shape;1993;p28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994" name="Google Shape;1994;p28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1995" name="Google Shape;1995;p28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/>
          </a:p>
        </p:txBody>
      </p:sp>
      <p:sp>
        <p:nvSpPr>
          <p:cNvPr id="1996" name="Google Shape;1996;p28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/>
          </a:p>
        </p:txBody>
      </p:sp>
      <p:sp>
        <p:nvSpPr>
          <p:cNvPr id="1997" name="Google Shape;1997;p28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/>
          </a:p>
        </p:txBody>
      </p:sp>
      <p:sp>
        <p:nvSpPr>
          <p:cNvPr id="1998" name="Google Shape;1998;p28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/>
          </a:p>
        </p:txBody>
      </p:sp>
      <p:cxnSp>
        <p:nvCxnSpPr>
          <p:cNvPr id="1999" name="Google Shape;1999;p28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0" name="Google Shape;2000;p28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</p:txBody>
      </p:sp>
      <p:grpSp>
        <p:nvGrpSpPr>
          <p:cNvPr id="2001" name="Google Shape;2001;p28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002" name="Google Shape;2002;p28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  <p:sp>
          <p:nvSpPr>
            <p:cNvPr id="2003" name="Google Shape;2003;p28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28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28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/>
            </a:p>
          </p:txBody>
        </p:sp>
        <p:sp>
          <p:nvSpPr>
            <p:cNvPr id="2006" name="Google Shape;2006;p28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2007" name="Google Shape;2007;p28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2008" name="Google Shape;2008;p28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09" name="Google Shape;2009;p28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10" name="Google Shape;2010;p28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11" name="Google Shape;2011;p28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12" name="Google Shape;2012;p28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13" name="Google Shape;2013;p28"/>
          <p:cNvSpPr txBox="1"/>
          <p:nvPr/>
        </p:nvSpPr>
        <p:spPr>
          <a:xfrm>
            <a:off x="5517465" y="3427169"/>
            <a:ext cx="122180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</p:txBody>
      </p:sp>
      <p:sp>
        <p:nvSpPr>
          <p:cNvPr id="2014" name="Google Shape;2014;p28"/>
          <p:cNvSpPr txBox="1"/>
          <p:nvPr/>
        </p:nvSpPr>
        <p:spPr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/>
          </a:p>
        </p:txBody>
      </p:sp>
      <p:sp>
        <p:nvSpPr>
          <p:cNvPr id="2015" name="Google Shape;2015;p28"/>
          <p:cNvSpPr/>
          <p:nvPr/>
        </p:nvSpPr>
        <p:spPr>
          <a:xfrm>
            <a:off x="6843529" y="2025568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16" name="Google Shape;2016;p28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2017" name="Google Shape;2017;p28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2018" name="Google Shape;2018;p28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2019" name="Google Shape;2019;p28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2020" name="Google Shape;2020;p28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2021" name="Google Shape;2021;p28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pSp>
        <p:nvGrpSpPr>
          <p:cNvPr id="2022" name="Google Shape;2022;p28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2023" name="Google Shape;2023;p28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28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p28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26" name="Google Shape;2026;p28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7" name="Google Shape;2027;p28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28" name="Google Shape;2028;p28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28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28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31" name="Google Shape;2031;p28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2" name="Google Shape;2032;p28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33" name="Google Shape;2033;p28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p28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p28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36" name="Google Shape;2036;p28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7" name="Google Shape;2037;p28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38" name="Google Shape;2038;p28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9" name="Google Shape;2039;p28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0" name="Google Shape;2040;p28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41" name="Google Shape;2041;p28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2" name="Google Shape;2042;p28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43" name="Google Shape;2043;p28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p28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5" name="Google Shape;2045;p28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46" name="Google Shape;2046;p28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7" name="Google Shape;2047;p28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48" name="Google Shape;2048;p28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28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0" name="Google Shape;2050;p28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51" name="Google Shape;2051;p28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2" name="Google Shape;2052;p28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53" name="Google Shape;2053;p28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4" name="Google Shape;2054;p28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5" name="Google Shape;2055;p28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6" name="Google Shape;2056;p28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7" name="Google Shape;2057;p28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8" name="Google Shape;2058;p28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9" name="Google Shape;2059;p28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0" name="Google Shape;2060;p28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p28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p28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3" name="Google Shape;2063;p28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64" name="Google Shape;2064;p28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2065" name="Google Shape;2065;p28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6" name="Google Shape;2066;p28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67" name="Google Shape;2067;p28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2068" name="Google Shape;2068;p28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9" name="Google Shape;2069;p28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70" name="Google Shape;2070;p28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2071" name="Google Shape;2071;p28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2" name="Google Shape;2072;p28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2073" name="Google Shape;2073;p28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2074" name="Google Shape;2074;p28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5" name="Google Shape;2075;p28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76" name="Google Shape;2076;p28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2077" name="Google Shape;2077;p28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8" name="Google Shape;2078;p28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79" name="Google Shape;2079;p28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2080" name="Google Shape;2080;p28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1" name="Google Shape;2081;p28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2082" name="Google Shape;2082;p28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28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28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p28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6" name="Google Shape;2086;p28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7" name="Google Shape;2087;p28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8" name="Google Shape;2088;p28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9" name="Google Shape;2089;p28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0" name="Google Shape;2090;p28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1" name="Google Shape;2091;p28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092" name="Google Shape;2092;p28"/>
          <p:cNvCxnSpPr/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2093" name="Google Shape;2093;p28"/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2094" name="Google Shape;2094;p28"/>
            <p:cNvSpPr txBox="1"/>
            <p:nvPr/>
          </p:nvSpPr>
          <p:spPr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5" name="Google Shape;2095;p28"/>
            <p:cNvSpPr txBox="1"/>
            <p:nvPr/>
          </p:nvSpPr>
          <p:spPr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2,x</a:t>
              </a:r>
              <a:endParaRPr/>
            </a:p>
          </p:txBody>
        </p:sp>
        <p:sp>
          <p:nvSpPr>
            <p:cNvPr id="2096" name="Google Shape;2096;p28"/>
            <p:cNvSpPr txBox="1"/>
            <p:nvPr/>
          </p:nvSpPr>
          <p:spPr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4,x</a:t>
              </a:r>
              <a:endParaRPr/>
            </a:p>
          </p:txBody>
        </p:sp>
        <p:sp>
          <p:nvSpPr>
            <p:cNvPr id="2097" name="Google Shape;2097;p28"/>
            <p:cNvSpPr txBox="1"/>
            <p:nvPr/>
          </p:nvSpPr>
          <p:spPr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2098" name="Google Shape;2098;p28"/>
          <p:cNvSpPr/>
          <p:nvPr/>
        </p:nvSpPr>
        <p:spPr>
          <a:xfrm>
            <a:off x="8195837" y="2316864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99" name="Google Shape;2099;p28"/>
          <p:cNvSpPr txBox="1"/>
          <p:nvPr/>
        </p:nvSpPr>
        <p:spPr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</a:t>
            </a:r>
            <a:endParaRPr/>
          </a:p>
        </p:txBody>
      </p:sp>
      <p:grpSp>
        <p:nvGrpSpPr>
          <p:cNvPr id="2100" name="Google Shape;2100;p28"/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2101" name="Google Shape;2101;p28"/>
            <p:cNvSpPr txBox="1"/>
            <p:nvPr/>
          </p:nvSpPr>
          <p:spPr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2102" name="Google Shape;2102;p28"/>
            <p:cNvSpPr txBox="1"/>
            <p:nvPr/>
          </p:nvSpPr>
          <p:spPr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  <p:sp>
          <p:nvSpPr>
            <p:cNvPr id="2103" name="Google Shape;2103;p28"/>
            <p:cNvSpPr txBox="1"/>
            <p:nvPr/>
          </p:nvSpPr>
          <p:spPr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2104" name="Google Shape;2104;p28"/>
          <p:cNvSpPr/>
          <p:nvPr/>
        </p:nvSpPr>
        <p:spPr>
          <a:xfrm>
            <a:off x="4252576" y="2608159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105" name="Google Shape;2105;p28"/>
          <p:cNvSpPr txBox="1"/>
          <p:nvPr/>
        </p:nvSpPr>
        <p:spPr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</a:t>
            </a:r>
            <a:endParaRPr/>
          </a:p>
        </p:txBody>
      </p:sp>
      <p:cxnSp>
        <p:nvCxnSpPr>
          <p:cNvPr id="2106" name="Google Shape;2106;p28"/>
          <p:cNvCxnSpPr/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2107" name="Google Shape;2107;p28"/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2108" name="Google Shape;2108;p28"/>
            <p:cNvSpPr txBox="1"/>
            <p:nvPr/>
          </p:nvSpPr>
          <p:spPr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2109" name="Google Shape;2109;p28"/>
            <p:cNvSpPr txBox="1"/>
            <p:nvPr/>
          </p:nvSpPr>
          <p:spPr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</p:grpSp>
      <p:cxnSp>
        <p:nvCxnSpPr>
          <p:cNvPr id="2110" name="Google Shape;2110;p28"/>
          <p:cNvCxnSpPr/>
          <p:nvPr/>
        </p:nvCxnSpPr>
        <p:spPr>
          <a:xfrm flipH="1" rot="10800000">
            <a:off x="1170996" y="5023414"/>
            <a:ext cx="502342" cy="281976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11" name="Google Shape;2111;p28"/>
          <p:cNvSpPr/>
          <p:nvPr/>
        </p:nvSpPr>
        <p:spPr>
          <a:xfrm>
            <a:off x="5545236" y="2930322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112" name="Google Shape;2112;p28"/>
          <p:cNvSpPr txBox="1"/>
          <p:nvPr/>
        </p:nvSpPr>
        <p:spPr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uxyvw</a:t>
            </a:r>
            <a:endParaRPr/>
          </a:p>
        </p:txBody>
      </p:sp>
      <p:sp>
        <p:nvSpPr>
          <p:cNvPr id="2113" name="Google Shape;2113;p28"/>
          <p:cNvSpPr txBox="1"/>
          <p:nvPr/>
        </p:nvSpPr>
        <p:spPr>
          <a:xfrm>
            <a:off x="9497173" y="3197610"/>
            <a:ext cx="52610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4,y</a:t>
            </a:r>
            <a:endParaRPr/>
          </a:p>
        </p:txBody>
      </p:sp>
      <p:sp>
        <p:nvSpPr>
          <p:cNvPr id="2114" name="Google Shape;2114;p28"/>
          <p:cNvSpPr/>
          <p:nvPr/>
        </p:nvSpPr>
        <p:spPr>
          <a:xfrm>
            <a:off x="9438034" y="3267919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115" name="Google Shape;2115;p28"/>
          <p:cNvSpPr txBox="1"/>
          <p:nvPr/>
        </p:nvSpPr>
        <p:spPr>
          <a:xfrm>
            <a:off x="2380129" y="3488080"/>
            <a:ext cx="102624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uxyvwz</a:t>
            </a:r>
            <a:endParaRPr/>
          </a:p>
        </p:txBody>
      </p:sp>
      <p:sp>
        <p:nvSpPr>
          <p:cNvPr id="2116" name="Google Shape;2116;p28"/>
          <p:cNvSpPr txBox="1"/>
          <p:nvPr/>
        </p:nvSpPr>
        <p:spPr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update </a:t>
            </a:r>
            <a:r>
              <a:rPr b="0" i="1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D(b) </a:t>
            </a:r>
            <a:r>
              <a:rPr b="0" i="0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for all </a:t>
            </a:r>
            <a:r>
              <a:rPr b="0" i="1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 adjacent to </a:t>
            </a:r>
            <a:r>
              <a:rPr b="0" i="1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 and not in </a:t>
            </a:r>
            <a:r>
              <a:rPr b="0" i="1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200"/>
              <a:buFont typeface="Calibri"/>
              <a:buNone/>
            </a:pPr>
            <a:r>
              <a:rPr b="1" i="1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     D(b) = </a:t>
            </a:r>
            <a:r>
              <a:rPr b="1" i="0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1" i="1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 ( D(b), D(a) + c</a:t>
            </a:r>
            <a:r>
              <a:rPr b="1" baseline="-25000" i="1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a,b </a:t>
            </a:r>
            <a:r>
              <a:rPr b="1" i="1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/>
          </a:p>
        </p:txBody>
      </p:sp>
      <p:cxnSp>
        <p:nvCxnSpPr>
          <p:cNvPr id="2117" name="Google Shape;2117;p28"/>
          <p:cNvCxnSpPr/>
          <p:nvPr/>
        </p:nvCxnSpPr>
        <p:spPr>
          <a:xfrm rot="10800000">
            <a:off x="2879488" y="5005314"/>
            <a:ext cx="0" cy="88353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18" name="Google Shape;2118;p28"/>
          <p:cNvCxnSpPr/>
          <p:nvPr/>
        </p:nvCxnSpPr>
        <p:spPr>
          <a:xfrm flipH="1" rot="10800000">
            <a:off x="3059661" y="5610320"/>
            <a:ext cx="606730" cy="44806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3" name="Shape 2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4" name="Google Shape;2124;p29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grpSp>
        <p:nvGrpSpPr>
          <p:cNvPr id="2125" name="Google Shape;2125;p29"/>
          <p:cNvGrpSpPr/>
          <p:nvPr/>
        </p:nvGrpSpPr>
        <p:grpSpPr>
          <a:xfrm>
            <a:off x="4237238" y="1377591"/>
            <a:ext cx="3571875" cy="2236788"/>
            <a:chOff x="3162" y="1071"/>
            <a:chExt cx="2250" cy="1409"/>
          </a:xfrm>
        </p:grpSpPr>
        <p:sp>
          <p:nvSpPr>
            <p:cNvPr id="2126" name="Google Shape;2126;p29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7" name="Google Shape;2127;p29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8" name="Google Shape;2128;p29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29" name="Google Shape;2129;p29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0" name="Google Shape;2130;p29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31" name="Google Shape;2131;p29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2" name="Google Shape;2132;p29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3" name="Google Shape;2133;p29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34" name="Google Shape;2134;p29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5" name="Google Shape;2135;p29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36" name="Google Shape;2136;p29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7" name="Google Shape;2137;p29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p29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39" name="Google Shape;2139;p29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0" name="Google Shape;2140;p29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41" name="Google Shape;2141;p29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2" name="Google Shape;2142;p29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3" name="Google Shape;2143;p29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44" name="Google Shape;2144;p29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5" name="Google Shape;2145;p29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46" name="Google Shape;2146;p29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7" name="Google Shape;2147;p29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8" name="Google Shape;2148;p29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49" name="Google Shape;2149;p29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0" name="Google Shape;2150;p29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51" name="Google Shape;2151;p29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2" name="Google Shape;2152;p29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3" name="Google Shape;2153;p29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54" name="Google Shape;2154;p29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5" name="Google Shape;2155;p29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56" name="Google Shape;2156;p29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p29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p29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p29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p29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29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29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p29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p29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p29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6" name="Google Shape;2166;p29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67" name="Google Shape;2167;p29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2168" name="Google Shape;2168;p29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9" name="Google Shape;2169;p29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70" name="Google Shape;2170;p29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2171" name="Google Shape;2171;p2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2" name="Google Shape;2172;p29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73" name="Google Shape;2173;p29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2174" name="Google Shape;2174;p29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5" name="Google Shape;2175;p29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2176" name="Google Shape;2176;p29"/>
            <p:cNvGrpSpPr/>
            <p:nvPr/>
          </p:nvGrpSpPr>
          <p:grpSpPr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2177" name="Google Shape;2177;p29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8" name="Google Shape;2178;p29"/>
              <p:cNvSpPr txBox="1"/>
              <p:nvPr/>
            </p:nvSpPr>
            <p:spPr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79" name="Google Shape;2179;p29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2180" name="Google Shape;2180;p2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1" name="Google Shape;2181;p29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82" name="Google Shape;2182;p29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2183" name="Google Shape;2183;p2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4" name="Google Shape;2184;p29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2185" name="Google Shape;2185;p29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6" name="Google Shape;2186;p29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7" name="Google Shape;2187;p29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8" name="Google Shape;2188;p29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9" name="Google Shape;2189;p29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p29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1" name="Google Shape;2191;p29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2" name="Google Shape;2192;p29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p29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4" name="Google Shape;2194;p29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95" name="Google Shape;2195;p29"/>
          <p:cNvSpPr txBox="1"/>
          <p:nvPr/>
        </p:nvSpPr>
        <p:spPr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5,u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4,x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</p:txBody>
      </p:sp>
      <p:cxnSp>
        <p:nvCxnSpPr>
          <p:cNvPr id="2196" name="Google Shape;2196;p29"/>
          <p:cNvCxnSpPr>
            <a:endCxn id="2137" idx="2"/>
          </p:cNvCxnSpPr>
          <p:nvPr/>
        </p:nvCxnSpPr>
        <p:spPr>
          <a:xfrm>
            <a:off x="4666101" y="2789598"/>
            <a:ext cx="439500" cy="4287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97" name="Google Shape;2197;p29"/>
          <p:cNvCxnSpPr>
            <a:endCxn id="2148" idx="2"/>
          </p:cNvCxnSpPr>
          <p:nvPr/>
        </p:nvCxnSpPr>
        <p:spPr>
          <a:xfrm>
            <a:off x="5617051" y="3300598"/>
            <a:ext cx="587100" cy="66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98" name="Google Shape;2198;p29"/>
          <p:cNvCxnSpPr>
            <a:stCxn id="2132" idx="7"/>
          </p:cNvCxnSpPr>
          <p:nvPr/>
        </p:nvCxnSpPr>
        <p:spPr>
          <a:xfrm flipH="1" rot="10800000">
            <a:off x="4777246" y="2268615"/>
            <a:ext cx="502200" cy="2820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99" name="Google Shape;2199;p29"/>
          <p:cNvCxnSpPr/>
          <p:nvPr/>
        </p:nvCxnSpPr>
        <p:spPr>
          <a:xfrm rot="10800000">
            <a:off x="6452488" y="2233914"/>
            <a:ext cx="0" cy="88353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00" name="Google Shape;2200;p29"/>
          <p:cNvCxnSpPr/>
          <p:nvPr/>
        </p:nvCxnSpPr>
        <p:spPr>
          <a:xfrm flipH="1" rot="10800000">
            <a:off x="6715788" y="2822294"/>
            <a:ext cx="606730" cy="44806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2201" name="Google Shape;2201;p29"/>
          <p:cNvGrpSpPr/>
          <p:nvPr/>
        </p:nvGrpSpPr>
        <p:grpSpPr>
          <a:xfrm>
            <a:off x="1182356" y="4594769"/>
            <a:ext cx="3244850" cy="1500187"/>
            <a:chOff x="1385" y="1283"/>
            <a:chExt cx="2044" cy="945"/>
          </a:xfrm>
        </p:grpSpPr>
        <p:sp>
          <p:nvSpPr>
            <p:cNvPr id="2202" name="Google Shape;2202;p29"/>
            <p:cNvSpPr/>
            <p:nvPr/>
          </p:nvSpPr>
          <p:spPr>
            <a:xfrm>
              <a:off x="1648" y="1465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p29"/>
            <p:cNvSpPr/>
            <p:nvPr/>
          </p:nvSpPr>
          <p:spPr>
            <a:xfrm>
              <a:off x="1388" y="1707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04" name="Google Shape;2204;p29"/>
            <p:cNvCxnSpPr/>
            <p:nvPr/>
          </p:nvCxnSpPr>
          <p:spPr>
            <a:xfrm>
              <a:off x="1388" y="1700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5" name="Google Shape;2205;p29"/>
            <p:cNvCxnSpPr/>
            <p:nvPr/>
          </p:nvCxnSpPr>
          <p:spPr>
            <a:xfrm>
              <a:off x="1701" y="1700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06" name="Google Shape;2206;p29"/>
            <p:cNvSpPr/>
            <p:nvPr/>
          </p:nvSpPr>
          <p:spPr>
            <a:xfrm>
              <a:off x="1388" y="1700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p29"/>
            <p:cNvSpPr/>
            <p:nvPr/>
          </p:nvSpPr>
          <p:spPr>
            <a:xfrm>
              <a:off x="1385" y="1641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p29"/>
            <p:cNvSpPr/>
            <p:nvPr/>
          </p:nvSpPr>
          <p:spPr>
            <a:xfrm>
              <a:off x="1862" y="2094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09" name="Google Shape;2209;p29"/>
            <p:cNvCxnSpPr/>
            <p:nvPr/>
          </p:nvCxnSpPr>
          <p:spPr>
            <a:xfrm>
              <a:off x="1862" y="208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0" name="Google Shape;2210;p29"/>
            <p:cNvCxnSpPr/>
            <p:nvPr/>
          </p:nvCxnSpPr>
          <p:spPr>
            <a:xfrm>
              <a:off x="2175" y="208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11" name="Google Shape;2211;p29"/>
            <p:cNvSpPr/>
            <p:nvPr/>
          </p:nvSpPr>
          <p:spPr>
            <a:xfrm>
              <a:off x="1862" y="208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p29"/>
            <p:cNvSpPr/>
            <p:nvPr/>
          </p:nvSpPr>
          <p:spPr>
            <a:xfrm>
              <a:off x="1859" y="2028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p29"/>
            <p:cNvSpPr/>
            <p:nvPr/>
          </p:nvSpPr>
          <p:spPr>
            <a:xfrm>
              <a:off x="1858" y="1404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14" name="Google Shape;2214;p29"/>
            <p:cNvCxnSpPr/>
            <p:nvPr/>
          </p:nvCxnSpPr>
          <p:spPr>
            <a:xfrm>
              <a:off x="1858" y="13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5" name="Google Shape;2215;p29"/>
            <p:cNvCxnSpPr/>
            <p:nvPr/>
          </p:nvCxnSpPr>
          <p:spPr>
            <a:xfrm>
              <a:off x="2171" y="13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16" name="Google Shape;2216;p29"/>
            <p:cNvSpPr/>
            <p:nvPr/>
          </p:nvSpPr>
          <p:spPr>
            <a:xfrm>
              <a:off x="1858" y="139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p29"/>
            <p:cNvSpPr/>
            <p:nvPr/>
          </p:nvSpPr>
          <p:spPr>
            <a:xfrm>
              <a:off x="1855" y="1338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8" name="Google Shape;2218;p29"/>
            <p:cNvSpPr/>
            <p:nvPr/>
          </p:nvSpPr>
          <p:spPr>
            <a:xfrm>
              <a:off x="2541" y="1400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19" name="Google Shape;2219;p29"/>
            <p:cNvCxnSpPr/>
            <p:nvPr/>
          </p:nvCxnSpPr>
          <p:spPr>
            <a:xfrm>
              <a:off x="2541" y="1393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0" name="Google Shape;2220;p29"/>
            <p:cNvCxnSpPr/>
            <p:nvPr/>
          </p:nvCxnSpPr>
          <p:spPr>
            <a:xfrm>
              <a:off x="2853" y="1393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21" name="Google Shape;2221;p29"/>
            <p:cNvSpPr/>
            <p:nvPr/>
          </p:nvSpPr>
          <p:spPr>
            <a:xfrm>
              <a:off x="2541" y="1393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2" name="Google Shape;2222;p29"/>
            <p:cNvSpPr/>
            <p:nvPr/>
          </p:nvSpPr>
          <p:spPr>
            <a:xfrm>
              <a:off x="2544" y="1337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3" name="Google Shape;2223;p29"/>
            <p:cNvSpPr/>
            <p:nvPr/>
          </p:nvSpPr>
          <p:spPr>
            <a:xfrm>
              <a:off x="2551" y="2091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24" name="Google Shape;2224;p29"/>
            <p:cNvCxnSpPr/>
            <p:nvPr/>
          </p:nvCxnSpPr>
          <p:spPr>
            <a:xfrm>
              <a:off x="2551" y="2084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5" name="Google Shape;2225;p29"/>
            <p:cNvCxnSpPr/>
            <p:nvPr/>
          </p:nvCxnSpPr>
          <p:spPr>
            <a:xfrm>
              <a:off x="2864" y="2084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26" name="Google Shape;2226;p29"/>
            <p:cNvSpPr/>
            <p:nvPr/>
          </p:nvSpPr>
          <p:spPr>
            <a:xfrm>
              <a:off x="2551" y="2084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7" name="Google Shape;2227;p29"/>
            <p:cNvSpPr/>
            <p:nvPr/>
          </p:nvSpPr>
          <p:spPr>
            <a:xfrm>
              <a:off x="2548" y="2025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8" name="Google Shape;2228;p29"/>
            <p:cNvSpPr/>
            <p:nvPr/>
          </p:nvSpPr>
          <p:spPr>
            <a:xfrm>
              <a:off x="3116" y="1750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29" name="Google Shape;2229;p29"/>
            <p:cNvCxnSpPr/>
            <p:nvPr/>
          </p:nvCxnSpPr>
          <p:spPr>
            <a:xfrm>
              <a:off x="3116" y="1743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0" name="Google Shape;2230;p29"/>
            <p:cNvCxnSpPr/>
            <p:nvPr/>
          </p:nvCxnSpPr>
          <p:spPr>
            <a:xfrm>
              <a:off x="3429" y="1743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31" name="Google Shape;2231;p29"/>
            <p:cNvSpPr/>
            <p:nvPr/>
          </p:nvSpPr>
          <p:spPr>
            <a:xfrm>
              <a:off x="3116" y="174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2" name="Google Shape;2232;p29"/>
            <p:cNvSpPr/>
            <p:nvPr/>
          </p:nvSpPr>
          <p:spPr>
            <a:xfrm>
              <a:off x="3113" y="1684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3" name="Google Shape;2233;p29"/>
            <p:cNvSpPr/>
            <p:nvPr/>
          </p:nvSpPr>
          <p:spPr>
            <a:xfrm>
              <a:off x="2707" y="1492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4" name="Google Shape;2234;p29"/>
            <p:cNvSpPr/>
            <p:nvPr/>
          </p:nvSpPr>
          <p:spPr>
            <a:xfrm>
              <a:off x="2866" y="1831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5" name="Google Shape;2235;p29"/>
            <p:cNvSpPr/>
            <p:nvPr/>
          </p:nvSpPr>
          <p:spPr>
            <a:xfrm>
              <a:off x="2185" y="2113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6" name="Google Shape;2236;p29"/>
            <p:cNvSpPr/>
            <p:nvPr/>
          </p:nvSpPr>
          <p:spPr>
            <a:xfrm>
              <a:off x="1594" y="1789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37" name="Google Shape;2237;p29"/>
            <p:cNvGrpSpPr/>
            <p:nvPr/>
          </p:nvGrpSpPr>
          <p:grpSpPr>
            <a:xfrm>
              <a:off x="1437" y="1589"/>
              <a:ext cx="205" cy="250"/>
              <a:chOff x="2954" y="2425"/>
              <a:chExt cx="208" cy="250"/>
            </a:xfrm>
          </p:grpSpPr>
          <p:sp>
            <p:nvSpPr>
              <p:cNvPr id="2238" name="Google Shape;2238;p29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9" name="Google Shape;2239;p29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40" name="Google Shape;2240;p29"/>
            <p:cNvGrpSpPr/>
            <p:nvPr/>
          </p:nvGrpSpPr>
          <p:grpSpPr>
            <a:xfrm>
              <a:off x="2611" y="1973"/>
              <a:ext cx="196" cy="250"/>
              <a:chOff x="2958" y="2425"/>
              <a:chExt cx="199" cy="250"/>
            </a:xfrm>
          </p:grpSpPr>
          <p:sp>
            <p:nvSpPr>
              <p:cNvPr id="2241" name="Google Shape;2241;p2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2" name="Google Shape;2242;p29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43" name="Google Shape;2243;p29"/>
            <p:cNvGrpSpPr/>
            <p:nvPr/>
          </p:nvGrpSpPr>
          <p:grpSpPr>
            <a:xfrm>
              <a:off x="1922" y="1940"/>
              <a:ext cx="212" cy="288"/>
              <a:chOff x="2951" y="2395"/>
              <a:chExt cx="213" cy="288"/>
            </a:xfrm>
          </p:grpSpPr>
          <p:sp>
            <p:nvSpPr>
              <p:cNvPr id="2244" name="Google Shape;2244;p29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5" name="Google Shape;2245;p29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2246" name="Google Shape;2246;p29"/>
            <p:cNvGrpSpPr/>
            <p:nvPr/>
          </p:nvGrpSpPr>
          <p:grpSpPr>
            <a:xfrm>
              <a:off x="2588" y="1283"/>
              <a:ext cx="232" cy="250"/>
              <a:chOff x="2941" y="2425"/>
              <a:chExt cx="235" cy="250"/>
            </a:xfrm>
          </p:grpSpPr>
          <p:sp>
            <p:nvSpPr>
              <p:cNvPr id="2247" name="Google Shape;2247;p29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8" name="Google Shape;2248;p29"/>
              <p:cNvSpPr txBox="1"/>
              <p:nvPr/>
            </p:nvSpPr>
            <p:spPr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49" name="Google Shape;2249;p29"/>
            <p:cNvGrpSpPr/>
            <p:nvPr/>
          </p:nvGrpSpPr>
          <p:grpSpPr>
            <a:xfrm>
              <a:off x="1921" y="1283"/>
              <a:ext cx="196" cy="250"/>
              <a:chOff x="2958" y="2425"/>
              <a:chExt cx="199" cy="250"/>
            </a:xfrm>
          </p:grpSpPr>
          <p:sp>
            <p:nvSpPr>
              <p:cNvPr id="2250" name="Google Shape;2250;p2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1" name="Google Shape;2251;p29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52" name="Google Shape;2252;p29"/>
            <p:cNvGrpSpPr/>
            <p:nvPr/>
          </p:nvGrpSpPr>
          <p:grpSpPr>
            <a:xfrm>
              <a:off x="3175" y="1601"/>
              <a:ext cx="212" cy="288"/>
              <a:chOff x="2949" y="2395"/>
              <a:chExt cx="214" cy="288"/>
            </a:xfrm>
          </p:grpSpPr>
          <p:sp>
            <p:nvSpPr>
              <p:cNvPr id="2253" name="Google Shape;2253;p2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4" name="Google Shape;2254;p29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</p:grpSp>
      <p:sp>
        <p:nvSpPr>
          <p:cNvPr id="2255" name="Google Shape;2255;p29"/>
          <p:cNvSpPr txBox="1"/>
          <p:nvPr/>
        </p:nvSpPr>
        <p:spPr>
          <a:xfrm>
            <a:off x="441194" y="3975560"/>
            <a:ext cx="47521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resulting least-cost-path tree from u:</a:t>
            </a:r>
            <a:endParaRPr/>
          </a:p>
        </p:txBody>
      </p:sp>
      <p:grpSp>
        <p:nvGrpSpPr>
          <p:cNvPr id="2256" name="Google Shape;2256;p29"/>
          <p:cNvGrpSpPr/>
          <p:nvPr/>
        </p:nvGrpSpPr>
        <p:grpSpPr>
          <a:xfrm>
            <a:off x="5736310" y="3974818"/>
            <a:ext cx="4022768" cy="2583002"/>
            <a:chOff x="6731733" y="3986393"/>
            <a:chExt cx="4022768" cy="2583002"/>
          </a:xfrm>
        </p:grpSpPr>
        <p:sp>
          <p:nvSpPr>
            <p:cNvPr id="2257" name="Google Shape;2257;p29"/>
            <p:cNvSpPr txBox="1"/>
            <p:nvPr/>
          </p:nvSpPr>
          <p:spPr>
            <a:xfrm>
              <a:off x="6731733" y="3986393"/>
              <a:ext cx="402276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resulting forwarding table in u:</a:t>
              </a:r>
              <a:endParaRPr/>
            </a:p>
          </p:txBody>
        </p:sp>
        <p:grpSp>
          <p:nvGrpSpPr>
            <p:cNvPr id="2258" name="Google Shape;2258;p29"/>
            <p:cNvGrpSpPr/>
            <p:nvPr/>
          </p:nvGrpSpPr>
          <p:grpSpPr>
            <a:xfrm>
              <a:off x="7152404" y="4495305"/>
              <a:ext cx="2643750" cy="2074090"/>
              <a:chOff x="8958054" y="1740531"/>
              <a:chExt cx="2643750" cy="2074090"/>
            </a:xfrm>
          </p:grpSpPr>
          <p:sp>
            <p:nvSpPr>
              <p:cNvPr id="2259" name="Google Shape;2259;p29"/>
              <p:cNvSpPr/>
              <p:nvPr/>
            </p:nvSpPr>
            <p:spPr>
              <a:xfrm>
                <a:off x="9199418" y="1778000"/>
                <a:ext cx="2373746" cy="277091"/>
              </a:xfrm>
              <a:prstGeom prst="rect">
                <a:avLst/>
              </a:prstGeom>
              <a:solidFill>
                <a:srgbClr val="D8D8D8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0" name="Google Shape;2260;p29"/>
              <p:cNvSpPr/>
              <p:nvPr/>
            </p:nvSpPr>
            <p:spPr>
              <a:xfrm>
                <a:off x="9190298" y="1770927"/>
                <a:ext cx="2384385" cy="1979271"/>
              </a:xfrm>
              <a:prstGeom prst="rect">
                <a:avLst/>
              </a:prstGeom>
              <a:noFill/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1" name="Google Shape;2261;p29"/>
              <p:cNvSpPr txBox="1"/>
              <p:nvPr/>
            </p:nvSpPr>
            <p:spPr>
              <a:xfrm>
                <a:off x="9572264" y="2060295"/>
                <a:ext cx="404278" cy="1754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2" name="Google Shape;2262;p29"/>
              <p:cNvSpPr txBox="1"/>
              <p:nvPr/>
            </p:nvSpPr>
            <p:spPr>
              <a:xfrm>
                <a:off x="10615914" y="2050649"/>
                <a:ext cx="748923" cy="1754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(u,v)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(u,x)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(u,x)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(u,x)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(u,x)</a:t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3" name="Google Shape;2263;p29"/>
              <p:cNvSpPr txBox="1"/>
              <p:nvPr/>
            </p:nvSpPr>
            <p:spPr>
              <a:xfrm>
                <a:off x="9220467" y="1747835"/>
                <a:ext cx="112300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destination</a:t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4" name="Google Shape;2264;p29"/>
              <p:cNvSpPr txBox="1"/>
              <p:nvPr/>
            </p:nvSpPr>
            <p:spPr>
              <a:xfrm>
                <a:off x="10338125" y="1740531"/>
                <a:ext cx="126367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outgoing link</a:t>
                </a:r>
                <a:endParaRPr/>
              </a:p>
            </p:txBody>
          </p:sp>
          <p:cxnSp>
            <p:nvCxnSpPr>
              <p:cNvPr id="2265" name="Google Shape;2265;p29"/>
              <p:cNvCxnSpPr/>
              <p:nvPr/>
            </p:nvCxnSpPr>
            <p:spPr>
              <a:xfrm>
                <a:off x="9178724" y="2060293"/>
                <a:ext cx="239596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66" name="Google Shape;2266;p29"/>
              <p:cNvCxnSpPr/>
              <p:nvPr/>
            </p:nvCxnSpPr>
            <p:spPr>
              <a:xfrm>
                <a:off x="8958054" y="1770927"/>
                <a:ext cx="0" cy="199084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267" name="Google Shape;2267;p29"/>
          <p:cNvGrpSpPr/>
          <p:nvPr/>
        </p:nvGrpSpPr>
        <p:grpSpPr>
          <a:xfrm>
            <a:off x="8565265" y="4815068"/>
            <a:ext cx="3170508" cy="369332"/>
            <a:chOff x="8565265" y="4815068"/>
            <a:chExt cx="3170508" cy="369332"/>
          </a:xfrm>
        </p:grpSpPr>
        <p:sp>
          <p:nvSpPr>
            <p:cNvPr id="2268" name="Google Shape;2268;p29"/>
            <p:cNvSpPr txBox="1"/>
            <p:nvPr/>
          </p:nvSpPr>
          <p:spPr>
            <a:xfrm>
              <a:off x="9201874" y="4815068"/>
              <a:ext cx="253389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route from </a:t>
              </a: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</a:t>
              </a: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v 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directly</a:t>
              </a:r>
              <a:endParaRPr/>
            </a:p>
          </p:txBody>
        </p:sp>
        <p:cxnSp>
          <p:nvCxnSpPr>
            <p:cNvPr id="2269" name="Google Shape;2269;p29"/>
            <p:cNvCxnSpPr/>
            <p:nvPr/>
          </p:nvCxnSpPr>
          <p:spPr>
            <a:xfrm>
              <a:off x="8565265" y="5000264"/>
              <a:ext cx="682907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270" name="Google Shape;2270;p29"/>
          <p:cNvGrpSpPr/>
          <p:nvPr/>
        </p:nvGrpSpPr>
        <p:grpSpPr>
          <a:xfrm>
            <a:off x="8877782" y="5197032"/>
            <a:ext cx="2372811" cy="1260926"/>
            <a:chOff x="8877782" y="5197032"/>
            <a:chExt cx="2372811" cy="1260926"/>
          </a:xfrm>
        </p:grpSpPr>
        <p:sp>
          <p:nvSpPr>
            <p:cNvPr id="2271" name="Google Shape;2271;p29"/>
            <p:cNvSpPr txBox="1"/>
            <p:nvPr/>
          </p:nvSpPr>
          <p:spPr>
            <a:xfrm>
              <a:off x="9215379" y="5534628"/>
              <a:ext cx="2035214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route from u to all other destinations via </a:t>
              </a: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2272" name="Google Shape;2272;p29"/>
            <p:cNvSpPr/>
            <p:nvPr/>
          </p:nvSpPr>
          <p:spPr>
            <a:xfrm>
              <a:off x="8877782" y="5197032"/>
              <a:ext cx="352218" cy="1238491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7" name="Shape 2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" name="Google Shape;2278;p30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another example</a:t>
            </a:r>
            <a:endParaRPr/>
          </a:p>
        </p:txBody>
      </p:sp>
      <p:grpSp>
        <p:nvGrpSpPr>
          <p:cNvPr id="2279" name="Google Shape;2279;p30"/>
          <p:cNvGrpSpPr/>
          <p:nvPr/>
        </p:nvGrpSpPr>
        <p:grpSpPr>
          <a:xfrm>
            <a:off x="7267328" y="1497821"/>
            <a:ext cx="4217987" cy="3361377"/>
            <a:chOff x="415" y="856"/>
            <a:chExt cx="2910" cy="2256"/>
          </a:xfrm>
        </p:grpSpPr>
        <p:grpSp>
          <p:nvGrpSpPr>
            <p:cNvPr id="2280" name="Google Shape;2280;p30"/>
            <p:cNvGrpSpPr/>
            <p:nvPr/>
          </p:nvGrpSpPr>
          <p:grpSpPr>
            <a:xfrm>
              <a:off x="1290" y="1997"/>
              <a:ext cx="316" cy="265"/>
              <a:chOff x="1613" y="2011"/>
              <a:chExt cx="316" cy="265"/>
            </a:xfrm>
          </p:grpSpPr>
          <p:sp>
            <p:nvSpPr>
              <p:cNvPr id="2281" name="Google Shape;2281;p30"/>
              <p:cNvSpPr/>
              <p:nvPr/>
            </p:nvSpPr>
            <p:spPr>
              <a:xfrm>
                <a:off x="1616" y="2138"/>
                <a:ext cx="311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82" name="Google Shape;2282;p30"/>
              <p:cNvCxnSpPr/>
              <p:nvPr/>
            </p:nvCxnSpPr>
            <p:spPr>
              <a:xfrm>
                <a:off x="1616" y="2129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83" name="Google Shape;2283;p30"/>
              <p:cNvCxnSpPr/>
              <p:nvPr/>
            </p:nvCxnSpPr>
            <p:spPr>
              <a:xfrm>
                <a:off x="1929" y="2129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84" name="Google Shape;2284;p30"/>
              <p:cNvSpPr/>
              <p:nvPr/>
            </p:nvSpPr>
            <p:spPr>
              <a:xfrm>
                <a:off x="1616" y="2129"/>
                <a:ext cx="308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5" name="Google Shape;2285;p30"/>
              <p:cNvSpPr/>
              <p:nvPr/>
            </p:nvSpPr>
            <p:spPr>
              <a:xfrm>
                <a:off x="1613" y="2072"/>
                <a:ext cx="311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6" name="Google Shape;2286;p30"/>
              <p:cNvSpPr/>
              <p:nvPr/>
            </p:nvSpPr>
            <p:spPr>
              <a:xfrm>
                <a:off x="1686" y="2100"/>
                <a:ext cx="140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7" name="Google Shape;2287;p30"/>
              <p:cNvSpPr txBox="1"/>
              <p:nvPr/>
            </p:nvSpPr>
            <p:spPr>
              <a:xfrm>
                <a:off x="1633" y="2011"/>
                <a:ext cx="254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88" name="Google Shape;2288;p30"/>
            <p:cNvSpPr txBox="1"/>
            <p:nvPr/>
          </p:nvSpPr>
          <p:spPr>
            <a:xfrm>
              <a:off x="925" y="1959"/>
              <a:ext cx="215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9" name="Google Shape;2289;p30"/>
            <p:cNvSpPr txBox="1"/>
            <p:nvPr/>
          </p:nvSpPr>
          <p:spPr>
            <a:xfrm>
              <a:off x="1430" y="1478"/>
              <a:ext cx="215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90" name="Google Shape;2290;p30"/>
            <p:cNvGrpSpPr/>
            <p:nvPr/>
          </p:nvGrpSpPr>
          <p:grpSpPr>
            <a:xfrm>
              <a:off x="1299" y="2848"/>
              <a:ext cx="316" cy="264"/>
              <a:chOff x="1613" y="2011"/>
              <a:chExt cx="316" cy="264"/>
            </a:xfrm>
          </p:grpSpPr>
          <p:sp>
            <p:nvSpPr>
              <p:cNvPr id="2291" name="Google Shape;2291;p30"/>
              <p:cNvSpPr/>
              <p:nvPr/>
            </p:nvSpPr>
            <p:spPr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92" name="Google Shape;2292;p30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93" name="Google Shape;2293;p30"/>
              <p:cNvCxnSpPr/>
              <p:nvPr/>
            </p:nvCxnSpPr>
            <p:spPr>
              <a:xfrm>
                <a:off x="1929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94" name="Google Shape;2294;p30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5" name="Google Shape;2295;p30"/>
              <p:cNvSpPr/>
              <p:nvPr/>
            </p:nvSpPr>
            <p:spPr>
              <a:xfrm>
                <a:off x="1613" y="207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6" name="Google Shape;2296;p30"/>
              <p:cNvSpPr/>
              <p:nvPr/>
            </p:nvSpPr>
            <p:spPr>
              <a:xfrm>
                <a:off x="1687" y="2100"/>
                <a:ext cx="141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7" name="Google Shape;2297;p30"/>
              <p:cNvSpPr txBox="1"/>
              <p:nvPr/>
            </p:nvSpPr>
            <p:spPr>
              <a:xfrm>
                <a:off x="1652" y="2011"/>
                <a:ext cx="215" cy="2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98" name="Google Shape;2298;p30"/>
            <p:cNvGrpSpPr/>
            <p:nvPr/>
          </p:nvGrpSpPr>
          <p:grpSpPr>
            <a:xfrm>
              <a:off x="1293" y="856"/>
              <a:ext cx="318" cy="266"/>
              <a:chOff x="1611" y="2011"/>
              <a:chExt cx="318" cy="266"/>
            </a:xfrm>
          </p:grpSpPr>
          <p:sp>
            <p:nvSpPr>
              <p:cNvPr id="2299" name="Google Shape;2299;p30"/>
              <p:cNvSpPr/>
              <p:nvPr/>
            </p:nvSpPr>
            <p:spPr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300" name="Google Shape;2300;p30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01" name="Google Shape;2301;p30"/>
              <p:cNvCxnSpPr/>
              <p:nvPr/>
            </p:nvCxnSpPr>
            <p:spPr>
              <a:xfrm>
                <a:off x="1929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302" name="Google Shape;2302;p30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3" name="Google Shape;2303;p30"/>
              <p:cNvSpPr/>
              <p:nvPr/>
            </p:nvSpPr>
            <p:spPr>
              <a:xfrm>
                <a:off x="1611" y="2072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4" name="Google Shape;2304;p30"/>
              <p:cNvSpPr/>
              <p:nvPr/>
            </p:nvSpPr>
            <p:spPr>
              <a:xfrm>
                <a:off x="1687" y="2100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5" name="Google Shape;2305;p30"/>
              <p:cNvSpPr txBox="1"/>
              <p:nvPr/>
            </p:nvSpPr>
            <p:spPr>
              <a:xfrm>
                <a:off x="1652" y="2011"/>
                <a:ext cx="215" cy="2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06" name="Google Shape;2306;p30"/>
            <p:cNvGrpSpPr/>
            <p:nvPr/>
          </p:nvGrpSpPr>
          <p:grpSpPr>
            <a:xfrm>
              <a:off x="415" y="2028"/>
              <a:ext cx="318" cy="267"/>
              <a:chOff x="1613" y="2011"/>
              <a:chExt cx="318" cy="267"/>
            </a:xfrm>
          </p:grpSpPr>
          <p:sp>
            <p:nvSpPr>
              <p:cNvPr id="2307" name="Google Shape;2307;p30"/>
              <p:cNvSpPr/>
              <p:nvPr/>
            </p:nvSpPr>
            <p:spPr>
              <a:xfrm>
                <a:off x="1616" y="2138"/>
                <a:ext cx="313" cy="82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308" name="Google Shape;2308;p30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09" name="Google Shape;2309;p30"/>
              <p:cNvCxnSpPr/>
              <p:nvPr/>
            </p:nvCxnSpPr>
            <p:spPr>
              <a:xfrm>
                <a:off x="1931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310" name="Google Shape;2310;p30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1" name="Google Shape;2311;p30"/>
              <p:cNvSpPr/>
              <p:nvPr/>
            </p:nvSpPr>
            <p:spPr>
              <a:xfrm>
                <a:off x="1613" y="2072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2" name="Google Shape;2312;p30"/>
              <p:cNvSpPr/>
              <p:nvPr/>
            </p:nvSpPr>
            <p:spPr>
              <a:xfrm>
                <a:off x="1687" y="2102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3" name="Google Shape;2313;p30"/>
              <p:cNvSpPr txBox="1"/>
              <p:nvPr/>
            </p:nvSpPr>
            <p:spPr>
              <a:xfrm>
                <a:off x="1648" y="2011"/>
                <a:ext cx="226" cy="2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314" name="Google Shape;2314;p30"/>
            <p:cNvCxnSpPr/>
            <p:nvPr/>
          </p:nvCxnSpPr>
          <p:spPr>
            <a:xfrm>
              <a:off x="738" y="2156"/>
              <a:ext cx="63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5" name="Google Shape;2315;p30"/>
            <p:cNvCxnSpPr/>
            <p:nvPr/>
          </p:nvCxnSpPr>
          <p:spPr>
            <a:xfrm>
              <a:off x="1440" y="1082"/>
              <a:ext cx="0" cy="9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6" name="Google Shape;2316;p30"/>
            <p:cNvCxnSpPr/>
            <p:nvPr/>
          </p:nvCxnSpPr>
          <p:spPr>
            <a:xfrm flipH="1">
              <a:off x="614" y="1021"/>
              <a:ext cx="674" cy="108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17" name="Google Shape;2317;p30"/>
            <p:cNvSpPr txBox="1"/>
            <p:nvPr/>
          </p:nvSpPr>
          <p:spPr>
            <a:xfrm>
              <a:off x="772" y="1368"/>
              <a:ext cx="215" cy="2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18" name="Google Shape;2318;p30"/>
            <p:cNvCxnSpPr/>
            <p:nvPr/>
          </p:nvCxnSpPr>
          <p:spPr>
            <a:xfrm>
              <a:off x="1447" y="2206"/>
              <a:ext cx="9" cy="71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19" name="Google Shape;2319;p30"/>
            <p:cNvSpPr txBox="1"/>
            <p:nvPr/>
          </p:nvSpPr>
          <p:spPr>
            <a:xfrm>
              <a:off x="1454" y="2407"/>
              <a:ext cx="215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0" name="Google Shape;2320;p30"/>
            <p:cNvSpPr/>
            <p:nvPr/>
          </p:nvSpPr>
          <p:spPr>
            <a:xfrm>
              <a:off x="601" y="2227"/>
              <a:ext cx="860" cy="799"/>
            </a:xfrm>
            <a:custGeom>
              <a:rect b="b" l="l" r="r" t="t"/>
              <a:pathLst>
                <a:path extrusionOk="0" h="10136" w="10032">
                  <a:moveTo>
                    <a:pt x="32" y="0"/>
                  </a:moveTo>
                  <a:cubicBezTo>
                    <a:pt x="62" y="4573"/>
                    <a:pt x="-465" y="5047"/>
                    <a:pt x="1834" y="7734"/>
                  </a:cubicBezTo>
                  <a:cubicBezTo>
                    <a:pt x="4132" y="9414"/>
                    <a:pt x="9320" y="10802"/>
                    <a:pt x="10032" y="979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1" name="Google Shape;2321;p30"/>
            <p:cNvSpPr txBox="1"/>
            <p:nvPr/>
          </p:nvSpPr>
          <p:spPr>
            <a:xfrm>
              <a:off x="768" y="2582"/>
              <a:ext cx="216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22" name="Google Shape;2322;p30"/>
            <p:cNvCxnSpPr/>
            <p:nvPr/>
          </p:nvCxnSpPr>
          <p:spPr>
            <a:xfrm flipH="1">
              <a:off x="1450" y="2158"/>
              <a:ext cx="998" cy="82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23" name="Google Shape;2323;p30"/>
            <p:cNvSpPr txBox="1"/>
            <p:nvPr/>
          </p:nvSpPr>
          <p:spPr>
            <a:xfrm>
              <a:off x="1896" y="2569"/>
              <a:ext cx="216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4" name="Google Shape;2324;p30"/>
            <p:cNvSpPr/>
            <p:nvPr/>
          </p:nvSpPr>
          <p:spPr>
            <a:xfrm>
              <a:off x="1477" y="1946"/>
              <a:ext cx="991" cy="484"/>
            </a:xfrm>
            <a:custGeom>
              <a:rect b="b" l="l" r="r" t="t"/>
              <a:pathLst>
                <a:path extrusionOk="0" h="484" w="991">
                  <a:moveTo>
                    <a:pt x="0" y="168"/>
                  </a:moveTo>
                  <a:cubicBezTo>
                    <a:pt x="0" y="168"/>
                    <a:pt x="145" y="484"/>
                    <a:pt x="204" y="484"/>
                  </a:cubicBezTo>
                  <a:cubicBezTo>
                    <a:pt x="263" y="484"/>
                    <a:pt x="253" y="6"/>
                    <a:pt x="302" y="7"/>
                  </a:cubicBezTo>
                  <a:cubicBezTo>
                    <a:pt x="331" y="0"/>
                    <a:pt x="313" y="444"/>
                    <a:pt x="379" y="442"/>
                  </a:cubicBezTo>
                  <a:cubicBezTo>
                    <a:pt x="418" y="444"/>
                    <a:pt x="475" y="24"/>
                    <a:pt x="534" y="21"/>
                  </a:cubicBezTo>
                  <a:cubicBezTo>
                    <a:pt x="573" y="6"/>
                    <a:pt x="575" y="360"/>
                    <a:pt x="611" y="351"/>
                  </a:cubicBezTo>
                  <a:cubicBezTo>
                    <a:pt x="647" y="342"/>
                    <a:pt x="577" y="80"/>
                    <a:pt x="660" y="77"/>
                  </a:cubicBezTo>
                  <a:cubicBezTo>
                    <a:pt x="743" y="74"/>
                    <a:pt x="922" y="189"/>
                    <a:pt x="991" y="21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25" name="Google Shape;2325;p30"/>
            <p:cNvGrpSpPr/>
            <p:nvPr/>
          </p:nvGrpSpPr>
          <p:grpSpPr>
            <a:xfrm>
              <a:off x="2332" y="2021"/>
              <a:ext cx="316" cy="266"/>
              <a:chOff x="1613" y="2011"/>
              <a:chExt cx="316" cy="266"/>
            </a:xfrm>
          </p:grpSpPr>
          <p:sp>
            <p:nvSpPr>
              <p:cNvPr id="2326" name="Google Shape;2326;p30"/>
              <p:cNvSpPr/>
              <p:nvPr/>
            </p:nvSpPr>
            <p:spPr>
              <a:xfrm>
                <a:off x="1616" y="2136"/>
                <a:ext cx="313" cy="82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327" name="Google Shape;2327;p30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28" name="Google Shape;2328;p30"/>
              <p:cNvCxnSpPr/>
              <p:nvPr/>
            </p:nvCxnSpPr>
            <p:spPr>
              <a:xfrm>
                <a:off x="1929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329" name="Google Shape;2329;p30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0" name="Google Shape;2330;p30"/>
              <p:cNvSpPr/>
              <p:nvPr/>
            </p:nvSpPr>
            <p:spPr>
              <a:xfrm>
                <a:off x="1613" y="2070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1" name="Google Shape;2331;p30"/>
              <p:cNvSpPr/>
              <p:nvPr/>
            </p:nvSpPr>
            <p:spPr>
              <a:xfrm>
                <a:off x="1687" y="2100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2" name="Google Shape;2332;p30"/>
              <p:cNvSpPr txBox="1"/>
              <p:nvPr/>
            </p:nvSpPr>
            <p:spPr>
              <a:xfrm>
                <a:off x="1652" y="2011"/>
                <a:ext cx="215" cy="2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33" name="Google Shape;2333;p30"/>
            <p:cNvSpPr txBox="1"/>
            <p:nvPr/>
          </p:nvSpPr>
          <p:spPr>
            <a:xfrm>
              <a:off x="1814" y="1721"/>
              <a:ext cx="216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34" name="Google Shape;2334;p30"/>
            <p:cNvGrpSpPr/>
            <p:nvPr/>
          </p:nvGrpSpPr>
          <p:grpSpPr>
            <a:xfrm>
              <a:off x="3007" y="2002"/>
              <a:ext cx="318" cy="264"/>
              <a:chOff x="1611" y="2011"/>
              <a:chExt cx="318" cy="264"/>
            </a:xfrm>
          </p:grpSpPr>
          <p:sp>
            <p:nvSpPr>
              <p:cNvPr id="2335" name="Google Shape;2335;p30"/>
              <p:cNvSpPr/>
              <p:nvPr/>
            </p:nvSpPr>
            <p:spPr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336" name="Google Shape;2336;p30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37" name="Google Shape;2337;p30"/>
              <p:cNvCxnSpPr/>
              <p:nvPr/>
            </p:nvCxnSpPr>
            <p:spPr>
              <a:xfrm>
                <a:off x="1929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338" name="Google Shape;2338;p30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9" name="Google Shape;2339;p30"/>
              <p:cNvSpPr/>
              <p:nvPr/>
            </p:nvSpPr>
            <p:spPr>
              <a:xfrm>
                <a:off x="1611" y="207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0" name="Google Shape;2340;p30"/>
              <p:cNvSpPr/>
              <p:nvPr/>
            </p:nvSpPr>
            <p:spPr>
              <a:xfrm>
                <a:off x="1687" y="2100"/>
                <a:ext cx="141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1" name="Google Shape;2341;p30"/>
              <p:cNvSpPr txBox="1"/>
              <p:nvPr/>
            </p:nvSpPr>
            <p:spPr>
              <a:xfrm>
                <a:off x="1653" y="2011"/>
                <a:ext cx="215" cy="2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342" name="Google Shape;2342;p30"/>
            <p:cNvCxnSpPr/>
            <p:nvPr/>
          </p:nvCxnSpPr>
          <p:spPr>
            <a:xfrm>
              <a:off x="2640" y="2149"/>
              <a:ext cx="35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43" name="Google Shape;2343;p30"/>
            <p:cNvSpPr txBox="1"/>
            <p:nvPr/>
          </p:nvSpPr>
          <p:spPr>
            <a:xfrm>
              <a:off x="2706" y="2149"/>
              <a:ext cx="215" cy="2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44" name="Google Shape;2344;p30"/>
            <p:cNvCxnSpPr/>
            <p:nvPr/>
          </p:nvCxnSpPr>
          <p:spPr>
            <a:xfrm>
              <a:off x="1503" y="990"/>
              <a:ext cx="965" cy="113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45" name="Google Shape;2345;p30"/>
            <p:cNvSpPr txBox="1"/>
            <p:nvPr/>
          </p:nvSpPr>
          <p:spPr>
            <a:xfrm>
              <a:off x="1919" y="1343"/>
              <a:ext cx="216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6" name="Google Shape;2346;p30"/>
            <p:cNvSpPr/>
            <p:nvPr/>
          </p:nvSpPr>
          <p:spPr>
            <a:xfrm>
              <a:off x="1489" y="976"/>
              <a:ext cx="28" cy="14"/>
            </a:xfrm>
            <a:custGeom>
              <a:rect b="b" l="l" r="r" t="t"/>
              <a:pathLst>
                <a:path extrusionOk="0" h="14" w="28">
                  <a:moveTo>
                    <a:pt x="0" y="14"/>
                  </a:moveTo>
                  <a:cubicBezTo>
                    <a:pt x="9" y="9"/>
                    <a:pt x="28" y="0"/>
                    <a:pt x="28" y="0"/>
                  </a:cubicBezTo>
                  <a:cubicBezTo>
                    <a:pt x="28" y="0"/>
                    <a:pt x="9" y="9"/>
                    <a:pt x="0" y="14"/>
                  </a:cubicBezTo>
                  <a:close/>
                </a:path>
              </a:pathLst>
            </a:cu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7" name="Google Shape;2347;p30"/>
            <p:cNvSpPr/>
            <p:nvPr/>
          </p:nvSpPr>
          <p:spPr>
            <a:xfrm>
              <a:off x="1623" y="999"/>
              <a:ext cx="1510" cy="1052"/>
            </a:xfrm>
            <a:custGeom>
              <a:rect b="b" l="l" r="r" t="t"/>
              <a:pathLst>
                <a:path extrusionOk="0" h="1052" w="1510">
                  <a:moveTo>
                    <a:pt x="0" y="5"/>
                  </a:moveTo>
                  <a:cubicBezTo>
                    <a:pt x="184" y="33"/>
                    <a:pt x="851" y="0"/>
                    <a:pt x="1102" y="174"/>
                  </a:cubicBezTo>
                  <a:cubicBezTo>
                    <a:pt x="1353" y="348"/>
                    <a:pt x="1425" y="869"/>
                    <a:pt x="1510" y="1052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8" name="Google Shape;2348;p30"/>
            <p:cNvSpPr txBox="1"/>
            <p:nvPr/>
          </p:nvSpPr>
          <p:spPr>
            <a:xfrm>
              <a:off x="2680" y="1008"/>
              <a:ext cx="215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49" name="Google Shape;2349;p30"/>
          <p:cNvSpPr txBox="1"/>
          <p:nvPr/>
        </p:nvSpPr>
        <p:spPr>
          <a:xfrm>
            <a:off x="593232" y="1792545"/>
            <a:ext cx="8179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0" name="Google Shape;2350;p30"/>
          <p:cNvSpPr txBox="1"/>
          <p:nvPr/>
        </p:nvSpPr>
        <p:spPr>
          <a:xfrm>
            <a:off x="1661579" y="1793419"/>
            <a:ext cx="4667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2351" name="Google Shape;2351;p30"/>
          <p:cNvSpPr txBox="1"/>
          <p:nvPr/>
        </p:nvSpPr>
        <p:spPr>
          <a:xfrm>
            <a:off x="2373738" y="1644712"/>
            <a:ext cx="641522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p(v)</a:t>
            </a:r>
            <a:endParaRPr/>
          </a:p>
        </p:txBody>
      </p:sp>
      <p:sp>
        <p:nvSpPr>
          <p:cNvPr id="2352" name="Google Shape;2352;p30"/>
          <p:cNvSpPr txBox="1"/>
          <p:nvPr/>
        </p:nvSpPr>
        <p:spPr>
          <a:xfrm>
            <a:off x="785268" y="2280100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2353" name="Google Shape;2353;p30"/>
          <p:cNvSpPr txBox="1"/>
          <p:nvPr/>
        </p:nvSpPr>
        <p:spPr>
          <a:xfrm>
            <a:off x="770326" y="2715388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354" name="Google Shape;2354;p30"/>
          <p:cNvSpPr txBox="1"/>
          <p:nvPr/>
        </p:nvSpPr>
        <p:spPr>
          <a:xfrm>
            <a:off x="767972" y="3193935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355" name="Google Shape;2355;p30"/>
          <p:cNvSpPr txBox="1"/>
          <p:nvPr/>
        </p:nvSpPr>
        <p:spPr>
          <a:xfrm>
            <a:off x="765563" y="3622020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356" name="Google Shape;2356;p30"/>
          <p:cNvSpPr txBox="1"/>
          <p:nvPr/>
        </p:nvSpPr>
        <p:spPr>
          <a:xfrm>
            <a:off x="762130" y="4110058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357" name="Google Shape;2357;p30"/>
          <p:cNvSpPr txBox="1"/>
          <p:nvPr/>
        </p:nvSpPr>
        <p:spPr>
          <a:xfrm>
            <a:off x="760856" y="4551045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358" name="Google Shape;2358;p30"/>
          <p:cNvSpPr txBox="1"/>
          <p:nvPr/>
        </p:nvSpPr>
        <p:spPr>
          <a:xfrm>
            <a:off x="3207477" y="1647177"/>
            <a:ext cx="688010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p(w)</a:t>
            </a:r>
            <a:endParaRPr/>
          </a:p>
        </p:txBody>
      </p:sp>
      <p:sp>
        <p:nvSpPr>
          <p:cNvPr id="2359" name="Google Shape;2359;p30"/>
          <p:cNvSpPr txBox="1"/>
          <p:nvPr/>
        </p:nvSpPr>
        <p:spPr>
          <a:xfrm>
            <a:off x="4098638" y="1647176"/>
            <a:ext cx="641522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p(x)</a:t>
            </a:r>
            <a:endParaRPr/>
          </a:p>
        </p:txBody>
      </p:sp>
      <p:sp>
        <p:nvSpPr>
          <p:cNvPr id="2360" name="Google Shape;2360;p30"/>
          <p:cNvSpPr txBox="1"/>
          <p:nvPr/>
        </p:nvSpPr>
        <p:spPr>
          <a:xfrm>
            <a:off x="4934206" y="1652652"/>
            <a:ext cx="641522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p(y)</a:t>
            </a:r>
            <a:endParaRPr/>
          </a:p>
        </p:txBody>
      </p:sp>
      <p:sp>
        <p:nvSpPr>
          <p:cNvPr id="2361" name="Google Shape;2361;p30"/>
          <p:cNvSpPr txBox="1"/>
          <p:nvPr/>
        </p:nvSpPr>
        <p:spPr>
          <a:xfrm>
            <a:off x="5771830" y="1651940"/>
            <a:ext cx="630302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p(z)</a:t>
            </a:r>
            <a:endParaRPr/>
          </a:p>
        </p:txBody>
      </p:sp>
      <p:cxnSp>
        <p:nvCxnSpPr>
          <p:cNvPr id="2362" name="Google Shape;2362;p30"/>
          <p:cNvCxnSpPr/>
          <p:nvPr/>
        </p:nvCxnSpPr>
        <p:spPr>
          <a:xfrm>
            <a:off x="939397" y="2690590"/>
            <a:ext cx="5150117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3" name="Google Shape;2363;p30"/>
          <p:cNvSpPr txBox="1"/>
          <p:nvPr/>
        </p:nvSpPr>
        <p:spPr>
          <a:xfrm>
            <a:off x="1766343" y="2270575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2364" name="Google Shape;2364;p30"/>
          <p:cNvCxnSpPr/>
          <p:nvPr/>
        </p:nvCxnSpPr>
        <p:spPr>
          <a:xfrm>
            <a:off x="871302" y="3151241"/>
            <a:ext cx="5224698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5" name="Google Shape;2365;p30"/>
          <p:cNvCxnSpPr/>
          <p:nvPr/>
        </p:nvCxnSpPr>
        <p:spPr>
          <a:xfrm>
            <a:off x="871302" y="3618848"/>
            <a:ext cx="5224698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6" name="Google Shape;2366;p30"/>
          <p:cNvCxnSpPr/>
          <p:nvPr/>
        </p:nvCxnSpPr>
        <p:spPr>
          <a:xfrm>
            <a:off x="818428" y="4551040"/>
            <a:ext cx="5277571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7" name="Google Shape;2367;p30"/>
          <p:cNvCxnSpPr/>
          <p:nvPr/>
        </p:nvCxnSpPr>
        <p:spPr>
          <a:xfrm>
            <a:off x="866540" y="4075166"/>
            <a:ext cx="522946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8" name="Google Shape;2368;p30"/>
          <p:cNvCxnSpPr/>
          <p:nvPr/>
        </p:nvCxnSpPr>
        <p:spPr>
          <a:xfrm>
            <a:off x="866016" y="5009992"/>
            <a:ext cx="5229984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69" name="Google Shape;2369;p30"/>
          <p:cNvGrpSpPr/>
          <p:nvPr/>
        </p:nvGrpSpPr>
        <p:grpSpPr>
          <a:xfrm>
            <a:off x="2400069" y="2268766"/>
            <a:ext cx="3937006" cy="409575"/>
            <a:chOff x="1329" y="1036"/>
            <a:chExt cx="2480" cy="258"/>
          </a:xfrm>
        </p:grpSpPr>
        <p:sp>
          <p:nvSpPr>
            <p:cNvPr id="2370" name="Google Shape;2370;p30"/>
            <p:cNvSpPr txBox="1"/>
            <p:nvPr/>
          </p:nvSpPr>
          <p:spPr>
            <a:xfrm>
              <a:off x="3509" y="1036"/>
              <a:ext cx="30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omic Sans MS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1" name="Google Shape;2371;p30"/>
            <p:cNvSpPr txBox="1"/>
            <p:nvPr/>
          </p:nvSpPr>
          <p:spPr>
            <a:xfrm>
              <a:off x="2989" y="1042"/>
              <a:ext cx="30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omic Sans MS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2" name="Google Shape;2372;p30"/>
            <p:cNvSpPr txBox="1"/>
            <p:nvPr/>
          </p:nvSpPr>
          <p:spPr>
            <a:xfrm>
              <a:off x="1329" y="1038"/>
              <a:ext cx="34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7,u</a:t>
              </a:r>
              <a:endParaRPr/>
            </a:p>
          </p:txBody>
        </p:sp>
        <p:sp>
          <p:nvSpPr>
            <p:cNvPr id="2373" name="Google Shape;2373;p30"/>
            <p:cNvSpPr txBox="1"/>
            <p:nvPr/>
          </p:nvSpPr>
          <p:spPr>
            <a:xfrm>
              <a:off x="1855" y="1041"/>
              <a:ext cx="34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3,u</a:t>
              </a:r>
              <a:endParaRPr/>
            </a:p>
          </p:txBody>
        </p:sp>
        <p:sp>
          <p:nvSpPr>
            <p:cNvPr id="2374" name="Google Shape;2374;p30"/>
            <p:cNvSpPr txBox="1"/>
            <p:nvPr/>
          </p:nvSpPr>
          <p:spPr>
            <a:xfrm>
              <a:off x="2407" y="1038"/>
              <a:ext cx="34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</p:grpSp>
      <p:sp>
        <p:nvSpPr>
          <p:cNvPr id="2375" name="Google Shape;2375;p30"/>
          <p:cNvSpPr txBox="1"/>
          <p:nvPr/>
        </p:nvSpPr>
        <p:spPr>
          <a:xfrm>
            <a:off x="1595504" y="2721633"/>
            <a:ext cx="5132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</a:t>
            </a:r>
            <a:endParaRPr/>
          </a:p>
        </p:txBody>
      </p:sp>
      <p:grpSp>
        <p:nvGrpSpPr>
          <p:cNvPr id="2376" name="Google Shape;2376;p30"/>
          <p:cNvGrpSpPr/>
          <p:nvPr/>
        </p:nvGrpSpPr>
        <p:grpSpPr>
          <a:xfrm>
            <a:off x="2409590" y="2707832"/>
            <a:ext cx="3933824" cy="420688"/>
            <a:chOff x="1328" y="1004"/>
            <a:chExt cx="2478" cy="265"/>
          </a:xfrm>
        </p:grpSpPr>
        <p:sp>
          <p:nvSpPr>
            <p:cNvPr id="2377" name="Google Shape;2377;p30"/>
            <p:cNvSpPr txBox="1"/>
            <p:nvPr/>
          </p:nvSpPr>
          <p:spPr>
            <a:xfrm>
              <a:off x="3506" y="1004"/>
              <a:ext cx="30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omic Sans MS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8" name="Google Shape;2378;p30"/>
            <p:cNvSpPr txBox="1"/>
            <p:nvPr/>
          </p:nvSpPr>
          <p:spPr>
            <a:xfrm>
              <a:off x="2880" y="1014"/>
              <a:ext cx="48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,w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9" name="Google Shape;2379;p30"/>
            <p:cNvSpPr txBox="1"/>
            <p:nvPr/>
          </p:nvSpPr>
          <p:spPr>
            <a:xfrm>
              <a:off x="1328" y="1017"/>
              <a:ext cx="36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6,w</a:t>
              </a:r>
              <a:endParaRPr/>
            </a:p>
          </p:txBody>
        </p:sp>
        <p:sp>
          <p:nvSpPr>
            <p:cNvPr id="2380" name="Google Shape;2380;p30"/>
            <p:cNvSpPr txBox="1"/>
            <p:nvPr/>
          </p:nvSpPr>
          <p:spPr>
            <a:xfrm>
              <a:off x="1987" y="1015"/>
              <a:ext cx="116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1" name="Google Shape;2381;p30"/>
            <p:cNvSpPr txBox="1"/>
            <p:nvPr/>
          </p:nvSpPr>
          <p:spPr>
            <a:xfrm>
              <a:off x="2400" y="1013"/>
              <a:ext cx="34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</p:grpSp>
      <p:grpSp>
        <p:nvGrpSpPr>
          <p:cNvPr id="2382" name="Google Shape;2382;p30"/>
          <p:cNvGrpSpPr/>
          <p:nvPr/>
        </p:nvGrpSpPr>
        <p:grpSpPr>
          <a:xfrm>
            <a:off x="2398427" y="3156225"/>
            <a:ext cx="4005263" cy="414336"/>
            <a:chOff x="1328" y="1008"/>
            <a:chExt cx="2523" cy="261"/>
          </a:xfrm>
        </p:grpSpPr>
        <p:sp>
          <p:nvSpPr>
            <p:cNvPr id="2383" name="Google Shape;2383;p30"/>
            <p:cNvSpPr txBox="1"/>
            <p:nvPr/>
          </p:nvSpPr>
          <p:spPr>
            <a:xfrm>
              <a:off x="3403" y="1011"/>
              <a:ext cx="44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,x </a:t>
              </a:r>
              <a:endParaRPr/>
            </a:p>
          </p:txBody>
        </p:sp>
        <p:sp>
          <p:nvSpPr>
            <p:cNvPr id="2384" name="Google Shape;2384;p30"/>
            <p:cNvSpPr txBox="1"/>
            <p:nvPr/>
          </p:nvSpPr>
          <p:spPr>
            <a:xfrm>
              <a:off x="2885" y="1008"/>
              <a:ext cx="48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11,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5" name="Google Shape;2385;p30"/>
            <p:cNvSpPr txBox="1"/>
            <p:nvPr/>
          </p:nvSpPr>
          <p:spPr>
            <a:xfrm>
              <a:off x="1328" y="1017"/>
              <a:ext cx="36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6,w</a:t>
              </a:r>
              <a:endParaRPr/>
            </a:p>
          </p:txBody>
        </p:sp>
        <p:sp>
          <p:nvSpPr>
            <p:cNvPr id="2386" name="Google Shape;2386;p30"/>
            <p:cNvSpPr txBox="1"/>
            <p:nvPr/>
          </p:nvSpPr>
          <p:spPr>
            <a:xfrm>
              <a:off x="1987" y="1015"/>
              <a:ext cx="116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7" name="Google Shape;2387;p30"/>
            <p:cNvSpPr txBox="1"/>
            <p:nvPr/>
          </p:nvSpPr>
          <p:spPr>
            <a:xfrm>
              <a:off x="2390" y="1016"/>
              <a:ext cx="116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88" name="Google Shape;2388;p30"/>
          <p:cNvSpPr/>
          <p:nvPr/>
        </p:nvSpPr>
        <p:spPr>
          <a:xfrm>
            <a:off x="3192476" y="2263739"/>
            <a:ext cx="661410" cy="406374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389" name="Google Shape;2389;p30"/>
          <p:cNvSpPr/>
          <p:nvPr/>
        </p:nvSpPr>
        <p:spPr>
          <a:xfrm>
            <a:off x="4050170" y="2719263"/>
            <a:ext cx="679816" cy="40693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390" name="Google Shape;2390;p30"/>
          <p:cNvSpPr txBox="1"/>
          <p:nvPr/>
        </p:nvSpPr>
        <p:spPr>
          <a:xfrm>
            <a:off x="1479143" y="3195058"/>
            <a:ext cx="64152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uwx</a:t>
            </a:r>
            <a:endParaRPr/>
          </a:p>
        </p:txBody>
      </p:sp>
      <p:sp>
        <p:nvSpPr>
          <p:cNvPr id="2391" name="Google Shape;2391;p30"/>
          <p:cNvSpPr/>
          <p:nvPr/>
        </p:nvSpPr>
        <p:spPr>
          <a:xfrm>
            <a:off x="2374191" y="3175054"/>
            <a:ext cx="665830" cy="42509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392" name="Google Shape;2392;p30"/>
          <p:cNvSpPr txBox="1"/>
          <p:nvPr/>
        </p:nvSpPr>
        <p:spPr>
          <a:xfrm>
            <a:off x="1373894" y="3653711"/>
            <a:ext cx="762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uwxv</a:t>
            </a:r>
            <a:endParaRPr/>
          </a:p>
        </p:txBody>
      </p:sp>
      <p:grpSp>
        <p:nvGrpSpPr>
          <p:cNvPr id="2393" name="Google Shape;2393;p30"/>
          <p:cNvGrpSpPr/>
          <p:nvPr/>
        </p:nvGrpSpPr>
        <p:grpSpPr>
          <a:xfrm>
            <a:off x="4873416" y="3639944"/>
            <a:ext cx="1544638" cy="400050"/>
            <a:chOff x="1851" y="2756"/>
            <a:chExt cx="973" cy="252"/>
          </a:xfrm>
        </p:grpSpPr>
        <p:sp>
          <p:nvSpPr>
            <p:cNvPr id="2394" name="Google Shape;2394;p30"/>
            <p:cNvSpPr txBox="1"/>
            <p:nvPr/>
          </p:nvSpPr>
          <p:spPr>
            <a:xfrm>
              <a:off x="2376" y="2756"/>
              <a:ext cx="44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,x </a:t>
              </a:r>
              <a:endParaRPr/>
            </a:p>
          </p:txBody>
        </p:sp>
        <p:sp>
          <p:nvSpPr>
            <p:cNvPr id="2395" name="Google Shape;2395;p30"/>
            <p:cNvSpPr txBox="1"/>
            <p:nvPr/>
          </p:nvSpPr>
          <p:spPr>
            <a:xfrm>
              <a:off x="1851" y="2756"/>
              <a:ext cx="443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10,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96" name="Google Shape;2396;p30"/>
          <p:cNvSpPr/>
          <p:nvPr/>
        </p:nvSpPr>
        <p:spPr>
          <a:xfrm>
            <a:off x="4848116" y="3652013"/>
            <a:ext cx="676583" cy="39336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397" name="Google Shape;2397;p30"/>
          <p:cNvSpPr txBox="1"/>
          <p:nvPr/>
        </p:nvSpPr>
        <p:spPr>
          <a:xfrm>
            <a:off x="1295811" y="4107137"/>
            <a:ext cx="8980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uwxvy</a:t>
            </a:r>
            <a:endParaRPr/>
          </a:p>
        </p:txBody>
      </p:sp>
      <p:sp>
        <p:nvSpPr>
          <p:cNvPr id="2398" name="Google Shape;2398;p30"/>
          <p:cNvSpPr txBox="1"/>
          <p:nvPr/>
        </p:nvSpPr>
        <p:spPr>
          <a:xfrm>
            <a:off x="5621287" y="4095635"/>
            <a:ext cx="70770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,y </a:t>
            </a:r>
            <a:endParaRPr/>
          </a:p>
        </p:txBody>
      </p:sp>
      <p:sp>
        <p:nvSpPr>
          <p:cNvPr id="2399" name="Google Shape;2399;p30"/>
          <p:cNvSpPr/>
          <p:nvPr/>
        </p:nvSpPr>
        <p:spPr>
          <a:xfrm>
            <a:off x="5669111" y="4130222"/>
            <a:ext cx="707756" cy="389115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400" name="Google Shape;2400;p30"/>
          <p:cNvSpPr/>
          <p:nvPr/>
        </p:nvSpPr>
        <p:spPr>
          <a:xfrm>
            <a:off x="1229773" y="5251763"/>
            <a:ext cx="8910647" cy="14210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notes: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construct least-cost-path tree by tracing predecessor nodes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ties can exist (can be broken arbitrarily)</a:t>
            </a:r>
            <a:endParaRPr/>
          </a:p>
        </p:txBody>
      </p:sp>
      <p:cxnSp>
        <p:nvCxnSpPr>
          <p:cNvPr id="2401" name="Google Shape;2401;p30"/>
          <p:cNvCxnSpPr/>
          <p:nvPr/>
        </p:nvCxnSpPr>
        <p:spPr>
          <a:xfrm>
            <a:off x="10477917" y="3471860"/>
            <a:ext cx="59055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2" name="Google Shape;2402;p30"/>
          <p:cNvCxnSpPr/>
          <p:nvPr/>
        </p:nvCxnSpPr>
        <p:spPr>
          <a:xfrm flipH="1" rot="10800000">
            <a:off x="8821087" y="3483435"/>
            <a:ext cx="1463675" cy="1204912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3" name="Google Shape;2403;p30"/>
          <p:cNvCxnSpPr/>
          <p:nvPr/>
        </p:nvCxnSpPr>
        <p:spPr>
          <a:xfrm>
            <a:off x="8718966" y="3539863"/>
            <a:ext cx="9525" cy="104775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4" name="Google Shape;2404;p30"/>
          <p:cNvCxnSpPr/>
          <p:nvPr/>
        </p:nvCxnSpPr>
        <p:spPr>
          <a:xfrm flipH="1" rot="10800000">
            <a:off x="7577755" y="1754709"/>
            <a:ext cx="1012825" cy="1628775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5" name="Google Shape;2405;p30"/>
          <p:cNvCxnSpPr/>
          <p:nvPr/>
        </p:nvCxnSpPr>
        <p:spPr>
          <a:xfrm>
            <a:off x="7693502" y="3475036"/>
            <a:ext cx="944562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06" name="Google Shape;2406;p30"/>
          <p:cNvSpPr txBox="1"/>
          <p:nvPr/>
        </p:nvSpPr>
        <p:spPr>
          <a:xfrm>
            <a:off x="1138922" y="4584970"/>
            <a:ext cx="102624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uwxvyz</a:t>
            </a:r>
            <a:endParaRPr/>
          </a:p>
        </p:txBody>
      </p:sp>
      <p:cxnSp>
        <p:nvCxnSpPr>
          <p:cNvPr id="2407" name="Google Shape;2407;p30"/>
          <p:cNvCxnSpPr/>
          <p:nvPr/>
        </p:nvCxnSpPr>
        <p:spPr>
          <a:xfrm>
            <a:off x="668005" y="2233984"/>
            <a:ext cx="5645188" cy="0"/>
          </a:xfrm>
          <a:prstGeom prst="straightConnector1">
            <a:avLst/>
          </a:prstGeom>
          <a:noFill/>
          <a:ln cap="flat" cmpd="sng" w="25400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08" name="Google Shape;2408;p30"/>
          <p:cNvSpPr txBox="1"/>
          <p:nvPr/>
        </p:nvSpPr>
        <p:spPr>
          <a:xfrm>
            <a:off x="2529460" y="1384347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2409" name="Google Shape;2409;p30"/>
          <p:cNvSpPr txBox="1"/>
          <p:nvPr/>
        </p:nvSpPr>
        <p:spPr>
          <a:xfrm>
            <a:off x="3373839" y="1382288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2410" name="Google Shape;2410;p30"/>
          <p:cNvSpPr txBox="1"/>
          <p:nvPr/>
        </p:nvSpPr>
        <p:spPr>
          <a:xfrm>
            <a:off x="4255287" y="1380228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2411" name="Google Shape;2411;p30"/>
          <p:cNvSpPr txBox="1"/>
          <p:nvPr/>
        </p:nvSpPr>
        <p:spPr>
          <a:xfrm>
            <a:off x="5099667" y="1378168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2412" name="Google Shape;2412;p30"/>
          <p:cNvSpPr txBox="1"/>
          <p:nvPr/>
        </p:nvSpPr>
        <p:spPr>
          <a:xfrm>
            <a:off x="5968759" y="1376108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pSp>
        <p:nvGrpSpPr>
          <p:cNvPr id="2413" name="Google Shape;2413;p30"/>
          <p:cNvGrpSpPr/>
          <p:nvPr/>
        </p:nvGrpSpPr>
        <p:grpSpPr>
          <a:xfrm>
            <a:off x="1771136" y="1428236"/>
            <a:ext cx="1923534" cy="1652716"/>
            <a:chOff x="1771136" y="1428236"/>
            <a:chExt cx="1923534" cy="1652716"/>
          </a:xfrm>
        </p:grpSpPr>
        <p:sp>
          <p:nvSpPr>
            <p:cNvPr id="2414" name="Google Shape;2414;p30"/>
            <p:cNvSpPr/>
            <p:nvPr/>
          </p:nvSpPr>
          <p:spPr>
            <a:xfrm>
              <a:off x="3379574" y="1428236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15" name="Google Shape;2415;p30"/>
            <p:cNvCxnSpPr/>
            <p:nvPr/>
          </p:nvCxnSpPr>
          <p:spPr>
            <a:xfrm flipH="1">
              <a:off x="2007973" y="1686697"/>
              <a:ext cx="1414851" cy="11430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416" name="Google Shape;2416;p30"/>
            <p:cNvSpPr/>
            <p:nvPr/>
          </p:nvSpPr>
          <p:spPr>
            <a:xfrm>
              <a:off x="1771136" y="2785420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7" name="Google Shape;2417;p30"/>
          <p:cNvGrpSpPr/>
          <p:nvPr/>
        </p:nvGrpSpPr>
        <p:grpSpPr>
          <a:xfrm>
            <a:off x="1812326" y="1419997"/>
            <a:ext cx="2739080" cy="2146986"/>
            <a:chOff x="955590" y="1428236"/>
            <a:chExt cx="2739080" cy="2146986"/>
          </a:xfrm>
        </p:grpSpPr>
        <p:sp>
          <p:nvSpPr>
            <p:cNvPr id="2418" name="Google Shape;2418;p30"/>
            <p:cNvSpPr/>
            <p:nvPr/>
          </p:nvSpPr>
          <p:spPr>
            <a:xfrm>
              <a:off x="3379574" y="1428236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19" name="Google Shape;2419;p30"/>
            <p:cNvCxnSpPr>
              <a:endCxn id="2420" idx="7"/>
            </p:cNvCxnSpPr>
            <p:nvPr/>
          </p:nvCxnSpPr>
          <p:spPr>
            <a:xfrm flipH="1">
              <a:off x="1224541" y="1686770"/>
              <a:ext cx="2198400" cy="16362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420" name="Google Shape;2420;p30"/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21" name="Google Shape;2421;p30"/>
          <p:cNvGrpSpPr/>
          <p:nvPr/>
        </p:nvGrpSpPr>
        <p:grpSpPr>
          <a:xfrm>
            <a:off x="1853514" y="1417939"/>
            <a:ext cx="990599" cy="2598007"/>
            <a:chOff x="955590" y="977215"/>
            <a:chExt cx="990599" cy="2598007"/>
          </a:xfrm>
        </p:grpSpPr>
        <p:sp>
          <p:nvSpPr>
            <p:cNvPr id="2422" name="Google Shape;2422;p30"/>
            <p:cNvSpPr/>
            <p:nvPr/>
          </p:nvSpPr>
          <p:spPr>
            <a:xfrm>
              <a:off x="1631093" y="977215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23" name="Google Shape;2423;p30"/>
            <p:cNvCxnSpPr>
              <a:stCxn id="2422" idx="4"/>
              <a:endCxn id="2424" idx="0"/>
            </p:cNvCxnSpPr>
            <p:nvPr/>
          </p:nvCxnSpPr>
          <p:spPr>
            <a:xfrm flipH="1">
              <a:off x="1113041" y="1272747"/>
              <a:ext cx="675600" cy="20070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424" name="Google Shape;2424;p30"/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25" name="Google Shape;2425;p30"/>
          <p:cNvGrpSpPr/>
          <p:nvPr/>
        </p:nvGrpSpPr>
        <p:grpSpPr>
          <a:xfrm>
            <a:off x="1915299" y="1436471"/>
            <a:ext cx="3480486" cy="3049030"/>
            <a:chOff x="955590" y="526192"/>
            <a:chExt cx="3480486" cy="3049030"/>
          </a:xfrm>
        </p:grpSpPr>
        <p:sp>
          <p:nvSpPr>
            <p:cNvPr id="2426" name="Google Shape;2426;p30"/>
            <p:cNvSpPr/>
            <p:nvPr/>
          </p:nvSpPr>
          <p:spPr>
            <a:xfrm>
              <a:off x="4120980" y="526192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27" name="Google Shape;2427;p30"/>
            <p:cNvCxnSpPr>
              <a:stCxn id="2426" idx="3"/>
              <a:endCxn id="2428" idx="7"/>
            </p:cNvCxnSpPr>
            <p:nvPr/>
          </p:nvCxnSpPr>
          <p:spPr>
            <a:xfrm flipH="1">
              <a:off x="1224425" y="778444"/>
              <a:ext cx="2942700" cy="25446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428" name="Google Shape;2428;p30"/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29" name="Google Shape;2429;p30"/>
          <p:cNvGrpSpPr/>
          <p:nvPr/>
        </p:nvGrpSpPr>
        <p:grpSpPr>
          <a:xfrm>
            <a:off x="1839100" y="1422055"/>
            <a:ext cx="4419599" cy="3537122"/>
            <a:chOff x="16477" y="526192"/>
            <a:chExt cx="4419599" cy="3537122"/>
          </a:xfrm>
        </p:grpSpPr>
        <p:sp>
          <p:nvSpPr>
            <p:cNvPr id="2430" name="Google Shape;2430;p30"/>
            <p:cNvSpPr/>
            <p:nvPr/>
          </p:nvSpPr>
          <p:spPr>
            <a:xfrm>
              <a:off x="4120980" y="526192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31" name="Google Shape;2431;p30"/>
            <p:cNvCxnSpPr>
              <a:stCxn id="2430" idx="3"/>
              <a:endCxn id="2432" idx="7"/>
            </p:cNvCxnSpPr>
            <p:nvPr/>
          </p:nvCxnSpPr>
          <p:spPr>
            <a:xfrm flipH="1">
              <a:off x="285425" y="778444"/>
              <a:ext cx="3881700" cy="30327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432" name="Google Shape;2432;p30"/>
            <p:cNvSpPr/>
            <p:nvPr/>
          </p:nvSpPr>
          <p:spPr>
            <a:xfrm>
              <a:off x="16477" y="3767782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7" name="Shape 2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8" name="Google Shape;2438;p31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discussion</a:t>
            </a:r>
            <a:endParaRPr/>
          </a:p>
        </p:txBody>
      </p:sp>
      <p:sp>
        <p:nvSpPr>
          <p:cNvPr id="2439" name="Google Shape;2439;p31"/>
          <p:cNvSpPr txBox="1"/>
          <p:nvPr/>
        </p:nvSpPr>
        <p:spPr>
          <a:xfrm>
            <a:off x="739458" y="1447801"/>
            <a:ext cx="8709342" cy="1915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algorithm complexity: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nodes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of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iteration: need to check all nodes,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+1)/2 comparisons: O(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baseline="30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complexity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 efficient implementations possible: O(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2440" name="Google Shape;2440;p31"/>
          <p:cNvSpPr txBox="1"/>
          <p:nvPr/>
        </p:nvSpPr>
        <p:spPr>
          <a:xfrm>
            <a:off x="729298" y="3378200"/>
            <a:ext cx="11310302" cy="2331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message complexity: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router must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broadcast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its link state information to other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routers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efficient (and interesting!) broadcast algorithms: O(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link crossings to disseminate a broadcast message from one source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router’s message crosses O(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links: overall message complexity: O(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baseline="30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5" name="Shape 2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6" name="Google Shape;2446;p32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oscillations possible</a:t>
            </a:r>
            <a:endParaRPr/>
          </a:p>
        </p:txBody>
      </p:sp>
      <p:sp>
        <p:nvSpPr>
          <p:cNvPr id="2447" name="Google Shape;2447;p32"/>
          <p:cNvSpPr txBox="1"/>
          <p:nvPr/>
        </p:nvSpPr>
        <p:spPr>
          <a:xfrm>
            <a:off x="637858" y="1315720"/>
            <a:ext cx="10792142" cy="553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1463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 link costs depend on traffic volume,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route oscillations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possible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8" name="Google Shape;2448;p32"/>
          <p:cNvSpPr/>
          <p:nvPr/>
        </p:nvSpPr>
        <p:spPr>
          <a:xfrm>
            <a:off x="435928" y="3502025"/>
            <a:ext cx="1971675" cy="1355725"/>
          </a:xfrm>
          <a:custGeom>
            <a:rect b="b" l="l" r="r" t="t"/>
            <a:pathLst>
              <a:path extrusionOk="0" h="854" w="1242">
                <a:moveTo>
                  <a:pt x="1" y="381"/>
                </a:moveTo>
                <a:cubicBezTo>
                  <a:pt x="0" y="296"/>
                  <a:pt x="88" y="222"/>
                  <a:pt x="169" y="162"/>
                </a:cubicBezTo>
                <a:cubicBezTo>
                  <a:pt x="250" y="102"/>
                  <a:pt x="378" y="40"/>
                  <a:pt x="487" y="18"/>
                </a:cubicBezTo>
                <a:cubicBezTo>
                  <a:pt x="616" y="6"/>
                  <a:pt x="685" y="0"/>
                  <a:pt x="823" y="30"/>
                </a:cubicBezTo>
                <a:cubicBezTo>
                  <a:pt x="961" y="60"/>
                  <a:pt x="1121" y="165"/>
                  <a:pt x="1183" y="261"/>
                </a:cubicBezTo>
                <a:cubicBezTo>
                  <a:pt x="1242" y="357"/>
                  <a:pt x="1219" y="523"/>
                  <a:pt x="1177" y="609"/>
                </a:cubicBezTo>
                <a:cubicBezTo>
                  <a:pt x="1135" y="695"/>
                  <a:pt x="1049" y="742"/>
                  <a:pt x="928" y="780"/>
                </a:cubicBezTo>
                <a:cubicBezTo>
                  <a:pt x="807" y="818"/>
                  <a:pt x="573" y="854"/>
                  <a:pt x="448" y="837"/>
                </a:cubicBezTo>
                <a:cubicBezTo>
                  <a:pt x="323" y="820"/>
                  <a:pt x="252" y="751"/>
                  <a:pt x="178" y="675"/>
                </a:cubicBezTo>
                <a:cubicBezTo>
                  <a:pt x="104" y="599"/>
                  <a:pt x="2" y="466"/>
                  <a:pt x="1" y="38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9" name="Google Shape;2449;p32"/>
          <p:cNvSpPr/>
          <p:nvPr/>
        </p:nvSpPr>
        <p:spPr>
          <a:xfrm>
            <a:off x="837565" y="3840162"/>
            <a:ext cx="390525" cy="209550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50" name="Google Shape;2450;p32"/>
          <p:cNvGrpSpPr/>
          <p:nvPr/>
        </p:nvGrpSpPr>
        <p:grpSpPr>
          <a:xfrm>
            <a:off x="1143953" y="3522662"/>
            <a:ext cx="501650" cy="400050"/>
            <a:chOff x="1747" y="3190"/>
            <a:chExt cx="316" cy="252"/>
          </a:xfrm>
        </p:grpSpPr>
        <p:sp>
          <p:nvSpPr>
            <p:cNvPr id="2451" name="Google Shape;2451;p32"/>
            <p:cNvSpPr/>
            <p:nvPr/>
          </p:nvSpPr>
          <p:spPr>
            <a:xfrm>
              <a:off x="1750" y="3308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52" name="Google Shape;2452;p32"/>
            <p:cNvCxnSpPr/>
            <p:nvPr/>
          </p:nvCxnSpPr>
          <p:spPr>
            <a:xfrm>
              <a:off x="1750" y="3301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53" name="Google Shape;2453;p32"/>
            <p:cNvCxnSpPr/>
            <p:nvPr/>
          </p:nvCxnSpPr>
          <p:spPr>
            <a:xfrm>
              <a:off x="2063" y="3301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54" name="Google Shape;2454;p32"/>
            <p:cNvSpPr/>
            <p:nvPr/>
          </p:nvSpPr>
          <p:spPr>
            <a:xfrm>
              <a:off x="1750" y="3301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5" name="Google Shape;2455;p32"/>
            <p:cNvSpPr/>
            <p:nvPr/>
          </p:nvSpPr>
          <p:spPr>
            <a:xfrm>
              <a:off x="1747" y="3242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56" name="Google Shape;2456;p32"/>
            <p:cNvGrpSpPr/>
            <p:nvPr/>
          </p:nvGrpSpPr>
          <p:grpSpPr>
            <a:xfrm>
              <a:off x="1799" y="3190"/>
              <a:ext cx="194" cy="252"/>
              <a:chOff x="2960" y="2425"/>
              <a:chExt cx="197" cy="252"/>
            </a:xfrm>
          </p:grpSpPr>
          <p:sp>
            <p:nvSpPr>
              <p:cNvPr id="2457" name="Google Shape;2457;p32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8" name="Google Shape;2458;p32"/>
              <p:cNvSpPr txBox="1"/>
              <p:nvPr/>
            </p:nvSpPr>
            <p:spPr>
              <a:xfrm>
                <a:off x="2960" y="2425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59" name="Google Shape;2459;p32"/>
          <p:cNvGrpSpPr/>
          <p:nvPr/>
        </p:nvGrpSpPr>
        <p:grpSpPr>
          <a:xfrm>
            <a:off x="496253" y="3927475"/>
            <a:ext cx="501650" cy="400050"/>
            <a:chOff x="2221" y="3571"/>
            <a:chExt cx="316" cy="252"/>
          </a:xfrm>
        </p:grpSpPr>
        <p:sp>
          <p:nvSpPr>
            <p:cNvPr id="2460" name="Google Shape;2460;p32"/>
            <p:cNvSpPr/>
            <p:nvPr/>
          </p:nvSpPr>
          <p:spPr>
            <a:xfrm>
              <a:off x="2224" y="369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61" name="Google Shape;2461;p32"/>
            <p:cNvCxnSpPr/>
            <p:nvPr/>
          </p:nvCxnSpPr>
          <p:spPr>
            <a:xfrm>
              <a:off x="2224" y="368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62" name="Google Shape;2462;p32"/>
            <p:cNvCxnSpPr/>
            <p:nvPr/>
          </p:nvCxnSpPr>
          <p:spPr>
            <a:xfrm>
              <a:off x="2537" y="368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63" name="Google Shape;2463;p32"/>
            <p:cNvSpPr/>
            <p:nvPr/>
          </p:nvSpPr>
          <p:spPr>
            <a:xfrm>
              <a:off x="2224" y="368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4" name="Google Shape;2464;p32"/>
            <p:cNvSpPr/>
            <p:nvPr/>
          </p:nvSpPr>
          <p:spPr>
            <a:xfrm>
              <a:off x="2221" y="362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65" name="Google Shape;2465;p32"/>
            <p:cNvGrpSpPr/>
            <p:nvPr/>
          </p:nvGrpSpPr>
          <p:grpSpPr>
            <a:xfrm>
              <a:off x="2283" y="3571"/>
              <a:ext cx="206" cy="252"/>
              <a:chOff x="2954" y="2425"/>
              <a:chExt cx="209" cy="252"/>
            </a:xfrm>
          </p:grpSpPr>
          <p:sp>
            <p:nvSpPr>
              <p:cNvPr id="2466" name="Google Shape;2466;p32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7" name="Google Shape;2467;p32"/>
              <p:cNvSpPr txBox="1"/>
              <p:nvPr/>
            </p:nvSpPr>
            <p:spPr>
              <a:xfrm>
                <a:off x="2954" y="2425"/>
                <a:ext cx="20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68" name="Google Shape;2468;p32"/>
          <p:cNvGrpSpPr/>
          <p:nvPr/>
        </p:nvGrpSpPr>
        <p:grpSpPr>
          <a:xfrm>
            <a:off x="1131253" y="4389437"/>
            <a:ext cx="500062" cy="400050"/>
            <a:chOff x="2903" y="2884"/>
            <a:chExt cx="315" cy="252"/>
          </a:xfrm>
        </p:grpSpPr>
        <p:grpSp>
          <p:nvGrpSpPr>
            <p:cNvPr id="2469" name="Google Shape;2469;p32"/>
            <p:cNvGrpSpPr/>
            <p:nvPr/>
          </p:nvGrpSpPr>
          <p:grpSpPr>
            <a:xfrm>
              <a:off x="2903" y="2938"/>
              <a:ext cx="315" cy="144"/>
              <a:chOff x="2903" y="2938"/>
              <a:chExt cx="315" cy="144"/>
            </a:xfrm>
          </p:grpSpPr>
          <p:sp>
            <p:nvSpPr>
              <p:cNvPr id="2470" name="Google Shape;2470;p32"/>
              <p:cNvSpPr/>
              <p:nvPr/>
            </p:nvSpPr>
            <p:spPr>
              <a:xfrm>
                <a:off x="2903" y="3001"/>
                <a:ext cx="312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471" name="Google Shape;2471;p32"/>
              <p:cNvCxnSpPr/>
              <p:nvPr/>
            </p:nvCxnSpPr>
            <p:spPr>
              <a:xfrm>
                <a:off x="2903" y="2994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72" name="Google Shape;2472;p32"/>
              <p:cNvCxnSpPr/>
              <p:nvPr/>
            </p:nvCxnSpPr>
            <p:spPr>
              <a:xfrm>
                <a:off x="3215" y="2994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473" name="Google Shape;2473;p32"/>
              <p:cNvSpPr/>
              <p:nvPr/>
            </p:nvSpPr>
            <p:spPr>
              <a:xfrm>
                <a:off x="2903" y="2994"/>
                <a:ext cx="309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4" name="Google Shape;2474;p32"/>
              <p:cNvSpPr/>
              <p:nvPr/>
            </p:nvSpPr>
            <p:spPr>
              <a:xfrm>
                <a:off x="2906" y="2938"/>
                <a:ext cx="312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75" name="Google Shape;2475;p32"/>
            <p:cNvGrpSpPr/>
            <p:nvPr/>
          </p:nvGrpSpPr>
          <p:grpSpPr>
            <a:xfrm>
              <a:off x="2963" y="2884"/>
              <a:ext cx="185" cy="252"/>
              <a:chOff x="2964" y="2425"/>
              <a:chExt cx="188" cy="252"/>
            </a:xfrm>
          </p:grpSpPr>
          <p:sp>
            <p:nvSpPr>
              <p:cNvPr id="2476" name="Google Shape;2476;p32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7" name="Google Shape;2477;p32"/>
              <p:cNvSpPr txBox="1"/>
              <p:nvPr/>
            </p:nvSpPr>
            <p:spPr>
              <a:xfrm>
                <a:off x="2964" y="2425"/>
                <a:ext cx="188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78" name="Google Shape;2478;p32"/>
          <p:cNvGrpSpPr/>
          <p:nvPr/>
        </p:nvGrpSpPr>
        <p:grpSpPr>
          <a:xfrm>
            <a:off x="1785303" y="3941762"/>
            <a:ext cx="501650" cy="400050"/>
            <a:chOff x="2217" y="2884"/>
            <a:chExt cx="316" cy="252"/>
          </a:xfrm>
        </p:grpSpPr>
        <p:sp>
          <p:nvSpPr>
            <p:cNvPr id="2479" name="Google Shape;2479;p32"/>
            <p:cNvSpPr/>
            <p:nvPr/>
          </p:nvSpPr>
          <p:spPr>
            <a:xfrm>
              <a:off x="2220" y="30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80" name="Google Shape;2480;p32"/>
            <p:cNvCxnSpPr/>
            <p:nvPr/>
          </p:nvCxnSpPr>
          <p:spPr>
            <a:xfrm>
              <a:off x="2220" y="29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1" name="Google Shape;2481;p32"/>
            <p:cNvCxnSpPr/>
            <p:nvPr/>
          </p:nvCxnSpPr>
          <p:spPr>
            <a:xfrm>
              <a:off x="2533" y="29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82" name="Google Shape;2482;p32"/>
            <p:cNvSpPr/>
            <p:nvPr/>
          </p:nvSpPr>
          <p:spPr>
            <a:xfrm>
              <a:off x="2220" y="29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3" name="Google Shape;2483;p32"/>
            <p:cNvSpPr/>
            <p:nvPr/>
          </p:nvSpPr>
          <p:spPr>
            <a:xfrm>
              <a:off x="2217" y="29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84" name="Google Shape;2484;p32"/>
            <p:cNvGrpSpPr/>
            <p:nvPr/>
          </p:nvGrpSpPr>
          <p:grpSpPr>
            <a:xfrm>
              <a:off x="2276" y="2884"/>
              <a:ext cx="206" cy="252"/>
              <a:chOff x="2954" y="2425"/>
              <a:chExt cx="209" cy="252"/>
            </a:xfrm>
          </p:grpSpPr>
          <p:sp>
            <p:nvSpPr>
              <p:cNvPr id="2485" name="Google Shape;2485;p32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6" name="Google Shape;2486;p32"/>
              <p:cNvSpPr txBox="1"/>
              <p:nvPr/>
            </p:nvSpPr>
            <p:spPr>
              <a:xfrm>
                <a:off x="2954" y="2425"/>
                <a:ext cx="20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487" name="Google Shape;2487;p32"/>
          <p:cNvSpPr txBox="1"/>
          <p:nvPr/>
        </p:nvSpPr>
        <p:spPr>
          <a:xfrm>
            <a:off x="839153" y="3694112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488" name="Google Shape;2488;p32"/>
          <p:cNvSpPr/>
          <p:nvPr/>
        </p:nvSpPr>
        <p:spPr>
          <a:xfrm flipH="1">
            <a:off x="1523365" y="3840162"/>
            <a:ext cx="338138" cy="204788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9" name="Google Shape;2489;p32"/>
          <p:cNvSpPr/>
          <p:nvPr/>
        </p:nvSpPr>
        <p:spPr>
          <a:xfrm rot="10800000">
            <a:off x="1537653" y="4254500"/>
            <a:ext cx="314325" cy="228600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0" name="Google Shape;2490;p32"/>
          <p:cNvSpPr/>
          <p:nvPr/>
        </p:nvSpPr>
        <p:spPr>
          <a:xfrm flipH="1" rot="10800000">
            <a:off x="899478" y="4244975"/>
            <a:ext cx="323850" cy="247650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1" name="Google Shape;2491;p32"/>
          <p:cNvSpPr txBox="1"/>
          <p:nvPr/>
        </p:nvSpPr>
        <p:spPr>
          <a:xfrm>
            <a:off x="1682134" y="3703637"/>
            <a:ext cx="4555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1+e</a:t>
            </a:r>
            <a:endParaRPr/>
          </a:p>
        </p:txBody>
      </p:sp>
      <p:sp>
        <p:nvSpPr>
          <p:cNvPr id="2492" name="Google Shape;2492;p32"/>
          <p:cNvSpPr txBox="1"/>
          <p:nvPr/>
        </p:nvSpPr>
        <p:spPr>
          <a:xfrm>
            <a:off x="1674178" y="4294187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2493" name="Google Shape;2493;p32"/>
          <p:cNvSpPr txBox="1"/>
          <p:nvPr/>
        </p:nvSpPr>
        <p:spPr>
          <a:xfrm>
            <a:off x="802640" y="43180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cxnSp>
        <p:nvCxnSpPr>
          <p:cNvPr id="2494" name="Google Shape;2494;p32"/>
          <p:cNvCxnSpPr/>
          <p:nvPr/>
        </p:nvCxnSpPr>
        <p:spPr>
          <a:xfrm rot="10800000">
            <a:off x="1370965" y="4711700"/>
            <a:ext cx="0" cy="40005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5" name="Google Shape;2495;p32"/>
          <p:cNvCxnSpPr/>
          <p:nvPr/>
        </p:nvCxnSpPr>
        <p:spPr>
          <a:xfrm rot="10800000">
            <a:off x="551815" y="4244975"/>
            <a:ext cx="4763" cy="338137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6" name="Google Shape;2496;p32"/>
          <p:cNvCxnSpPr/>
          <p:nvPr/>
        </p:nvCxnSpPr>
        <p:spPr>
          <a:xfrm rot="10800000">
            <a:off x="2071053" y="4278312"/>
            <a:ext cx="0" cy="428625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497" name="Google Shape;2497;p32"/>
          <p:cNvGrpSpPr/>
          <p:nvPr/>
        </p:nvGrpSpPr>
        <p:grpSpPr>
          <a:xfrm>
            <a:off x="297498" y="4320540"/>
            <a:ext cx="2047875" cy="894715"/>
            <a:chOff x="297498" y="4320540"/>
            <a:chExt cx="2047875" cy="894715"/>
          </a:xfrm>
        </p:grpSpPr>
        <p:sp>
          <p:nvSpPr>
            <p:cNvPr id="2498" name="Google Shape;2498;p32"/>
            <p:cNvSpPr txBox="1"/>
            <p:nvPr/>
          </p:nvSpPr>
          <p:spPr>
            <a:xfrm>
              <a:off x="1116330" y="4848542"/>
              <a:ext cx="3111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9" name="Google Shape;2499;p32"/>
            <p:cNvSpPr txBox="1"/>
            <p:nvPr/>
          </p:nvSpPr>
          <p:spPr>
            <a:xfrm>
              <a:off x="297498" y="4320540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0" name="Google Shape;2500;p32"/>
            <p:cNvSpPr txBox="1"/>
            <p:nvPr/>
          </p:nvSpPr>
          <p:spPr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1" name="Google Shape;2501;p32"/>
          <p:cNvSpPr/>
          <p:nvPr/>
        </p:nvSpPr>
        <p:spPr>
          <a:xfrm rot="10800000">
            <a:off x="1442403" y="4211637"/>
            <a:ext cx="314325" cy="228600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2" name="Google Shape;2502;p32"/>
          <p:cNvSpPr/>
          <p:nvPr/>
        </p:nvSpPr>
        <p:spPr>
          <a:xfrm flipH="1">
            <a:off x="989965" y="4221162"/>
            <a:ext cx="304800" cy="219075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3" name="Google Shape;2503;p32"/>
          <p:cNvSpPr txBox="1"/>
          <p:nvPr/>
        </p:nvSpPr>
        <p:spPr>
          <a:xfrm>
            <a:off x="1088390" y="4098925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504" name="Google Shape;2504;p32"/>
          <p:cNvSpPr txBox="1"/>
          <p:nvPr/>
        </p:nvSpPr>
        <p:spPr>
          <a:xfrm>
            <a:off x="1431290" y="4090987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505" name="Google Shape;2505;p32"/>
          <p:cNvSpPr txBox="1"/>
          <p:nvPr/>
        </p:nvSpPr>
        <p:spPr>
          <a:xfrm>
            <a:off x="1009650" y="5560695"/>
            <a:ext cx="9493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initially</a:t>
            </a:r>
            <a:endParaRPr b="0" i="0" sz="2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06" name="Google Shape;2506;p32"/>
          <p:cNvGrpSpPr/>
          <p:nvPr/>
        </p:nvGrpSpPr>
        <p:grpSpPr>
          <a:xfrm>
            <a:off x="3028316" y="3458208"/>
            <a:ext cx="2651124" cy="2716211"/>
            <a:chOff x="1560" y="2639"/>
            <a:chExt cx="1670" cy="1711"/>
          </a:xfrm>
        </p:grpSpPr>
        <p:sp>
          <p:nvSpPr>
            <p:cNvPr id="2507" name="Google Shape;2507;p32"/>
            <p:cNvSpPr/>
            <p:nvPr/>
          </p:nvSpPr>
          <p:spPr>
            <a:xfrm>
              <a:off x="1752" y="2639"/>
              <a:ext cx="1225" cy="854"/>
            </a:xfrm>
            <a:custGeom>
              <a:rect b="b" l="l" r="r" t="t"/>
              <a:pathLst>
                <a:path extrusionOk="0" h="854" w="1225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8" name="Google Shape;2508;p32"/>
            <p:cNvSpPr/>
            <p:nvPr/>
          </p:nvSpPr>
          <p:spPr>
            <a:xfrm>
              <a:off x="2010" y="2852"/>
              <a:ext cx="246" cy="132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09" name="Google Shape;2509;p32"/>
            <p:cNvGrpSpPr/>
            <p:nvPr/>
          </p:nvGrpSpPr>
          <p:grpSpPr>
            <a:xfrm>
              <a:off x="2203" y="2652"/>
              <a:ext cx="316" cy="252"/>
              <a:chOff x="1747" y="3190"/>
              <a:chExt cx="316" cy="252"/>
            </a:xfrm>
          </p:grpSpPr>
          <p:sp>
            <p:nvSpPr>
              <p:cNvPr id="2510" name="Google Shape;2510;p32"/>
              <p:cNvSpPr/>
              <p:nvPr/>
            </p:nvSpPr>
            <p:spPr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511" name="Google Shape;2511;p32"/>
              <p:cNvCxnSpPr/>
              <p:nvPr/>
            </p:nvCxnSpPr>
            <p:spPr>
              <a:xfrm>
                <a:off x="1750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12" name="Google Shape;2512;p32"/>
              <p:cNvCxnSpPr/>
              <p:nvPr/>
            </p:nvCxnSpPr>
            <p:spPr>
              <a:xfrm>
                <a:off x="2063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13" name="Google Shape;2513;p32"/>
              <p:cNvSpPr/>
              <p:nvPr/>
            </p:nvSpPr>
            <p:spPr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4" name="Google Shape;2514;p32"/>
              <p:cNvSpPr/>
              <p:nvPr/>
            </p:nvSpPr>
            <p:spPr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15" name="Google Shape;2515;p32"/>
              <p:cNvGrpSpPr/>
              <p:nvPr/>
            </p:nvGrpSpPr>
            <p:grpSpPr>
              <a:xfrm>
                <a:off x="1799" y="3190"/>
                <a:ext cx="194" cy="252"/>
                <a:chOff x="2960" y="2425"/>
                <a:chExt cx="197" cy="252"/>
              </a:xfrm>
            </p:grpSpPr>
            <p:sp>
              <p:nvSpPr>
                <p:cNvPr id="2516" name="Google Shape;2516;p3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7" name="Google Shape;2517;p32"/>
                <p:cNvSpPr txBox="1"/>
                <p:nvPr/>
              </p:nvSpPr>
              <p:spPr>
                <a:xfrm>
                  <a:off x="2960" y="2425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518" name="Google Shape;2518;p32"/>
            <p:cNvGrpSpPr/>
            <p:nvPr/>
          </p:nvGrpSpPr>
          <p:grpSpPr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2519" name="Google Shape;2519;p32"/>
              <p:cNvSpPr/>
              <p:nvPr/>
            </p:nvSpPr>
            <p:spPr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520" name="Google Shape;2520;p32"/>
              <p:cNvCxnSpPr/>
              <p:nvPr/>
            </p:nvCxnSpPr>
            <p:spPr>
              <a:xfrm>
                <a:off x="2224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21" name="Google Shape;2521;p32"/>
              <p:cNvCxnSpPr/>
              <p:nvPr/>
            </p:nvCxnSpPr>
            <p:spPr>
              <a:xfrm>
                <a:off x="2537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22" name="Google Shape;2522;p32"/>
              <p:cNvSpPr/>
              <p:nvPr/>
            </p:nvSpPr>
            <p:spPr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3" name="Google Shape;2523;p32"/>
              <p:cNvSpPr/>
              <p:nvPr/>
            </p:nvSpPr>
            <p:spPr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24" name="Google Shape;2524;p32"/>
              <p:cNvGrpSpPr/>
              <p:nvPr/>
            </p:nvGrpSpPr>
            <p:grpSpPr>
              <a:xfrm>
                <a:off x="2283" y="3571"/>
                <a:ext cx="206" cy="252"/>
                <a:chOff x="2954" y="2425"/>
                <a:chExt cx="209" cy="252"/>
              </a:xfrm>
            </p:grpSpPr>
            <p:sp>
              <p:nvSpPr>
                <p:cNvPr id="2525" name="Google Shape;2525;p32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26" name="Google Shape;2526;p32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527" name="Google Shape;2527;p32"/>
            <p:cNvGrpSpPr/>
            <p:nvPr/>
          </p:nvGrpSpPr>
          <p:grpSpPr>
            <a:xfrm>
              <a:off x="2195" y="3198"/>
              <a:ext cx="315" cy="252"/>
              <a:chOff x="2903" y="2884"/>
              <a:chExt cx="315" cy="252"/>
            </a:xfrm>
          </p:grpSpPr>
          <p:grpSp>
            <p:nvGrpSpPr>
              <p:cNvPr id="2528" name="Google Shape;2528;p32"/>
              <p:cNvGrpSpPr/>
              <p:nvPr/>
            </p:nvGrpSpPr>
            <p:grpSpPr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2529" name="Google Shape;2529;p32"/>
                <p:cNvSpPr/>
                <p:nvPr/>
              </p:nvSpPr>
              <p:spPr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530" name="Google Shape;2530;p32"/>
                <p:cNvCxnSpPr/>
                <p:nvPr/>
              </p:nvCxnSpPr>
              <p:spPr>
                <a:xfrm>
                  <a:off x="2903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31" name="Google Shape;2531;p32"/>
                <p:cNvCxnSpPr/>
                <p:nvPr/>
              </p:nvCxnSpPr>
              <p:spPr>
                <a:xfrm>
                  <a:off x="3215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32" name="Google Shape;2532;p32"/>
                <p:cNvSpPr/>
                <p:nvPr/>
              </p:nvSpPr>
              <p:spPr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3" name="Google Shape;2533;p32"/>
                <p:cNvSpPr/>
                <p:nvPr/>
              </p:nvSpPr>
              <p:spPr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534" name="Google Shape;2534;p32"/>
              <p:cNvGrpSpPr/>
              <p:nvPr/>
            </p:nvGrpSpPr>
            <p:grpSpPr>
              <a:xfrm>
                <a:off x="2963" y="2884"/>
                <a:ext cx="185" cy="252"/>
                <a:chOff x="2964" y="2425"/>
                <a:chExt cx="188" cy="252"/>
              </a:xfrm>
            </p:grpSpPr>
            <p:sp>
              <p:nvSpPr>
                <p:cNvPr id="2535" name="Google Shape;2535;p32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6" name="Google Shape;2536;p32"/>
                <p:cNvSpPr txBox="1"/>
                <p:nvPr/>
              </p:nvSpPr>
              <p:spPr>
                <a:xfrm>
                  <a:off x="2964" y="2425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537" name="Google Shape;2537;p32"/>
            <p:cNvGrpSpPr/>
            <p:nvPr/>
          </p:nvGrpSpPr>
          <p:grpSpPr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2538" name="Google Shape;2538;p32"/>
              <p:cNvSpPr/>
              <p:nvPr/>
            </p:nvSpPr>
            <p:spPr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539" name="Google Shape;2539;p32"/>
              <p:cNvCxnSpPr/>
              <p:nvPr/>
            </p:nvCxnSpPr>
            <p:spPr>
              <a:xfrm>
                <a:off x="2220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0" name="Google Shape;2540;p32"/>
              <p:cNvCxnSpPr/>
              <p:nvPr/>
            </p:nvCxnSpPr>
            <p:spPr>
              <a:xfrm>
                <a:off x="2533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41" name="Google Shape;2541;p32"/>
              <p:cNvSpPr/>
              <p:nvPr/>
            </p:nvSpPr>
            <p:spPr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2" name="Google Shape;2542;p32"/>
              <p:cNvSpPr/>
              <p:nvPr/>
            </p:nvSpPr>
            <p:spPr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43" name="Google Shape;2543;p32"/>
              <p:cNvGrpSpPr/>
              <p:nvPr/>
            </p:nvGrpSpPr>
            <p:grpSpPr>
              <a:xfrm>
                <a:off x="2276" y="2884"/>
                <a:ext cx="206" cy="252"/>
                <a:chOff x="2954" y="2425"/>
                <a:chExt cx="209" cy="252"/>
              </a:xfrm>
            </p:grpSpPr>
            <p:sp>
              <p:nvSpPr>
                <p:cNvPr id="2544" name="Google Shape;2544;p3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45" name="Google Shape;2545;p32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546" name="Google Shape;2546;p32"/>
            <p:cNvSpPr/>
            <p:nvPr/>
          </p:nvSpPr>
          <p:spPr>
            <a:xfrm flipH="1">
              <a:off x="2505" y="2819"/>
              <a:ext cx="198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7" name="Google Shape;2547;p32"/>
            <p:cNvSpPr/>
            <p:nvPr/>
          </p:nvSpPr>
          <p:spPr>
            <a:xfrm rot="10800000">
              <a:off x="2484" y="3125"/>
              <a:ext cx="180" cy="141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8" name="Google Shape;2548;p32"/>
            <p:cNvSpPr/>
            <p:nvPr/>
          </p:nvSpPr>
          <p:spPr>
            <a:xfrm flipH="1" rot="10800000">
              <a:off x="2031" y="3107"/>
              <a:ext cx="204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9" name="Google Shape;2549;p32"/>
            <p:cNvSpPr/>
            <p:nvPr/>
          </p:nvSpPr>
          <p:spPr>
            <a:xfrm rot="10800000">
              <a:off x="2400" y="3086"/>
              <a:ext cx="189" cy="153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0" name="Google Shape;2550;p32"/>
            <p:cNvSpPr/>
            <p:nvPr/>
          </p:nvSpPr>
          <p:spPr>
            <a:xfrm flipH="1">
              <a:off x="2124" y="3083"/>
              <a:ext cx="174" cy="147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1" name="Google Shape;2551;p32"/>
            <p:cNvSpPr txBox="1"/>
            <p:nvPr/>
          </p:nvSpPr>
          <p:spPr>
            <a:xfrm>
              <a:off x="1560" y="3823"/>
              <a:ext cx="1670" cy="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given these costs,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find new routing….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resulting in new costs</a:t>
              </a:r>
              <a:endParaRPr/>
            </a:p>
          </p:txBody>
        </p:sp>
        <p:cxnSp>
          <p:nvCxnSpPr>
            <p:cNvPr id="2552" name="Google Shape;2552;p32"/>
            <p:cNvCxnSpPr/>
            <p:nvPr/>
          </p:nvCxnSpPr>
          <p:spPr>
            <a:xfrm rot="10800000">
              <a:off x="2358" y="3407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53" name="Google Shape;2553;p32"/>
            <p:cNvCxnSpPr/>
            <p:nvPr/>
          </p:nvCxnSpPr>
          <p:spPr>
            <a:xfrm rot="10800000">
              <a:off x="1938" y="3119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54" name="Google Shape;2554;p32"/>
            <p:cNvCxnSpPr/>
            <p:nvPr/>
          </p:nvCxnSpPr>
          <p:spPr>
            <a:xfrm rot="10800000">
              <a:off x="2778" y="3122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555" name="Google Shape;2555;p32"/>
          <p:cNvSpPr/>
          <p:nvPr/>
        </p:nvSpPr>
        <p:spPr>
          <a:xfrm>
            <a:off x="1399540" y="3698875"/>
            <a:ext cx="609600" cy="828675"/>
          </a:xfrm>
          <a:custGeom>
            <a:rect b="b" l="l" r="r" t="t"/>
            <a:pathLst>
              <a:path extrusionOk="0" h="522" w="384">
                <a:moveTo>
                  <a:pt x="0" y="522"/>
                </a:moveTo>
                <a:lnTo>
                  <a:pt x="384" y="249"/>
                </a:lnTo>
                <a:lnTo>
                  <a:pt x="12" y="0"/>
                </a:lnTo>
              </a:path>
            </a:pathLst>
          </a:custGeom>
          <a:noFill/>
          <a:ln cap="flat" cmpd="sng" w="571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6" name="Google Shape;2556;p32"/>
          <p:cNvCxnSpPr/>
          <p:nvPr/>
        </p:nvCxnSpPr>
        <p:spPr>
          <a:xfrm flipH="1" rot="10800000">
            <a:off x="761365" y="3779837"/>
            <a:ext cx="447675" cy="242888"/>
          </a:xfrm>
          <a:prstGeom prst="straightConnector1">
            <a:avLst/>
          </a:prstGeom>
          <a:noFill/>
          <a:ln cap="flat" cmpd="sng" w="571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57" name="Google Shape;2557;p32"/>
          <p:cNvSpPr/>
          <p:nvPr/>
        </p:nvSpPr>
        <p:spPr>
          <a:xfrm>
            <a:off x="3695065" y="3659822"/>
            <a:ext cx="1193800" cy="866775"/>
          </a:xfrm>
          <a:custGeom>
            <a:rect b="b" l="l" r="r" t="t"/>
            <a:pathLst>
              <a:path extrusionOk="0" h="546" w="752">
                <a:moveTo>
                  <a:pt x="752" y="264"/>
                </a:moveTo>
                <a:lnTo>
                  <a:pt x="383" y="546"/>
                </a:lnTo>
                <a:lnTo>
                  <a:pt x="0" y="248"/>
                </a:lnTo>
                <a:lnTo>
                  <a:pt x="383" y="0"/>
                </a:lnTo>
              </a:path>
            </a:pathLst>
          </a:custGeom>
          <a:noFill/>
          <a:ln cap="flat" cmpd="sng" w="571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58" name="Google Shape;2558;p32"/>
          <p:cNvGrpSpPr/>
          <p:nvPr/>
        </p:nvGrpSpPr>
        <p:grpSpPr>
          <a:xfrm>
            <a:off x="3520440" y="3645535"/>
            <a:ext cx="1430338" cy="966787"/>
            <a:chOff x="1870" y="2772"/>
            <a:chExt cx="901" cy="609"/>
          </a:xfrm>
        </p:grpSpPr>
        <p:sp>
          <p:nvSpPr>
            <p:cNvPr id="2559" name="Google Shape;2559;p32"/>
            <p:cNvSpPr txBox="1"/>
            <p:nvPr/>
          </p:nvSpPr>
          <p:spPr>
            <a:xfrm>
              <a:off x="1870" y="2772"/>
              <a:ext cx="30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2+e</a:t>
              </a:r>
              <a:endParaRPr/>
            </a:p>
          </p:txBody>
        </p:sp>
        <p:sp>
          <p:nvSpPr>
            <p:cNvPr id="2560" name="Google Shape;2560;p32"/>
            <p:cNvSpPr txBox="1"/>
            <p:nvPr/>
          </p:nvSpPr>
          <p:spPr>
            <a:xfrm>
              <a:off x="2593" y="279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561" name="Google Shape;2561;p32"/>
            <p:cNvSpPr txBox="1"/>
            <p:nvPr/>
          </p:nvSpPr>
          <p:spPr>
            <a:xfrm>
              <a:off x="2501" y="3189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562" name="Google Shape;2562;p32"/>
            <p:cNvSpPr txBox="1"/>
            <p:nvPr/>
          </p:nvSpPr>
          <p:spPr>
            <a:xfrm>
              <a:off x="1987" y="315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563" name="Google Shape;2563;p32"/>
            <p:cNvSpPr txBox="1"/>
            <p:nvPr/>
          </p:nvSpPr>
          <p:spPr>
            <a:xfrm>
              <a:off x="2135" y="3009"/>
              <a:ext cx="30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1+e</a:t>
              </a:r>
              <a:endParaRPr/>
            </a:p>
          </p:txBody>
        </p:sp>
        <p:sp>
          <p:nvSpPr>
            <p:cNvPr id="2564" name="Google Shape;2564;p32"/>
            <p:cNvSpPr txBox="1"/>
            <p:nvPr/>
          </p:nvSpPr>
          <p:spPr>
            <a:xfrm>
              <a:off x="2380" y="300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2565" name="Google Shape;2565;p32"/>
          <p:cNvGrpSpPr/>
          <p:nvPr/>
        </p:nvGrpSpPr>
        <p:grpSpPr>
          <a:xfrm>
            <a:off x="6509069" y="3455988"/>
            <a:ext cx="2443162" cy="2752726"/>
            <a:chOff x="1721" y="2639"/>
            <a:chExt cx="1539" cy="1734"/>
          </a:xfrm>
        </p:grpSpPr>
        <p:sp>
          <p:nvSpPr>
            <p:cNvPr id="2566" name="Google Shape;2566;p32"/>
            <p:cNvSpPr/>
            <p:nvPr/>
          </p:nvSpPr>
          <p:spPr>
            <a:xfrm>
              <a:off x="1752" y="2639"/>
              <a:ext cx="1225" cy="854"/>
            </a:xfrm>
            <a:custGeom>
              <a:rect b="b" l="l" r="r" t="t"/>
              <a:pathLst>
                <a:path extrusionOk="0" h="854" w="1225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7" name="Google Shape;2567;p32"/>
            <p:cNvSpPr/>
            <p:nvPr/>
          </p:nvSpPr>
          <p:spPr>
            <a:xfrm>
              <a:off x="2010" y="2852"/>
              <a:ext cx="246" cy="132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68" name="Google Shape;2568;p32"/>
            <p:cNvGrpSpPr/>
            <p:nvPr/>
          </p:nvGrpSpPr>
          <p:grpSpPr>
            <a:xfrm>
              <a:off x="2203" y="2652"/>
              <a:ext cx="316" cy="252"/>
              <a:chOff x="1747" y="3190"/>
              <a:chExt cx="316" cy="252"/>
            </a:xfrm>
          </p:grpSpPr>
          <p:sp>
            <p:nvSpPr>
              <p:cNvPr id="2569" name="Google Shape;2569;p32"/>
              <p:cNvSpPr/>
              <p:nvPr/>
            </p:nvSpPr>
            <p:spPr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570" name="Google Shape;2570;p32"/>
              <p:cNvCxnSpPr/>
              <p:nvPr/>
            </p:nvCxnSpPr>
            <p:spPr>
              <a:xfrm>
                <a:off x="1750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1" name="Google Shape;2571;p32"/>
              <p:cNvCxnSpPr/>
              <p:nvPr/>
            </p:nvCxnSpPr>
            <p:spPr>
              <a:xfrm>
                <a:off x="2063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72" name="Google Shape;2572;p32"/>
              <p:cNvSpPr/>
              <p:nvPr/>
            </p:nvSpPr>
            <p:spPr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3" name="Google Shape;2573;p32"/>
              <p:cNvSpPr/>
              <p:nvPr/>
            </p:nvSpPr>
            <p:spPr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74" name="Google Shape;2574;p32"/>
              <p:cNvGrpSpPr/>
              <p:nvPr/>
            </p:nvGrpSpPr>
            <p:grpSpPr>
              <a:xfrm>
                <a:off x="1799" y="3190"/>
                <a:ext cx="194" cy="252"/>
                <a:chOff x="2960" y="2425"/>
                <a:chExt cx="197" cy="252"/>
              </a:xfrm>
            </p:grpSpPr>
            <p:sp>
              <p:nvSpPr>
                <p:cNvPr id="2575" name="Google Shape;2575;p3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76" name="Google Shape;2576;p32"/>
                <p:cNvSpPr txBox="1"/>
                <p:nvPr/>
              </p:nvSpPr>
              <p:spPr>
                <a:xfrm>
                  <a:off x="2960" y="2425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577" name="Google Shape;2577;p32"/>
            <p:cNvGrpSpPr/>
            <p:nvPr/>
          </p:nvGrpSpPr>
          <p:grpSpPr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2578" name="Google Shape;2578;p32"/>
              <p:cNvSpPr/>
              <p:nvPr/>
            </p:nvSpPr>
            <p:spPr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579" name="Google Shape;2579;p32"/>
              <p:cNvCxnSpPr/>
              <p:nvPr/>
            </p:nvCxnSpPr>
            <p:spPr>
              <a:xfrm>
                <a:off x="2224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0" name="Google Shape;2580;p32"/>
              <p:cNvCxnSpPr/>
              <p:nvPr/>
            </p:nvCxnSpPr>
            <p:spPr>
              <a:xfrm>
                <a:off x="2537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81" name="Google Shape;2581;p32"/>
              <p:cNvSpPr/>
              <p:nvPr/>
            </p:nvSpPr>
            <p:spPr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2" name="Google Shape;2582;p32"/>
              <p:cNvSpPr/>
              <p:nvPr/>
            </p:nvSpPr>
            <p:spPr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83" name="Google Shape;2583;p32"/>
              <p:cNvGrpSpPr/>
              <p:nvPr/>
            </p:nvGrpSpPr>
            <p:grpSpPr>
              <a:xfrm>
                <a:off x="2283" y="3571"/>
                <a:ext cx="206" cy="252"/>
                <a:chOff x="2954" y="2425"/>
                <a:chExt cx="209" cy="252"/>
              </a:xfrm>
            </p:grpSpPr>
            <p:sp>
              <p:nvSpPr>
                <p:cNvPr id="2584" name="Google Shape;2584;p32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85" name="Google Shape;2585;p32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586" name="Google Shape;2586;p32"/>
            <p:cNvGrpSpPr/>
            <p:nvPr/>
          </p:nvGrpSpPr>
          <p:grpSpPr>
            <a:xfrm>
              <a:off x="2195" y="3198"/>
              <a:ext cx="315" cy="252"/>
              <a:chOff x="2903" y="2884"/>
              <a:chExt cx="315" cy="252"/>
            </a:xfrm>
          </p:grpSpPr>
          <p:grpSp>
            <p:nvGrpSpPr>
              <p:cNvPr id="2587" name="Google Shape;2587;p32"/>
              <p:cNvGrpSpPr/>
              <p:nvPr/>
            </p:nvGrpSpPr>
            <p:grpSpPr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2588" name="Google Shape;2588;p32"/>
                <p:cNvSpPr/>
                <p:nvPr/>
              </p:nvSpPr>
              <p:spPr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589" name="Google Shape;2589;p32"/>
                <p:cNvCxnSpPr/>
                <p:nvPr/>
              </p:nvCxnSpPr>
              <p:spPr>
                <a:xfrm>
                  <a:off x="2903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90" name="Google Shape;2590;p32"/>
                <p:cNvCxnSpPr/>
                <p:nvPr/>
              </p:nvCxnSpPr>
              <p:spPr>
                <a:xfrm>
                  <a:off x="3215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91" name="Google Shape;2591;p32"/>
                <p:cNvSpPr/>
                <p:nvPr/>
              </p:nvSpPr>
              <p:spPr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2" name="Google Shape;2592;p32"/>
                <p:cNvSpPr/>
                <p:nvPr/>
              </p:nvSpPr>
              <p:spPr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593" name="Google Shape;2593;p32"/>
              <p:cNvGrpSpPr/>
              <p:nvPr/>
            </p:nvGrpSpPr>
            <p:grpSpPr>
              <a:xfrm>
                <a:off x="2963" y="2884"/>
                <a:ext cx="185" cy="252"/>
                <a:chOff x="2964" y="2425"/>
                <a:chExt cx="188" cy="252"/>
              </a:xfrm>
            </p:grpSpPr>
            <p:sp>
              <p:nvSpPr>
                <p:cNvPr id="2594" name="Google Shape;2594;p32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5" name="Google Shape;2595;p32"/>
                <p:cNvSpPr txBox="1"/>
                <p:nvPr/>
              </p:nvSpPr>
              <p:spPr>
                <a:xfrm>
                  <a:off x="2964" y="2425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596" name="Google Shape;2596;p32"/>
            <p:cNvGrpSpPr/>
            <p:nvPr/>
          </p:nvGrpSpPr>
          <p:grpSpPr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2597" name="Google Shape;2597;p32"/>
              <p:cNvSpPr/>
              <p:nvPr/>
            </p:nvSpPr>
            <p:spPr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598" name="Google Shape;2598;p32"/>
              <p:cNvCxnSpPr/>
              <p:nvPr/>
            </p:nvCxnSpPr>
            <p:spPr>
              <a:xfrm>
                <a:off x="2220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9" name="Google Shape;2599;p32"/>
              <p:cNvCxnSpPr/>
              <p:nvPr/>
            </p:nvCxnSpPr>
            <p:spPr>
              <a:xfrm>
                <a:off x="2533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600" name="Google Shape;2600;p32"/>
              <p:cNvSpPr/>
              <p:nvPr/>
            </p:nvSpPr>
            <p:spPr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1" name="Google Shape;2601;p32"/>
              <p:cNvSpPr/>
              <p:nvPr/>
            </p:nvSpPr>
            <p:spPr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02" name="Google Shape;2602;p32"/>
              <p:cNvGrpSpPr/>
              <p:nvPr/>
            </p:nvGrpSpPr>
            <p:grpSpPr>
              <a:xfrm>
                <a:off x="2276" y="2884"/>
                <a:ext cx="206" cy="252"/>
                <a:chOff x="2954" y="2425"/>
                <a:chExt cx="209" cy="252"/>
              </a:xfrm>
            </p:grpSpPr>
            <p:sp>
              <p:nvSpPr>
                <p:cNvPr id="2603" name="Google Shape;2603;p3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04" name="Google Shape;2604;p32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605" name="Google Shape;2605;p32"/>
            <p:cNvSpPr/>
            <p:nvPr/>
          </p:nvSpPr>
          <p:spPr>
            <a:xfrm flipH="1">
              <a:off x="2505" y="2819"/>
              <a:ext cx="198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6" name="Google Shape;2606;p32"/>
            <p:cNvSpPr/>
            <p:nvPr/>
          </p:nvSpPr>
          <p:spPr>
            <a:xfrm rot="10800000">
              <a:off x="2484" y="3125"/>
              <a:ext cx="180" cy="141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7" name="Google Shape;2607;p32"/>
            <p:cNvSpPr/>
            <p:nvPr/>
          </p:nvSpPr>
          <p:spPr>
            <a:xfrm flipH="1" rot="10800000">
              <a:off x="2031" y="3107"/>
              <a:ext cx="204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8" name="Google Shape;2608;p32"/>
            <p:cNvSpPr/>
            <p:nvPr/>
          </p:nvSpPr>
          <p:spPr>
            <a:xfrm rot="10800000">
              <a:off x="2400" y="3086"/>
              <a:ext cx="189" cy="153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9" name="Google Shape;2609;p32"/>
            <p:cNvSpPr/>
            <p:nvPr/>
          </p:nvSpPr>
          <p:spPr>
            <a:xfrm flipH="1">
              <a:off x="2124" y="3083"/>
              <a:ext cx="174" cy="147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0" name="Google Shape;2610;p32"/>
            <p:cNvSpPr txBox="1"/>
            <p:nvPr/>
          </p:nvSpPr>
          <p:spPr>
            <a:xfrm>
              <a:off x="1721" y="3846"/>
              <a:ext cx="1539" cy="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given these costs,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find new routing….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resulting in new costs</a:t>
              </a:r>
              <a:endParaRPr/>
            </a:p>
          </p:txBody>
        </p:sp>
        <p:cxnSp>
          <p:nvCxnSpPr>
            <p:cNvPr id="2611" name="Google Shape;2611;p32"/>
            <p:cNvCxnSpPr/>
            <p:nvPr/>
          </p:nvCxnSpPr>
          <p:spPr>
            <a:xfrm rot="10800000">
              <a:off x="2358" y="3407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12" name="Google Shape;2612;p32"/>
            <p:cNvCxnSpPr/>
            <p:nvPr/>
          </p:nvCxnSpPr>
          <p:spPr>
            <a:xfrm rot="10800000">
              <a:off x="1938" y="3119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13" name="Google Shape;2613;p32"/>
            <p:cNvCxnSpPr/>
            <p:nvPr/>
          </p:nvCxnSpPr>
          <p:spPr>
            <a:xfrm rot="10800000">
              <a:off x="2778" y="3122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614" name="Google Shape;2614;p32"/>
          <p:cNvSpPr/>
          <p:nvPr/>
        </p:nvSpPr>
        <p:spPr>
          <a:xfrm>
            <a:off x="6926580" y="3590925"/>
            <a:ext cx="1181100" cy="952500"/>
          </a:xfrm>
          <a:custGeom>
            <a:rect b="b" l="l" r="r" t="t"/>
            <a:pathLst>
              <a:path extrusionOk="0" h="600" w="744">
                <a:moveTo>
                  <a:pt x="0" y="294"/>
                </a:moveTo>
                <a:lnTo>
                  <a:pt x="387" y="600"/>
                </a:lnTo>
                <a:lnTo>
                  <a:pt x="744" y="304"/>
                </a:lnTo>
                <a:lnTo>
                  <a:pt x="429" y="66"/>
                </a:lnTo>
                <a:lnTo>
                  <a:pt x="354" y="0"/>
                </a:lnTo>
              </a:path>
            </a:pathLst>
          </a:custGeom>
          <a:noFill/>
          <a:ln cap="flat" cmpd="sng" w="571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15" name="Google Shape;2615;p32"/>
          <p:cNvGrpSpPr/>
          <p:nvPr/>
        </p:nvGrpSpPr>
        <p:grpSpPr>
          <a:xfrm>
            <a:off x="6844030" y="3668712"/>
            <a:ext cx="1493838" cy="990600"/>
            <a:chOff x="-186" y="1184"/>
            <a:chExt cx="941" cy="624"/>
          </a:xfrm>
        </p:grpSpPr>
        <p:sp>
          <p:nvSpPr>
            <p:cNvPr id="2616" name="Google Shape;2616;p32"/>
            <p:cNvSpPr txBox="1"/>
            <p:nvPr/>
          </p:nvSpPr>
          <p:spPr>
            <a:xfrm>
              <a:off x="-186" y="1199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617" name="Google Shape;2617;p32"/>
            <p:cNvSpPr txBox="1"/>
            <p:nvPr/>
          </p:nvSpPr>
          <p:spPr>
            <a:xfrm>
              <a:off x="450" y="1184"/>
              <a:ext cx="30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2+e</a:t>
              </a:r>
              <a:endParaRPr/>
            </a:p>
          </p:txBody>
        </p:sp>
        <p:sp>
          <p:nvSpPr>
            <p:cNvPr id="2618" name="Google Shape;2618;p32"/>
            <p:cNvSpPr txBox="1"/>
            <p:nvPr/>
          </p:nvSpPr>
          <p:spPr>
            <a:xfrm>
              <a:off x="340" y="1616"/>
              <a:ext cx="30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1+e</a:t>
              </a:r>
              <a:endParaRPr/>
            </a:p>
          </p:txBody>
        </p:sp>
        <p:sp>
          <p:nvSpPr>
            <p:cNvPr id="2619" name="Google Shape;2619;p32"/>
            <p:cNvSpPr txBox="1"/>
            <p:nvPr/>
          </p:nvSpPr>
          <p:spPr>
            <a:xfrm>
              <a:off x="-132" y="1580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2620" name="Google Shape;2620;p32"/>
            <p:cNvSpPr txBox="1"/>
            <p:nvPr/>
          </p:nvSpPr>
          <p:spPr>
            <a:xfrm>
              <a:off x="79" y="1436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621" name="Google Shape;2621;p32"/>
            <p:cNvSpPr txBox="1"/>
            <p:nvPr/>
          </p:nvSpPr>
          <p:spPr>
            <a:xfrm>
              <a:off x="261" y="1430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  <p:grpSp>
        <p:nvGrpSpPr>
          <p:cNvPr id="2622" name="Google Shape;2622;p32"/>
          <p:cNvGrpSpPr/>
          <p:nvPr/>
        </p:nvGrpSpPr>
        <p:grpSpPr>
          <a:xfrm>
            <a:off x="9495792" y="3505198"/>
            <a:ext cx="2443162" cy="2703511"/>
            <a:chOff x="1632" y="2639"/>
            <a:chExt cx="1539" cy="1703"/>
          </a:xfrm>
        </p:grpSpPr>
        <p:sp>
          <p:nvSpPr>
            <p:cNvPr id="2623" name="Google Shape;2623;p32"/>
            <p:cNvSpPr/>
            <p:nvPr/>
          </p:nvSpPr>
          <p:spPr>
            <a:xfrm>
              <a:off x="1752" y="2639"/>
              <a:ext cx="1225" cy="854"/>
            </a:xfrm>
            <a:custGeom>
              <a:rect b="b" l="l" r="r" t="t"/>
              <a:pathLst>
                <a:path extrusionOk="0" h="854" w="1225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4" name="Google Shape;2624;p32"/>
            <p:cNvSpPr/>
            <p:nvPr/>
          </p:nvSpPr>
          <p:spPr>
            <a:xfrm>
              <a:off x="2010" y="2852"/>
              <a:ext cx="246" cy="132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25" name="Google Shape;2625;p32"/>
            <p:cNvGrpSpPr/>
            <p:nvPr/>
          </p:nvGrpSpPr>
          <p:grpSpPr>
            <a:xfrm>
              <a:off x="2203" y="2652"/>
              <a:ext cx="316" cy="252"/>
              <a:chOff x="1747" y="3190"/>
              <a:chExt cx="316" cy="252"/>
            </a:xfrm>
          </p:grpSpPr>
          <p:sp>
            <p:nvSpPr>
              <p:cNvPr id="2626" name="Google Shape;2626;p32"/>
              <p:cNvSpPr/>
              <p:nvPr/>
            </p:nvSpPr>
            <p:spPr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627" name="Google Shape;2627;p32"/>
              <p:cNvCxnSpPr/>
              <p:nvPr/>
            </p:nvCxnSpPr>
            <p:spPr>
              <a:xfrm>
                <a:off x="1750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8" name="Google Shape;2628;p32"/>
              <p:cNvCxnSpPr/>
              <p:nvPr/>
            </p:nvCxnSpPr>
            <p:spPr>
              <a:xfrm>
                <a:off x="2063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629" name="Google Shape;2629;p32"/>
              <p:cNvSpPr/>
              <p:nvPr/>
            </p:nvSpPr>
            <p:spPr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0" name="Google Shape;2630;p32"/>
              <p:cNvSpPr/>
              <p:nvPr/>
            </p:nvSpPr>
            <p:spPr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31" name="Google Shape;2631;p32"/>
              <p:cNvGrpSpPr/>
              <p:nvPr/>
            </p:nvGrpSpPr>
            <p:grpSpPr>
              <a:xfrm>
                <a:off x="1799" y="3190"/>
                <a:ext cx="194" cy="252"/>
                <a:chOff x="2960" y="2425"/>
                <a:chExt cx="197" cy="252"/>
              </a:xfrm>
            </p:grpSpPr>
            <p:sp>
              <p:nvSpPr>
                <p:cNvPr id="2632" name="Google Shape;2632;p3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3" name="Google Shape;2633;p32"/>
                <p:cNvSpPr txBox="1"/>
                <p:nvPr/>
              </p:nvSpPr>
              <p:spPr>
                <a:xfrm>
                  <a:off x="2960" y="2425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34" name="Google Shape;2634;p32"/>
            <p:cNvGrpSpPr/>
            <p:nvPr/>
          </p:nvGrpSpPr>
          <p:grpSpPr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2635" name="Google Shape;2635;p32"/>
              <p:cNvSpPr/>
              <p:nvPr/>
            </p:nvSpPr>
            <p:spPr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636" name="Google Shape;2636;p32"/>
              <p:cNvCxnSpPr/>
              <p:nvPr/>
            </p:nvCxnSpPr>
            <p:spPr>
              <a:xfrm>
                <a:off x="2224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37" name="Google Shape;2637;p32"/>
              <p:cNvCxnSpPr/>
              <p:nvPr/>
            </p:nvCxnSpPr>
            <p:spPr>
              <a:xfrm>
                <a:off x="2537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638" name="Google Shape;2638;p32"/>
              <p:cNvSpPr/>
              <p:nvPr/>
            </p:nvSpPr>
            <p:spPr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9" name="Google Shape;2639;p32"/>
              <p:cNvSpPr/>
              <p:nvPr/>
            </p:nvSpPr>
            <p:spPr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40" name="Google Shape;2640;p32"/>
              <p:cNvGrpSpPr/>
              <p:nvPr/>
            </p:nvGrpSpPr>
            <p:grpSpPr>
              <a:xfrm>
                <a:off x="2283" y="3571"/>
                <a:ext cx="206" cy="252"/>
                <a:chOff x="2954" y="2425"/>
                <a:chExt cx="209" cy="252"/>
              </a:xfrm>
            </p:grpSpPr>
            <p:sp>
              <p:nvSpPr>
                <p:cNvPr id="2641" name="Google Shape;2641;p32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2" name="Google Shape;2642;p32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43" name="Google Shape;2643;p32"/>
            <p:cNvGrpSpPr/>
            <p:nvPr/>
          </p:nvGrpSpPr>
          <p:grpSpPr>
            <a:xfrm>
              <a:off x="2195" y="3198"/>
              <a:ext cx="315" cy="252"/>
              <a:chOff x="2903" y="2884"/>
              <a:chExt cx="315" cy="252"/>
            </a:xfrm>
          </p:grpSpPr>
          <p:grpSp>
            <p:nvGrpSpPr>
              <p:cNvPr id="2644" name="Google Shape;2644;p32"/>
              <p:cNvGrpSpPr/>
              <p:nvPr/>
            </p:nvGrpSpPr>
            <p:grpSpPr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2645" name="Google Shape;2645;p32"/>
                <p:cNvSpPr/>
                <p:nvPr/>
              </p:nvSpPr>
              <p:spPr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646" name="Google Shape;2646;p32"/>
                <p:cNvCxnSpPr/>
                <p:nvPr/>
              </p:nvCxnSpPr>
              <p:spPr>
                <a:xfrm>
                  <a:off x="2903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47" name="Google Shape;2647;p32"/>
                <p:cNvCxnSpPr/>
                <p:nvPr/>
              </p:nvCxnSpPr>
              <p:spPr>
                <a:xfrm>
                  <a:off x="3215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48" name="Google Shape;2648;p32"/>
                <p:cNvSpPr/>
                <p:nvPr/>
              </p:nvSpPr>
              <p:spPr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9" name="Google Shape;2649;p32"/>
                <p:cNvSpPr/>
                <p:nvPr/>
              </p:nvSpPr>
              <p:spPr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650" name="Google Shape;2650;p32"/>
              <p:cNvGrpSpPr/>
              <p:nvPr/>
            </p:nvGrpSpPr>
            <p:grpSpPr>
              <a:xfrm>
                <a:off x="2963" y="2884"/>
                <a:ext cx="185" cy="252"/>
                <a:chOff x="2964" y="2425"/>
                <a:chExt cx="188" cy="252"/>
              </a:xfrm>
            </p:grpSpPr>
            <p:sp>
              <p:nvSpPr>
                <p:cNvPr id="2651" name="Google Shape;2651;p32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52" name="Google Shape;2652;p32"/>
                <p:cNvSpPr txBox="1"/>
                <p:nvPr/>
              </p:nvSpPr>
              <p:spPr>
                <a:xfrm>
                  <a:off x="2964" y="2425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53" name="Google Shape;2653;p32"/>
            <p:cNvGrpSpPr/>
            <p:nvPr/>
          </p:nvGrpSpPr>
          <p:grpSpPr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2654" name="Google Shape;2654;p32"/>
              <p:cNvSpPr/>
              <p:nvPr/>
            </p:nvSpPr>
            <p:spPr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655" name="Google Shape;2655;p32"/>
              <p:cNvCxnSpPr/>
              <p:nvPr/>
            </p:nvCxnSpPr>
            <p:spPr>
              <a:xfrm>
                <a:off x="2220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56" name="Google Shape;2656;p32"/>
              <p:cNvCxnSpPr/>
              <p:nvPr/>
            </p:nvCxnSpPr>
            <p:spPr>
              <a:xfrm>
                <a:off x="2533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657" name="Google Shape;2657;p32"/>
              <p:cNvSpPr/>
              <p:nvPr/>
            </p:nvSpPr>
            <p:spPr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8" name="Google Shape;2658;p32"/>
              <p:cNvSpPr/>
              <p:nvPr/>
            </p:nvSpPr>
            <p:spPr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59" name="Google Shape;2659;p32"/>
              <p:cNvGrpSpPr/>
              <p:nvPr/>
            </p:nvGrpSpPr>
            <p:grpSpPr>
              <a:xfrm>
                <a:off x="2276" y="2884"/>
                <a:ext cx="206" cy="252"/>
                <a:chOff x="2954" y="2425"/>
                <a:chExt cx="209" cy="252"/>
              </a:xfrm>
            </p:grpSpPr>
            <p:sp>
              <p:nvSpPr>
                <p:cNvPr id="2660" name="Google Shape;2660;p3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1" name="Google Shape;2661;p32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662" name="Google Shape;2662;p32"/>
            <p:cNvSpPr/>
            <p:nvPr/>
          </p:nvSpPr>
          <p:spPr>
            <a:xfrm flipH="1">
              <a:off x="2505" y="2819"/>
              <a:ext cx="198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3" name="Google Shape;2663;p32"/>
            <p:cNvSpPr/>
            <p:nvPr/>
          </p:nvSpPr>
          <p:spPr>
            <a:xfrm rot="10800000">
              <a:off x="2484" y="3125"/>
              <a:ext cx="180" cy="141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4" name="Google Shape;2664;p32"/>
            <p:cNvSpPr/>
            <p:nvPr/>
          </p:nvSpPr>
          <p:spPr>
            <a:xfrm flipH="1" rot="10800000">
              <a:off x="2031" y="3107"/>
              <a:ext cx="204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5" name="Google Shape;2665;p32"/>
            <p:cNvSpPr/>
            <p:nvPr/>
          </p:nvSpPr>
          <p:spPr>
            <a:xfrm rot="10800000">
              <a:off x="2400" y="3086"/>
              <a:ext cx="189" cy="153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6" name="Google Shape;2666;p32"/>
            <p:cNvSpPr/>
            <p:nvPr/>
          </p:nvSpPr>
          <p:spPr>
            <a:xfrm flipH="1">
              <a:off x="2124" y="3083"/>
              <a:ext cx="174" cy="147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7" name="Google Shape;2667;p32"/>
            <p:cNvSpPr txBox="1"/>
            <p:nvPr/>
          </p:nvSpPr>
          <p:spPr>
            <a:xfrm>
              <a:off x="1632" y="3815"/>
              <a:ext cx="1539" cy="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given these costs,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find new routing….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resulting in new costs</a:t>
              </a:r>
              <a:endParaRPr/>
            </a:p>
          </p:txBody>
        </p:sp>
        <p:cxnSp>
          <p:nvCxnSpPr>
            <p:cNvPr id="2668" name="Google Shape;2668;p32"/>
            <p:cNvCxnSpPr/>
            <p:nvPr/>
          </p:nvCxnSpPr>
          <p:spPr>
            <a:xfrm rot="10800000">
              <a:off x="2358" y="3407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69" name="Google Shape;2669;p32"/>
            <p:cNvCxnSpPr/>
            <p:nvPr/>
          </p:nvCxnSpPr>
          <p:spPr>
            <a:xfrm rot="10800000">
              <a:off x="1938" y="3119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70" name="Google Shape;2670;p32"/>
            <p:cNvCxnSpPr/>
            <p:nvPr/>
          </p:nvCxnSpPr>
          <p:spPr>
            <a:xfrm rot="10800000">
              <a:off x="2778" y="3122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671" name="Google Shape;2671;p32"/>
          <p:cNvSpPr/>
          <p:nvPr/>
        </p:nvSpPr>
        <p:spPr>
          <a:xfrm>
            <a:off x="10048240" y="3706812"/>
            <a:ext cx="1193800" cy="866775"/>
          </a:xfrm>
          <a:custGeom>
            <a:rect b="b" l="l" r="r" t="t"/>
            <a:pathLst>
              <a:path extrusionOk="0" h="546" w="752">
                <a:moveTo>
                  <a:pt x="752" y="264"/>
                </a:moveTo>
                <a:lnTo>
                  <a:pt x="383" y="546"/>
                </a:lnTo>
                <a:lnTo>
                  <a:pt x="0" y="248"/>
                </a:lnTo>
                <a:lnTo>
                  <a:pt x="383" y="0"/>
                </a:lnTo>
              </a:path>
            </a:pathLst>
          </a:custGeom>
          <a:noFill/>
          <a:ln cap="flat" cmpd="sng" w="571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72" name="Google Shape;2672;p32"/>
          <p:cNvGrpSpPr/>
          <p:nvPr/>
        </p:nvGrpSpPr>
        <p:grpSpPr>
          <a:xfrm>
            <a:off x="9873615" y="3692525"/>
            <a:ext cx="1430338" cy="966787"/>
            <a:chOff x="1870" y="2772"/>
            <a:chExt cx="901" cy="609"/>
          </a:xfrm>
        </p:grpSpPr>
        <p:sp>
          <p:nvSpPr>
            <p:cNvPr id="2673" name="Google Shape;2673;p32"/>
            <p:cNvSpPr txBox="1"/>
            <p:nvPr/>
          </p:nvSpPr>
          <p:spPr>
            <a:xfrm>
              <a:off x="1870" y="2772"/>
              <a:ext cx="30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2+e</a:t>
              </a:r>
              <a:endParaRPr/>
            </a:p>
          </p:txBody>
        </p:sp>
        <p:sp>
          <p:nvSpPr>
            <p:cNvPr id="2674" name="Google Shape;2674;p32"/>
            <p:cNvSpPr txBox="1"/>
            <p:nvPr/>
          </p:nvSpPr>
          <p:spPr>
            <a:xfrm>
              <a:off x="2593" y="279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675" name="Google Shape;2675;p32"/>
            <p:cNvSpPr txBox="1"/>
            <p:nvPr/>
          </p:nvSpPr>
          <p:spPr>
            <a:xfrm>
              <a:off x="2501" y="3189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676" name="Google Shape;2676;p32"/>
            <p:cNvSpPr txBox="1"/>
            <p:nvPr/>
          </p:nvSpPr>
          <p:spPr>
            <a:xfrm>
              <a:off x="1987" y="315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677" name="Google Shape;2677;p32"/>
            <p:cNvSpPr txBox="1"/>
            <p:nvPr/>
          </p:nvSpPr>
          <p:spPr>
            <a:xfrm>
              <a:off x="2135" y="3009"/>
              <a:ext cx="30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1+e</a:t>
              </a:r>
              <a:endParaRPr/>
            </a:p>
          </p:txBody>
        </p:sp>
        <p:sp>
          <p:nvSpPr>
            <p:cNvPr id="2678" name="Google Shape;2678;p32"/>
            <p:cNvSpPr txBox="1"/>
            <p:nvPr/>
          </p:nvSpPr>
          <p:spPr>
            <a:xfrm>
              <a:off x="2380" y="300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2679" name="Google Shape;2679;p32"/>
          <p:cNvSpPr txBox="1"/>
          <p:nvPr/>
        </p:nvSpPr>
        <p:spPr>
          <a:xfrm>
            <a:off x="627698" y="1762759"/>
            <a:ext cx="10792142" cy="1201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1463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sample scenario:</a:t>
            </a:r>
            <a:endParaRPr/>
          </a:p>
          <a:p>
            <a:pPr indent="-271463" lvl="1" marL="7445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routing to destination a, traffic entering at d, c, e with rates 1, e (&lt;1), 1</a:t>
            </a:r>
            <a:endParaRPr/>
          </a:p>
          <a:p>
            <a:pPr indent="-271463" lvl="1" marL="7445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costs are directional, and volume-dependent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80" name="Google Shape;2680;p32"/>
          <p:cNvGrpSpPr/>
          <p:nvPr/>
        </p:nvGrpSpPr>
        <p:grpSpPr>
          <a:xfrm>
            <a:off x="3365818" y="4272915"/>
            <a:ext cx="1854835" cy="769620"/>
            <a:chOff x="490538" y="4465955"/>
            <a:chExt cx="1854835" cy="769620"/>
          </a:xfrm>
        </p:grpSpPr>
        <p:sp>
          <p:nvSpPr>
            <p:cNvPr id="2681" name="Google Shape;2681;p32"/>
            <p:cNvSpPr txBox="1"/>
            <p:nvPr/>
          </p:nvSpPr>
          <p:spPr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2" name="Google Shape;2682;p32"/>
            <p:cNvSpPr txBox="1"/>
            <p:nvPr/>
          </p:nvSpPr>
          <p:spPr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3" name="Google Shape;2683;p32"/>
            <p:cNvSpPr txBox="1"/>
            <p:nvPr/>
          </p:nvSpPr>
          <p:spPr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84" name="Google Shape;2684;p32"/>
          <p:cNvGrpSpPr/>
          <p:nvPr/>
        </p:nvGrpSpPr>
        <p:grpSpPr>
          <a:xfrm>
            <a:off x="6576378" y="4293235"/>
            <a:ext cx="1854835" cy="769620"/>
            <a:chOff x="490538" y="4465955"/>
            <a:chExt cx="1854835" cy="769620"/>
          </a:xfrm>
        </p:grpSpPr>
        <p:sp>
          <p:nvSpPr>
            <p:cNvPr id="2685" name="Google Shape;2685;p32"/>
            <p:cNvSpPr txBox="1"/>
            <p:nvPr/>
          </p:nvSpPr>
          <p:spPr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6" name="Google Shape;2686;p32"/>
            <p:cNvSpPr txBox="1"/>
            <p:nvPr/>
          </p:nvSpPr>
          <p:spPr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7" name="Google Shape;2687;p32"/>
            <p:cNvSpPr txBox="1"/>
            <p:nvPr/>
          </p:nvSpPr>
          <p:spPr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88" name="Google Shape;2688;p32"/>
          <p:cNvGrpSpPr/>
          <p:nvPr/>
        </p:nvGrpSpPr>
        <p:grpSpPr>
          <a:xfrm>
            <a:off x="9705658" y="4313555"/>
            <a:ext cx="1854835" cy="769620"/>
            <a:chOff x="490538" y="4465955"/>
            <a:chExt cx="1854835" cy="769620"/>
          </a:xfrm>
        </p:grpSpPr>
        <p:sp>
          <p:nvSpPr>
            <p:cNvPr id="2689" name="Google Shape;2689;p32"/>
            <p:cNvSpPr txBox="1"/>
            <p:nvPr/>
          </p:nvSpPr>
          <p:spPr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0" name="Google Shape;2690;p32"/>
            <p:cNvSpPr txBox="1"/>
            <p:nvPr/>
          </p:nvSpPr>
          <p:spPr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1" name="Google Shape;2691;p32"/>
            <p:cNvSpPr txBox="1"/>
            <p:nvPr/>
          </p:nvSpPr>
          <p:spPr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6" name="Shape 2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7" name="Google Shape;2697;p33"/>
          <p:cNvSpPr txBox="1"/>
          <p:nvPr>
            <p:ph type="title"/>
          </p:nvPr>
        </p:nvSpPr>
        <p:spPr>
          <a:xfrm>
            <a:off x="580529" y="65042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6000"/>
              <a:t>Network Layer:</a:t>
            </a:r>
            <a:br>
              <a:rPr lang="en-US" sz="6000"/>
            </a:br>
            <a:r>
              <a:rPr lang="en-US" sz="6000"/>
              <a:t>Control Plane</a:t>
            </a:r>
            <a:endParaRPr sz="6000"/>
          </a:p>
        </p:txBody>
      </p:sp>
      <p:sp>
        <p:nvSpPr>
          <p:cNvPr id="2698" name="Google Shape;2698;p33"/>
          <p:cNvSpPr txBox="1"/>
          <p:nvPr>
            <p:ph idx="2" type="body"/>
          </p:nvPr>
        </p:nvSpPr>
        <p:spPr>
          <a:xfrm>
            <a:off x="661015" y="2338373"/>
            <a:ext cx="871692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638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</a:rPr>
              <a:t>introduction</a:t>
            </a:r>
            <a:endParaRPr/>
          </a:p>
          <a:p>
            <a:pPr indent="-274638" lvl="0" marL="2857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ct val="100000"/>
              <a:buChar char="▪"/>
            </a:pPr>
            <a:r>
              <a:rPr lang="en-US" sz="3600">
                <a:solidFill>
                  <a:srgbClr val="000000"/>
                </a:solidFill>
              </a:rPr>
              <a:t>routing algorithms</a:t>
            </a:r>
            <a:endParaRPr/>
          </a:p>
          <a:p>
            <a:pPr indent="-273050" lvl="1" marL="7461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</a:rPr>
              <a:t>link state</a:t>
            </a:r>
            <a:endParaRPr/>
          </a:p>
          <a:p>
            <a:pPr indent="-273050" lvl="1" marL="7461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 sz="3200">
                <a:solidFill>
                  <a:srgbClr val="000000"/>
                </a:solidFill>
              </a:rPr>
              <a:t>distance vector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</a:rPr>
              <a:t>intra-ISP routing: OSPF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</a:rPr>
              <a:t>routing among ISPs: BGP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</a:rPr>
              <a:t>SDN control plane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</a:rPr>
              <a:t>Internet Control Message Protocol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</a:rPr>
              <a:t>Network management, configuration</a:t>
            </a:r>
            <a:endParaRPr/>
          </a:p>
          <a:p>
            <a:pPr indent="-121284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None/>
            </a:pPr>
            <a:r>
              <a:t/>
            </a:r>
            <a:endParaRPr>
              <a:solidFill>
                <a:srgbClr val="BFBFBF"/>
              </a:solidFill>
            </a:endParaRPr>
          </a:p>
        </p:txBody>
      </p:sp>
      <p:grpSp>
        <p:nvGrpSpPr>
          <p:cNvPr id="2699" name="Google Shape;2699;p33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2700" name="Google Shape;2700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1" name="Google Shape;2701;p33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2702" name="Google Shape;2702;p33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2703" name="Google Shape;2703;p3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04" name="Google Shape;2704;p33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9" name="Shape 2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0" name="Google Shape;2710;p34"/>
          <p:cNvSpPr txBox="1"/>
          <p:nvPr>
            <p:ph idx="1" type="body"/>
          </p:nvPr>
        </p:nvSpPr>
        <p:spPr>
          <a:xfrm>
            <a:off x="838200" y="1724027"/>
            <a:ext cx="10813026" cy="517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/>
              <a:t>Based on </a:t>
            </a:r>
            <a:r>
              <a:rPr i="1" lang="en-US" sz="3200">
                <a:solidFill>
                  <a:srgbClr val="0000A8"/>
                </a:solidFill>
              </a:rPr>
              <a:t>Bellman-Ford</a:t>
            </a:r>
            <a:r>
              <a:rPr lang="en-US" sz="3200"/>
              <a:t> (BF) equation (dynamic programming):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711" name="Google Shape;2711;p3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algorithm </a:t>
            </a:r>
            <a:endParaRPr/>
          </a:p>
        </p:txBody>
      </p:sp>
      <p:grpSp>
        <p:nvGrpSpPr>
          <p:cNvPr id="2712" name="Google Shape;2712;p34"/>
          <p:cNvGrpSpPr/>
          <p:nvPr/>
        </p:nvGrpSpPr>
        <p:grpSpPr>
          <a:xfrm>
            <a:off x="1902542" y="2507226"/>
            <a:ext cx="8854256" cy="2757948"/>
            <a:chOff x="1902542" y="2507226"/>
            <a:chExt cx="8854256" cy="2757948"/>
          </a:xfrm>
        </p:grpSpPr>
        <p:sp>
          <p:nvSpPr>
            <p:cNvPr id="2713" name="Google Shape;2713;p34"/>
            <p:cNvSpPr txBox="1"/>
            <p:nvPr/>
          </p:nvSpPr>
          <p:spPr>
            <a:xfrm>
              <a:off x="2803423" y="3288890"/>
              <a:ext cx="7953375" cy="19762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 fontScale="92500" lnSpcReduction="10000"/>
            </a:bodyPr>
            <a:lstStyle/>
            <a:p>
              <a:pPr indent="-22225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Let </a:t>
              </a:r>
              <a:r>
                <a:rPr b="0" i="1" lang="en-US" sz="3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1" lang="en-US" sz="3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i="1" lang="en-US" sz="3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(y): </a:t>
              </a:r>
              <a:r>
                <a:rPr b="0" i="0" lang="en-US" sz="3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cost of least-cost path from </a:t>
              </a:r>
              <a:r>
                <a:rPr b="0" i="1" lang="en-US" sz="3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i="0" lang="en-US" sz="3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to </a:t>
              </a:r>
              <a:r>
                <a:rPr b="0" i="1" lang="en-US" sz="3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i="0" lang="en-US" sz="3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Then: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b="0" i="0" lang="en-US" sz="2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r>
                <a:rPr b="0" i="1" lang="en-US" sz="32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1" lang="en-US" sz="32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i="1" lang="en-US" sz="32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(y) = </a:t>
              </a:r>
              <a:r>
                <a:rPr b="0" i="0" lang="en-US" sz="32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r>
                <a:rPr b="0" baseline="-25000" i="1" lang="en-US" sz="32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="0" i="1" lang="en-US" sz="32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 { c</a:t>
              </a:r>
              <a:r>
                <a:rPr b="0" baseline="-25000" i="1" lang="en-US" sz="32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x,v </a:t>
              </a:r>
              <a:r>
                <a:rPr b="0" i="1" lang="en-US" sz="32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+ D</a:t>
              </a:r>
              <a:r>
                <a:rPr b="0" baseline="-25000" i="1" lang="en-US" sz="32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="0" i="1" lang="en-US" sz="32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(y) }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714" name="Google Shape;2714;p34"/>
            <p:cNvSpPr/>
            <p:nvPr/>
          </p:nvSpPr>
          <p:spPr>
            <a:xfrm>
              <a:off x="1902542" y="2743199"/>
              <a:ext cx="8686800" cy="2182761"/>
            </a:xfrm>
            <a:prstGeom prst="rect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5" name="Google Shape;2715;p34"/>
            <p:cNvSpPr txBox="1"/>
            <p:nvPr/>
          </p:nvSpPr>
          <p:spPr>
            <a:xfrm>
              <a:off x="2418735" y="2507226"/>
              <a:ext cx="3047501" cy="4616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Bellman-Ford equation</a:t>
              </a:r>
              <a:endParaRPr/>
            </a:p>
          </p:txBody>
        </p:sp>
      </p:grpSp>
      <p:grpSp>
        <p:nvGrpSpPr>
          <p:cNvPr id="2716" name="Google Shape;2716;p34"/>
          <p:cNvGrpSpPr/>
          <p:nvPr/>
        </p:nvGrpSpPr>
        <p:grpSpPr>
          <a:xfrm>
            <a:off x="882140" y="4742711"/>
            <a:ext cx="4443412" cy="1557316"/>
            <a:chOff x="2040982" y="4374411"/>
            <a:chExt cx="4443412" cy="1557316"/>
          </a:xfrm>
        </p:grpSpPr>
        <p:sp>
          <p:nvSpPr>
            <p:cNvPr id="2717" name="Google Shape;2717;p34"/>
            <p:cNvSpPr txBox="1"/>
            <p:nvPr/>
          </p:nvSpPr>
          <p:spPr>
            <a:xfrm>
              <a:off x="2040982" y="5474527"/>
              <a:ext cx="4443412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min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taken over all neighbors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v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of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  <p:cxnSp>
          <p:nvCxnSpPr>
            <p:cNvPr id="2718" name="Google Shape;2718;p34"/>
            <p:cNvCxnSpPr/>
            <p:nvPr/>
          </p:nvCxnSpPr>
          <p:spPr>
            <a:xfrm>
              <a:off x="6409694" y="4374411"/>
              <a:ext cx="0" cy="1357464"/>
            </a:xfrm>
            <a:prstGeom prst="straightConnector1">
              <a:avLst/>
            </a:prstGeom>
            <a:noFill/>
            <a:ln cap="flat" cmpd="sng" w="12700">
              <a:solidFill>
                <a:srgbClr val="0000A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19" name="Google Shape;2719;p34"/>
          <p:cNvGrpSpPr/>
          <p:nvPr/>
        </p:nvGrpSpPr>
        <p:grpSpPr>
          <a:xfrm>
            <a:off x="6490417" y="4684735"/>
            <a:ext cx="4855304" cy="1072830"/>
            <a:chOff x="6490417" y="4684735"/>
            <a:chExt cx="4855304" cy="1072830"/>
          </a:xfrm>
        </p:grpSpPr>
        <p:sp>
          <p:nvSpPr>
            <p:cNvPr id="2720" name="Google Shape;2720;p34"/>
            <p:cNvSpPr txBox="1"/>
            <p:nvPr/>
          </p:nvSpPr>
          <p:spPr>
            <a:xfrm>
              <a:off x="6490417" y="5295900"/>
              <a:ext cx="485530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’s estimated least-cost-path cost to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/>
            </a:p>
          </p:txBody>
        </p:sp>
        <p:cxnSp>
          <p:nvCxnSpPr>
            <p:cNvPr id="2721" name="Google Shape;2721;p34"/>
            <p:cNvCxnSpPr/>
            <p:nvPr/>
          </p:nvCxnSpPr>
          <p:spPr>
            <a:xfrm rot="10800000">
              <a:off x="6789107" y="4684735"/>
              <a:ext cx="0" cy="713983"/>
            </a:xfrm>
            <a:prstGeom prst="straightConnector1">
              <a:avLst/>
            </a:prstGeom>
            <a:noFill/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722" name="Google Shape;2722;p34"/>
          <p:cNvGrpSpPr/>
          <p:nvPr/>
        </p:nvGrpSpPr>
        <p:grpSpPr>
          <a:xfrm>
            <a:off x="5898825" y="4749453"/>
            <a:ext cx="3734933" cy="1589812"/>
            <a:chOff x="5898825" y="4749453"/>
            <a:chExt cx="3734933" cy="1589812"/>
          </a:xfrm>
        </p:grpSpPr>
        <p:sp>
          <p:nvSpPr>
            <p:cNvPr id="2723" name="Google Shape;2723;p34"/>
            <p:cNvSpPr txBox="1"/>
            <p:nvPr/>
          </p:nvSpPr>
          <p:spPr>
            <a:xfrm>
              <a:off x="5898825" y="5877600"/>
              <a:ext cx="373493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direct cost of link from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x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/>
            </a:p>
          </p:txBody>
        </p:sp>
        <p:cxnSp>
          <p:nvCxnSpPr>
            <p:cNvPr id="2724" name="Google Shape;2724;p34"/>
            <p:cNvCxnSpPr/>
            <p:nvPr/>
          </p:nvCxnSpPr>
          <p:spPr>
            <a:xfrm rot="10800000">
              <a:off x="5901847" y="4749453"/>
              <a:ext cx="0" cy="1338196"/>
            </a:xfrm>
            <a:prstGeom prst="straightConnector1">
              <a:avLst/>
            </a:prstGeom>
            <a:noFill/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9" name="Shape 2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0" name="Google Shape;2730;p3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Bellman-Ford Example</a:t>
            </a:r>
            <a:endParaRPr/>
          </a:p>
        </p:txBody>
      </p:sp>
      <p:sp>
        <p:nvSpPr>
          <p:cNvPr id="2731" name="Google Shape;2731;p35"/>
          <p:cNvSpPr/>
          <p:nvPr/>
        </p:nvSpPr>
        <p:spPr>
          <a:xfrm>
            <a:off x="1464895" y="2577601"/>
            <a:ext cx="3571875" cy="2236788"/>
          </a:xfrm>
          <a:custGeom>
            <a:rect b="b" l="l" r="r" t="t"/>
            <a:pathLst>
              <a:path extrusionOk="0" h="1409" w="2250">
                <a:moveTo>
                  <a:pt x="0" y="624"/>
                </a:moveTo>
                <a:cubicBezTo>
                  <a:pt x="5" y="506"/>
                  <a:pt x="131" y="419"/>
                  <a:pt x="219" y="321"/>
                </a:cubicBezTo>
                <a:cubicBezTo>
                  <a:pt x="307" y="223"/>
                  <a:pt x="307" y="70"/>
                  <a:pt x="529" y="35"/>
                </a:cubicBezTo>
                <a:cubicBezTo>
                  <a:pt x="751" y="0"/>
                  <a:pt x="1311" y="36"/>
                  <a:pt x="1551" y="111"/>
                </a:cubicBezTo>
                <a:cubicBezTo>
                  <a:pt x="1791" y="186"/>
                  <a:pt x="1860" y="351"/>
                  <a:pt x="1968" y="483"/>
                </a:cubicBezTo>
                <a:cubicBezTo>
                  <a:pt x="2076" y="615"/>
                  <a:pt x="2250" y="767"/>
                  <a:pt x="2199" y="906"/>
                </a:cubicBezTo>
                <a:cubicBezTo>
                  <a:pt x="2148" y="1045"/>
                  <a:pt x="1860" y="1234"/>
                  <a:pt x="1659" y="1314"/>
                </a:cubicBezTo>
                <a:cubicBezTo>
                  <a:pt x="1458" y="1394"/>
                  <a:pt x="1192" y="1379"/>
                  <a:pt x="993" y="1386"/>
                </a:cubicBezTo>
                <a:cubicBezTo>
                  <a:pt x="794" y="1393"/>
                  <a:pt x="613" y="1409"/>
                  <a:pt x="465" y="1356"/>
                </a:cubicBezTo>
                <a:cubicBezTo>
                  <a:pt x="317" y="1303"/>
                  <a:pt x="180" y="1190"/>
                  <a:pt x="102" y="1068"/>
                </a:cubicBezTo>
                <a:cubicBezTo>
                  <a:pt x="24" y="946"/>
                  <a:pt x="21" y="716"/>
                  <a:pt x="0" y="62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2" name="Google Shape;2732;p35"/>
          <p:cNvSpPr/>
          <p:nvPr/>
        </p:nvSpPr>
        <p:spPr>
          <a:xfrm>
            <a:off x="1974545" y="3431326"/>
            <a:ext cx="542925" cy="295275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3" name="Google Shape;2733;p35"/>
          <p:cNvSpPr/>
          <p:nvPr/>
        </p:nvSpPr>
        <p:spPr>
          <a:xfrm>
            <a:off x="1561795" y="3815501"/>
            <a:ext cx="496888" cy="128588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34" name="Google Shape;2734;p35"/>
          <p:cNvCxnSpPr/>
          <p:nvPr/>
        </p:nvCxnSpPr>
        <p:spPr>
          <a:xfrm>
            <a:off x="1561795" y="3804388"/>
            <a:ext cx="0" cy="793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5" name="Google Shape;2735;p35"/>
          <p:cNvCxnSpPr/>
          <p:nvPr/>
        </p:nvCxnSpPr>
        <p:spPr>
          <a:xfrm>
            <a:off x="2058683" y="3804388"/>
            <a:ext cx="0" cy="793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6" name="Google Shape;2736;p35"/>
          <p:cNvSpPr/>
          <p:nvPr/>
        </p:nvSpPr>
        <p:spPr>
          <a:xfrm>
            <a:off x="1561795" y="3804388"/>
            <a:ext cx="492125" cy="7778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7" name="Google Shape;2737;p35"/>
          <p:cNvSpPr/>
          <p:nvPr/>
        </p:nvSpPr>
        <p:spPr>
          <a:xfrm>
            <a:off x="1557033" y="3710726"/>
            <a:ext cx="496888" cy="150813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8" name="Google Shape;2738;p35"/>
          <p:cNvSpPr/>
          <p:nvPr/>
        </p:nvSpPr>
        <p:spPr>
          <a:xfrm>
            <a:off x="3408058" y="4425101"/>
            <a:ext cx="496888" cy="128588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39" name="Google Shape;2739;p35"/>
          <p:cNvCxnSpPr/>
          <p:nvPr/>
        </p:nvCxnSpPr>
        <p:spPr>
          <a:xfrm>
            <a:off x="3408058" y="4413988"/>
            <a:ext cx="0" cy="793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0" name="Google Shape;2740;p35"/>
          <p:cNvCxnSpPr/>
          <p:nvPr/>
        </p:nvCxnSpPr>
        <p:spPr>
          <a:xfrm>
            <a:off x="3904945" y="4413988"/>
            <a:ext cx="0" cy="793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1" name="Google Shape;2741;p35"/>
          <p:cNvSpPr/>
          <p:nvPr/>
        </p:nvSpPr>
        <p:spPr>
          <a:xfrm>
            <a:off x="3408058" y="4413988"/>
            <a:ext cx="492125" cy="7778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2" name="Google Shape;2742;p35"/>
          <p:cNvSpPr/>
          <p:nvPr/>
        </p:nvSpPr>
        <p:spPr>
          <a:xfrm>
            <a:off x="3403295" y="4320326"/>
            <a:ext cx="496888" cy="150813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3" name="Google Shape;2743;p35"/>
          <p:cNvSpPr/>
          <p:nvPr/>
        </p:nvSpPr>
        <p:spPr>
          <a:xfrm>
            <a:off x="4304995" y="3883763"/>
            <a:ext cx="496888" cy="128588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44" name="Google Shape;2744;p35"/>
          <p:cNvCxnSpPr/>
          <p:nvPr/>
        </p:nvCxnSpPr>
        <p:spPr>
          <a:xfrm>
            <a:off x="4304995" y="3872651"/>
            <a:ext cx="0" cy="793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5" name="Google Shape;2745;p35"/>
          <p:cNvCxnSpPr/>
          <p:nvPr/>
        </p:nvCxnSpPr>
        <p:spPr>
          <a:xfrm>
            <a:off x="4801883" y="3872651"/>
            <a:ext cx="0" cy="793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6" name="Google Shape;2746;p35"/>
          <p:cNvSpPr/>
          <p:nvPr/>
        </p:nvSpPr>
        <p:spPr>
          <a:xfrm>
            <a:off x="4304995" y="3872651"/>
            <a:ext cx="492125" cy="7778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7" name="Google Shape;2747;p35"/>
          <p:cNvSpPr/>
          <p:nvPr/>
        </p:nvSpPr>
        <p:spPr>
          <a:xfrm>
            <a:off x="4300233" y="3778988"/>
            <a:ext cx="496888" cy="150813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8" name="Google Shape;2748;p35"/>
          <p:cNvSpPr/>
          <p:nvPr/>
        </p:nvSpPr>
        <p:spPr>
          <a:xfrm>
            <a:off x="3655708" y="3474188"/>
            <a:ext cx="1588" cy="828675"/>
          </a:xfrm>
          <a:custGeom>
            <a:rect b="b" l="l" r="r" t="t"/>
            <a:pathLst>
              <a:path extrusionOk="0" h="522" w="1">
                <a:moveTo>
                  <a:pt x="0" y="0"/>
                </a:moveTo>
                <a:lnTo>
                  <a:pt x="0" y="522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9" name="Google Shape;2749;p35"/>
          <p:cNvSpPr/>
          <p:nvPr/>
        </p:nvSpPr>
        <p:spPr>
          <a:xfrm>
            <a:off x="2555570" y="3483713"/>
            <a:ext cx="1588" cy="852488"/>
          </a:xfrm>
          <a:custGeom>
            <a:rect b="b" l="l" r="r" t="t"/>
            <a:pathLst>
              <a:path extrusionOk="0" h="537" w="1">
                <a:moveTo>
                  <a:pt x="0" y="0"/>
                </a:moveTo>
                <a:lnTo>
                  <a:pt x="0" y="537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0" name="Google Shape;2750;p35"/>
          <p:cNvSpPr/>
          <p:nvPr/>
        </p:nvSpPr>
        <p:spPr>
          <a:xfrm>
            <a:off x="2817508" y="3459901"/>
            <a:ext cx="800100" cy="952500"/>
          </a:xfrm>
          <a:custGeom>
            <a:rect b="b" l="l" r="r" t="t"/>
            <a:pathLst>
              <a:path extrusionOk="0" h="174" w="378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1" name="Google Shape;2751;p35"/>
          <p:cNvSpPr/>
          <p:nvPr/>
        </p:nvSpPr>
        <p:spPr>
          <a:xfrm>
            <a:off x="3908120" y="4012351"/>
            <a:ext cx="581025" cy="428625"/>
          </a:xfrm>
          <a:custGeom>
            <a:rect b="b" l="l" r="r" t="t"/>
            <a:pathLst>
              <a:path extrusionOk="0" h="270" w="366">
                <a:moveTo>
                  <a:pt x="0" y="270"/>
                </a:moveTo>
                <a:lnTo>
                  <a:pt x="366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2" name="Google Shape;2752;p35"/>
          <p:cNvSpPr/>
          <p:nvPr/>
        </p:nvSpPr>
        <p:spPr>
          <a:xfrm>
            <a:off x="2827033" y="4460026"/>
            <a:ext cx="581025" cy="1588"/>
          </a:xfrm>
          <a:custGeom>
            <a:rect b="b" l="l" r="r" t="t"/>
            <a:pathLst>
              <a:path extrusionOk="0" h="1" w="366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3" name="Google Shape;2753;p35"/>
          <p:cNvSpPr/>
          <p:nvPr/>
        </p:nvSpPr>
        <p:spPr>
          <a:xfrm>
            <a:off x="1888820" y="3945676"/>
            <a:ext cx="438150" cy="419100"/>
          </a:xfrm>
          <a:custGeom>
            <a:rect b="b" l="l" r="r" t="t"/>
            <a:pathLst>
              <a:path extrusionOk="0" h="264" w="276">
                <a:moveTo>
                  <a:pt x="276" y="264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4" name="Google Shape;2754;p35"/>
          <p:cNvSpPr/>
          <p:nvPr/>
        </p:nvSpPr>
        <p:spPr>
          <a:xfrm>
            <a:off x="2817508" y="3364651"/>
            <a:ext cx="581025" cy="1588"/>
          </a:xfrm>
          <a:custGeom>
            <a:rect b="b" l="l" r="r" t="t"/>
            <a:pathLst>
              <a:path extrusionOk="0" h="1" w="366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5" name="Google Shape;2755;p35"/>
          <p:cNvSpPr/>
          <p:nvPr/>
        </p:nvSpPr>
        <p:spPr>
          <a:xfrm>
            <a:off x="3889070" y="3359888"/>
            <a:ext cx="628650" cy="423863"/>
          </a:xfrm>
          <a:custGeom>
            <a:rect b="b" l="l" r="r" t="t"/>
            <a:pathLst>
              <a:path extrusionOk="0" h="267" w="396">
                <a:moveTo>
                  <a:pt x="396" y="267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6" name="Google Shape;2756;p35"/>
          <p:cNvSpPr/>
          <p:nvPr/>
        </p:nvSpPr>
        <p:spPr>
          <a:xfrm>
            <a:off x="1798333" y="2678851"/>
            <a:ext cx="1762125" cy="1023938"/>
          </a:xfrm>
          <a:custGeom>
            <a:rect b="b" l="l" r="r" t="t"/>
            <a:pathLst>
              <a:path extrusionOk="0" h="645" w="1110">
                <a:moveTo>
                  <a:pt x="1110" y="342"/>
                </a:moveTo>
                <a:cubicBezTo>
                  <a:pt x="1104" y="0"/>
                  <a:pt x="21" y="63"/>
                  <a:pt x="0" y="645"/>
                </a:cubicBez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7" name="Google Shape;2757;p35"/>
          <p:cNvGrpSpPr/>
          <p:nvPr/>
        </p:nvGrpSpPr>
        <p:grpSpPr>
          <a:xfrm>
            <a:off x="1639583" y="3628176"/>
            <a:ext cx="325438" cy="396875"/>
            <a:chOff x="2954" y="2425"/>
            <a:chExt cx="208" cy="250"/>
          </a:xfrm>
        </p:grpSpPr>
        <p:sp>
          <p:nvSpPr>
            <p:cNvPr id="2758" name="Google Shape;2758;p35"/>
            <p:cNvSpPr/>
            <p:nvPr/>
          </p:nvSpPr>
          <p:spPr>
            <a:xfrm>
              <a:off x="2982" y="2490"/>
              <a:ext cx="144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9" name="Google Shape;2759;p35"/>
            <p:cNvSpPr txBox="1"/>
            <p:nvPr/>
          </p:nvSpPr>
          <p:spPr>
            <a:xfrm>
              <a:off x="2954" y="2425"/>
              <a:ext cx="20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60" name="Google Shape;2760;p35"/>
          <p:cNvGrpSpPr/>
          <p:nvPr/>
        </p:nvGrpSpPr>
        <p:grpSpPr>
          <a:xfrm>
            <a:off x="3503308" y="4237776"/>
            <a:ext cx="311150" cy="396875"/>
            <a:chOff x="2958" y="2425"/>
            <a:chExt cx="199" cy="250"/>
          </a:xfrm>
        </p:grpSpPr>
        <p:sp>
          <p:nvSpPr>
            <p:cNvPr id="2761" name="Google Shape;2761;p35"/>
            <p:cNvSpPr/>
            <p:nvPr/>
          </p:nvSpPr>
          <p:spPr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2" name="Google Shape;2762;p35"/>
            <p:cNvSpPr txBox="1"/>
            <p:nvPr/>
          </p:nvSpPr>
          <p:spPr>
            <a:xfrm>
              <a:off x="2958" y="2425"/>
              <a:ext cx="19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63" name="Google Shape;2763;p35"/>
          <p:cNvGrpSpPr/>
          <p:nvPr/>
        </p:nvGrpSpPr>
        <p:grpSpPr>
          <a:xfrm>
            <a:off x="4398658" y="3647226"/>
            <a:ext cx="336550" cy="457200"/>
            <a:chOff x="2949" y="2395"/>
            <a:chExt cx="214" cy="288"/>
          </a:xfrm>
        </p:grpSpPr>
        <p:sp>
          <p:nvSpPr>
            <p:cNvPr id="2764" name="Google Shape;2764;p35"/>
            <p:cNvSpPr/>
            <p:nvPr/>
          </p:nvSpPr>
          <p:spPr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5" name="Google Shape;2765;p35"/>
            <p:cNvSpPr txBox="1"/>
            <p:nvPr/>
          </p:nvSpPr>
          <p:spPr>
            <a:xfrm>
              <a:off x="2949" y="2395"/>
              <a:ext cx="21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/>
            </a:p>
          </p:txBody>
        </p:sp>
      </p:grpSp>
      <p:sp>
        <p:nvSpPr>
          <p:cNvPr id="2766" name="Google Shape;2766;p35"/>
          <p:cNvSpPr txBox="1"/>
          <p:nvPr/>
        </p:nvSpPr>
        <p:spPr>
          <a:xfrm>
            <a:off x="1966608" y="3348776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7" name="Google Shape;2767;p35"/>
          <p:cNvSpPr txBox="1"/>
          <p:nvPr/>
        </p:nvSpPr>
        <p:spPr>
          <a:xfrm>
            <a:off x="2519058" y="3696438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8" name="Google Shape;2768;p35"/>
          <p:cNvSpPr txBox="1"/>
          <p:nvPr/>
        </p:nvSpPr>
        <p:spPr>
          <a:xfrm>
            <a:off x="1828495" y="4034576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9" name="Google Shape;2769;p35"/>
          <p:cNvSpPr txBox="1"/>
          <p:nvPr/>
        </p:nvSpPr>
        <p:spPr>
          <a:xfrm>
            <a:off x="3128658" y="3844076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0" name="Google Shape;2770;p35"/>
          <p:cNvSpPr txBox="1"/>
          <p:nvPr/>
        </p:nvSpPr>
        <p:spPr>
          <a:xfrm>
            <a:off x="3028645" y="4406051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1" name="Google Shape;2771;p35"/>
          <p:cNvSpPr txBox="1"/>
          <p:nvPr/>
        </p:nvSpPr>
        <p:spPr>
          <a:xfrm>
            <a:off x="3600145" y="3725013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2" name="Google Shape;2772;p35"/>
          <p:cNvSpPr txBox="1"/>
          <p:nvPr/>
        </p:nvSpPr>
        <p:spPr>
          <a:xfrm>
            <a:off x="4171645" y="4144113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3" name="Google Shape;2773;p35"/>
          <p:cNvSpPr txBox="1"/>
          <p:nvPr/>
        </p:nvSpPr>
        <p:spPr>
          <a:xfrm>
            <a:off x="4128783" y="3291626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4" name="Google Shape;2774;p35"/>
          <p:cNvSpPr txBox="1"/>
          <p:nvPr/>
        </p:nvSpPr>
        <p:spPr>
          <a:xfrm>
            <a:off x="2961970" y="3053501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5" name="Google Shape;2775;p35"/>
          <p:cNvSpPr txBox="1"/>
          <p:nvPr/>
        </p:nvSpPr>
        <p:spPr>
          <a:xfrm>
            <a:off x="2404758" y="2629638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6" name="Google Shape;2776;p35"/>
          <p:cNvSpPr txBox="1"/>
          <p:nvPr/>
        </p:nvSpPr>
        <p:spPr>
          <a:xfrm>
            <a:off x="826718" y="1453057"/>
            <a:ext cx="110604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Suppose that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’s neighboring node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s, x,v,w,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know that for destination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z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grpSp>
        <p:nvGrpSpPr>
          <p:cNvPr id="2777" name="Google Shape;2777;p35"/>
          <p:cNvGrpSpPr/>
          <p:nvPr/>
        </p:nvGrpSpPr>
        <p:grpSpPr>
          <a:xfrm>
            <a:off x="5954236" y="2228981"/>
            <a:ext cx="4331635" cy="1775026"/>
            <a:chOff x="5954236" y="2228981"/>
            <a:chExt cx="4331635" cy="1775026"/>
          </a:xfrm>
        </p:grpSpPr>
        <p:sp>
          <p:nvSpPr>
            <p:cNvPr id="2778" name="Google Shape;2778;p35"/>
            <p:cNvSpPr txBox="1"/>
            <p:nvPr/>
          </p:nvSpPr>
          <p:spPr>
            <a:xfrm>
              <a:off x="6467193" y="2803678"/>
              <a:ext cx="3595856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(z)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= min {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u,v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 D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(z),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               c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u,x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 D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(z),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               c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u,w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 D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(z)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/>
            </a:p>
          </p:txBody>
        </p:sp>
        <p:sp>
          <p:nvSpPr>
            <p:cNvPr id="2779" name="Google Shape;2779;p35"/>
            <p:cNvSpPr txBox="1"/>
            <p:nvPr/>
          </p:nvSpPr>
          <p:spPr>
            <a:xfrm>
              <a:off x="5954236" y="2228981"/>
              <a:ext cx="4331635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Bellman-Ford equation says:</a:t>
              </a:r>
              <a:endParaRPr/>
            </a:p>
          </p:txBody>
        </p:sp>
      </p:grpSp>
      <p:sp>
        <p:nvSpPr>
          <p:cNvPr id="2780" name="Google Shape;2780;p35"/>
          <p:cNvSpPr/>
          <p:nvPr/>
        </p:nvSpPr>
        <p:spPr>
          <a:xfrm>
            <a:off x="1490598" y="3507287"/>
            <a:ext cx="613776" cy="613776"/>
          </a:xfrm>
          <a:prstGeom prst="ellipse">
            <a:avLst/>
          </a:prstGeom>
          <a:noFill/>
          <a:ln cap="flat" cmpd="sng" w="3492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81" name="Google Shape;2781;p35"/>
          <p:cNvGrpSpPr/>
          <p:nvPr/>
        </p:nvGrpSpPr>
        <p:grpSpPr>
          <a:xfrm>
            <a:off x="764088" y="2192055"/>
            <a:ext cx="1691013" cy="1127342"/>
            <a:chOff x="764088" y="2192055"/>
            <a:chExt cx="1691013" cy="1127342"/>
          </a:xfrm>
        </p:grpSpPr>
        <p:sp>
          <p:nvSpPr>
            <p:cNvPr id="2782" name="Google Shape;2782;p35"/>
            <p:cNvSpPr/>
            <p:nvPr/>
          </p:nvSpPr>
          <p:spPr>
            <a:xfrm>
              <a:off x="851770" y="2630466"/>
              <a:ext cx="1603331" cy="688931"/>
            </a:xfrm>
            <a:custGeom>
              <a:rect b="b" l="l" r="r" t="t"/>
              <a:pathLst>
                <a:path extrusionOk="0" h="688931" w="16033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8000">
                  <a:srgbClr val="D8D8D8"/>
                </a:gs>
                <a:gs pos="100000">
                  <a:srgbClr val="D8D8D8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83" name="Google Shape;2783;p35"/>
            <p:cNvGrpSpPr/>
            <p:nvPr/>
          </p:nvGrpSpPr>
          <p:grpSpPr>
            <a:xfrm>
              <a:off x="764088" y="2192055"/>
              <a:ext cx="1346844" cy="461665"/>
              <a:chOff x="764088" y="2192055"/>
              <a:chExt cx="1346844" cy="461665"/>
            </a:xfrm>
          </p:grpSpPr>
          <p:sp>
            <p:nvSpPr>
              <p:cNvPr id="2784" name="Google Shape;2784;p35"/>
              <p:cNvSpPr/>
              <p:nvPr/>
            </p:nvSpPr>
            <p:spPr>
              <a:xfrm>
                <a:off x="851770" y="2242159"/>
                <a:ext cx="1240077" cy="38830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5" name="Google Shape;2785;p35"/>
              <p:cNvSpPr txBox="1"/>
              <p:nvPr/>
            </p:nvSpPr>
            <p:spPr>
              <a:xfrm>
                <a:off x="764088" y="2192055"/>
                <a:ext cx="134684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123825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1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1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</a:t>
                </a:r>
                <a:r>
                  <a:rPr b="0" i="1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</a:t>
                </a: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= 5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86" name="Google Shape;2786;p35"/>
          <p:cNvGrpSpPr/>
          <p:nvPr/>
        </p:nvGrpSpPr>
        <p:grpSpPr>
          <a:xfrm>
            <a:off x="2315033" y="3160213"/>
            <a:ext cx="501650" cy="396875"/>
            <a:chOff x="836555" y="3112712"/>
            <a:chExt cx="501650" cy="396875"/>
          </a:xfrm>
        </p:grpSpPr>
        <p:grpSp>
          <p:nvGrpSpPr>
            <p:cNvPr id="2787" name="Google Shape;2787;p35"/>
            <p:cNvGrpSpPr/>
            <p:nvPr/>
          </p:nvGrpSpPr>
          <p:grpSpPr>
            <a:xfrm>
              <a:off x="836555" y="3205962"/>
              <a:ext cx="501650" cy="233363"/>
              <a:chOff x="2303158" y="3229713"/>
              <a:chExt cx="501650" cy="233363"/>
            </a:xfrm>
          </p:grpSpPr>
          <p:sp>
            <p:nvSpPr>
              <p:cNvPr id="2788" name="Google Shape;2788;p35"/>
              <p:cNvSpPr/>
              <p:nvPr/>
            </p:nvSpPr>
            <p:spPr>
              <a:xfrm>
                <a:off x="2307920" y="3334488"/>
                <a:ext cx="496888" cy="128588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789" name="Google Shape;2789;p35"/>
              <p:cNvCxnSpPr/>
              <p:nvPr/>
            </p:nvCxnSpPr>
            <p:spPr>
              <a:xfrm>
                <a:off x="2307920" y="3323376"/>
                <a:ext cx="0" cy="793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90" name="Google Shape;2790;p35"/>
              <p:cNvCxnSpPr/>
              <p:nvPr/>
            </p:nvCxnSpPr>
            <p:spPr>
              <a:xfrm>
                <a:off x="2804808" y="3323376"/>
                <a:ext cx="0" cy="793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791" name="Google Shape;2791;p35"/>
              <p:cNvSpPr/>
              <p:nvPr/>
            </p:nvSpPr>
            <p:spPr>
              <a:xfrm>
                <a:off x="2307920" y="3323376"/>
                <a:ext cx="492125" cy="7778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2" name="Google Shape;2792;p35"/>
              <p:cNvSpPr/>
              <p:nvPr/>
            </p:nvSpPr>
            <p:spPr>
              <a:xfrm>
                <a:off x="2303158" y="3229713"/>
                <a:ext cx="496888" cy="150813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93" name="Google Shape;2793;p35"/>
            <p:cNvGrpSpPr/>
            <p:nvPr/>
          </p:nvGrpSpPr>
          <p:grpSpPr>
            <a:xfrm>
              <a:off x="929455" y="3112712"/>
              <a:ext cx="311150" cy="396875"/>
              <a:chOff x="2958" y="2425"/>
              <a:chExt cx="199" cy="250"/>
            </a:xfrm>
          </p:grpSpPr>
          <p:sp>
            <p:nvSpPr>
              <p:cNvPr id="2794" name="Google Shape;2794;p3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5" name="Google Shape;2795;p35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796" name="Google Shape;2796;p35"/>
          <p:cNvGrpSpPr/>
          <p:nvPr/>
        </p:nvGrpSpPr>
        <p:grpSpPr>
          <a:xfrm>
            <a:off x="3717682" y="2156537"/>
            <a:ext cx="1617434" cy="1131193"/>
            <a:chOff x="3717682" y="2156537"/>
            <a:chExt cx="1617434" cy="1131193"/>
          </a:xfrm>
        </p:grpSpPr>
        <p:sp>
          <p:nvSpPr>
            <p:cNvPr id="2797" name="Google Shape;2797;p35"/>
            <p:cNvSpPr/>
            <p:nvPr/>
          </p:nvSpPr>
          <p:spPr>
            <a:xfrm flipH="1">
              <a:off x="3717682" y="2598799"/>
              <a:ext cx="1603331" cy="688931"/>
            </a:xfrm>
            <a:custGeom>
              <a:rect b="b" l="l" r="r" t="t"/>
              <a:pathLst>
                <a:path extrusionOk="0" h="688931" w="16033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8000">
                  <a:srgbClr val="D8D8D8"/>
                </a:gs>
                <a:gs pos="100000">
                  <a:srgbClr val="D8D8D8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98" name="Google Shape;2798;p35"/>
            <p:cNvGrpSpPr/>
            <p:nvPr/>
          </p:nvGrpSpPr>
          <p:grpSpPr>
            <a:xfrm>
              <a:off x="3933770" y="2156537"/>
              <a:ext cx="1401346" cy="461665"/>
              <a:chOff x="5257869" y="2364355"/>
              <a:chExt cx="1401346" cy="461665"/>
            </a:xfrm>
          </p:grpSpPr>
          <p:sp>
            <p:nvSpPr>
              <p:cNvPr id="2799" name="Google Shape;2799;p35"/>
              <p:cNvSpPr/>
              <p:nvPr/>
            </p:nvSpPr>
            <p:spPr>
              <a:xfrm>
                <a:off x="5402893" y="2421699"/>
                <a:ext cx="1240077" cy="38830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0" name="Google Shape;2800;p35"/>
              <p:cNvSpPr txBox="1"/>
              <p:nvPr/>
            </p:nvSpPr>
            <p:spPr>
              <a:xfrm>
                <a:off x="5257869" y="2364355"/>
                <a:ext cx="1401346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123825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1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1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</a:t>
                </a:r>
                <a:r>
                  <a:rPr b="0" i="1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</a:t>
                </a: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</p:grpSp>
      <p:grpSp>
        <p:nvGrpSpPr>
          <p:cNvPr id="2801" name="Google Shape;2801;p35"/>
          <p:cNvGrpSpPr/>
          <p:nvPr/>
        </p:nvGrpSpPr>
        <p:grpSpPr>
          <a:xfrm>
            <a:off x="3392183" y="3123351"/>
            <a:ext cx="500062" cy="396875"/>
            <a:chOff x="3392183" y="3123351"/>
            <a:chExt cx="500062" cy="396875"/>
          </a:xfrm>
        </p:grpSpPr>
        <p:sp>
          <p:nvSpPr>
            <p:cNvPr id="2802" name="Google Shape;2802;p35"/>
            <p:cNvSpPr/>
            <p:nvPr/>
          </p:nvSpPr>
          <p:spPr>
            <a:xfrm>
              <a:off x="3392183" y="3328138"/>
              <a:ext cx="495300" cy="128588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03" name="Google Shape;2803;p35"/>
            <p:cNvCxnSpPr/>
            <p:nvPr/>
          </p:nvCxnSpPr>
          <p:spPr>
            <a:xfrm>
              <a:off x="3392183" y="3317026"/>
              <a:ext cx="0" cy="7937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04" name="Google Shape;2804;p35"/>
            <p:cNvCxnSpPr/>
            <p:nvPr/>
          </p:nvCxnSpPr>
          <p:spPr>
            <a:xfrm>
              <a:off x="3887483" y="3317026"/>
              <a:ext cx="0" cy="7937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05" name="Google Shape;2805;p35"/>
            <p:cNvSpPr/>
            <p:nvPr/>
          </p:nvSpPr>
          <p:spPr>
            <a:xfrm>
              <a:off x="3392183" y="3317026"/>
              <a:ext cx="490538" cy="7778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6" name="Google Shape;2806;p35"/>
            <p:cNvSpPr/>
            <p:nvPr/>
          </p:nvSpPr>
          <p:spPr>
            <a:xfrm>
              <a:off x="3396945" y="3228126"/>
              <a:ext cx="495300" cy="150813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07" name="Google Shape;2807;p35"/>
            <p:cNvGrpSpPr/>
            <p:nvPr/>
          </p:nvGrpSpPr>
          <p:grpSpPr>
            <a:xfrm>
              <a:off x="3466795" y="3123351"/>
              <a:ext cx="368300" cy="396875"/>
              <a:chOff x="2941" y="2413"/>
              <a:chExt cx="235" cy="250"/>
            </a:xfrm>
          </p:grpSpPr>
          <p:sp>
            <p:nvSpPr>
              <p:cNvPr id="2808" name="Google Shape;2808;p35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9" name="Google Shape;2809;p35"/>
              <p:cNvSpPr txBox="1"/>
              <p:nvPr/>
            </p:nvSpPr>
            <p:spPr>
              <a:xfrm>
                <a:off x="2941" y="2413"/>
                <a:ext cx="235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810" name="Google Shape;2810;p35"/>
          <p:cNvGrpSpPr/>
          <p:nvPr/>
        </p:nvGrpSpPr>
        <p:grpSpPr>
          <a:xfrm>
            <a:off x="848468" y="4372180"/>
            <a:ext cx="1691740" cy="1106944"/>
            <a:chOff x="848468" y="4372180"/>
            <a:chExt cx="1691740" cy="1106944"/>
          </a:xfrm>
        </p:grpSpPr>
        <p:sp>
          <p:nvSpPr>
            <p:cNvPr id="2811" name="Google Shape;2811;p35"/>
            <p:cNvSpPr/>
            <p:nvPr/>
          </p:nvSpPr>
          <p:spPr>
            <a:xfrm flipH="1" rot="10800000">
              <a:off x="936877" y="4372180"/>
              <a:ext cx="1603331" cy="688931"/>
            </a:xfrm>
            <a:custGeom>
              <a:rect b="b" l="l" r="r" t="t"/>
              <a:pathLst>
                <a:path extrusionOk="0" h="688931" w="16033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8000">
                  <a:srgbClr val="D8D8D8"/>
                </a:gs>
                <a:gs pos="100000">
                  <a:srgbClr val="D8D8D8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12" name="Google Shape;2812;p35"/>
            <p:cNvGrpSpPr/>
            <p:nvPr/>
          </p:nvGrpSpPr>
          <p:grpSpPr>
            <a:xfrm>
              <a:off x="848468" y="5017459"/>
              <a:ext cx="1342034" cy="461665"/>
              <a:chOff x="296266" y="4536509"/>
              <a:chExt cx="1342034" cy="461665"/>
            </a:xfrm>
          </p:grpSpPr>
          <p:sp>
            <p:nvSpPr>
              <p:cNvPr id="2813" name="Google Shape;2813;p35"/>
              <p:cNvSpPr/>
              <p:nvPr/>
            </p:nvSpPr>
            <p:spPr>
              <a:xfrm>
                <a:off x="398223" y="4576176"/>
                <a:ext cx="1240077" cy="38830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4" name="Google Shape;2814;p35"/>
              <p:cNvSpPr txBox="1"/>
              <p:nvPr/>
            </p:nvSpPr>
            <p:spPr>
              <a:xfrm>
                <a:off x="296266" y="4536509"/>
                <a:ext cx="134203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123825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1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1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1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</a:t>
                </a: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= 3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15" name="Google Shape;2815;p35"/>
          <p:cNvGrpSpPr/>
          <p:nvPr/>
        </p:nvGrpSpPr>
        <p:grpSpPr>
          <a:xfrm>
            <a:off x="2309508" y="4185388"/>
            <a:ext cx="501650" cy="457200"/>
            <a:chOff x="2309508" y="4185388"/>
            <a:chExt cx="501650" cy="457200"/>
          </a:xfrm>
        </p:grpSpPr>
        <p:sp>
          <p:nvSpPr>
            <p:cNvPr id="2816" name="Google Shape;2816;p35"/>
            <p:cNvSpPr/>
            <p:nvPr/>
          </p:nvSpPr>
          <p:spPr>
            <a:xfrm>
              <a:off x="2314270" y="4429863"/>
              <a:ext cx="496888" cy="128588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17" name="Google Shape;2817;p35"/>
            <p:cNvCxnSpPr/>
            <p:nvPr/>
          </p:nvCxnSpPr>
          <p:spPr>
            <a:xfrm>
              <a:off x="2314270" y="4418751"/>
              <a:ext cx="0" cy="7937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18" name="Google Shape;2818;p35"/>
            <p:cNvCxnSpPr/>
            <p:nvPr/>
          </p:nvCxnSpPr>
          <p:spPr>
            <a:xfrm>
              <a:off x="2811158" y="4418751"/>
              <a:ext cx="0" cy="7937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19" name="Google Shape;2819;p35"/>
            <p:cNvSpPr/>
            <p:nvPr/>
          </p:nvSpPr>
          <p:spPr>
            <a:xfrm>
              <a:off x="2314270" y="4418751"/>
              <a:ext cx="492125" cy="7778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0" name="Google Shape;2820;p35"/>
            <p:cNvSpPr/>
            <p:nvPr/>
          </p:nvSpPr>
          <p:spPr>
            <a:xfrm>
              <a:off x="2309508" y="4325088"/>
              <a:ext cx="496888" cy="150813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21" name="Google Shape;2821;p35"/>
            <p:cNvGrpSpPr/>
            <p:nvPr/>
          </p:nvGrpSpPr>
          <p:grpSpPr>
            <a:xfrm>
              <a:off x="2409520" y="4185388"/>
              <a:ext cx="336550" cy="457200"/>
              <a:chOff x="2951" y="2395"/>
              <a:chExt cx="213" cy="288"/>
            </a:xfrm>
          </p:grpSpPr>
          <p:sp>
            <p:nvSpPr>
              <p:cNvPr id="2822" name="Google Shape;2822;p35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3" name="Google Shape;2823;p35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</p:grpSp>
      <p:sp>
        <p:nvSpPr>
          <p:cNvPr id="2824" name="Google Shape;2824;p35"/>
          <p:cNvSpPr txBox="1"/>
          <p:nvPr/>
        </p:nvSpPr>
        <p:spPr>
          <a:xfrm>
            <a:off x="7446311" y="3940800"/>
            <a:ext cx="26052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min {2 + 5,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1 + 3,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5 + 3}  = 4</a:t>
            </a:r>
            <a:endParaRPr/>
          </a:p>
        </p:txBody>
      </p:sp>
      <p:grpSp>
        <p:nvGrpSpPr>
          <p:cNvPr id="2825" name="Google Shape;2825;p35"/>
          <p:cNvGrpSpPr/>
          <p:nvPr/>
        </p:nvGrpSpPr>
        <p:grpSpPr>
          <a:xfrm>
            <a:off x="6270932" y="2745287"/>
            <a:ext cx="4777024" cy="3733537"/>
            <a:chOff x="6270932" y="2745287"/>
            <a:chExt cx="4777024" cy="3733537"/>
          </a:xfrm>
        </p:grpSpPr>
        <p:sp>
          <p:nvSpPr>
            <p:cNvPr id="2826" name="Google Shape;2826;p35"/>
            <p:cNvSpPr txBox="1"/>
            <p:nvPr/>
          </p:nvSpPr>
          <p:spPr>
            <a:xfrm>
              <a:off x="6270932" y="5284523"/>
              <a:ext cx="4777024" cy="11943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node achieving minimum (x) is next hop on estimated least-cost path to destination (z)</a:t>
              </a:r>
              <a:endParaRPr/>
            </a:p>
          </p:txBody>
        </p:sp>
        <p:grpSp>
          <p:nvGrpSpPr>
            <p:cNvPr id="2827" name="Google Shape;2827;p35"/>
            <p:cNvGrpSpPr/>
            <p:nvPr/>
          </p:nvGrpSpPr>
          <p:grpSpPr>
            <a:xfrm>
              <a:off x="6465518" y="2745287"/>
              <a:ext cx="3645073" cy="2469715"/>
              <a:chOff x="6465518" y="2745287"/>
              <a:chExt cx="3645073" cy="2469715"/>
            </a:xfrm>
          </p:grpSpPr>
          <p:sp>
            <p:nvSpPr>
              <p:cNvPr id="2828" name="Google Shape;2828;p35"/>
              <p:cNvSpPr/>
              <p:nvPr/>
            </p:nvSpPr>
            <p:spPr>
              <a:xfrm>
                <a:off x="6465518" y="2745287"/>
                <a:ext cx="874734" cy="613776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9" name="Google Shape;2829;p35"/>
              <p:cNvSpPr/>
              <p:nvPr/>
            </p:nvSpPr>
            <p:spPr>
              <a:xfrm>
                <a:off x="9235857" y="4601226"/>
                <a:ext cx="874734" cy="613776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0" name="Google Shape;2830;p35"/>
              <p:cNvSpPr/>
              <p:nvPr/>
            </p:nvSpPr>
            <p:spPr>
              <a:xfrm>
                <a:off x="8098076" y="3187872"/>
                <a:ext cx="1722329" cy="482254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5" name="Shape 2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" name="Google Shape;2836;p3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algorithm </a:t>
            </a:r>
            <a:endParaRPr/>
          </a:p>
        </p:txBody>
      </p:sp>
      <p:sp>
        <p:nvSpPr>
          <p:cNvPr id="2837" name="Google Shape;2837;p36"/>
          <p:cNvSpPr txBox="1"/>
          <p:nvPr/>
        </p:nvSpPr>
        <p:spPr>
          <a:xfrm>
            <a:off x="696238" y="1449887"/>
            <a:ext cx="10815181" cy="1380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key idea: </a:t>
            </a:r>
            <a:endParaRPr/>
          </a:p>
          <a:p>
            <a:pPr indent="-3302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 time-to-time, each node sends its own distance vector estimate to neighbors</a:t>
            </a:r>
            <a:endParaRPr/>
          </a:p>
        </p:txBody>
      </p:sp>
      <p:sp>
        <p:nvSpPr>
          <p:cNvPr id="2838" name="Google Shape;2838;p36"/>
          <p:cNvSpPr/>
          <p:nvPr/>
        </p:nvSpPr>
        <p:spPr>
          <a:xfrm>
            <a:off x="824173" y="4778050"/>
            <a:ext cx="10674719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7663" lvl="0" marL="3476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under minor, natural conditions, the estimate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(y) converge to the actual least cost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(y)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grpSp>
        <p:nvGrpSpPr>
          <p:cNvPr id="2839" name="Google Shape;2839;p36"/>
          <p:cNvGrpSpPr/>
          <p:nvPr/>
        </p:nvGrpSpPr>
        <p:grpSpPr>
          <a:xfrm>
            <a:off x="648222" y="2792259"/>
            <a:ext cx="10815181" cy="1412234"/>
            <a:chOff x="648222" y="2792259"/>
            <a:chExt cx="10815181" cy="1412234"/>
          </a:xfrm>
        </p:grpSpPr>
        <p:sp>
          <p:nvSpPr>
            <p:cNvPr id="2840" name="Google Shape;2840;p36"/>
            <p:cNvSpPr/>
            <p:nvPr/>
          </p:nvSpPr>
          <p:spPr>
            <a:xfrm>
              <a:off x="2556528" y="3681273"/>
              <a:ext cx="6709465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b="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(y) ← min</a:t>
              </a:r>
              <a:r>
                <a:rPr b="0" baseline="-2500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b="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{c</a:t>
              </a:r>
              <a:r>
                <a:rPr b="0" baseline="-2500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x,v </a:t>
              </a:r>
              <a:r>
                <a:rPr b="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+ D</a:t>
              </a:r>
              <a:r>
                <a:rPr b="0" baseline="-2500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b="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(y)}  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for each node </a:t>
              </a: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∊ </a:t>
              </a: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endParaRPr/>
            </a:p>
          </p:txBody>
        </p:sp>
        <p:sp>
          <p:nvSpPr>
            <p:cNvPr id="2841" name="Google Shape;2841;p36"/>
            <p:cNvSpPr txBox="1"/>
            <p:nvPr/>
          </p:nvSpPr>
          <p:spPr>
            <a:xfrm>
              <a:off x="648222" y="2792259"/>
              <a:ext cx="10815181" cy="10156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330200" lvl="0" marL="4603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when </a:t>
              </a: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receives new DV estimate from any neighbor, it updates its own DV using B-F equation: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6" name="Shape 2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7" name="Google Shape;2847;p3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algorithm:  </a:t>
            </a:r>
            <a:endParaRPr/>
          </a:p>
        </p:txBody>
      </p:sp>
      <p:sp>
        <p:nvSpPr>
          <p:cNvPr id="2848" name="Google Shape;2848;p37"/>
          <p:cNvSpPr txBox="1"/>
          <p:nvPr/>
        </p:nvSpPr>
        <p:spPr>
          <a:xfrm>
            <a:off x="6173635" y="1530372"/>
            <a:ext cx="5400414" cy="1976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iterative, asynchronous: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local iteration caused by: </a:t>
            </a:r>
            <a:endParaRPr/>
          </a:p>
          <a:p>
            <a:pPr indent="-223838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link cost change </a:t>
            </a:r>
            <a:endParaRPr/>
          </a:p>
          <a:p>
            <a:pPr indent="-223838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DV update message from neighbor</a:t>
            </a:r>
            <a:endParaRPr/>
          </a:p>
        </p:txBody>
      </p:sp>
      <p:sp>
        <p:nvSpPr>
          <p:cNvPr id="2849" name="Google Shape;2849;p37"/>
          <p:cNvSpPr txBox="1"/>
          <p:nvPr/>
        </p:nvSpPr>
        <p:spPr>
          <a:xfrm>
            <a:off x="1109661" y="1936601"/>
            <a:ext cx="4622104" cy="2345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wait</a:t>
            </a: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(change in local link cost or msg from neighbor)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0" name="Google Shape;2850;p37"/>
          <p:cNvSpPr txBox="1"/>
          <p:nvPr/>
        </p:nvSpPr>
        <p:spPr>
          <a:xfrm>
            <a:off x="977032" y="1397588"/>
            <a:ext cx="203132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each node:</a:t>
            </a:r>
            <a:endParaRPr/>
          </a:p>
        </p:txBody>
      </p:sp>
      <p:sp>
        <p:nvSpPr>
          <p:cNvPr id="2851" name="Google Shape;2851;p37"/>
          <p:cNvSpPr txBox="1"/>
          <p:nvPr/>
        </p:nvSpPr>
        <p:spPr>
          <a:xfrm>
            <a:off x="6138145" y="3549151"/>
            <a:ext cx="4936951" cy="2914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distributed, self-stopping: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node notifies neighbors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only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when its DV changes</a:t>
            </a:r>
            <a:endParaRPr/>
          </a:p>
          <a:p>
            <a:pPr indent="-236537" lvl="1" marL="5222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neighbors then notify their neighbors –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only if necessary</a:t>
            </a:r>
            <a:endParaRPr/>
          </a:p>
          <a:p>
            <a:pPr indent="-236537" lvl="1" marL="5222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notification received, no actions taken!</a:t>
            </a:r>
            <a:endParaRPr/>
          </a:p>
        </p:txBody>
      </p:sp>
      <p:grpSp>
        <p:nvGrpSpPr>
          <p:cNvPr id="2852" name="Google Shape;2852;p37"/>
          <p:cNvGrpSpPr/>
          <p:nvPr/>
        </p:nvGrpSpPr>
        <p:grpSpPr>
          <a:xfrm>
            <a:off x="1058778" y="3133922"/>
            <a:ext cx="4989095" cy="1554474"/>
            <a:chOff x="1252162" y="3169084"/>
            <a:chExt cx="4989095" cy="1554474"/>
          </a:xfrm>
        </p:grpSpPr>
        <p:cxnSp>
          <p:nvCxnSpPr>
            <p:cNvPr id="2853" name="Google Shape;2853;p37"/>
            <p:cNvCxnSpPr/>
            <p:nvPr/>
          </p:nvCxnSpPr>
          <p:spPr>
            <a:xfrm>
              <a:off x="3601463" y="3169084"/>
              <a:ext cx="0" cy="422581"/>
            </a:xfrm>
            <a:prstGeom prst="straightConnector1">
              <a:avLst/>
            </a:prstGeom>
            <a:noFill/>
            <a:ln cap="flat" cmpd="sng" w="19050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854" name="Google Shape;2854;p37"/>
            <p:cNvSpPr txBox="1"/>
            <p:nvPr/>
          </p:nvSpPr>
          <p:spPr>
            <a:xfrm>
              <a:off x="1252162" y="3301630"/>
              <a:ext cx="4989095" cy="14219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recompute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my DV estimates using DV received from neighbor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55" name="Google Shape;2855;p37"/>
          <p:cNvGrpSpPr/>
          <p:nvPr/>
        </p:nvGrpSpPr>
        <p:grpSpPr>
          <a:xfrm>
            <a:off x="1086696" y="4361473"/>
            <a:ext cx="4622104" cy="1671995"/>
            <a:chOff x="1280080" y="4396635"/>
            <a:chExt cx="4622104" cy="1671995"/>
          </a:xfrm>
        </p:grpSpPr>
        <p:cxnSp>
          <p:nvCxnSpPr>
            <p:cNvPr id="2856" name="Google Shape;2856;p37"/>
            <p:cNvCxnSpPr/>
            <p:nvPr/>
          </p:nvCxnSpPr>
          <p:spPr>
            <a:xfrm>
              <a:off x="3578268" y="4396635"/>
              <a:ext cx="0" cy="439673"/>
            </a:xfrm>
            <a:prstGeom prst="straightConnector1">
              <a:avLst/>
            </a:prstGeom>
            <a:noFill/>
            <a:ln cap="flat" cmpd="sng" w="19050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857" name="Google Shape;2857;p37"/>
            <p:cNvSpPr txBox="1"/>
            <p:nvPr/>
          </p:nvSpPr>
          <p:spPr>
            <a:xfrm>
              <a:off x="1280080" y="4535903"/>
              <a:ext cx="4622104" cy="15327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my DV to any destination has changed, </a:t>
              </a:r>
              <a:r>
                <a:rPr b="0" i="1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send my new DV 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my neighbors, else do nothing. </a:t>
              </a:r>
              <a:endParaRPr/>
            </a:p>
          </p:txBody>
        </p:sp>
      </p:grpSp>
      <p:cxnSp>
        <p:nvCxnSpPr>
          <p:cNvPr id="2858" name="Google Shape;2858;p37"/>
          <p:cNvCxnSpPr/>
          <p:nvPr/>
        </p:nvCxnSpPr>
        <p:spPr>
          <a:xfrm rot="10800000">
            <a:off x="3381900" y="5989009"/>
            <a:ext cx="0" cy="258188"/>
          </a:xfrm>
          <a:prstGeom prst="straightConnector1">
            <a:avLst/>
          </a:prstGeom>
          <a:noFill/>
          <a:ln cap="flat" cmpd="sng" w="19050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59" name="Google Shape;2859;p37"/>
          <p:cNvCxnSpPr/>
          <p:nvPr/>
        </p:nvCxnSpPr>
        <p:spPr>
          <a:xfrm>
            <a:off x="3384884" y="2019107"/>
            <a:ext cx="0" cy="338203"/>
          </a:xfrm>
          <a:prstGeom prst="straightConnector1">
            <a:avLst/>
          </a:prstGeom>
          <a:noFill/>
          <a:ln cap="flat" cmpd="sng" w="19050">
            <a:solidFill>
              <a:srgbClr val="0013A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60" name="Google Shape;2860;p37"/>
          <p:cNvCxnSpPr/>
          <p:nvPr/>
        </p:nvCxnSpPr>
        <p:spPr>
          <a:xfrm>
            <a:off x="1070309" y="6236367"/>
            <a:ext cx="2314575" cy="0"/>
          </a:xfrm>
          <a:prstGeom prst="straightConnector1">
            <a:avLst/>
          </a:prstGeom>
          <a:noFill/>
          <a:ln cap="flat" cmpd="sng" w="19050">
            <a:solidFill>
              <a:srgbClr val="0013A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61" name="Google Shape;2861;p37"/>
          <p:cNvCxnSpPr/>
          <p:nvPr/>
        </p:nvCxnSpPr>
        <p:spPr>
          <a:xfrm>
            <a:off x="1084270" y="2018063"/>
            <a:ext cx="2300614" cy="0"/>
          </a:xfrm>
          <a:prstGeom prst="straightConnector1">
            <a:avLst/>
          </a:prstGeom>
          <a:noFill/>
          <a:ln cap="flat" cmpd="sng" w="19050">
            <a:solidFill>
              <a:srgbClr val="0013A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62" name="Google Shape;2862;p37"/>
          <p:cNvCxnSpPr/>
          <p:nvPr/>
        </p:nvCxnSpPr>
        <p:spPr>
          <a:xfrm>
            <a:off x="1071744" y="2006581"/>
            <a:ext cx="0" cy="4233797"/>
          </a:xfrm>
          <a:prstGeom prst="straightConnector1">
            <a:avLst/>
          </a:prstGeom>
          <a:noFill/>
          <a:ln cap="flat" cmpd="sng" w="19050">
            <a:solidFill>
              <a:srgbClr val="0013A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7" name="Shape 2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8" name="Google Shape;2868;p38"/>
          <p:cNvGrpSpPr/>
          <p:nvPr/>
        </p:nvGrpSpPr>
        <p:grpSpPr>
          <a:xfrm>
            <a:off x="2822712" y="1130710"/>
            <a:ext cx="1552644" cy="2620631"/>
            <a:chOff x="3216002" y="1012723"/>
            <a:chExt cx="1552644" cy="2620631"/>
          </a:xfrm>
        </p:grpSpPr>
        <p:sp>
          <p:nvSpPr>
            <p:cNvPr id="2869" name="Google Shape;2869;p38"/>
            <p:cNvSpPr/>
            <p:nvPr/>
          </p:nvSpPr>
          <p:spPr>
            <a:xfrm>
              <a:off x="4316362" y="1042219"/>
              <a:ext cx="452284" cy="2389239"/>
            </a:xfrm>
            <a:custGeom>
              <a:rect b="b" l="l" r="r" t="t"/>
              <a:pathLst>
                <a:path extrusionOk="0" h="2389239" w="452284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70" name="Google Shape;2870;p38"/>
            <p:cNvGrpSpPr/>
            <p:nvPr/>
          </p:nvGrpSpPr>
          <p:grpSpPr>
            <a:xfrm>
              <a:off x="3216002" y="1012723"/>
              <a:ext cx="1130292" cy="2620631"/>
              <a:chOff x="3216002" y="1012723"/>
              <a:chExt cx="1130292" cy="2620631"/>
            </a:xfrm>
          </p:grpSpPr>
          <p:sp>
            <p:nvSpPr>
              <p:cNvPr id="2871" name="Google Shape;2871;p38"/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72" name="Google Shape;2872;p38"/>
              <p:cNvGrpSpPr/>
              <p:nvPr/>
            </p:nvGrpSpPr>
            <p:grpSpPr>
              <a:xfrm>
                <a:off x="3216002" y="1017253"/>
                <a:ext cx="1130292" cy="2616101"/>
                <a:chOff x="9472118" y="702026"/>
                <a:chExt cx="1130292" cy="2616101"/>
              </a:xfrm>
            </p:grpSpPr>
            <p:sp>
              <p:nvSpPr>
                <p:cNvPr id="2873" name="Google Shape;2873;p38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74" name="Google Shape;2874;p38"/>
                <p:cNvSpPr txBox="1"/>
                <p:nvPr/>
              </p:nvSpPr>
              <p:spPr>
                <a:xfrm>
                  <a:off x="9472118" y="702026"/>
                  <a:ext cx="1117197" cy="26161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a: 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(a)=0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8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∞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1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875" name="Google Shape;2875;p38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2876" name="Google Shape;2876;p38"/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2877" name="Google Shape;2877;p38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example</a:t>
            </a:r>
            <a:endParaRPr/>
          </a:p>
        </p:txBody>
      </p:sp>
      <p:cxnSp>
        <p:nvCxnSpPr>
          <p:cNvPr id="2878" name="Google Shape;2878;p38"/>
          <p:cNvCxnSpPr>
            <a:stCxn id="2879" idx="2"/>
            <a:endCxn id="2879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80" name="Google Shape;2880;p38"/>
          <p:cNvCxnSpPr>
            <a:stCxn id="2879" idx="1"/>
            <a:endCxn id="2879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79" name="Google Shape;2879;p38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1" name="Google Shape;2881;p38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82" name="Google Shape;2882;p38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2883" name="Google Shape;2883;p38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884" name="Google Shape;2884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885" name="Google Shape;2885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86" name="Google Shape;2886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87" name="Google Shape;2887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88" name="Google Shape;2888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89" name="Google Shape;2889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90" name="Google Shape;2890;p38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891" name="Google Shape;2891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92" name="Google Shape;2892;p38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893" name="Google Shape;2893;p38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894" name="Google Shape;2894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895" name="Google Shape;2895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96" name="Google Shape;2896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97" name="Google Shape;2897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98" name="Google Shape;2898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99" name="Google Shape;2899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00" name="Google Shape;2900;p38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01" name="Google Shape;2901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02" name="Google Shape;2902;p38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903" name="Google Shape;2903;p38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904" name="Google Shape;2904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05" name="Google Shape;2905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906" name="Google Shape;2906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07" name="Google Shape;2907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908" name="Google Shape;2908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09" name="Google Shape;2909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10" name="Google Shape;2910;p38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2911" name="Google Shape;2911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12" name="Google Shape;2912;p38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913" name="Google Shape;2913;p38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14" name="Google Shape;2914;p38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15" name="Google Shape;2915;p38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16" name="Google Shape;2916;p38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17" name="Google Shape;2917;p38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18" name="Google Shape;2918;p38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19" name="Google Shape;2919;p38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20" name="Google Shape;2920;p38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21" name="Google Shape;2921;p38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22" name="Google Shape;2922;p38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923" name="Google Shape;2923;p38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2924" name="Google Shape;2924;p38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2925" name="Google Shape;2925;p38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t=0</a:t>
              </a:r>
              <a:endParaRPr/>
            </a:p>
          </p:txBody>
        </p:sp>
        <p:grpSp>
          <p:nvGrpSpPr>
            <p:cNvPr id="2926" name="Google Shape;2926;p38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2927" name="Google Shape;2927;p38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928" name="Google Shape;2928;p38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29" name="Google Shape;2929;p38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0" name="Google Shape;2930;p38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1" name="Google Shape;2931;p38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2" name="Google Shape;2932;p38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3" name="Google Shape;2933;p38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4" name="Google Shape;2934;p38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5" name="Google Shape;2935;p38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6" name="Google Shape;2936;p38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7" name="Google Shape;2937;p38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8" name="Google Shape;2938;p38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9" name="Google Shape;2939;p38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940" name="Google Shape;2940;p38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941" name="Google Shape;2941;p38"/>
              <p:cNvCxnSpPr/>
              <p:nvPr/>
            </p:nvCxnSpPr>
            <p:spPr>
              <a:xfrm>
                <a:off x="10372725" y="3548510"/>
                <a:ext cx="0" cy="207515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2942" name="Google Shape;2942;p38"/>
          <p:cNvSpPr txBox="1"/>
          <p:nvPr/>
        </p:nvSpPr>
        <p:spPr>
          <a:xfrm flipH="1">
            <a:off x="427284" y="3275636"/>
            <a:ext cx="2195814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nodes have distance estimates to nearest neighbors (only)</a:t>
            </a:r>
            <a:endParaRPr/>
          </a:p>
        </p:txBody>
      </p:sp>
      <p:grpSp>
        <p:nvGrpSpPr>
          <p:cNvPr id="2943" name="Google Shape;2943;p38"/>
          <p:cNvGrpSpPr/>
          <p:nvPr/>
        </p:nvGrpSpPr>
        <p:grpSpPr>
          <a:xfrm>
            <a:off x="5663694" y="2293717"/>
            <a:ext cx="5624685" cy="2298788"/>
            <a:chOff x="5663694" y="2293717"/>
            <a:chExt cx="5624685" cy="2298788"/>
          </a:xfrm>
        </p:grpSpPr>
        <p:sp>
          <p:nvSpPr>
            <p:cNvPr id="2944" name="Google Shape;2944;p38"/>
            <p:cNvSpPr txBox="1"/>
            <p:nvPr/>
          </p:nvSpPr>
          <p:spPr>
            <a:xfrm>
              <a:off x="9259747" y="3669175"/>
              <a:ext cx="2028632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 few asymmetries:</a:t>
              </a:r>
              <a:endParaRPr/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1800"/>
                <a:buFont typeface="Noto Sans Symbols"/>
                <a:buChar char="▪"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missing link</a:t>
              </a:r>
              <a:endParaRPr/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1800"/>
                <a:buFont typeface="Noto Sans Symbols"/>
                <a:buChar char="▪"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larger cost</a:t>
              </a:r>
              <a:endParaRPr/>
            </a:p>
          </p:txBody>
        </p:sp>
        <p:cxnSp>
          <p:nvCxnSpPr>
            <p:cNvPr id="2945" name="Google Shape;2945;p38"/>
            <p:cNvCxnSpPr/>
            <p:nvPr/>
          </p:nvCxnSpPr>
          <p:spPr>
            <a:xfrm rot="10800000">
              <a:off x="8414795" y="3032568"/>
              <a:ext cx="995423" cy="1111169"/>
            </a:xfrm>
            <a:prstGeom prst="straightConnector1">
              <a:avLst/>
            </a:prstGeom>
            <a:noFill/>
            <a:ln cap="flat" cmpd="sng" w="9525">
              <a:solidFill>
                <a:srgbClr val="0000A8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946" name="Google Shape;2946;p38"/>
            <p:cNvCxnSpPr/>
            <p:nvPr/>
          </p:nvCxnSpPr>
          <p:spPr>
            <a:xfrm rot="10800000">
              <a:off x="5663694" y="2293717"/>
              <a:ext cx="3726112" cy="2091470"/>
            </a:xfrm>
            <a:prstGeom prst="straightConnector1">
              <a:avLst/>
            </a:prstGeom>
            <a:noFill/>
            <a:ln cap="flat" cmpd="sng" w="9525">
              <a:solidFill>
                <a:srgbClr val="0000A8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2947" name="Google Shape;2947;p38"/>
          <p:cNvSpPr/>
          <p:nvPr/>
        </p:nvSpPr>
        <p:spPr>
          <a:xfrm rot="5400000">
            <a:off x="4399933" y="256130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8" name="Google Shape;2948;p38"/>
          <p:cNvSpPr/>
          <p:nvPr/>
        </p:nvSpPr>
        <p:spPr>
          <a:xfrm rot="-5400000">
            <a:off x="4395017" y="347078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9" name="Google Shape;2949;p38"/>
          <p:cNvSpPr/>
          <p:nvPr/>
        </p:nvSpPr>
        <p:spPr>
          <a:xfrm rot="5400000">
            <a:off x="6302474" y="2546557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0" name="Google Shape;2950;p38"/>
          <p:cNvSpPr/>
          <p:nvPr/>
        </p:nvSpPr>
        <p:spPr>
          <a:xfrm rot="-5400000">
            <a:off x="6297558" y="345604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1" name="Google Shape;2951;p38"/>
          <p:cNvSpPr/>
          <p:nvPr/>
        </p:nvSpPr>
        <p:spPr>
          <a:xfrm rot="5400000">
            <a:off x="4370435" y="445893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2" name="Google Shape;2952;p38"/>
          <p:cNvSpPr/>
          <p:nvPr/>
        </p:nvSpPr>
        <p:spPr>
          <a:xfrm rot="-5400000">
            <a:off x="4365519" y="536841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3" name="Google Shape;2953;p38"/>
          <p:cNvSpPr/>
          <p:nvPr/>
        </p:nvSpPr>
        <p:spPr>
          <a:xfrm rot="5400000">
            <a:off x="6312308" y="4454022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4" name="Google Shape;2954;p38"/>
          <p:cNvSpPr/>
          <p:nvPr/>
        </p:nvSpPr>
        <p:spPr>
          <a:xfrm rot="-5400000">
            <a:off x="6307392" y="5363506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5" name="Google Shape;2955;p38"/>
          <p:cNvSpPr/>
          <p:nvPr/>
        </p:nvSpPr>
        <p:spPr>
          <a:xfrm rot="5400000">
            <a:off x="8254181" y="4449110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6" name="Google Shape;2956;p38"/>
          <p:cNvSpPr/>
          <p:nvPr/>
        </p:nvSpPr>
        <p:spPr>
          <a:xfrm rot="-5400000">
            <a:off x="8249265" y="535859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7" name="Google Shape;2957;p38"/>
          <p:cNvSpPr/>
          <p:nvPr/>
        </p:nvSpPr>
        <p:spPr>
          <a:xfrm rot="10800000">
            <a:off x="7582395" y="5829665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8" name="Google Shape;2958;p38"/>
          <p:cNvSpPr/>
          <p:nvPr/>
        </p:nvSpPr>
        <p:spPr>
          <a:xfrm>
            <a:off x="6819704" y="583458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59" name="Google Shape;2959;p38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960" name="Google Shape;2960;p38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961" name="Google Shape;2961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62" name="Google Shape;2962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963" name="Google Shape;2963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64" name="Google Shape;2964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965" name="Google Shape;2965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66" name="Google Shape;2966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67" name="Google Shape;2967;p38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968" name="Google Shape;2968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69" name="Google Shape;2969;p38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970" name="Google Shape;2970;p38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71" name="Google Shape;2971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72" name="Google Shape;2972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973" name="Google Shape;2973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74" name="Google Shape;2974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975" name="Google Shape;2975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76" name="Google Shape;2976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77" name="Google Shape;2977;p38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78" name="Google Shape;2978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79" name="Google Shape;2979;p38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980" name="Google Shape;2980;p38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981" name="Google Shape;2981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82" name="Google Shape;2982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983" name="Google Shape;2983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84" name="Google Shape;2984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985" name="Google Shape;2985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86" name="Google Shape;2986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87" name="Google Shape;2987;p38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988" name="Google Shape;2988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89" name="Google Shape;2989;p38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990" name="Google Shape;2990;p38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2991" name="Google Shape;2991;p38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992" name="Google Shape;2992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93" name="Google Shape;2993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994" name="Google Shape;2994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95" name="Google Shape;2995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996" name="Google Shape;2996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97" name="Google Shape;2997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98" name="Google Shape;2998;p38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999" name="Google Shape;2999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00" name="Google Shape;3000;p38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001" name="Google Shape;3001;p38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002" name="Google Shape;3002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3" name="Google Shape;3003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04" name="Google Shape;3004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5" name="Google Shape;3005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06" name="Google Shape;3006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07" name="Google Shape;3007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08" name="Google Shape;3008;p38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009" name="Google Shape;3009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10" name="Google Shape;3010;p38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011" name="Google Shape;3011;p38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012" name="Google Shape;3012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13" name="Google Shape;3013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14" name="Google Shape;3014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15" name="Google Shape;3015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16" name="Google Shape;3016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17" name="Google Shape;3017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18" name="Google Shape;3018;p38"/>
              <p:cNvGrpSpPr/>
              <p:nvPr/>
            </p:nvGrpSpPr>
            <p:grpSpPr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019" name="Google Shape;3019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20" name="Google Shape;3020;p38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021" name="Google Shape;3021;p38"/>
          <p:cNvSpPr/>
          <p:nvPr/>
        </p:nvSpPr>
        <p:spPr>
          <a:xfrm rot="10800000">
            <a:off x="5660017" y="584303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2" name="Google Shape;3022;p38"/>
          <p:cNvSpPr/>
          <p:nvPr/>
        </p:nvSpPr>
        <p:spPr>
          <a:xfrm>
            <a:off x="4897326" y="584795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3" name="Google Shape;3023;p38"/>
          <p:cNvSpPr/>
          <p:nvPr/>
        </p:nvSpPr>
        <p:spPr>
          <a:xfrm rot="10800000">
            <a:off x="5651998" y="3904611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4" name="Google Shape;3024;p38"/>
          <p:cNvSpPr/>
          <p:nvPr/>
        </p:nvSpPr>
        <p:spPr>
          <a:xfrm>
            <a:off x="4905348" y="3909528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5" name="Google Shape;3025;p38"/>
          <p:cNvSpPr/>
          <p:nvPr/>
        </p:nvSpPr>
        <p:spPr>
          <a:xfrm rot="10800000">
            <a:off x="5660020" y="196618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6" name="Google Shape;3026;p38"/>
          <p:cNvSpPr/>
          <p:nvPr/>
        </p:nvSpPr>
        <p:spPr>
          <a:xfrm>
            <a:off x="4924064" y="198714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7" name="Google Shape;3027;p38"/>
          <p:cNvSpPr/>
          <p:nvPr/>
        </p:nvSpPr>
        <p:spPr>
          <a:xfrm rot="10800000">
            <a:off x="7582399" y="196886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8" name="Google Shape;3028;p38"/>
          <p:cNvSpPr/>
          <p:nvPr/>
        </p:nvSpPr>
        <p:spPr>
          <a:xfrm>
            <a:off x="6819708" y="197377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9" name="Google Shape;3029;p38"/>
          <p:cNvSpPr/>
          <p:nvPr/>
        </p:nvSpPr>
        <p:spPr>
          <a:xfrm rot="10800000">
            <a:off x="7595769" y="390728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0" name="Google Shape;3030;p38"/>
          <p:cNvSpPr/>
          <p:nvPr/>
        </p:nvSpPr>
        <p:spPr>
          <a:xfrm>
            <a:off x="6833078" y="391220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1" name="Google Shape;3031;p38"/>
          <p:cNvSpPr txBox="1"/>
          <p:nvPr/>
        </p:nvSpPr>
        <p:spPr>
          <a:xfrm flipH="1">
            <a:off x="435306" y="4375569"/>
            <a:ext cx="2195814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nodes send their local distance vector to their neighbors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9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8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6" name="Shape 3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7" name="Google Shape;3037;p39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A8"/>
                </a:solidFill>
              </a:rPr>
              <a:t>Distance vector example: iteration</a:t>
            </a:r>
            <a:endParaRPr/>
          </a:p>
        </p:txBody>
      </p:sp>
      <p:sp>
        <p:nvSpPr>
          <p:cNvPr id="3038" name="Google Shape;3038;p39"/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/>
          </a:p>
        </p:txBody>
      </p:sp>
      <p:grpSp>
        <p:nvGrpSpPr>
          <p:cNvPr id="3039" name="Google Shape;3039;p39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3040" name="Google Shape;3040;p39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3041" name="Google Shape;3041;p39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3042" name="Google Shape;3042;p39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043" name="Google Shape;3043;p39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44" name="Google Shape;3044;p39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45" name="Google Shape;3045;p39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46" name="Google Shape;3046;p39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47" name="Google Shape;3047;p39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48" name="Google Shape;3048;p39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49" name="Google Shape;3049;p39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50" name="Google Shape;3050;p39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51" name="Google Shape;3051;p39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52" name="Google Shape;3052;p39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53" name="Google Shape;3053;p39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54" name="Google Shape;3054;p39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055" name="Google Shape;3055;p39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056" name="Google Shape;3056;p39"/>
              <p:cNvCxnSpPr/>
              <p:nvPr/>
            </p:nvCxnSpPr>
            <p:spPr>
              <a:xfrm flipH="1">
                <a:off x="10361752" y="3564494"/>
                <a:ext cx="137579" cy="231764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cxnSp>
        <p:nvCxnSpPr>
          <p:cNvPr id="3057" name="Google Shape;3057;p39"/>
          <p:cNvCxnSpPr>
            <a:stCxn id="3058" idx="2"/>
            <a:endCxn id="3058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59" name="Google Shape;3059;p39"/>
          <p:cNvCxnSpPr>
            <a:stCxn id="3058" idx="1"/>
            <a:endCxn id="3058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58" name="Google Shape;3058;p39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0" name="Google Shape;3060;p39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61" name="Google Shape;3061;p39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3062" name="Google Shape;3062;p39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63" name="Google Shape;3063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64" name="Google Shape;3064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65" name="Google Shape;3065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66" name="Google Shape;3066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67" name="Google Shape;3067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8" name="Google Shape;3068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69" name="Google Shape;3069;p39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0" name="Google Shape;3070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1" name="Google Shape;3071;p39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072" name="Google Shape;3072;p39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073" name="Google Shape;3073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74" name="Google Shape;3074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75" name="Google Shape;3075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76" name="Google Shape;3076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77" name="Google Shape;3077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8" name="Google Shape;3078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79" name="Google Shape;3079;p39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080" name="Google Shape;3080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1" name="Google Shape;3081;p39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082" name="Google Shape;3082;p39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083" name="Google Shape;3083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84" name="Google Shape;3084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85" name="Google Shape;3085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86" name="Google Shape;3086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87" name="Google Shape;3087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8" name="Google Shape;3088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89" name="Google Shape;3089;p39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3090" name="Google Shape;3090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1" name="Google Shape;3091;p39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092" name="Google Shape;3092;p39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093" name="Google Shape;3093;p39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094" name="Google Shape;3094;p39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095" name="Google Shape;3095;p39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096" name="Google Shape;3096;p39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097" name="Google Shape;3097;p39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098" name="Google Shape;3098;p39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099" name="Google Shape;3099;p39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00" name="Google Shape;3100;p39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01" name="Google Shape;3101;p39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102" name="Google Shape;3102;p39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03" name="Google Shape;3103;p39"/>
          <p:cNvSpPr/>
          <p:nvPr/>
        </p:nvSpPr>
        <p:spPr>
          <a:xfrm flipH="1" rot="5400000">
            <a:off x="4399933" y="256130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4" name="Google Shape;3104;p39"/>
          <p:cNvSpPr/>
          <p:nvPr/>
        </p:nvSpPr>
        <p:spPr>
          <a:xfrm flipH="1" rot="-5400000">
            <a:off x="4395017" y="347078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5" name="Google Shape;3105;p39"/>
          <p:cNvSpPr/>
          <p:nvPr/>
        </p:nvSpPr>
        <p:spPr>
          <a:xfrm flipH="1" rot="5400000">
            <a:off x="6302474" y="2546557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6" name="Google Shape;3106;p39"/>
          <p:cNvSpPr/>
          <p:nvPr/>
        </p:nvSpPr>
        <p:spPr>
          <a:xfrm flipH="1" rot="-5400000">
            <a:off x="6297558" y="345604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7" name="Google Shape;3107;p39"/>
          <p:cNvSpPr/>
          <p:nvPr/>
        </p:nvSpPr>
        <p:spPr>
          <a:xfrm flipH="1" rot="5400000">
            <a:off x="4370435" y="445893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8" name="Google Shape;3108;p39"/>
          <p:cNvSpPr/>
          <p:nvPr/>
        </p:nvSpPr>
        <p:spPr>
          <a:xfrm flipH="1" rot="-5400000">
            <a:off x="4365519" y="536841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9" name="Google Shape;3109;p39"/>
          <p:cNvSpPr/>
          <p:nvPr/>
        </p:nvSpPr>
        <p:spPr>
          <a:xfrm flipH="1" rot="5400000">
            <a:off x="6312308" y="4454022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0" name="Google Shape;3110;p39"/>
          <p:cNvSpPr/>
          <p:nvPr/>
        </p:nvSpPr>
        <p:spPr>
          <a:xfrm flipH="1" rot="-5400000">
            <a:off x="6307392" y="5363506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1" name="Google Shape;3111;p39"/>
          <p:cNvSpPr/>
          <p:nvPr/>
        </p:nvSpPr>
        <p:spPr>
          <a:xfrm flipH="1" rot="5400000">
            <a:off x="8254181" y="4449110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2" name="Google Shape;3112;p39"/>
          <p:cNvSpPr/>
          <p:nvPr/>
        </p:nvSpPr>
        <p:spPr>
          <a:xfrm flipH="1" rot="-5400000">
            <a:off x="8249265" y="535859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3" name="Google Shape;3113;p39"/>
          <p:cNvSpPr/>
          <p:nvPr/>
        </p:nvSpPr>
        <p:spPr>
          <a:xfrm flipH="1" rot="10800000">
            <a:off x="7582395" y="5829665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4" name="Google Shape;3114;p39"/>
          <p:cNvSpPr/>
          <p:nvPr/>
        </p:nvSpPr>
        <p:spPr>
          <a:xfrm flipH="1">
            <a:off x="6819704" y="583458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15" name="Google Shape;3115;p39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116" name="Google Shape;3116;p39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117" name="Google Shape;3117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18" name="Google Shape;3118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19" name="Google Shape;3119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20" name="Google Shape;3120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21" name="Google Shape;3121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2" name="Google Shape;3122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23" name="Google Shape;3123;p39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124" name="Google Shape;3124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5" name="Google Shape;3125;p39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126" name="Google Shape;3126;p39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127" name="Google Shape;3127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28" name="Google Shape;3128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29" name="Google Shape;3129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30" name="Google Shape;3130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31" name="Google Shape;3131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2" name="Google Shape;3132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33" name="Google Shape;3133;p39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134" name="Google Shape;3134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5" name="Google Shape;3135;p39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136" name="Google Shape;3136;p39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37" name="Google Shape;3137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38" name="Google Shape;3138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39" name="Google Shape;3139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40" name="Google Shape;3140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41" name="Google Shape;3141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2" name="Google Shape;3142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43" name="Google Shape;3143;p39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144" name="Google Shape;3144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5" name="Google Shape;3145;p39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146" name="Google Shape;3146;p39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47" name="Google Shape;3147;p39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148" name="Google Shape;3148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49" name="Google Shape;3149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50" name="Google Shape;3150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1" name="Google Shape;3151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52" name="Google Shape;3152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3" name="Google Shape;3153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54" name="Google Shape;3154;p39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155" name="Google Shape;3155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6" name="Google Shape;3156;p39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157" name="Google Shape;3157;p39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158" name="Google Shape;3158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59" name="Google Shape;3159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60" name="Google Shape;3160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61" name="Google Shape;3161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62" name="Google Shape;3162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3" name="Google Shape;3163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64" name="Google Shape;3164;p39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165" name="Google Shape;3165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6" name="Google Shape;3166;p39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167" name="Google Shape;3167;p39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68" name="Google Shape;3168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69" name="Google Shape;3169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70" name="Google Shape;3170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71" name="Google Shape;3171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72" name="Google Shape;3172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73" name="Google Shape;3173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74" name="Google Shape;3174;p39"/>
              <p:cNvGrpSpPr/>
              <p:nvPr/>
            </p:nvGrpSpPr>
            <p:grpSpPr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175" name="Google Shape;3175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76" name="Google Shape;3176;p39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177" name="Google Shape;3177;p39"/>
          <p:cNvSpPr/>
          <p:nvPr/>
        </p:nvSpPr>
        <p:spPr>
          <a:xfrm flipH="1" rot="10800000">
            <a:off x="5660017" y="584303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8" name="Google Shape;3178;p39"/>
          <p:cNvSpPr/>
          <p:nvPr/>
        </p:nvSpPr>
        <p:spPr>
          <a:xfrm flipH="1">
            <a:off x="4897326" y="584795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9" name="Google Shape;3179;p39"/>
          <p:cNvSpPr/>
          <p:nvPr/>
        </p:nvSpPr>
        <p:spPr>
          <a:xfrm flipH="1" rot="10800000">
            <a:off x="5651998" y="3904611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0" name="Google Shape;3180;p39"/>
          <p:cNvSpPr/>
          <p:nvPr/>
        </p:nvSpPr>
        <p:spPr>
          <a:xfrm flipH="1">
            <a:off x="4905348" y="3909528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1" name="Google Shape;3181;p39"/>
          <p:cNvSpPr/>
          <p:nvPr/>
        </p:nvSpPr>
        <p:spPr>
          <a:xfrm>
            <a:off x="5660020" y="196618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2" name="Google Shape;3182;p39"/>
          <p:cNvSpPr/>
          <p:nvPr/>
        </p:nvSpPr>
        <p:spPr>
          <a:xfrm rot="10800000">
            <a:off x="4924064" y="198714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3" name="Google Shape;3183;p39"/>
          <p:cNvSpPr/>
          <p:nvPr/>
        </p:nvSpPr>
        <p:spPr>
          <a:xfrm flipH="1" rot="10800000">
            <a:off x="7582399" y="196886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4" name="Google Shape;3184;p39"/>
          <p:cNvSpPr/>
          <p:nvPr/>
        </p:nvSpPr>
        <p:spPr>
          <a:xfrm rot="10800000">
            <a:off x="6819708" y="197377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5" name="Google Shape;3185;p39"/>
          <p:cNvSpPr/>
          <p:nvPr/>
        </p:nvSpPr>
        <p:spPr>
          <a:xfrm flipH="1" rot="10800000">
            <a:off x="7595769" y="390728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6" name="Google Shape;3186;p39"/>
          <p:cNvSpPr/>
          <p:nvPr/>
        </p:nvSpPr>
        <p:spPr>
          <a:xfrm flipH="1">
            <a:off x="6833078" y="391220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1" name="Shape 3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2" name="Google Shape;3192;p40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A8"/>
                </a:solidFill>
              </a:rPr>
              <a:t>Distance vector example: iteration</a:t>
            </a:r>
            <a:endParaRPr/>
          </a:p>
        </p:txBody>
      </p:sp>
      <p:cxnSp>
        <p:nvCxnSpPr>
          <p:cNvPr id="3193" name="Google Shape;3193;p40"/>
          <p:cNvCxnSpPr>
            <a:stCxn id="3194" idx="2"/>
            <a:endCxn id="3194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95" name="Google Shape;3195;p40"/>
          <p:cNvCxnSpPr>
            <a:stCxn id="3194" idx="1"/>
            <a:endCxn id="3194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94" name="Google Shape;3194;p40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6" name="Google Shape;3196;p40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97" name="Google Shape;3197;p40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3198" name="Google Shape;3198;p40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199" name="Google Shape;3199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00" name="Google Shape;3200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201" name="Google Shape;3201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02" name="Google Shape;3202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203" name="Google Shape;3203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4" name="Google Shape;3204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05" name="Google Shape;3205;p40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206" name="Google Shape;3206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7" name="Google Shape;3207;p40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208" name="Google Shape;3208;p40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09" name="Google Shape;3209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10" name="Google Shape;3210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211" name="Google Shape;3211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12" name="Google Shape;3212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213" name="Google Shape;3213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14" name="Google Shape;3214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15" name="Google Shape;3215;p40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16" name="Google Shape;3216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17" name="Google Shape;3217;p40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218" name="Google Shape;3218;p40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219" name="Google Shape;3219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0" name="Google Shape;3220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221" name="Google Shape;3221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22" name="Google Shape;3222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223" name="Google Shape;3223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4" name="Google Shape;3224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25" name="Google Shape;3225;p40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3226" name="Google Shape;3226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7" name="Google Shape;3227;p40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228" name="Google Shape;3228;p40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229" name="Google Shape;3229;p40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230" name="Google Shape;3230;p40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231" name="Google Shape;3231;p40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232" name="Google Shape;3232;p40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233" name="Google Shape;3233;p40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234" name="Google Shape;3234;p40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235" name="Google Shape;3235;p40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236" name="Google Shape;3236;p40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237" name="Google Shape;3237;p40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238" name="Google Shape;3238;p40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3239" name="Google Shape;3239;p40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240" name="Google Shape;3240;p40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241" name="Google Shape;3241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42" name="Google Shape;3242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243" name="Google Shape;3243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44" name="Google Shape;3244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245" name="Google Shape;3245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46" name="Google Shape;3246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47" name="Google Shape;3247;p40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248" name="Google Shape;3248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49" name="Google Shape;3249;p40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250" name="Google Shape;3250;p40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51" name="Google Shape;3251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52" name="Google Shape;3252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253" name="Google Shape;3253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54" name="Google Shape;3254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255" name="Google Shape;3255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56" name="Google Shape;3256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57" name="Google Shape;3257;p40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58" name="Google Shape;3258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59" name="Google Shape;3259;p40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260" name="Google Shape;3260;p40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261" name="Google Shape;3261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62" name="Google Shape;3262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263" name="Google Shape;3263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64" name="Google Shape;3264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265" name="Google Shape;3265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66" name="Google Shape;3266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67" name="Google Shape;3267;p40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268" name="Google Shape;3268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69" name="Google Shape;3269;p40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270" name="Google Shape;3270;p40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271" name="Google Shape;3271;p40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272" name="Google Shape;3272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73" name="Google Shape;3273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274" name="Google Shape;3274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5" name="Google Shape;3275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276" name="Google Shape;3276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7" name="Google Shape;3277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78" name="Google Shape;3278;p40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279" name="Google Shape;3279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0" name="Google Shape;3280;p40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281" name="Google Shape;3281;p40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82" name="Google Shape;3282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83" name="Google Shape;3283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284" name="Google Shape;3284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85" name="Google Shape;3285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286" name="Google Shape;3286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7" name="Google Shape;3287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88" name="Google Shape;3288;p40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89" name="Google Shape;3289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90" name="Google Shape;3290;p40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291" name="Google Shape;3291;p40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292" name="Google Shape;3292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93" name="Google Shape;3293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294" name="Google Shape;3294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95" name="Google Shape;3295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296" name="Google Shape;3296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97" name="Google Shape;3297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98" name="Google Shape;3298;p40"/>
              <p:cNvGrpSpPr/>
              <p:nvPr/>
            </p:nvGrpSpPr>
            <p:grpSpPr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299" name="Google Shape;3299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00" name="Google Shape;3300;p40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301" name="Google Shape;3301;p40"/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/>
          </a:p>
        </p:txBody>
      </p:sp>
      <p:grpSp>
        <p:nvGrpSpPr>
          <p:cNvPr id="3302" name="Google Shape;3302;p40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3303" name="Google Shape;3303;p40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3304" name="Google Shape;3304;p40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3305" name="Google Shape;3305;p40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306" name="Google Shape;3306;p40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07" name="Google Shape;3307;p40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08" name="Google Shape;3308;p40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09" name="Google Shape;3309;p40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10" name="Google Shape;3310;p40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11" name="Google Shape;3311;p40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12" name="Google Shape;3312;p40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13" name="Google Shape;3313;p40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14" name="Google Shape;3314;p40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15" name="Google Shape;3315;p40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16" name="Google Shape;3316;p40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17" name="Google Shape;3317;p40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318" name="Google Shape;3318;p40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19" name="Google Shape;3319;p40"/>
          <p:cNvGrpSpPr/>
          <p:nvPr/>
        </p:nvGrpSpPr>
        <p:grpSpPr>
          <a:xfrm>
            <a:off x="3972233" y="1627242"/>
            <a:ext cx="5089626" cy="4955455"/>
            <a:chOff x="3982064" y="1612491"/>
            <a:chExt cx="5089626" cy="4955455"/>
          </a:xfrm>
        </p:grpSpPr>
        <p:grpSp>
          <p:nvGrpSpPr>
            <p:cNvPr id="3320" name="Google Shape;3320;p40"/>
            <p:cNvGrpSpPr/>
            <p:nvPr/>
          </p:nvGrpSpPr>
          <p:grpSpPr>
            <a:xfrm>
              <a:off x="4011560" y="1641985"/>
              <a:ext cx="1196054" cy="1022555"/>
              <a:chOff x="9655277" y="2349909"/>
              <a:chExt cx="1196054" cy="1022555"/>
            </a:xfrm>
          </p:grpSpPr>
          <p:sp>
            <p:nvSpPr>
              <p:cNvPr id="3321" name="Google Shape;3321;p40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2" name="Google Shape;3322;p40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323" name="Google Shape;3323;p40"/>
            <p:cNvGrpSpPr/>
            <p:nvPr/>
          </p:nvGrpSpPr>
          <p:grpSpPr>
            <a:xfrm>
              <a:off x="5943598" y="1627238"/>
              <a:ext cx="1196054" cy="1022555"/>
              <a:chOff x="9655277" y="2349909"/>
              <a:chExt cx="1196054" cy="1022555"/>
            </a:xfrm>
          </p:grpSpPr>
          <p:sp>
            <p:nvSpPr>
              <p:cNvPr id="3324" name="Google Shape;3324;p40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5" name="Google Shape;3325;p40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326" name="Google Shape;3326;p40"/>
            <p:cNvGrpSpPr/>
            <p:nvPr/>
          </p:nvGrpSpPr>
          <p:grpSpPr>
            <a:xfrm>
              <a:off x="7875636" y="1612491"/>
              <a:ext cx="1196054" cy="1022555"/>
              <a:chOff x="9655277" y="2349909"/>
              <a:chExt cx="1196054" cy="1022555"/>
            </a:xfrm>
          </p:grpSpPr>
          <p:sp>
            <p:nvSpPr>
              <p:cNvPr id="3327" name="Google Shape;3327;p40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8" name="Google Shape;3328;p40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329" name="Google Shape;3329;p40"/>
            <p:cNvGrpSpPr/>
            <p:nvPr/>
          </p:nvGrpSpPr>
          <p:grpSpPr>
            <a:xfrm>
              <a:off x="3996812" y="3593688"/>
              <a:ext cx="1196054" cy="1022555"/>
              <a:chOff x="9655277" y="2349909"/>
              <a:chExt cx="1196054" cy="1022555"/>
            </a:xfrm>
          </p:grpSpPr>
          <p:sp>
            <p:nvSpPr>
              <p:cNvPr id="3330" name="Google Shape;3330;p40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1" name="Google Shape;3331;p40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332" name="Google Shape;3332;p40"/>
            <p:cNvGrpSpPr/>
            <p:nvPr/>
          </p:nvGrpSpPr>
          <p:grpSpPr>
            <a:xfrm>
              <a:off x="5928850" y="3578941"/>
              <a:ext cx="1196054" cy="1022555"/>
              <a:chOff x="9655277" y="2349909"/>
              <a:chExt cx="1196054" cy="1022555"/>
            </a:xfrm>
          </p:grpSpPr>
          <p:sp>
            <p:nvSpPr>
              <p:cNvPr id="3333" name="Google Shape;3333;p40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4" name="Google Shape;3334;p40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335" name="Google Shape;3335;p40"/>
            <p:cNvGrpSpPr/>
            <p:nvPr/>
          </p:nvGrpSpPr>
          <p:grpSpPr>
            <a:xfrm>
              <a:off x="7860888" y="3564194"/>
              <a:ext cx="1196054" cy="1022555"/>
              <a:chOff x="9655277" y="2349909"/>
              <a:chExt cx="1196054" cy="1022555"/>
            </a:xfrm>
          </p:grpSpPr>
          <p:sp>
            <p:nvSpPr>
              <p:cNvPr id="3336" name="Google Shape;3336;p40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7" name="Google Shape;3337;p40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338" name="Google Shape;3338;p40"/>
            <p:cNvGrpSpPr/>
            <p:nvPr/>
          </p:nvGrpSpPr>
          <p:grpSpPr>
            <a:xfrm>
              <a:off x="3982064" y="5545391"/>
              <a:ext cx="1196054" cy="1022555"/>
              <a:chOff x="9655277" y="2349909"/>
              <a:chExt cx="1196054" cy="1022555"/>
            </a:xfrm>
          </p:grpSpPr>
          <p:sp>
            <p:nvSpPr>
              <p:cNvPr id="3339" name="Google Shape;3339;p40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0" name="Google Shape;3340;p40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341" name="Google Shape;3341;p40"/>
            <p:cNvGrpSpPr/>
            <p:nvPr/>
          </p:nvGrpSpPr>
          <p:grpSpPr>
            <a:xfrm>
              <a:off x="5914102" y="5530644"/>
              <a:ext cx="1196054" cy="1022555"/>
              <a:chOff x="9655277" y="2349909"/>
              <a:chExt cx="1196054" cy="1022555"/>
            </a:xfrm>
          </p:grpSpPr>
          <p:sp>
            <p:nvSpPr>
              <p:cNvPr id="3342" name="Google Shape;3342;p40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3" name="Google Shape;3343;p40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344" name="Google Shape;3344;p40"/>
            <p:cNvGrpSpPr/>
            <p:nvPr/>
          </p:nvGrpSpPr>
          <p:grpSpPr>
            <a:xfrm>
              <a:off x="7846140" y="5515897"/>
              <a:ext cx="1196054" cy="1022555"/>
              <a:chOff x="9655277" y="2349909"/>
              <a:chExt cx="1196054" cy="1022555"/>
            </a:xfrm>
          </p:grpSpPr>
          <p:sp>
            <p:nvSpPr>
              <p:cNvPr id="3345" name="Google Shape;3345;p40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6" name="Google Shape;3346;p40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</p:grpSp>
      <p:cxnSp>
        <p:nvCxnSpPr>
          <p:cNvPr id="3347" name="Google Shape;3347;p40"/>
          <p:cNvCxnSpPr/>
          <p:nvPr/>
        </p:nvCxnSpPr>
        <p:spPr>
          <a:xfrm flipH="1">
            <a:off x="901961" y="1975104"/>
            <a:ext cx="151428" cy="257429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2" name="Shape 3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3" name="Google Shape;3353;p41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</a:t>
            </a:r>
            <a:r>
              <a:rPr lang="en-US">
                <a:solidFill>
                  <a:srgbClr val="0000A8"/>
                </a:solidFill>
              </a:rPr>
              <a:t>iteration</a:t>
            </a:r>
            <a:endParaRPr/>
          </a:p>
        </p:txBody>
      </p:sp>
      <p:cxnSp>
        <p:nvCxnSpPr>
          <p:cNvPr id="3354" name="Google Shape;3354;p41"/>
          <p:cNvCxnSpPr>
            <a:stCxn id="3355" idx="2"/>
            <a:endCxn id="3355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56" name="Google Shape;3356;p41"/>
          <p:cNvCxnSpPr>
            <a:stCxn id="3355" idx="1"/>
            <a:endCxn id="3355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55" name="Google Shape;3355;p41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7" name="Google Shape;3357;p41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58" name="Google Shape;3358;p41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3359" name="Google Shape;3359;p41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0" name="Google Shape;3360;p41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61" name="Google Shape;3361;p41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62" name="Google Shape;3362;p41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63" name="Google Shape;3363;p41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64" name="Google Shape;3364;p41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65" name="Google Shape;3365;p41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66" name="Google Shape;3366;p41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67" name="Google Shape;3367;p41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68" name="Google Shape;3368;p41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369" name="Google Shape;3369;p41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370" name="Google Shape;3370;p41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71" name="Google Shape;3371;p41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72" name="Google Shape;3372;p41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73" name="Google Shape;3373;p41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74" name="Google Shape;3374;p41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75" name="Google Shape;3375;p41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76" name="Google Shape;3376;p41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377" name="Google Shape;3377;p41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78" name="Google Shape;3378;p41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379" name="Google Shape;3379;p41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380" name="Google Shape;3380;p41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81" name="Google Shape;3381;p41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82" name="Google Shape;3382;p41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3" name="Google Shape;3383;p41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84" name="Google Shape;3384;p41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85" name="Google Shape;3385;p41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86" name="Google Shape;3386;p41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3387" name="Google Shape;3387;p41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88" name="Google Shape;3388;p41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389" name="Google Shape;3389;p41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90" name="Google Shape;3390;p41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91" name="Google Shape;3391;p41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92" name="Google Shape;3392;p41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93" name="Google Shape;3393;p41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94" name="Google Shape;3394;p41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95" name="Google Shape;3395;p41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96" name="Google Shape;3396;p41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97" name="Google Shape;3397;p41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98" name="Google Shape;3398;p41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399" name="Google Shape;3399;p41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00" name="Google Shape;3400;p41"/>
          <p:cNvSpPr/>
          <p:nvPr/>
        </p:nvSpPr>
        <p:spPr>
          <a:xfrm rot="5400000">
            <a:off x="4399933" y="256130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1" name="Google Shape;3401;p41"/>
          <p:cNvSpPr/>
          <p:nvPr/>
        </p:nvSpPr>
        <p:spPr>
          <a:xfrm rot="-5400000">
            <a:off x="4395017" y="347078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2" name="Google Shape;3402;p41"/>
          <p:cNvSpPr/>
          <p:nvPr/>
        </p:nvSpPr>
        <p:spPr>
          <a:xfrm rot="5400000">
            <a:off x="6302474" y="2546557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3" name="Google Shape;3403;p41"/>
          <p:cNvSpPr/>
          <p:nvPr/>
        </p:nvSpPr>
        <p:spPr>
          <a:xfrm rot="-5400000">
            <a:off x="6297558" y="345604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4" name="Google Shape;3404;p41"/>
          <p:cNvSpPr/>
          <p:nvPr/>
        </p:nvSpPr>
        <p:spPr>
          <a:xfrm rot="5400000">
            <a:off x="4370435" y="445893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5" name="Google Shape;3405;p41"/>
          <p:cNvSpPr/>
          <p:nvPr/>
        </p:nvSpPr>
        <p:spPr>
          <a:xfrm rot="-5400000">
            <a:off x="4365519" y="536841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6" name="Google Shape;3406;p41"/>
          <p:cNvSpPr/>
          <p:nvPr/>
        </p:nvSpPr>
        <p:spPr>
          <a:xfrm rot="5400000">
            <a:off x="6312308" y="4454022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7" name="Google Shape;3407;p41"/>
          <p:cNvSpPr/>
          <p:nvPr/>
        </p:nvSpPr>
        <p:spPr>
          <a:xfrm rot="-5400000">
            <a:off x="6307392" y="5363506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8" name="Google Shape;3408;p41"/>
          <p:cNvSpPr/>
          <p:nvPr/>
        </p:nvSpPr>
        <p:spPr>
          <a:xfrm rot="5400000">
            <a:off x="8254181" y="4449110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9" name="Google Shape;3409;p41"/>
          <p:cNvSpPr/>
          <p:nvPr/>
        </p:nvSpPr>
        <p:spPr>
          <a:xfrm rot="-5400000">
            <a:off x="8249265" y="535859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0" name="Google Shape;3410;p41"/>
          <p:cNvSpPr/>
          <p:nvPr/>
        </p:nvSpPr>
        <p:spPr>
          <a:xfrm rot="10800000">
            <a:off x="7582395" y="5829665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1" name="Google Shape;3411;p41"/>
          <p:cNvSpPr/>
          <p:nvPr/>
        </p:nvSpPr>
        <p:spPr>
          <a:xfrm>
            <a:off x="6819704" y="583458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12" name="Google Shape;3412;p41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413" name="Google Shape;3413;p41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414" name="Google Shape;3414;p41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15" name="Google Shape;3415;p41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416" name="Google Shape;3416;p41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17" name="Google Shape;3417;p41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418" name="Google Shape;3418;p41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19" name="Google Shape;3419;p41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20" name="Google Shape;3420;p41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421" name="Google Shape;3421;p41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22" name="Google Shape;3422;p41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423" name="Google Shape;3423;p41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424" name="Google Shape;3424;p41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25" name="Google Shape;3425;p41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426" name="Google Shape;3426;p41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27" name="Google Shape;3427;p41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428" name="Google Shape;3428;p41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29" name="Google Shape;3429;p41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30" name="Google Shape;3430;p41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431" name="Google Shape;3431;p41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32" name="Google Shape;3432;p41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433" name="Google Shape;3433;p41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434" name="Google Shape;3434;p41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35" name="Google Shape;3435;p41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436" name="Google Shape;3436;p41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37" name="Google Shape;3437;p41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438" name="Google Shape;3438;p41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39" name="Google Shape;3439;p41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40" name="Google Shape;3440;p41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441" name="Google Shape;3441;p41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42" name="Google Shape;3442;p41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443" name="Google Shape;3443;p41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444" name="Google Shape;3444;p41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445" name="Google Shape;3445;p41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46" name="Google Shape;3446;p41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447" name="Google Shape;3447;p41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8" name="Google Shape;3448;p41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449" name="Google Shape;3449;p41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0" name="Google Shape;3450;p41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51" name="Google Shape;3451;p41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452" name="Google Shape;3452;p41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3" name="Google Shape;3453;p41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454" name="Google Shape;3454;p41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455" name="Google Shape;3455;p41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56" name="Google Shape;3456;p41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457" name="Google Shape;3457;p41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58" name="Google Shape;3458;p41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459" name="Google Shape;3459;p41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60" name="Google Shape;3460;p41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61" name="Google Shape;3461;p41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462" name="Google Shape;3462;p41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63" name="Google Shape;3463;p41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464" name="Google Shape;3464;p41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465" name="Google Shape;3465;p41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66" name="Google Shape;3466;p41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467" name="Google Shape;3467;p41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68" name="Google Shape;3468;p41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469" name="Google Shape;3469;p41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0" name="Google Shape;3470;p41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71" name="Google Shape;3471;p41"/>
              <p:cNvGrpSpPr/>
              <p:nvPr/>
            </p:nvGrpSpPr>
            <p:grpSpPr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472" name="Google Shape;3472;p41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3" name="Google Shape;3473;p41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474" name="Google Shape;3474;p41"/>
          <p:cNvSpPr/>
          <p:nvPr/>
        </p:nvSpPr>
        <p:spPr>
          <a:xfrm rot="10800000">
            <a:off x="5660017" y="584303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5" name="Google Shape;3475;p41"/>
          <p:cNvSpPr/>
          <p:nvPr/>
        </p:nvSpPr>
        <p:spPr>
          <a:xfrm>
            <a:off x="4897326" y="584795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6" name="Google Shape;3476;p41"/>
          <p:cNvSpPr/>
          <p:nvPr/>
        </p:nvSpPr>
        <p:spPr>
          <a:xfrm rot="10800000">
            <a:off x="5651998" y="3904611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7" name="Google Shape;3477;p41"/>
          <p:cNvSpPr/>
          <p:nvPr/>
        </p:nvSpPr>
        <p:spPr>
          <a:xfrm>
            <a:off x="4905348" y="3909528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8" name="Google Shape;3478;p41"/>
          <p:cNvSpPr/>
          <p:nvPr/>
        </p:nvSpPr>
        <p:spPr>
          <a:xfrm rot="10800000">
            <a:off x="5660020" y="196618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9" name="Google Shape;3479;p41"/>
          <p:cNvSpPr/>
          <p:nvPr/>
        </p:nvSpPr>
        <p:spPr>
          <a:xfrm>
            <a:off x="4924064" y="198714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0" name="Google Shape;3480;p41"/>
          <p:cNvSpPr/>
          <p:nvPr/>
        </p:nvSpPr>
        <p:spPr>
          <a:xfrm rot="10800000">
            <a:off x="7582399" y="196886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1" name="Google Shape;3481;p41"/>
          <p:cNvSpPr/>
          <p:nvPr/>
        </p:nvSpPr>
        <p:spPr>
          <a:xfrm>
            <a:off x="6819708" y="197377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2" name="Google Shape;3482;p41"/>
          <p:cNvSpPr/>
          <p:nvPr/>
        </p:nvSpPr>
        <p:spPr>
          <a:xfrm rot="10800000">
            <a:off x="7595769" y="390728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3" name="Google Shape;3483;p41"/>
          <p:cNvSpPr/>
          <p:nvPr/>
        </p:nvSpPr>
        <p:spPr>
          <a:xfrm>
            <a:off x="6833078" y="391220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4" name="Google Shape;3484;p41"/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/>
          </a:p>
        </p:txBody>
      </p:sp>
      <p:grpSp>
        <p:nvGrpSpPr>
          <p:cNvPr id="3485" name="Google Shape;3485;p41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3486" name="Google Shape;3486;p41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3487" name="Google Shape;3487;p41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3488" name="Google Shape;3488;p41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489" name="Google Shape;3489;p41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0" name="Google Shape;3490;p41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1" name="Google Shape;3491;p41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2" name="Google Shape;3492;p41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3" name="Google Shape;3493;p41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4" name="Google Shape;3494;p41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5" name="Google Shape;3495;p41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6" name="Google Shape;3496;p41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7" name="Google Shape;3497;p41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8" name="Google Shape;3498;p41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9" name="Google Shape;3499;p41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00" name="Google Shape;3500;p41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501" name="Google Shape;3501;p41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3502" name="Google Shape;3502;p41"/>
          <p:cNvCxnSpPr/>
          <p:nvPr/>
        </p:nvCxnSpPr>
        <p:spPr>
          <a:xfrm flipH="1">
            <a:off x="908583" y="1975104"/>
            <a:ext cx="148463" cy="246136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7" name="Shape 3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8" name="Google Shape;3508;p42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A8"/>
                </a:solidFill>
              </a:rPr>
              <a:t>Distance vector example: iteration</a:t>
            </a:r>
            <a:endParaRPr/>
          </a:p>
        </p:txBody>
      </p:sp>
      <p:cxnSp>
        <p:nvCxnSpPr>
          <p:cNvPr id="3509" name="Google Shape;3509;p42"/>
          <p:cNvCxnSpPr>
            <a:stCxn id="3510" idx="2"/>
            <a:endCxn id="3510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11" name="Google Shape;3511;p42"/>
          <p:cNvCxnSpPr>
            <a:stCxn id="3510" idx="1"/>
            <a:endCxn id="3510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10" name="Google Shape;3510;p42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2" name="Google Shape;3512;p42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13" name="Google Shape;3513;p42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3514" name="Google Shape;3514;p42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515" name="Google Shape;3515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516" name="Google Shape;3516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517" name="Google Shape;3517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8" name="Google Shape;3518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19" name="Google Shape;3519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20" name="Google Shape;3520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21" name="Google Shape;3521;p42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522" name="Google Shape;3522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23" name="Google Shape;3523;p42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524" name="Google Shape;3524;p42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525" name="Google Shape;3525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526" name="Google Shape;3526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527" name="Google Shape;3527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28" name="Google Shape;3528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29" name="Google Shape;3529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30" name="Google Shape;3530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31" name="Google Shape;3531;p42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532" name="Google Shape;3532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33" name="Google Shape;3533;p42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534" name="Google Shape;3534;p42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535" name="Google Shape;3535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536" name="Google Shape;3536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537" name="Google Shape;3537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38" name="Google Shape;3538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39" name="Google Shape;3539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40" name="Google Shape;3540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41" name="Google Shape;3541;p42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3542" name="Google Shape;3542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43" name="Google Shape;3543;p42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544" name="Google Shape;3544;p42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545" name="Google Shape;3545;p42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546" name="Google Shape;3546;p42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547" name="Google Shape;3547;p42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548" name="Google Shape;3548;p42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549" name="Google Shape;3549;p42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550" name="Google Shape;3550;p42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551" name="Google Shape;3551;p42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552" name="Google Shape;3552;p42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553" name="Google Shape;3553;p42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554" name="Google Shape;3554;p42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555" name="Google Shape;3555;p42"/>
          <p:cNvSpPr/>
          <p:nvPr/>
        </p:nvSpPr>
        <p:spPr>
          <a:xfrm flipH="1" rot="5400000">
            <a:off x="4399933" y="256130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6" name="Google Shape;3556;p42"/>
          <p:cNvSpPr/>
          <p:nvPr/>
        </p:nvSpPr>
        <p:spPr>
          <a:xfrm flipH="1" rot="-5400000">
            <a:off x="4395017" y="347078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7" name="Google Shape;3557;p42"/>
          <p:cNvSpPr/>
          <p:nvPr/>
        </p:nvSpPr>
        <p:spPr>
          <a:xfrm flipH="1" rot="5400000">
            <a:off x="6302474" y="2546557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8" name="Google Shape;3558;p42"/>
          <p:cNvSpPr/>
          <p:nvPr/>
        </p:nvSpPr>
        <p:spPr>
          <a:xfrm flipH="1" rot="-5400000">
            <a:off x="6297558" y="345604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9" name="Google Shape;3559;p42"/>
          <p:cNvSpPr/>
          <p:nvPr/>
        </p:nvSpPr>
        <p:spPr>
          <a:xfrm flipH="1" rot="5400000">
            <a:off x="4370435" y="445893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0" name="Google Shape;3560;p42"/>
          <p:cNvSpPr/>
          <p:nvPr/>
        </p:nvSpPr>
        <p:spPr>
          <a:xfrm flipH="1" rot="-5400000">
            <a:off x="4365519" y="536841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1" name="Google Shape;3561;p42"/>
          <p:cNvSpPr/>
          <p:nvPr/>
        </p:nvSpPr>
        <p:spPr>
          <a:xfrm flipH="1" rot="5400000">
            <a:off x="6312308" y="4454022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2" name="Google Shape;3562;p42"/>
          <p:cNvSpPr/>
          <p:nvPr/>
        </p:nvSpPr>
        <p:spPr>
          <a:xfrm flipH="1" rot="-5400000">
            <a:off x="6307392" y="5363506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3" name="Google Shape;3563;p42"/>
          <p:cNvSpPr/>
          <p:nvPr/>
        </p:nvSpPr>
        <p:spPr>
          <a:xfrm flipH="1" rot="5400000">
            <a:off x="8254181" y="4449110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4" name="Google Shape;3564;p42"/>
          <p:cNvSpPr/>
          <p:nvPr/>
        </p:nvSpPr>
        <p:spPr>
          <a:xfrm flipH="1" rot="-5400000">
            <a:off x="8249265" y="535859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5" name="Google Shape;3565;p42"/>
          <p:cNvSpPr/>
          <p:nvPr/>
        </p:nvSpPr>
        <p:spPr>
          <a:xfrm flipH="1" rot="10800000">
            <a:off x="7582395" y="5829665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6" name="Google Shape;3566;p42"/>
          <p:cNvSpPr/>
          <p:nvPr/>
        </p:nvSpPr>
        <p:spPr>
          <a:xfrm flipH="1">
            <a:off x="6819704" y="583458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67" name="Google Shape;3567;p42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568" name="Google Shape;3568;p42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569" name="Google Shape;3569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570" name="Google Shape;3570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571" name="Google Shape;3571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72" name="Google Shape;3572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73" name="Google Shape;3573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74" name="Google Shape;3574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75" name="Google Shape;3575;p42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576" name="Google Shape;3576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77" name="Google Shape;3577;p42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578" name="Google Shape;3578;p42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579" name="Google Shape;3579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580" name="Google Shape;3580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581" name="Google Shape;3581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82" name="Google Shape;3582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83" name="Google Shape;3583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84" name="Google Shape;3584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85" name="Google Shape;3585;p42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586" name="Google Shape;3586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87" name="Google Shape;3587;p42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588" name="Google Shape;3588;p42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589" name="Google Shape;3589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590" name="Google Shape;3590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591" name="Google Shape;3591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92" name="Google Shape;3592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93" name="Google Shape;3593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94" name="Google Shape;3594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95" name="Google Shape;3595;p42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596" name="Google Shape;3596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97" name="Google Shape;3597;p42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598" name="Google Shape;3598;p42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599" name="Google Shape;3599;p42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600" name="Google Shape;3600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601" name="Google Shape;3601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602" name="Google Shape;3602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03" name="Google Shape;3603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604" name="Google Shape;3604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05" name="Google Shape;3605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06" name="Google Shape;3606;p42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607" name="Google Shape;3607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08" name="Google Shape;3608;p42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609" name="Google Shape;3609;p42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610" name="Google Shape;3610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611" name="Google Shape;3611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612" name="Google Shape;3612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13" name="Google Shape;3613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614" name="Google Shape;3614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15" name="Google Shape;3615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16" name="Google Shape;3616;p42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617" name="Google Shape;3617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18" name="Google Shape;3618;p42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619" name="Google Shape;3619;p42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620" name="Google Shape;3620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621" name="Google Shape;3621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622" name="Google Shape;3622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23" name="Google Shape;3623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624" name="Google Shape;3624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25" name="Google Shape;3625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26" name="Google Shape;3626;p42"/>
              <p:cNvGrpSpPr/>
              <p:nvPr/>
            </p:nvGrpSpPr>
            <p:grpSpPr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627" name="Google Shape;3627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28" name="Google Shape;3628;p42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629" name="Google Shape;3629;p42"/>
          <p:cNvSpPr/>
          <p:nvPr/>
        </p:nvSpPr>
        <p:spPr>
          <a:xfrm flipH="1" rot="10800000">
            <a:off x="5660017" y="584303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0" name="Google Shape;3630;p42"/>
          <p:cNvSpPr/>
          <p:nvPr/>
        </p:nvSpPr>
        <p:spPr>
          <a:xfrm flipH="1">
            <a:off x="4897326" y="584795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1" name="Google Shape;3631;p42"/>
          <p:cNvSpPr/>
          <p:nvPr/>
        </p:nvSpPr>
        <p:spPr>
          <a:xfrm flipH="1" rot="10800000">
            <a:off x="5651998" y="3904611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2" name="Google Shape;3632;p42"/>
          <p:cNvSpPr/>
          <p:nvPr/>
        </p:nvSpPr>
        <p:spPr>
          <a:xfrm flipH="1">
            <a:off x="4905348" y="3909528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3" name="Google Shape;3633;p42"/>
          <p:cNvSpPr/>
          <p:nvPr/>
        </p:nvSpPr>
        <p:spPr>
          <a:xfrm>
            <a:off x="5660020" y="196618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4" name="Google Shape;3634;p42"/>
          <p:cNvSpPr/>
          <p:nvPr/>
        </p:nvSpPr>
        <p:spPr>
          <a:xfrm rot="10800000">
            <a:off x="4924064" y="198714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5" name="Google Shape;3635;p42"/>
          <p:cNvSpPr/>
          <p:nvPr/>
        </p:nvSpPr>
        <p:spPr>
          <a:xfrm flipH="1" rot="10800000">
            <a:off x="7582399" y="196886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6" name="Google Shape;3636;p42"/>
          <p:cNvSpPr/>
          <p:nvPr/>
        </p:nvSpPr>
        <p:spPr>
          <a:xfrm rot="10800000">
            <a:off x="6819708" y="197377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7" name="Google Shape;3637;p42"/>
          <p:cNvSpPr/>
          <p:nvPr/>
        </p:nvSpPr>
        <p:spPr>
          <a:xfrm flipH="1" rot="10800000">
            <a:off x="7595769" y="390728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8" name="Google Shape;3638;p42"/>
          <p:cNvSpPr/>
          <p:nvPr/>
        </p:nvSpPr>
        <p:spPr>
          <a:xfrm flipH="1">
            <a:off x="6833078" y="391220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9" name="Google Shape;3639;p42"/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/>
          </a:p>
        </p:txBody>
      </p:sp>
      <p:grpSp>
        <p:nvGrpSpPr>
          <p:cNvPr id="3640" name="Google Shape;3640;p42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3641" name="Google Shape;3641;p42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t=2</a:t>
              </a:r>
              <a:endParaRPr/>
            </a:p>
          </p:txBody>
        </p:sp>
        <p:grpSp>
          <p:nvGrpSpPr>
            <p:cNvPr id="3642" name="Google Shape;3642;p42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3643" name="Google Shape;3643;p42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44" name="Google Shape;3644;p42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45" name="Google Shape;3645;p42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46" name="Google Shape;3646;p42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47" name="Google Shape;3647;p42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48" name="Google Shape;3648;p42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49" name="Google Shape;3649;p42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50" name="Google Shape;3650;p42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51" name="Google Shape;3651;p42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52" name="Google Shape;3652;p42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53" name="Google Shape;3653;p42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54" name="Google Shape;3654;p42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55" name="Google Shape;3655;p42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656" name="Google Shape;3656;p42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57" name="Google Shape;3657;p42"/>
              <p:cNvCxnSpPr/>
              <p:nvPr/>
            </p:nvCxnSpPr>
            <p:spPr>
              <a:xfrm flipH="1">
                <a:off x="10365498" y="3656685"/>
                <a:ext cx="240612" cy="121026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2" name="Shape 3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3" name="Google Shape;3663;p43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A8"/>
                </a:solidFill>
              </a:rPr>
              <a:t>Distance vector example: iteration</a:t>
            </a:r>
            <a:endParaRPr/>
          </a:p>
        </p:txBody>
      </p:sp>
      <p:cxnSp>
        <p:nvCxnSpPr>
          <p:cNvPr id="3664" name="Google Shape;3664;p43"/>
          <p:cNvCxnSpPr>
            <a:stCxn id="3665" idx="2"/>
            <a:endCxn id="3665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66" name="Google Shape;3666;p43"/>
          <p:cNvCxnSpPr>
            <a:stCxn id="3665" idx="1"/>
            <a:endCxn id="3665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65" name="Google Shape;3665;p43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7" name="Google Shape;3667;p43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68" name="Google Shape;3668;p43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3669" name="Google Shape;3669;p43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670" name="Google Shape;3670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671" name="Google Shape;3671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672" name="Google Shape;3672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73" name="Google Shape;3673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674" name="Google Shape;3674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5" name="Google Shape;3675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76" name="Google Shape;3676;p43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677" name="Google Shape;3677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8" name="Google Shape;3678;p43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679" name="Google Shape;3679;p43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680" name="Google Shape;3680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681" name="Google Shape;3681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682" name="Google Shape;3682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83" name="Google Shape;3683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684" name="Google Shape;3684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85" name="Google Shape;3685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86" name="Google Shape;3686;p43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687" name="Google Shape;3687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88" name="Google Shape;3688;p43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689" name="Google Shape;3689;p43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690" name="Google Shape;3690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691" name="Google Shape;3691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692" name="Google Shape;3692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93" name="Google Shape;3693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694" name="Google Shape;3694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5" name="Google Shape;3695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96" name="Google Shape;3696;p43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3697" name="Google Shape;3697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8" name="Google Shape;3698;p43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699" name="Google Shape;3699;p43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700" name="Google Shape;3700;p43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701" name="Google Shape;3701;p43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702" name="Google Shape;3702;p43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703" name="Google Shape;3703;p43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704" name="Google Shape;3704;p43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705" name="Google Shape;3705;p43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706" name="Google Shape;3706;p43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707" name="Google Shape;3707;p43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708" name="Google Shape;3708;p43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709" name="Google Shape;3709;p43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3710" name="Google Shape;3710;p43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711" name="Google Shape;3711;p43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712" name="Google Shape;3712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713" name="Google Shape;3713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14" name="Google Shape;3714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15" name="Google Shape;3715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16" name="Google Shape;3716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7" name="Google Shape;3717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18" name="Google Shape;3718;p43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719" name="Google Shape;3719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0" name="Google Shape;3720;p43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721" name="Google Shape;3721;p43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722" name="Google Shape;3722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723" name="Google Shape;3723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24" name="Google Shape;3724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25" name="Google Shape;3725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26" name="Google Shape;3726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7" name="Google Shape;3727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28" name="Google Shape;3728;p43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729" name="Google Shape;3729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30" name="Google Shape;3730;p43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731" name="Google Shape;3731;p43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732" name="Google Shape;3732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733" name="Google Shape;3733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34" name="Google Shape;3734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35" name="Google Shape;3735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36" name="Google Shape;3736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37" name="Google Shape;3737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38" name="Google Shape;3738;p43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739" name="Google Shape;3739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40" name="Google Shape;3740;p43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741" name="Google Shape;3741;p43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742" name="Google Shape;3742;p43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743" name="Google Shape;3743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744" name="Google Shape;3744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45" name="Google Shape;3745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46" name="Google Shape;3746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47" name="Google Shape;3747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48" name="Google Shape;3748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49" name="Google Shape;3749;p43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750" name="Google Shape;3750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1" name="Google Shape;3751;p43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752" name="Google Shape;3752;p43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753" name="Google Shape;3753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754" name="Google Shape;3754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55" name="Google Shape;3755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56" name="Google Shape;3756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57" name="Google Shape;3757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8" name="Google Shape;3758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59" name="Google Shape;3759;p43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760" name="Google Shape;3760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1" name="Google Shape;3761;p43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762" name="Google Shape;3762;p43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763" name="Google Shape;3763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764" name="Google Shape;3764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65" name="Google Shape;3765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66" name="Google Shape;3766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67" name="Google Shape;3767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8" name="Google Shape;3768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69" name="Google Shape;3769;p43"/>
              <p:cNvGrpSpPr/>
              <p:nvPr/>
            </p:nvGrpSpPr>
            <p:grpSpPr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770" name="Google Shape;3770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71" name="Google Shape;3771;p43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772" name="Google Shape;3772;p43"/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/>
          </a:p>
        </p:txBody>
      </p:sp>
      <p:grpSp>
        <p:nvGrpSpPr>
          <p:cNvPr id="3773" name="Google Shape;3773;p43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3774" name="Google Shape;3774;p43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t=2</a:t>
              </a:r>
              <a:endParaRPr/>
            </a:p>
          </p:txBody>
        </p:sp>
        <p:grpSp>
          <p:nvGrpSpPr>
            <p:cNvPr id="3775" name="Google Shape;3775;p43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3776" name="Google Shape;3776;p43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777" name="Google Shape;3777;p43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78" name="Google Shape;3778;p43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79" name="Google Shape;3779;p43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80" name="Google Shape;3780;p43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81" name="Google Shape;3781;p43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82" name="Google Shape;3782;p43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83" name="Google Shape;3783;p43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84" name="Google Shape;3784;p43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85" name="Google Shape;3785;p43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86" name="Google Shape;3786;p43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87" name="Google Shape;3787;p43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88" name="Google Shape;3788;p43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789" name="Google Shape;3789;p43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90" name="Google Shape;3790;p43"/>
          <p:cNvGrpSpPr/>
          <p:nvPr/>
        </p:nvGrpSpPr>
        <p:grpSpPr>
          <a:xfrm>
            <a:off x="4041058" y="1582994"/>
            <a:ext cx="5089626" cy="4955455"/>
            <a:chOff x="3982064" y="1612491"/>
            <a:chExt cx="5089626" cy="4955455"/>
          </a:xfrm>
        </p:grpSpPr>
        <p:grpSp>
          <p:nvGrpSpPr>
            <p:cNvPr id="3791" name="Google Shape;3791;p43"/>
            <p:cNvGrpSpPr/>
            <p:nvPr/>
          </p:nvGrpSpPr>
          <p:grpSpPr>
            <a:xfrm>
              <a:off x="4011560" y="1641985"/>
              <a:ext cx="1196054" cy="1022555"/>
              <a:chOff x="9655277" y="2349909"/>
              <a:chExt cx="1196054" cy="1022555"/>
            </a:xfrm>
          </p:grpSpPr>
          <p:sp>
            <p:nvSpPr>
              <p:cNvPr id="3792" name="Google Shape;3792;p43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3" name="Google Shape;3793;p43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794" name="Google Shape;3794;p43"/>
            <p:cNvGrpSpPr/>
            <p:nvPr/>
          </p:nvGrpSpPr>
          <p:grpSpPr>
            <a:xfrm>
              <a:off x="5943598" y="1627238"/>
              <a:ext cx="1196054" cy="1022555"/>
              <a:chOff x="9655277" y="2349909"/>
              <a:chExt cx="1196054" cy="1022555"/>
            </a:xfrm>
          </p:grpSpPr>
          <p:sp>
            <p:nvSpPr>
              <p:cNvPr id="3795" name="Google Shape;3795;p43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6" name="Google Shape;3796;p43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797" name="Google Shape;3797;p43"/>
            <p:cNvGrpSpPr/>
            <p:nvPr/>
          </p:nvGrpSpPr>
          <p:grpSpPr>
            <a:xfrm>
              <a:off x="7875636" y="1612491"/>
              <a:ext cx="1196054" cy="1022555"/>
              <a:chOff x="9655277" y="2349909"/>
              <a:chExt cx="1196054" cy="1022555"/>
            </a:xfrm>
          </p:grpSpPr>
          <p:sp>
            <p:nvSpPr>
              <p:cNvPr id="3798" name="Google Shape;3798;p43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9" name="Google Shape;3799;p43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800" name="Google Shape;3800;p43"/>
            <p:cNvGrpSpPr/>
            <p:nvPr/>
          </p:nvGrpSpPr>
          <p:grpSpPr>
            <a:xfrm>
              <a:off x="3996812" y="3593688"/>
              <a:ext cx="1196054" cy="1022555"/>
              <a:chOff x="9655277" y="2349909"/>
              <a:chExt cx="1196054" cy="1022555"/>
            </a:xfrm>
          </p:grpSpPr>
          <p:sp>
            <p:nvSpPr>
              <p:cNvPr id="3801" name="Google Shape;3801;p43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2" name="Google Shape;3802;p43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803" name="Google Shape;3803;p43"/>
            <p:cNvGrpSpPr/>
            <p:nvPr/>
          </p:nvGrpSpPr>
          <p:grpSpPr>
            <a:xfrm>
              <a:off x="5928850" y="3578941"/>
              <a:ext cx="1196054" cy="1022555"/>
              <a:chOff x="9655277" y="2349909"/>
              <a:chExt cx="1196054" cy="1022555"/>
            </a:xfrm>
          </p:grpSpPr>
          <p:sp>
            <p:nvSpPr>
              <p:cNvPr id="3804" name="Google Shape;3804;p43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5" name="Google Shape;3805;p43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806" name="Google Shape;3806;p43"/>
            <p:cNvGrpSpPr/>
            <p:nvPr/>
          </p:nvGrpSpPr>
          <p:grpSpPr>
            <a:xfrm>
              <a:off x="7860888" y="3564194"/>
              <a:ext cx="1196054" cy="1022555"/>
              <a:chOff x="9655277" y="2349909"/>
              <a:chExt cx="1196054" cy="1022555"/>
            </a:xfrm>
          </p:grpSpPr>
          <p:sp>
            <p:nvSpPr>
              <p:cNvPr id="3807" name="Google Shape;3807;p43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8" name="Google Shape;3808;p43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809" name="Google Shape;3809;p43"/>
            <p:cNvGrpSpPr/>
            <p:nvPr/>
          </p:nvGrpSpPr>
          <p:grpSpPr>
            <a:xfrm>
              <a:off x="3982064" y="5545391"/>
              <a:ext cx="1196054" cy="1022555"/>
              <a:chOff x="9655277" y="2349909"/>
              <a:chExt cx="1196054" cy="1022555"/>
            </a:xfrm>
          </p:grpSpPr>
          <p:sp>
            <p:nvSpPr>
              <p:cNvPr id="3810" name="Google Shape;3810;p43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1" name="Google Shape;3811;p43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812" name="Google Shape;3812;p43"/>
            <p:cNvGrpSpPr/>
            <p:nvPr/>
          </p:nvGrpSpPr>
          <p:grpSpPr>
            <a:xfrm>
              <a:off x="5914102" y="5530644"/>
              <a:ext cx="1196054" cy="1022555"/>
              <a:chOff x="9655277" y="2349909"/>
              <a:chExt cx="1196054" cy="1022555"/>
            </a:xfrm>
          </p:grpSpPr>
          <p:sp>
            <p:nvSpPr>
              <p:cNvPr id="3813" name="Google Shape;3813;p43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4" name="Google Shape;3814;p43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815" name="Google Shape;3815;p43"/>
            <p:cNvGrpSpPr/>
            <p:nvPr/>
          </p:nvGrpSpPr>
          <p:grpSpPr>
            <a:xfrm>
              <a:off x="7846140" y="5515897"/>
              <a:ext cx="1196054" cy="1022555"/>
              <a:chOff x="9655277" y="2349909"/>
              <a:chExt cx="1196054" cy="1022555"/>
            </a:xfrm>
          </p:grpSpPr>
          <p:sp>
            <p:nvSpPr>
              <p:cNvPr id="3816" name="Google Shape;3816;p43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7" name="Google Shape;3817;p43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</p:grpSp>
      <p:cxnSp>
        <p:nvCxnSpPr>
          <p:cNvPr id="3818" name="Google Shape;3818;p43"/>
          <p:cNvCxnSpPr/>
          <p:nvPr/>
        </p:nvCxnSpPr>
        <p:spPr>
          <a:xfrm flipH="1">
            <a:off x="919556" y="2070953"/>
            <a:ext cx="240612" cy="121026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3" name="Shape 3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4" name="Google Shape;3824;p44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</a:t>
            </a:r>
            <a:r>
              <a:rPr lang="en-US">
                <a:solidFill>
                  <a:srgbClr val="0000A8"/>
                </a:solidFill>
              </a:rPr>
              <a:t>iteration</a:t>
            </a:r>
            <a:endParaRPr/>
          </a:p>
        </p:txBody>
      </p:sp>
      <p:cxnSp>
        <p:nvCxnSpPr>
          <p:cNvPr id="3825" name="Google Shape;3825;p44"/>
          <p:cNvCxnSpPr>
            <a:stCxn id="3826" idx="2"/>
            <a:endCxn id="3826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27" name="Google Shape;3827;p44"/>
          <p:cNvCxnSpPr>
            <a:stCxn id="3826" idx="1"/>
            <a:endCxn id="3826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26" name="Google Shape;3826;p44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8" name="Google Shape;3828;p44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29" name="Google Shape;3829;p44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3830" name="Google Shape;3830;p44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831" name="Google Shape;3831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832" name="Google Shape;3832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833" name="Google Shape;3833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34" name="Google Shape;3834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835" name="Google Shape;3835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6" name="Google Shape;3836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37" name="Google Shape;3837;p44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838" name="Google Shape;3838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9" name="Google Shape;3839;p44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840" name="Google Shape;3840;p44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841" name="Google Shape;3841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842" name="Google Shape;3842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843" name="Google Shape;3843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44" name="Google Shape;3844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845" name="Google Shape;3845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6" name="Google Shape;3846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47" name="Google Shape;3847;p44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848" name="Google Shape;3848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9" name="Google Shape;3849;p44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850" name="Google Shape;3850;p44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851" name="Google Shape;3851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852" name="Google Shape;3852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853" name="Google Shape;3853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54" name="Google Shape;3854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855" name="Google Shape;3855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56" name="Google Shape;3856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57" name="Google Shape;3857;p44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3858" name="Google Shape;3858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59" name="Google Shape;3859;p44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860" name="Google Shape;3860;p44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1" name="Google Shape;3861;p44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2" name="Google Shape;3862;p44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3" name="Google Shape;3863;p44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4" name="Google Shape;3864;p44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5" name="Google Shape;3865;p44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6" name="Google Shape;3866;p44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7" name="Google Shape;3867;p44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8" name="Google Shape;3868;p44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9" name="Google Shape;3869;p44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870" name="Google Shape;3870;p44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71" name="Google Shape;3871;p44"/>
          <p:cNvSpPr/>
          <p:nvPr/>
        </p:nvSpPr>
        <p:spPr>
          <a:xfrm rot="5400000">
            <a:off x="4399933" y="256130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2" name="Google Shape;3872;p44"/>
          <p:cNvSpPr/>
          <p:nvPr/>
        </p:nvSpPr>
        <p:spPr>
          <a:xfrm rot="-5400000">
            <a:off x="4395017" y="347078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3" name="Google Shape;3873;p44"/>
          <p:cNvSpPr/>
          <p:nvPr/>
        </p:nvSpPr>
        <p:spPr>
          <a:xfrm rot="5400000">
            <a:off x="6302474" y="2546557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4" name="Google Shape;3874;p44"/>
          <p:cNvSpPr/>
          <p:nvPr/>
        </p:nvSpPr>
        <p:spPr>
          <a:xfrm rot="-5400000">
            <a:off x="6297558" y="345604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5" name="Google Shape;3875;p44"/>
          <p:cNvSpPr/>
          <p:nvPr/>
        </p:nvSpPr>
        <p:spPr>
          <a:xfrm rot="5400000">
            <a:off x="4370435" y="445893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6" name="Google Shape;3876;p44"/>
          <p:cNvSpPr/>
          <p:nvPr/>
        </p:nvSpPr>
        <p:spPr>
          <a:xfrm rot="-5400000">
            <a:off x="4365519" y="536841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7" name="Google Shape;3877;p44"/>
          <p:cNvSpPr/>
          <p:nvPr/>
        </p:nvSpPr>
        <p:spPr>
          <a:xfrm rot="5400000">
            <a:off x="6312308" y="4454022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8" name="Google Shape;3878;p44"/>
          <p:cNvSpPr/>
          <p:nvPr/>
        </p:nvSpPr>
        <p:spPr>
          <a:xfrm rot="-5400000">
            <a:off x="6307392" y="5363506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9" name="Google Shape;3879;p44"/>
          <p:cNvSpPr/>
          <p:nvPr/>
        </p:nvSpPr>
        <p:spPr>
          <a:xfrm rot="5400000">
            <a:off x="8254181" y="4449110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0" name="Google Shape;3880;p44"/>
          <p:cNvSpPr/>
          <p:nvPr/>
        </p:nvSpPr>
        <p:spPr>
          <a:xfrm rot="-5400000">
            <a:off x="8249265" y="535859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1" name="Google Shape;3881;p44"/>
          <p:cNvSpPr/>
          <p:nvPr/>
        </p:nvSpPr>
        <p:spPr>
          <a:xfrm rot="10800000">
            <a:off x="7582395" y="5829665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2" name="Google Shape;3882;p44"/>
          <p:cNvSpPr/>
          <p:nvPr/>
        </p:nvSpPr>
        <p:spPr>
          <a:xfrm>
            <a:off x="6819704" y="583458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83" name="Google Shape;3883;p44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884" name="Google Shape;3884;p44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885" name="Google Shape;3885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886" name="Google Shape;3886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887" name="Google Shape;3887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88" name="Google Shape;3888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889" name="Google Shape;3889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90" name="Google Shape;3890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91" name="Google Shape;3891;p44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892" name="Google Shape;3892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93" name="Google Shape;3893;p44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894" name="Google Shape;3894;p44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895" name="Google Shape;3895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896" name="Google Shape;3896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897" name="Google Shape;3897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98" name="Google Shape;3898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899" name="Google Shape;3899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00" name="Google Shape;3900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01" name="Google Shape;3901;p44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902" name="Google Shape;3902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03" name="Google Shape;3903;p44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904" name="Google Shape;3904;p44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905" name="Google Shape;3905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06" name="Google Shape;3906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07" name="Google Shape;3907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08" name="Google Shape;3908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09" name="Google Shape;3909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0" name="Google Shape;3910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11" name="Google Shape;3911;p44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912" name="Google Shape;3912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3" name="Google Shape;3913;p44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914" name="Google Shape;3914;p44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915" name="Google Shape;3915;p44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916" name="Google Shape;3916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17" name="Google Shape;3917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18" name="Google Shape;3918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19" name="Google Shape;3919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20" name="Google Shape;3920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1" name="Google Shape;3921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22" name="Google Shape;3922;p44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923" name="Google Shape;3923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4" name="Google Shape;3924;p44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925" name="Google Shape;3925;p44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926" name="Google Shape;3926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27" name="Google Shape;3927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28" name="Google Shape;3928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29" name="Google Shape;3929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30" name="Google Shape;3930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1" name="Google Shape;3931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32" name="Google Shape;3932;p44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933" name="Google Shape;3933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4" name="Google Shape;3934;p44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935" name="Google Shape;3935;p44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936" name="Google Shape;3936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37" name="Google Shape;3937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38" name="Google Shape;3938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39" name="Google Shape;3939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40" name="Google Shape;3940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1" name="Google Shape;3941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42" name="Google Shape;3942;p44"/>
              <p:cNvGrpSpPr/>
              <p:nvPr/>
            </p:nvGrpSpPr>
            <p:grpSpPr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943" name="Google Shape;3943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4" name="Google Shape;3944;p44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945" name="Google Shape;3945;p44"/>
          <p:cNvSpPr/>
          <p:nvPr/>
        </p:nvSpPr>
        <p:spPr>
          <a:xfrm rot="10800000">
            <a:off x="5660017" y="584303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6" name="Google Shape;3946;p44"/>
          <p:cNvSpPr/>
          <p:nvPr/>
        </p:nvSpPr>
        <p:spPr>
          <a:xfrm>
            <a:off x="4897326" y="584795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7" name="Google Shape;3947;p44"/>
          <p:cNvSpPr/>
          <p:nvPr/>
        </p:nvSpPr>
        <p:spPr>
          <a:xfrm rot="10800000">
            <a:off x="5651998" y="3904611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8" name="Google Shape;3948;p44"/>
          <p:cNvSpPr/>
          <p:nvPr/>
        </p:nvSpPr>
        <p:spPr>
          <a:xfrm>
            <a:off x="4905348" y="3909528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9" name="Google Shape;3949;p44"/>
          <p:cNvSpPr/>
          <p:nvPr/>
        </p:nvSpPr>
        <p:spPr>
          <a:xfrm rot="10800000">
            <a:off x="5660020" y="196618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0" name="Google Shape;3950;p44"/>
          <p:cNvSpPr/>
          <p:nvPr/>
        </p:nvSpPr>
        <p:spPr>
          <a:xfrm>
            <a:off x="4924064" y="198714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1" name="Google Shape;3951;p44"/>
          <p:cNvSpPr/>
          <p:nvPr/>
        </p:nvSpPr>
        <p:spPr>
          <a:xfrm rot="10800000">
            <a:off x="7582399" y="196886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2" name="Google Shape;3952;p44"/>
          <p:cNvSpPr/>
          <p:nvPr/>
        </p:nvSpPr>
        <p:spPr>
          <a:xfrm>
            <a:off x="6819708" y="197377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3" name="Google Shape;3953;p44"/>
          <p:cNvSpPr/>
          <p:nvPr/>
        </p:nvSpPr>
        <p:spPr>
          <a:xfrm rot="10800000">
            <a:off x="7595769" y="390728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4" name="Google Shape;3954;p44"/>
          <p:cNvSpPr/>
          <p:nvPr/>
        </p:nvSpPr>
        <p:spPr>
          <a:xfrm>
            <a:off x="6833078" y="391220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5" name="Google Shape;3955;p44"/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/>
          </a:p>
        </p:txBody>
      </p:sp>
      <p:grpSp>
        <p:nvGrpSpPr>
          <p:cNvPr id="3956" name="Google Shape;3956;p44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3957" name="Google Shape;3957;p44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t=2</a:t>
              </a:r>
              <a:endParaRPr/>
            </a:p>
          </p:txBody>
        </p:sp>
        <p:grpSp>
          <p:nvGrpSpPr>
            <p:cNvPr id="3958" name="Google Shape;3958;p44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3959" name="Google Shape;3959;p44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960" name="Google Shape;3960;p44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61" name="Google Shape;3961;p44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62" name="Google Shape;3962;p44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63" name="Google Shape;3963;p44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64" name="Google Shape;3964;p44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65" name="Google Shape;3965;p44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66" name="Google Shape;3966;p44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67" name="Google Shape;3967;p44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68" name="Google Shape;3968;p44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69" name="Google Shape;3969;p44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70" name="Google Shape;3970;p44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71" name="Google Shape;3971;p44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972" name="Google Shape;3972;p44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3973" name="Google Shape;3973;p44"/>
          <p:cNvCxnSpPr/>
          <p:nvPr/>
        </p:nvCxnSpPr>
        <p:spPr>
          <a:xfrm flipH="1">
            <a:off x="919556" y="2070953"/>
            <a:ext cx="240612" cy="121026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8" name="Shape 3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9" name="Google Shape;3979;p45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</a:t>
            </a:r>
            <a:r>
              <a:rPr lang="en-US">
                <a:solidFill>
                  <a:srgbClr val="0000A8"/>
                </a:solidFill>
              </a:rPr>
              <a:t>iteration</a:t>
            </a:r>
            <a:endParaRPr/>
          </a:p>
        </p:txBody>
      </p:sp>
      <p:sp>
        <p:nvSpPr>
          <p:cNvPr id="3980" name="Google Shape;3980;p45"/>
          <p:cNvSpPr txBox="1"/>
          <p:nvPr/>
        </p:nvSpPr>
        <p:spPr>
          <a:xfrm>
            <a:off x="1199950" y="1378018"/>
            <a:ext cx="886467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…. and so 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Let’s next take a look at the iterative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computations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at nodes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5" name="Shape 3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6" name="Google Shape;3986;p46"/>
          <p:cNvGrpSpPr/>
          <p:nvPr/>
        </p:nvGrpSpPr>
        <p:grpSpPr>
          <a:xfrm>
            <a:off x="2827965" y="1130710"/>
            <a:ext cx="1547391" cy="2620631"/>
            <a:chOff x="3221255" y="1012723"/>
            <a:chExt cx="1547391" cy="2620631"/>
          </a:xfrm>
        </p:grpSpPr>
        <p:sp>
          <p:nvSpPr>
            <p:cNvPr id="3987" name="Google Shape;3987;p46"/>
            <p:cNvSpPr/>
            <p:nvPr/>
          </p:nvSpPr>
          <p:spPr>
            <a:xfrm>
              <a:off x="4316362" y="1042219"/>
              <a:ext cx="452284" cy="2389239"/>
            </a:xfrm>
            <a:custGeom>
              <a:rect b="b" l="l" r="r" t="t"/>
              <a:pathLst>
                <a:path extrusionOk="0" h="2389239" w="452284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88" name="Google Shape;3988;p46"/>
            <p:cNvGrpSpPr/>
            <p:nvPr/>
          </p:nvGrpSpPr>
          <p:grpSpPr>
            <a:xfrm>
              <a:off x="3221255" y="1012723"/>
              <a:ext cx="1172904" cy="2620631"/>
              <a:chOff x="3221255" y="1012723"/>
              <a:chExt cx="1172904" cy="2620631"/>
            </a:xfrm>
          </p:grpSpPr>
          <p:sp>
            <p:nvSpPr>
              <p:cNvPr id="3989" name="Google Shape;3989;p46"/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90" name="Google Shape;3990;p46"/>
              <p:cNvGrpSpPr/>
              <p:nvPr/>
            </p:nvGrpSpPr>
            <p:grpSpPr>
              <a:xfrm>
                <a:off x="3221255" y="1017253"/>
                <a:ext cx="1172904" cy="2616101"/>
                <a:chOff x="9477371" y="702026"/>
                <a:chExt cx="1172904" cy="2616101"/>
              </a:xfrm>
            </p:grpSpPr>
            <p:sp>
              <p:nvSpPr>
                <p:cNvPr id="3991" name="Google Shape;3991;p46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92" name="Google Shape;3992;p46"/>
                <p:cNvSpPr txBox="1"/>
                <p:nvPr/>
              </p:nvSpPr>
              <p:spPr>
                <a:xfrm>
                  <a:off x="9533078" y="702026"/>
                  <a:ext cx="1117197" cy="26161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a: 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(a)=0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8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∞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1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993" name="Google Shape;3993;p46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994" name="Google Shape;3994;p46"/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995" name="Google Shape;3995;p46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computation</a:t>
            </a:r>
            <a:endParaRPr/>
          </a:p>
        </p:txBody>
      </p:sp>
      <p:cxnSp>
        <p:nvCxnSpPr>
          <p:cNvPr id="3996" name="Google Shape;3996;p46"/>
          <p:cNvCxnSpPr>
            <a:stCxn id="3997" idx="2"/>
            <a:endCxn id="3997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98" name="Google Shape;3998;p46"/>
          <p:cNvCxnSpPr>
            <a:stCxn id="3997" idx="1"/>
            <a:endCxn id="3997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97" name="Google Shape;3997;p46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9" name="Google Shape;3999;p46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00" name="Google Shape;4000;p46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4001" name="Google Shape;4001;p46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002" name="Google Shape;4002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03" name="Google Shape;4003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004" name="Google Shape;4004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05" name="Google Shape;4005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006" name="Google Shape;4006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7" name="Google Shape;4007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08" name="Google Shape;4008;p46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009" name="Google Shape;4009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0" name="Google Shape;4010;p46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011" name="Google Shape;4011;p46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012" name="Google Shape;4012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13" name="Google Shape;4013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014" name="Google Shape;4014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15" name="Google Shape;4015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016" name="Google Shape;4016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7" name="Google Shape;4017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18" name="Google Shape;4018;p46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019" name="Google Shape;4019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0" name="Google Shape;4020;p46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021" name="Google Shape;4021;p46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022" name="Google Shape;4022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23" name="Google Shape;4023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024" name="Google Shape;4024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25" name="Google Shape;4025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026" name="Google Shape;4026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7" name="Google Shape;4027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28" name="Google Shape;4028;p46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4029" name="Google Shape;4029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0" name="Google Shape;4030;p46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031" name="Google Shape;4031;p46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032" name="Google Shape;4032;p46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033" name="Google Shape;4033;p46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034" name="Google Shape;4034;p46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035" name="Google Shape;4035;p46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036" name="Google Shape;4036;p46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037" name="Google Shape;4037;p46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038" name="Google Shape;4038;p46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039" name="Google Shape;4039;p46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040" name="Google Shape;4040;p46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041" name="Google Shape;4041;p46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042" name="Google Shape;4042;p46"/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43" name="Google Shape;4043;p46"/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4044" name="Google Shape;4044;p46"/>
            <p:cNvSpPr/>
            <p:nvPr/>
          </p:nvSpPr>
          <p:spPr>
            <a:xfrm>
              <a:off x="7010400" y="176982"/>
              <a:ext cx="2340077" cy="1848464"/>
            </a:xfrm>
            <a:custGeom>
              <a:rect b="b" l="l" r="r" t="t"/>
              <a:pathLst>
                <a:path extrusionOk="0" h="1848464" w="2340077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45" name="Google Shape;4045;p46"/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4046" name="Google Shape;4046;p46"/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47" name="Google Shape;4047;p46"/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4048" name="Google Shape;4048;p46"/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49" name="Google Shape;4049;p46"/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b:</a:t>
                  </a:r>
                  <a:endParaRPr/>
                </a:p>
              </p:txBody>
            </p:sp>
            <p:cxnSp>
              <p:nvCxnSpPr>
                <p:cNvPr id="4050" name="Google Shape;4050;p46"/>
                <p:cNvCxnSpPr/>
                <p:nvPr/>
              </p:nvCxnSpPr>
              <p:spPr>
                <a:xfrm>
                  <a:off x="7401895" y="49525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051" name="Google Shape;4051;p46"/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2" name="Google Shape;4052;p46"/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3" name="Google Shape;4053;p46"/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8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1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1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054" name="Google Shape;4054;p46"/>
          <p:cNvGrpSpPr/>
          <p:nvPr/>
        </p:nvGrpSpPr>
        <p:grpSpPr>
          <a:xfrm>
            <a:off x="348626" y="1859143"/>
            <a:ext cx="2195814" cy="1810779"/>
            <a:chOff x="348626" y="1859143"/>
            <a:chExt cx="2195814" cy="1810779"/>
          </a:xfrm>
        </p:grpSpPr>
        <p:grpSp>
          <p:nvGrpSpPr>
            <p:cNvPr id="4055" name="Google Shape;4055;p46"/>
            <p:cNvGrpSpPr/>
            <p:nvPr/>
          </p:nvGrpSpPr>
          <p:grpSpPr>
            <a:xfrm>
              <a:off x="584365" y="1859143"/>
              <a:ext cx="736099" cy="1229581"/>
              <a:chOff x="10030307" y="3444875"/>
              <a:chExt cx="736099" cy="1229581"/>
            </a:xfrm>
          </p:grpSpPr>
          <p:sp>
            <p:nvSpPr>
              <p:cNvPr id="4056" name="Google Shape;4056;p46"/>
              <p:cNvSpPr txBox="1"/>
              <p:nvPr/>
            </p:nvSpPr>
            <p:spPr>
              <a:xfrm>
                <a:off x="10030307" y="4089681"/>
                <a:ext cx="73609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Calibri"/>
                  <a:buNone/>
                </a:pPr>
                <a:r>
                  <a:rPr b="0" i="0" lang="en-US" sz="3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t=1</a:t>
                </a:r>
                <a:endParaRPr/>
              </a:p>
            </p:txBody>
          </p:sp>
          <p:grpSp>
            <p:nvGrpSpPr>
              <p:cNvPr id="4057" name="Google Shape;4057;p46"/>
              <p:cNvGrpSpPr/>
              <p:nvPr/>
            </p:nvGrpSpPr>
            <p:grpSpPr>
              <a:xfrm>
                <a:off x="10034588" y="3444875"/>
                <a:ext cx="682627" cy="682625"/>
                <a:chOff x="10034589" y="3444875"/>
                <a:chExt cx="682627" cy="682625"/>
              </a:xfrm>
            </p:grpSpPr>
            <p:sp>
              <p:nvSpPr>
                <p:cNvPr id="4058" name="Google Shape;4058;p46"/>
                <p:cNvSpPr/>
                <p:nvPr/>
              </p:nvSpPr>
              <p:spPr>
                <a:xfrm>
                  <a:off x="10039551" y="3449256"/>
                  <a:ext cx="671332" cy="671332"/>
                </a:xfrm>
                <a:prstGeom prst="ellipse">
                  <a:avLst/>
                </a:prstGeom>
                <a:noFill/>
                <a:ln cap="flat" cmpd="sng" w="34925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059" name="Google Shape;4059;p46"/>
                <p:cNvCxnSpPr/>
                <p:nvPr/>
              </p:nvCxnSpPr>
              <p:spPr>
                <a:xfrm>
                  <a:off x="10372725" y="3444875"/>
                  <a:ext cx="0" cy="60325"/>
                </a:xfrm>
                <a:prstGeom prst="straightConnector1">
                  <a:avLst/>
                </a:prstGeom>
                <a:noFill/>
                <a:ln cap="rnd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060" name="Google Shape;4060;p46"/>
                <p:cNvCxnSpPr/>
                <p:nvPr/>
              </p:nvCxnSpPr>
              <p:spPr>
                <a:xfrm>
                  <a:off x="10372725" y="4067175"/>
                  <a:ext cx="0" cy="60325"/>
                </a:xfrm>
                <a:prstGeom prst="straightConnector1">
                  <a:avLst/>
                </a:prstGeom>
                <a:noFill/>
                <a:ln cap="rnd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061" name="Google Shape;4061;p46"/>
                <p:cNvCxnSpPr/>
                <p:nvPr/>
              </p:nvCxnSpPr>
              <p:spPr>
                <a:xfrm rot="10800000">
                  <a:off x="10064751" y="3756025"/>
                  <a:ext cx="0" cy="60325"/>
                </a:xfrm>
                <a:prstGeom prst="straightConnector1">
                  <a:avLst/>
                </a:prstGeom>
                <a:noFill/>
                <a:ln cap="rnd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062" name="Google Shape;4062;p46"/>
                <p:cNvCxnSpPr/>
                <p:nvPr/>
              </p:nvCxnSpPr>
              <p:spPr>
                <a:xfrm rot="10800000">
                  <a:off x="10687053" y="3756025"/>
                  <a:ext cx="0" cy="60325"/>
                </a:xfrm>
                <a:prstGeom prst="straightConnector1">
                  <a:avLst/>
                </a:prstGeom>
                <a:noFill/>
                <a:ln cap="rnd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063" name="Google Shape;4063;p46"/>
                <p:cNvCxnSpPr/>
                <p:nvPr/>
              </p:nvCxnSpPr>
              <p:spPr>
                <a:xfrm>
                  <a:off x="10523542" y="4037013"/>
                  <a:ext cx="26983" cy="42862"/>
                </a:xfrm>
                <a:prstGeom prst="straightConnector1">
                  <a:avLst/>
                </a:prstGeom>
                <a:noFill/>
                <a:ln cap="rnd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064" name="Google Shape;4064;p46"/>
                <p:cNvCxnSpPr/>
                <p:nvPr/>
              </p:nvCxnSpPr>
              <p:spPr>
                <a:xfrm>
                  <a:off x="10202867" y="3490913"/>
                  <a:ext cx="26983" cy="42862"/>
                </a:xfrm>
                <a:prstGeom prst="straightConnector1">
                  <a:avLst/>
                </a:prstGeom>
                <a:noFill/>
                <a:ln cap="rnd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065" name="Google Shape;4065;p46"/>
                <p:cNvCxnSpPr/>
                <p:nvPr/>
              </p:nvCxnSpPr>
              <p:spPr>
                <a:xfrm flipH="1">
                  <a:off x="10196517" y="4033838"/>
                  <a:ext cx="26983" cy="42862"/>
                </a:xfrm>
                <a:prstGeom prst="straightConnector1">
                  <a:avLst/>
                </a:prstGeom>
                <a:noFill/>
                <a:ln cap="rnd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066" name="Google Shape;4066;p46"/>
                <p:cNvCxnSpPr/>
                <p:nvPr/>
              </p:nvCxnSpPr>
              <p:spPr>
                <a:xfrm flipH="1">
                  <a:off x="10517192" y="3487738"/>
                  <a:ext cx="26983" cy="42862"/>
                </a:xfrm>
                <a:prstGeom prst="straightConnector1">
                  <a:avLst/>
                </a:prstGeom>
                <a:noFill/>
                <a:ln cap="rnd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067" name="Google Shape;4067;p46"/>
                <p:cNvCxnSpPr/>
                <p:nvPr/>
              </p:nvCxnSpPr>
              <p:spPr>
                <a:xfrm flipH="1">
                  <a:off x="10631493" y="3611565"/>
                  <a:ext cx="36507" cy="26985"/>
                </a:xfrm>
                <a:prstGeom prst="straightConnector1">
                  <a:avLst/>
                </a:prstGeom>
                <a:noFill/>
                <a:ln cap="rnd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068" name="Google Shape;4068;p46"/>
                <p:cNvCxnSpPr/>
                <p:nvPr/>
              </p:nvCxnSpPr>
              <p:spPr>
                <a:xfrm flipH="1">
                  <a:off x="10085393" y="3929065"/>
                  <a:ext cx="36507" cy="26985"/>
                </a:xfrm>
                <a:prstGeom prst="straightConnector1">
                  <a:avLst/>
                </a:prstGeom>
                <a:noFill/>
                <a:ln cap="rnd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069" name="Google Shape;4069;p46"/>
                <p:cNvCxnSpPr/>
                <p:nvPr/>
              </p:nvCxnSpPr>
              <p:spPr>
                <a:xfrm rot="10800000">
                  <a:off x="10094918" y="3614740"/>
                  <a:ext cx="36507" cy="26985"/>
                </a:xfrm>
                <a:prstGeom prst="straightConnector1">
                  <a:avLst/>
                </a:prstGeom>
                <a:noFill/>
                <a:ln cap="rnd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070" name="Google Shape;4070;p46"/>
                <p:cNvCxnSpPr/>
                <p:nvPr/>
              </p:nvCxnSpPr>
              <p:spPr>
                <a:xfrm rot="10800000">
                  <a:off x="10631493" y="3932240"/>
                  <a:ext cx="36507" cy="26985"/>
                </a:xfrm>
                <a:prstGeom prst="straightConnector1">
                  <a:avLst/>
                </a:prstGeom>
                <a:noFill/>
                <a:ln cap="rnd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071" name="Google Shape;4071;p46"/>
                <p:cNvSpPr/>
                <p:nvPr/>
              </p:nvSpPr>
              <p:spPr>
                <a:xfrm>
                  <a:off x="10331450" y="3743325"/>
                  <a:ext cx="82550" cy="87136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cxnSp>
          <p:nvCxnSpPr>
            <p:cNvPr id="4072" name="Google Shape;4072;p46"/>
            <p:cNvCxnSpPr/>
            <p:nvPr/>
          </p:nvCxnSpPr>
          <p:spPr>
            <a:xfrm>
              <a:off x="919556" y="1995948"/>
              <a:ext cx="0" cy="196031"/>
            </a:xfrm>
            <a:prstGeom prst="straightConnector1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073" name="Google Shape;4073;p46"/>
            <p:cNvSpPr txBox="1"/>
            <p:nvPr/>
          </p:nvSpPr>
          <p:spPr>
            <a:xfrm flipH="1">
              <a:off x="348626" y="3078991"/>
              <a:ext cx="2195814" cy="590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1800"/>
                <a:buFont typeface="Noto Sans Symbols"/>
                <a:buChar char="▪"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 receives DVs from a, c, e</a:t>
              </a:r>
              <a:endParaRPr/>
            </a:p>
          </p:txBody>
        </p:sp>
      </p:grpSp>
      <p:sp>
        <p:nvSpPr>
          <p:cNvPr id="4074" name="Google Shape;4074;p46"/>
          <p:cNvSpPr/>
          <p:nvPr/>
        </p:nvSpPr>
        <p:spPr>
          <a:xfrm rot="-5400000">
            <a:off x="6346718" y="340688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5" name="Google Shape;4075;p46"/>
          <p:cNvSpPr/>
          <p:nvPr/>
        </p:nvSpPr>
        <p:spPr>
          <a:xfrm>
            <a:off x="4973224" y="193798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6" name="Google Shape;4076;p46"/>
          <p:cNvSpPr/>
          <p:nvPr/>
        </p:nvSpPr>
        <p:spPr>
          <a:xfrm rot="10800000">
            <a:off x="7631559" y="191970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77" name="Google Shape;4077;p46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4078" name="Google Shape;4078;p46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079" name="Google Shape;4079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80" name="Google Shape;4080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081" name="Google Shape;4081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82" name="Google Shape;4082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083" name="Google Shape;4083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84" name="Google Shape;4084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85" name="Google Shape;4085;p46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086" name="Google Shape;4086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87" name="Google Shape;4087;p46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088" name="Google Shape;4088;p46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089" name="Google Shape;4089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90" name="Google Shape;4090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091" name="Google Shape;4091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92" name="Google Shape;4092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093" name="Google Shape;4093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94" name="Google Shape;4094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95" name="Google Shape;4095;p46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096" name="Google Shape;4096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97" name="Google Shape;4097;p46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098" name="Google Shape;4098;p46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099" name="Google Shape;4099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100" name="Google Shape;4100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101" name="Google Shape;4101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02" name="Google Shape;4102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103" name="Google Shape;4103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04" name="Google Shape;4104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105" name="Google Shape;4105;p46"/>
              <p:cNvGrpSpPr/>
              <p:nvPr/>
            </p:nvGrpSpPr>
            <p:grpSpPr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4106" name="Google Shape;4106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07" name="Google Shape;4107;p46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108" name="Google Shape;4108;p46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4109" name="Google Shape;4109;p46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110" name="Google Shape;4110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111" name="Google Shape;4111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112" name="Google Shape;4112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13" name="Google Shape;4113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114" name="Google Shape;4114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15" name="Google Shape;4115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116" name="Google Shape;4116;p46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117" name="Google Shape;4117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18" name="Google Shape;4118;p46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119" name="Google Shape;4119;p46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120" name="Google Shape;4120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121" name="Google Shape;4121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122" name="Google Shape;4122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23" name="Google Shape;4123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124" name="Google Shape;4124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25" name="Google Shape;4125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126" name="Google Shape;4126;p46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127" name="Google Shape;4127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28" name="Google Shape;4128;p46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129" name="Google Shape;4129;p46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130" name="Google Shape;4130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131" name="Google Shape;4131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132" name="Google Shape;4132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33" name="Google Shape;4133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134" name="Google Shape;4134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35" name="Google Shape;4135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136" name="Google Shape;4136;p46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4137" name="Google Shape;4137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38" name="Google Shape;4138;p46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139" name="Google Shape;4139;p46"/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4140" name="Google Shape;4140;p46"/>
            <p:cNvSpPr/>
            <p:nvPr/>
          </p:nvSpPr>
          <p:spPr>
            <a:xfrm>
              <a:off x="8740877" y="247036"/>
              <a:ext cx="924232" cy="2428567"/>
            </a:xfrm>
            <a:custGeom>
              <a:rect b="b" l="l" r="r" t="t"/>
              <a:pathLst>
                <a:path extrusionOk="0" h="2428567" w="1170039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41" name="Google Shape;4141;p46"/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4142" name="Google Shape;4142;p46"/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43" name="Google Shape;4143;p46"/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4144" name="Google Shape;4144;p46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45" name="Google Shape;4145;p46"/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c:</a:t>
                  </a:r>
                  <a:endParaRPr/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∞</a:t>
                  </a:r>
                  <a:endParaRPr/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1</a:t>
                  </a:r>
                  <a:endParaRPr/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0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146" name="Google Shape;4146;p46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147" name="Google Shape;4147;p46"/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148" name="Google Shape;4148;p46"/>
          <p:cNvSpPr/>
          <p:nvPr/>
        </p:nvSpPr>
        <p:spPr>
          <a:xfrm>
            <a:off x="6794417" y="3016538"/>
            <a:ext cx="2889702" cy="2634390"/>
          </a:xfrm>
          <a:custGeom>
            <a:rect b="b" l="l" r="r" t="t"/>
            <a:pathLst>
              <a:path extrusionOk="0" h="2634390" w="2889702">
                <a:moveTo>
                  <a:pt x="10817" y="896701"/>
                </a:moveTo>
                <a:cubicBezTo>
                  <a:pt x="1751126" y="516521"/>
                  <a:pt x="1777345" y="533564"/>
                  <a:pt x="2869381" y="0"/>
                </a:cubicBezTo>
                <a:cubicBezTo>
                  <a:pt x="2869381" y="783303"/>
                  <a:pt x="2889702" y="1851087"/>
                  <a:pt x="2889702" y="2634390"/>
                </a:cubicBezTo>
                <a:cubicBezTo>
                  <a:pt x="2630785" y="598784"/>
                  <a:pt x="2043143" y="642374"/>
                  <a:pt x="0" y="1094330"/>
                </a:cubicBezTo>
                <a:lnTo>
                  <a:pt x="10817" y="896701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49" name="Google Shape;4149;p46"/>
          <p:cNvGrpSpPr/>
          <p:nvPr/>
        </p:nvGrpSpPr>
        <p:grpSpPr>
          <a:xfrm>
            <a:off x="9654637" y="3018176"/>
            <a:ext cx="1131350" cy="2675039"/>
            <a:chOff x="9762792" y="4031226"/>
            <a:chExt cx="1131350" cy="2675039"/>
          </a:xfrm>
        </p:grpSpPr>
        <p:sp>
          <p:nvSpPr>
            <p:cNvPr id="4150" name="Google Shape;4150;p46"/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51" name="Google Shape;4151;p46"/>
            <p:cNvGrpSpPr/>
            <p:nvPr/>
          </p:nvGrpSpPr>
          <p:grpSpPr>
            <a:xfrm>
              <a:off x="9762792" y="4038868"/>
              <a:ext cx="1130292" cy="2667397"/>
              <a:chOff x="9472118" y="702026"/>
              <a:chExt cx="1130292" cy="2667397"/>
            </a:xfrm>
          </p:grpSpPr>
          <p:sp>
            <p:nvSpPr>
              <p:cNvPr id="4152" name="Google Shape;4152;p46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3" name="Google Shape;4153;p46"/>
              <p:cNvSpPr txBox="1"/>
              <p:nvPr/>
            </p:nvSpPr>
            <p:spPr>
              <a:xfrm>
                <a:off x="9472118" y="702026"/>
                <a:ext cx="1117197" cy="266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e:</a:t>
                </a:r>
                <a:endParaRPr/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∞</a:t>
                </a:r>
                <a:endParaRPr/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1</a:t>
                </a:r>
                <a:endParaRPr/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0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154" name="Google Shape;4154;p46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155" name="Google Shape;4155;p46"/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156" name="Google Shape;4156;p46"/>
          <p:cNvGrpSpPr/>
          <p:nvPr/>
        </p:nvGrpSpPr>
        <p:grpSpPr>
          <a:xfrm>
            <a:off x="592386" y="1867164"/>
            <a:ext cx="736099" cy="1229581"/>
            <a:chOff x="10030307" y="3444875"/>
            <a:chExt cx="736099" cy="1229581"/>
          </a:xfrm>
        </p:grpSpPr>
        <p:sp>
          <p:nvSpPr>
            <p:cNvPr id="4157" name="Google Shape;4157;p46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t=0</a:t>
              </a:r>
              <a:endParaRPr/>
            </a:p>
          </p:txBody>
        </p:sp>
        <p:grpSp>
          <p:nvGrpSpPr>
            <p:cNvPr id="4158" name="Google Shape;4158;p46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4159" name="Google Shape;4159;p46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160" name="Google Shape;4160;p46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61" name="Google Shape;4161;p46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62" name="Google Shape;4162;p46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63" name="Google Shape;4163;p46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64" name="Google Shape;4164;p46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65" name="Google Shape;4165;p46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66" name="Google Shape;4166;p46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67" name="Google Shape;4167;p46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68" name="Google Shape;4168;p46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69" name="Google Shape;4169;p46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70" name="Google Shape;4170;p46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71" name="Google Shape;4171;p46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172" name="Google Shape;4172;p46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173" name="Google Shape;4173;p46"/>
              <p:cNvCxnSpPr/>
              <p:nvPr/>
            </p:nvCxnSpPr>
            <p:spPr>
              <a:xfrm>
                <a:off x="10372725" y="3548510"/>
                <a:ext cx="0" cy="207515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8" name="Shape 4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9" name="Google Shape;4179;p47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computation</a:t>
            </a:r>
            <a:endParaRPr/>
          </a:p>
        </p:txBody>
      </p:sp>
      <p:sp>
        <p:nvSpPr>
          <p:cNvPr id="4180" name="Google Shape;4180;p47"/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81" name="Google Shape;4181;p47"/>
          <p:cNvGrpSpPr/>
          <p:nvPr/>
        </p:nvGrpSpPr>
        <p:grpSpPr>
          <a:xfrm>
            <a:off x="2827965" y="1130710"/>
            <a:ext cx="1547391" cy="2620631"/>
            <a:chOff x="3221255" y="1012723"/>
            <a:chExt cx="1547391" cy="2620631"/>
          </a:xfrm>
        </p:grpSpPr>
        <p:sp>
          <p:nvSpPr>
            <p:cNvPr id="4182" name="Google Shape;4182;p47"/>
            <p:cNvSpPr/>
            <p:nvPr/>
          </p:nvSpPr>
          <p:spPr>
            <a:xfrm>
              <a:off x="4316362" y="1042219"/>
              <a:ext cx="452284" cy="2389239"/>
            </a:xfrm>
            <a:custGeom>
              <a:rect b="b" l="l" r="r" t="t"/>
              <a:pathLst>
                <a:path extrusionOk="0" h="2389239" w="452284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83" name="Google Shape;4183;p47"/>
            <p:cNvGrpSpPr/>
            <p:nvPr/>
          </p:nvGrpSpPr>
          <p:grpSpPr>
            <a:xfrm>
              <a:off x="3221255" y="1012723"/>
              <a:ext cx="1172904" cy="2620631"/>
              <a:chOff x="3221255" y="1012723"/>
              <a:chExt cx="1172904" cy="2620631"/>
            </a:xfrm>
          </p:grpSpPr>
          <p:sp>
            <p:nvSpPr>
              <p:cNvPr id="4184" name="Google Shape;4184;p47"/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85" name="Google Shape;4185;p47"/>
              <p:cNvGrpSpPr/>
              <p:nvPr/>
            </p:nvGrpSpPr>
            <p:grpSpPr>
              <a:xfrm>
                <a:off x="3221255" y="1017253"/>
                <a:ext cx="1172904" cy="2616101"/>
                <a:chOff x="9477371" y="702026"/>
                <a:chExt cx="1172904" cy="2616101"/>
              </a:xfrm>
            </p:grpSpPr>
            <p:sp>
              <p:nvSpPr>
                <p:cNvPr id="4186" name="Google Shape;4186;p47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87" name="Google Shape;4187;p47"/>
                <p:cNvSpPr txBox="1"/>
                <p:nvPr/>
              </p:nvSpPr>
              <p:spPr>
                <a:xfrm>
                  <a:off x="9533078" y="702026"/>
                  <a:ext cx="1117197" cy="26161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a: 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(a)=0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8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∞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1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188" name="Google Shape;4188;p47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189" name="Google Shape;4189;p47"/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190" name="Google Shape;4190;p47"/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4191" name="Google Shape;4191;p47"/>
            <p:cNvSpPr/>
            <p:nvPr/>
          </p:nvSpPr>
          <p:spPr>
            <a:xfrm>
              <a:off x="7010400" y="176982"/>
              <a:ext cx="2340077" cy="1848464"/>
            </a:xfrm>
            <a:custGeom>
              <a:rect b="b" l="l" r="r" t="t"/>
              <a:pathLst>
                <a:path extrusionOk="0" h="1848464" w="2340077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92" name="Google Shape;4192;p47"/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4193" name="Google Shape;4193;p47"/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94" name="Google Shape;4194;p47"/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4195" name="Google Shape;4195;p47"/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96" name="Google Shape;4196;p47"/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b:</a:t>
                  </a:r>
                  <a:endParaRPr/>
                </a:p>
              </p:txBody>
            </p:sp>
            <p:cxnSp>
              <p:nvCxnSpPr>
                <p:cNvPr id="4197" name="Google Shape;4197;p47"/>
                <p:cNvCxnSpPr/>
                <p:nvPr/>
              </p:nvCxnSpPr>
              <p:spPr>
                <a:xfrm>
                  <a:off x="7401895" y="49525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198" name="Google Shape;4198;p47"/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99" name="Google Shape;4199;p47"/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0" name="Google Shape;4200;p47"/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8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1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1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201" name="Google Shape;4201;p47"/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4202" name="Google Shape;4202;p47"/>
            <p:cNvSpPr/>
            <p:nvPr/>
          </p:nvSpPr>
          <p:spPr>
            <a:xfrm>
              <a:off x="8740877" y="247036"/>
              <a:ext cx="924232" cy="2428567"/>
            </a:xfrm>
            <a:custGeom>
              <a:rect b="b" l="l" r="r" t="t"/>
              <a:pathLst>
                <a:path extrusionOk="0" h="2428567" w="1170039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03" name="Google Shape;4203;p47"/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4204" name="Google Shape;4204;p47"/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205" name="Google Shape;4205;p47"/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4206" name="Google Shape;4206;p47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7" name="Google Shape;4207;p47"/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c:</a:t>
                  </a:r>
                  <a:endParaRPr/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∞</a:t>
                  </a:r>
                  <a:endParaRPr/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1</a:t>
                  </a:r>
                  <a:endParaRPr/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0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208" name="Google Shape;4208;p47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209" name="Google Shape;4209;p47"/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210" name="Google Shape;4210;p47"/>
          <p:cNvGrpSpPr/>
          <p:nvPr/>
        </p:nvGrpSpPr>
        <p:grpSpPr>
          <a:xfrm>
            <a:off x="9654637" y="3018176"/>
            <a:ext cx="1131350" cy="2675039"/>
            <a:chOff x="9762792" y="4031226"/>
            <a:chExt cx="1131350" cy="2675039"/>
          </a:xfrm>
        </p:grpSpPr>
        <p:sp>
          <p:nvSpPr>
            <p:cNvPr id="4211" name="Google Shape;4211;p47"/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12" name="Google Shape;4212;p47"/>
            <p:cNvGrpSpPr/>
            <p:nvPr/>
          </p:nvGrpSpPr>
          <p:grpSpPr>
            <a:xfrm>
              <a:off x="9762792" y="4038868"/>
              <a:ext cx="1130292" cy="2667397"/>
              <a:chOff x="9472118" y="702026"/>
              <a:chExt cx="1130292" cy="2667397"/>
            </a:xfrm>
          </p:grpSpPr>
          <p:sp>
            <p:nvSpPr>
              <p:cNvPr id="4213" name="Google Shape;4213;p47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4" name="Google Shape;4214;p47"/>
              <p:cNvSpPr txBox="1"/>
              <p:nvPr/>
            </p:nvSpPr>
            <p:spPr>
              <a:xfrm>
                <a:off x="9472118" y="702026"/>
                <a:ext cx="1117197" cy="266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e:</a:t>
                </a:r>
                <a:endParaRPr/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∞</a:t>
                </a:r>
                <a:endParaRPr/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1</a:t>
                </a:r>
                <a:endParaRPr/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0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215" name="Google Shape;4215;p47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216" name="Google Shape;4216;p47"/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4217" name="Google Shape;4217;p47"/>
          <p:cNvCxnSpPr>
            <a:stCxn id="4218" idx="2"/>
            <a:endCxn id="4218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19" name="Google Shape;4219;p47"/>
          <p:cNvCxnSpPr>
            <a:stCxn id="4218" idx="1"/>
            <a:endCxn id="4218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18" name="Google Shape;4218;p47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0" name="Google Shape;4220;p47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21" name="Google Shape;4221;p47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4222" name="Google Shape;4222;p47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223" name="Google Shape;4223;p4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24" name="Google Shape;4224;p4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225" name="Google Shape;4225;p4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26" name="Google Shape;4226;p4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27" name="Google Shape;4227;p4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28" name="Google Shape;4228;p4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29" name="Google Shape;4229;p47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230" name="Google Shape;4230;p4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31" name="Google Shape;4231;p47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232" name="Google Shape;4232;p47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233" name="Google Shape;4233;p4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34" name="Google Shape;4234;p4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235" name="Google Shape;4235;p4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36" name="Google Shape;4236;p4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37" name="Google Shape;4237;p4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38" name="Google Shape;4238;p4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39" name="Google Shape;4239;p47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240" name="Google Shape;4240;p4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41" name="Google Shape;4241;p47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242" name="Google Shape;4242;p47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243" name="Google Shape;4243;p4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44" name="Google Shape;4244;p4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245" name="Google Shape;4245;p4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46" name="Google Shape;4246;p4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47" name="Google Shape;4247;p4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48" name="Google Shape;4248;p4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49" name="Google Shape;4249;p47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4250" name="Google Shape;4250;p4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51" name="Google Shape;4251;p47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252" name="Google Shape;4252;p47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253" name="Google Shape;4253;p47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254" name="Google Shape;4254;p47"/>
          <p:cNvSpPr txBox="1"/>
          <p:nvPr/>
        </p:nvSpPr>
        <p:spPr>
          <a:xfrm>
            <a:off x="3920218" y="485596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255" name="Google Shape;4255;p47"/>
          <p:cNvSpPr txBox="1"/>
          <p:nvPr/>
        </p:nvSpPr>
        <p:spPr>
          <a:xfrm>
            <a:off x="5855120" y="485789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256" name="Google Shape;4256;p47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257" name="Google Shape;4257;p47"/>
          <p:cNvSpPr txBox="1"/>
          <p:nvPr/>
        </p:nvSpPr>
        <p:spPr>
          <a:xfrm>
            <a:off x="5066110" y="399944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258" name="Google Shape;4258;p47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259" name="Google Shape;4259;p47"/>
          <p:cNvSpPr txBox="1"/>
          <p:nvPr/>
        </p:nvSpPr>
        <p:spPr>
          <a:xfrm>
            <a:off x="5068038" y="592276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260" name="Google Shape;4260;p47"/>
          <p:cNvSpPr txBox="1"/>
          <p:nvPr/>
        </p:nvSpPr>
        <p:spPr>
          <a:xfrm>
            <a:off x="7081390" y="590296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261" name="Google Shape;4261;p47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262" name="Google Shape;4262;p47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4263" name="Google Shape;4263;p47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4264" name="Google Shape;4264;p47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4265" name="Google Shape;4265;p47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4266" name="Google Shape;4266;p47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267" name="Google Shape;4267;p47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68" name="Google Shape;4268;p47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69" name="Google Shape;4269;p47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70" name="Google Shape;4270;p47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71" name="Google Shape;4271;p47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72" name="Google Shape;4272;p47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73" name="Google Shape;4273;p47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74" name="Google Shape;4274;p47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75" name="Google Shape;4275;p47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76" name="Google Shape;4276;p47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77" name="Google Shape;4277;p47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78" name="Google Shape;4278;p47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279" name="Google Shape;4279;p47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4280" name="Google Shape;4280;p47"/>
          <p:cNvCxnSpPr/>
          <p:nvPr/>
        </p:nvCxnSpPr>
        <p:spPr>
          <a:xfrm>
            <a:off x="919556" y="1995948"/>
            <a:ext cx="0" cy="196031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81" name="Google Shape;4281;p47"/>
          <p:cNvSpPr txBox="1"/>
          <p:nvPr/>
        </p:nvSpPr>
        <p:spPr>
          <a:xfrm flipH="1">
            <a:off x="348626" y="3078991"/>
            <a:ext cx="2195814" cy="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 receives DVs from a, c, e, computes:</a:t>
            </a:r>
            <a:endParaRPr/>
          </a:p>
        </p:txBody>
      </p:sp>
      <p:sp>
        <p:nvSpPr>
          <p:cNvPr id="4282" name="Google Shape;4282;p47"/>
          <p:cNvSpPr/>
          <p:nvPr/>
        </p:nvSpPr>
        <p:spPr>
          <a:xfrm>
            <a:off x="4973224" y="193798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3" name="Google Shape;4283;p47"/>
          <p:cNvSpPr/>
          <p:nvPr/>
        </p:nvSpPr>
        <p:spPr>
          <a:xfrm rot="10800000">
            <a:off x="7631559" y="191970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84" name="Google Shape;4284;p47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4285" name="Google Shape;4285;p47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286" name="Google Shape;4286;p4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87" name="Google Shape;4287;p4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288" name="Google Shape;4288;p4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89" name="Google Shape;4289;p4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90" name="Google Shape;4290;p4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91" name="Google Shape;4291;p4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92" name="Google Shape;4292;p47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293" name="Google Shape;4293;p4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94" name="Google Shape;4294;p47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295" name="Google Shape;4295;p47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296" name="Google Shape;4296;p4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97" name="Google Shape;4297;p4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298" name="Google Shape;4298;p4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99" name="Google Shape;4299;p4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300" name="Google Shape;4300;p4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01" name="Google Shape;4301;p4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02" name="Google Shape;4302;p47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303" name="Google Shape;4303;p4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04" name="Google Shape;4304;p47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305" name="Google Shape;4305;p47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306" name="Google Shape;4306;p4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307" name="Google Shape;4307;p4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308" name="Google Shape;4308;p4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309" name="Google Shape;4309;p4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310" name="Google Shape;4310;p4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11" name="Google Shape;4311;p4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12" name="Google Shape;4312;p47"/>
              <p:cNvGrpSpPr/>
              <p:nvPr/>
            </p:nvGrpSpPr>
            <p:grpSpPr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4313" name="Google Shape;4313;p4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14" name="Google Shape;4314;p47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315" name="Google Shape;4315;p47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4316" name="Google Shape;4316;p47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317" name="Google Shape;4317;p4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318" name="Google Shape;4318;p4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319" name="Google Shape;4319;p4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320" name="Google Shape;4320;p4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321" name="Google Shape;4321;p4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22" name="Google Shape;4322;p4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23" name="Google Shape;4323;p47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324" name="Google Shape;4324;p4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25" name="Google Shape;4325;p47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326" name="Google Shape;4326;p47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327" name="Google Shape;4327;p4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328" name="Google Shape;4328;p4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329" name="Google Shape;4329;p4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330" name="Google Shape;4330;p4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331" name="Google Shape;4331;p4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32" name="Google Shape;4332;p4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33" name="Google Shape;4333;p47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334" name="Google Shape;4334;p4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35" name="Google Shape;4335;p47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336" name="Google Shape;4336;p47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337" name="Google Shape;4337;p4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338" name="Google Shape;4338;p4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339" name="Google Shape;4339;p4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340" name="Google Shape;4340;p4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341" name="Google Shape;4341;p4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42" name="Google Shape;4342;p4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43" name="Google Shape;4343;p47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4344" name="Google Shape;4344;p4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45" name="Google Shape;4345;p47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346" name="Google Shape;4346;p47"/>
          <p:cNvSpPr/>
          <p:nvPr/>
        </p:nvSpPr>
        <p:spPr>
          <a:xfrm>
            <a:off x="3078478" y="2885440"/>
            <a:ext cx="5923281" cy="3820160"/>
          </a:xfrm>
          <a:custGeom>
            <a:rect b="b" l="l" r="r" t="t"/>
            <a:pathLst>
              <a:path extrusionOk="0" h="3820160" w="5760999">
                <a:moveTo>
                  <a:pt x="1239799" y="0"/>
                </a:moveTo>
                <a:lnTo>
                  <a:pt x="2987319" y="0"/>
                </a:lnTo>
                <a:lnTo>
                  <a:pt x="2987319" y="955040"/>
                </a:lnTo>
                <a:lnTo>
                  <a:pt x="5730519" y="782320"/>
                </a:lnTo>
                <a:lnTo>
                  <a:pt x="5760999" y="3820160"/>
                </a:lnTo>
                <a:lnTo>
                  <a:pt x="0" y="3810000"/>
                </a:lnTo>
                <a:lnTo>
                  <a:pt x="69172" y="955040"/>
                </a:lnTo>
                <a:lnTo>
                  <a:pt x="917184" y="904240"/>
                </a:lnTo>
                <a:lnTo>
                  <a:pt x="123979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47" name="Google Shape;4347;p47"/>
          <p:cNvGrpSpPr/>
          <p:nvPr/>
        </p:nvGrpSpPr>
        <p:grpSpPr>
          <a:xfrm>
            <a:off x="7010562" y="5133094"/>
            <a:ext cx="2128849" cy="1445342"/>
            <a:chOff x="7344204" y="108155"/>
            <a:chExt cx="2128849" cy="1445342"/>
          </a:xfrm>
        </p:grpSpPr>
        <p:sp>
          <p:nvSpPr>
            <p:cNvPr id="4348" name="Google Shape;4348;p47"/>
            <p:cNvSpPr/>
            <p:nvPr/>
          </p:nvSpPr>
          <p:spPr>
            <a:xfrm>
              <a:off x="7413523" y="108155"/>
              <a:ext cx="1936954" cy="14355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49" name="Google Shape;4349;p47"/>
            <p:cNvGrpSpPr/>
            <p:nvPr/>
          </p:nvGrpSpPr>
          <p:grpSpPr>
            <a:xfrm>
              <a:off x="7344204" y="120836"/>
              <a:ext cx="2128849" cy="1432661"/>
              <a:chOff x="7344204" y="120836"/>
              <a:chExt cx="2128849" cy="1432661"/>
            </a:xfrm>
          </p:grpSpPr>
          <p:sp>
            <p:nvSpPr>
              <p:cNvPr id="4350" name="Google Shape;4350;p47"/>
              <p:cNvSpPr/>
              <p:nvPr/>
            </p:nvSpPr>
            <p:spPr>
              <a:xfrm>
                <a:off x="7409951" y="124866"/>
                <a:ext cx="1940525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1" name="Google Shape;4351;p47"/>
              <p:cNvSpPr txBox="1"/>
              <p:nvPr/>
            </p:nvSpPr>
            <p:spPr>
              <a:xfrm>
                <a:off x="7799764" y="120836"/>
                <a:ext cx="111719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b:</a:t>
                </a:r>
                <a:endParaRPr/>
              </a:p>
            </p:txBody>
          </p:sp>
          <p:cxnSp>
            <p:nvCxnSpPr>
              <p:cNvPr id="4352" name="Google Shape;4352;p47"/>
              <p:cNvCxnSpPr/>
              <p:nvPr/>
            </p:nvCxnSpPr>
            <p:spPr>
              <a:xfrm>
                <a:off x="7401895" y="49525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353" name="Google Shape;4353;p47"/>
              <p:cNvSpPr/>
              <p:nvPr/>
            </p:nvSpPr>
            <p:spPr>
              <a:xfrm>
                <a:off x="7404189" y="124866"/>
                <a:ext cx="1936455" cy="1428631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4" name="Google Shape;4354;p47"/>
              <p:cNvSpPr txBox="1"/>
              <p:nvPr/>
            </p:nvSpPr>
            <p:spPr>
              <a:xfrm>
                <a:off x="8362008" y="560500"/>
                <a:ext cx="1111045" cy="97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=2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2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5" name="Google Shape;4355;p47"/>
              <p:cNvSpPr txBox="1"/>
              <p:nvPr/>
            </p:nvSpPr>
            <p:spPr>
              <a:xfrm>
                <a:off x="7344204" y="557387"/>
                <a:ext cx="1117197" cy="97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8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2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56" name="Google Shape;4356;p47"/>
          <p:cNvGrpSpPr/>
          <p:nvPr/>
        </p:nvGrpSpPr>
        <p:grpSpPr>
          <a:xfrm>
            <a:off x="6256790" y="3442384"/>
            <a:ext cx="531821" cy="369069"/>
            <a:chOff x="1348328" y="2507397"/>
            <a:chExt cx="603916" cy="419100"/>
          </a:xfrm>
        </p:grpSpPr>
        <p:grpSp>
          <p:nvGrpSpPr>
            <p:cNvPr id="4357" name="Google Shape;4357;p47"/>
            <p:cNvGrpSpPr/>
            <p:nvPr/>
          </p:nvGrpSpPr>
          <p:grpSpPr>
            <a:xfrm>
              <a:off x="1348328" y="2555748"/>
              <a:ext cx="603916" cy="308999"/>
              <a:chOff x="5278570" y="2983486"/>
              <a:chExt cx="501650" cy="233363"/>
            </a:xfrm>
          </p:grpSpPr>
          <p:sp>
            <p:nvSpPr>
              <p:cNvPr id="4358" name="Google Shape;4358;p47"/>
              <p:cNvSpPr/>
              <p:nvPr/>
            </p:nvSpPr>
            <p:spPr>
              <a:xfrm>
                <a:off x="5283332" y="3088261"/>
                <a:ext cx="496888" cy="128588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359" name="Google Shape;4359;p47"/>
              <p:cNvCxnSpPr/>
              <p:nvPr/>
            </p:nvCxnSpPr>
            <p:spPr>
              <a:xfrm>
                <a:off x="5283332" y="3077148"/>
                <a:ext cx="0" cy="793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60" name="Google Shape;4360;p47"/>
              <p:cNvCxnSpPr/>
              <p:nvPr/>
            </p:nvCxnSpPr>
            <p:spPr>
              <a:xfrm>
                <a:off x="5780220" y="3077148"/>
                <a:ext cx="0" cy="793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361" name="Google Shape;4361;p47"/>
              <p:cNvSpPr/>
              <p:nvPr/>
            </p:nvSpPr>
            <p:spPr>
              <a:xfrm>
                <a:off x="5283332" y="3077148"/>
                <a:ext cx="492125" cy="7778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2" name="Google Shape;4362;p47"/>
              <p:cNvSpPr/>
              <p:nvPr/>
            </p:nvSpPr>
            <p:spPr>
              <a:xfrm>
                <a:off x="5278570" y="2983486"/>
                <a:ext cx="496888" cy="150813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63" name="Google Shape;4363;p47"/>
            <p:cNvGrpSpPr/>
            <p:nvPr/>
          </p:nvGrpSpPr>
          <p:grpSpPr>
            <a:xfrm>
              <a:off x="1456374" y="2507397"/>
              <a:ext cx="355165" cy="419100"/>
              <a:chOff x="2944" y="2425"/>
              <a:chExt cx="227" cy="264"/>
            </a:xfrm>
          </p:grpSpPr>
          <p:sp>
            <p:nvSpPr>
              <p:cNvPr id="4364" name="Google Shape;4364;p47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5" name="Google Shape;4365;p47"/>
              <p:cNvSpPr txBox="1"/>
              <p:nvPr/>
            </p:nvSpPr>
            <p:spPr>
              <a:xfrm>
                <a:off x="2944" y="2425"/>
                <a:ext cx="227" cy="2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366" name="Google Shape;4366;p47"/>
          <p:cNvSpPr/>
          <p:nvPr/>
        </p:nvSpPr>
        <p:spPr>
          <a:xfrm rot="-5400000">
            <a:off x="6307392" y="303096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7" name="Google Shape;4367;p47"/>
          <p:cNvSpPr/>
          <p:nvPr/>
        </p:nvSpPr>
        <p:spPr>
          <a:xfrm>
            <a:off x="6784256" y="3016538"/>
            <a:ext cx="2899862" cy="2634390"/>
          </a:xfrm>
          <a:custGeom>
            <a:rect b="b" l="l" r="r" t="t"/>
            <a:pathLst>
              <a:path extrusionOk="0" h="2634390" w="2899862">
                <a:moveTo>
                  <a:pt x="657" y="541101"/>
                </a:moveTo>
                <a:cubicBezTo>
                  <a:pt x="1842566" y="465721"/>
                  <a:pt x="1787505" y="533564"/>
                  <a:pt x="2879541" y="0"/>
                </a:cubicBezTo>
                <a:cubicBezTo>
                  <a:pt x="2879541" y="783303"/>
                  <a:pt x="2899862" y="1851087"/>
                  <a:pt x="2899862" y="2634390"/>
                </a:cubicBezTo>
                <a:cubicBezTo>
                  <a:pt x="2640945" y="598784"/>
                  <a:pt x="2154903" y="642374"/>
                  <a:pt x="0" y="708250"/>
                </a:cubicBezTo>
                <a:lnTo>
                  <a:pt x="657" y="541101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8" name="Google Shape;4368;p47"/>
          <p:cNvSpPr/>
          <p:nvPr/>
        </p:nvSpPr>
        <p:spPr>
          <a:xfrm rot="-5400000">
            <a:off x="6612907" y="5410623"/>
            <a:ext cx="339615" cy="560629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BBD6E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69" name="Google Shape;4369;p47"/>
          <p:cNvGrpSpPr/>
          <p:nvPr/>
        </p:nvGrpSpPr>
        <p:grpSpPr>
          <a:xfrm>
            <a:off x="751840" y="2113280"/>
            <a:ext cx="6014720" cy="4541520"/>
            <a:chOff x="751840" y="2113280"/>
            <a:chExt cx="6014720" cy="4541520"/>
          </a:xfrm>
        </p:grpSpPr>
        <p:sp>
          <p:nvSpPr>
            <p:cNvPr id="4370" name="Google Shape;4370;p47"/>
            <p:cNvSpPr/>
            <p:nvPr/>
          </p:nvSpPr>
          <p:spPr>
            <a:xfrm>
              <a:off x="782320" y="3942080"/>
              <a:ext cx="5659120" cy="2712720"/>
            </a:xfrm>
            <a:prstGeom prst="rect">
              <a:avLst/>
            </a:prstGeom>
            <a:solidFill>
              <a:srgbClr val="DDEA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1" name="Google Shape;4371;p47"/>
            <p:cNvSpPr/>
            <p:nvPr/>
          </p:nvSpPr>
          <p:spPr>
            <a:xfrm>
              <a:off x="751840" y="2113280"/>
              <a:ext cx="6014720" cy="1838960"/>
            </a:xfrm>
            <a:custGeom>
              <a:rect b="b" l="l" r="r" t="t"/>
              <a:pathLst>
                <a:path extrusionOk="0" h="1838960" w="6014720">
                  <a:moveTo>
                    <a:pt x="6014720" y="0"/>
                  </a:moveTo>
                  <a:cubicBezTo>
                    <a:pt x="4937760" y="795867"/>
                    <a:pt x="5008880" y="1479973"/>
                    <a:pt x="5659120" y="1838960"/>
                  </a:cubicBezTo>
                  <a:lnTo>
                    <a:pt x="0" y="1838960"/>
                  </a:lnTo>
                  <a:cubicBezTo>
                    <a:pt x="3772747" y="1642533"/>
                    <a:pt x="3776133" y="1578187"/>
                    <a:pt x="5496560" y="0"/>
                  </a:cubicBezTo>
                  <a:lnTo>
                    <a:pt x="601472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DDEAF6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72" name="Google Shape;4372;p47"/>
          <p:cNvGrpSpPr/>
          <p:nvPr/>
        </p:nvGrpSpPr>
        <p:grpSpPr>
          <a:xfrm>
            <a:off x="5852446" y="1758989"/>
            <a:ext cx="1196054" cy="1022555"/>
            <a:chOff x="9655277" y="2349909"/>
            <a:chExt cx="1196054" cy="1022555"/>
          </a:xfrm>
        </p:grpSpPr>
        <p:sp>
          <p:nvSpPr>
            <p:cNvPr id="4373" name="Google Shape;4373;p47"/>
            <p:cNvSpPr/>
            <p:nvPr/>
          </p:nvSpPr>
          <p:spPr>
            <a:xfrm>
              <a:off x="9655277" y="2349909"/>
              <a:ext cx="1196054" cy="1022555"/>
            </a:xfrm>
            <a:custGeom>
              <a:rect b="b" l="l" r="r" t="t"/>
              <a:pathLst>
                <a:path extrusionOk="0" h="2290046" w="2820074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294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4" name="Google Shape;4374;p47"/>
            <p:cNvSpPr txBox="1"/>
            <p:nvPr/>
          </p:nvSpPr>
          <p:spPr>
            <a:xfrm>
              <a:off x="9753600" y="2635045"/>
              <a:ext cx="10202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compute</a:t>
              </a:r>
              <a:endParaRPr/>
            </a:p>
          </p:txBody>
        </p:sp>
      </p:grpSp>
      <p:sp>
        <p:nvSpPr>
          <p:cNvPr id="4375" name="Google Shape;4375;p47"/>
          <p:cNvSpPr txBox="1"/>
          <p:nvPr/>
        </p:nvSpPr>
        <p:spPr>
          <a:xfrm>
            <a:off x="6355429" y="1927737"/>
            <a:ext cx="31931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4376" name="Google Shape;4376;p47"/>
          <p:cNvSpPr txBox="1"/>
          <p:nvPr/>
        </p:nvSpPr>
        <p:spPr>
          <a:xfrm>
            <a:off x="894080" y="4021574"/>
            <a:ext cx="55676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(a)}  = min{8,∞,∞} = 8 </a:t>
            </a:r>
            <a:endParaRPr/>
          </a:p>
        </p:txBody>
      </p:sp>
      <p:sp>
        <p:nvSpPr>
          <p:cNvPr id="4377" name="Google Shape;4377;p47"/>
          <p:cNvSpPr txBox="1"/>
          <p:nvPr/>
        </p:nvSpPr>
        <p:spPr>
          <a:xfrm>
            <a:off x="894080" y="4346694"/>
            <a:ext cx="55372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b,e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(c)}  = min{∞,1,∞} = 1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8" name="Google Shape;4378;p47"/>
          <p:cNvSpPr txBox="1"/>
          <p:nvPr/>
        </p:nvSpPr>
        <p:spPr>
          <a:xfrm>
            <a:off x="883920" y="4671814"/>
            <a:ext cx="55270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(d)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(d),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(d),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b,e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(d)}  = min{9,2,∞} = 2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9" name="Google Shape;4379;p47"/>
          <p:cNvSpPr txBox="1"/>
          <p:nvPr/>
        </p:nvSpPr>
        <p:spPr>
          <a:xfrm>
            <a:off x="883920" y="5301734"/>
            <a:ext cx="54965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b,e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(f)}  = min{∞,∞,2} = 2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0" name="Google Shape;4380;p47"/>
          <p:cNvSpPr txBox="1"/>
          <p:nvPr/>
        </p:nvSpPr>
        <p:spPr>
          <a:xfrm>
            <a:off x="894080" y="6244828"/>
            <a:ext cx="54660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(i)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(i),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(i),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b,e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(i)}  = min{∞,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∞, ∞} = ∞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1" name="Google Shape;4381;p47"/>
          <p:cNvSpPr txBox="1"/>
          <p:nvPr/>
        </p:nvSpPr>
        <p:spPr>
          <a:xfrm>
            <a:off x="883920" y="5940028"/>
            <a:ext cx="55473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(h)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(h),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(h),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b,e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(h)}  = min{∞,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∞, 2} = 2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2" name="Google Shape;4382;p47"/>
          <p:cNvSpPr txBox="1"/>
          <p:nvPr/>
        </p:nvSpPr>
        <p:spPr>
          <a:xfrm>
            <a:off x="894080" y="4976614"/>
            <a:ext cx="5445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b,e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(e)}  = min{∞,∞,1} = 1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3" name="Google Shape;4383;p47"/>
          <p:cNvSpPr txBox="1"/>
          <p:nvPr/>
        </p:nvSpPr>
        <p:spPr>
          <a:xfrm>
            <a:off x="894080" y="5616694"/>
            <a:ext cx="55473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(g)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(g),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(g), 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b,e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(g)}  = min{∞,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∞, ∞} = ∞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84" name="Google Shape;4384;p47"/>
          <p:cNvGrpSpPr/>
          <p:nvPr/>
        </p:nvGrpSpPr>
        <p:grpSpPr>
          <a:xfrm>
            <a:off x="6978316" y="4796590"/>
            <a:ext cx="1887976" cy="1515086"/>
            <a:chOff x="6978316" y="4796590"/>
            <a:chExt cx="1887976" cy="1515086"/>
          </a:xfrm>
        </p:grpSpPr>
        <p:sp>
          <p:nvSpPr>
            <p:cNvPr id="4385" name="Google Shape;4385;p47"/>
            <p:cNvSpPr txBox="1"/>
            <p:nvPr/>
          </p:nvSpPr>
          <p:spPr>
            <a:xfrm>
              <a:off x="6978316" y="4796590"/>
              <a:ext cx="13397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New DV in b</a:t>
              </a:r>
              <a:endParaRPr/>
            </a:p>
          </p:txBody>
        </p:sp>
        <p:sp>
          <p:nvSpPr>
            <p:cNvPr id="4386" name="Google Shape;4386;p47"/>
            <p:cNvSpPr/>
            <p:nvPr/>
          </p:nvSpPr>
          <p:spPr>
            <a:xfrm>
              <a:off x="8526735" y="5598159"/>
              <a:ext cx="275211" cy="263091"/>
            </a:xfrm>
            <a:prstGeom prst="ellipse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7" name="Google Shape;4387;p47"/>
            <p:cNvSpPr/>
            <p:nvPr/>
          </p:nvSpPr>
          <p:spPr>
            <a:xfrm>
              <a:off x="7683455" y="6045199"/>
              <a:ext cx="275211" cy="263091"/>
            </a:xfrm>
            <a:prstGeom prst="ellipse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8" name="Google Shape;4388;p47"/>
            <p:cNvSpPr/>
            <p:nvPr/>
          </p:nvSpPr>
          <p:spPr>
            <a:xfrm>
              <a:off x="8591081" y="6048585"/>
              <a:ext cx="275211" cy="263091"/>
            </a:xfrm>
            <a:prstGeom prst="ellipse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3" name="Shape 4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94" name="Google Shape;4394;p48"/>
          <p:cNvGrpSpPr/>
          <p:nvPr/>
        </p:nvGrpSpPr>
        <p:grpSpPr>
          <a:xfrm>
            <a:off x="2827965" y="1130710"/>
            <a:ext cx="1547391" cy="2620631"/>
            <a:chOff x="3221255" y="1012723"/>
            <a:chExt cx="1547391" cy="2620631"/>
          </a:xfrm>
        </p:grpSpPr>
        <p:sp>
          <p:nvSpPr>
            <p:cNvPr id="4395" name="Google Shape;4395;p48"/>
            <p:cNvSpPr/>
            <p:nvPr/>
          </p:nvSpPr>
          <p:spPr>
            <a:xfrm>
              <a:off x="4316362" y="1042219"/>
              <a:ext cx="452284" cy="2389239"/>
            </a:xfrm>
            <a:custGeom>
              <a:rect b="b" l="l" r="r" t="t"/>
              <a:pathLst>
                <a:path extrusionOk="0" h="2389239" w="452284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96" name="Google Shape;4396;p48"/>
            <p:cNvGrpSpPr/>
            <p:nvPr/>
          </p:nvGrpSpPr>
          <p:grpSpPr>
            <a:xfrm>
              <a:off x="3221255" y="1012723"/>
              <a:ext cx="1172904" cy="2620631"/>
              <a:chOff x="3221255" y="1012723"/>
              <a:chExt cx="1172904" cy="2620631"/>
            </a:xfrm>
          </p:grpSpPr>
          <p:sp>
            <p:nvSpPr>
              <p:cNvPr id="4397" name="Google Shape;4397;p48"/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398" name="Google Shape;4398;p48"/>
              <p:cNvGrpSpPr/>
              <p:nvPr/>
            </p:nvGrpSpPr>
            <p:grpSpPr>
              <a:xfrm>
                <a:off x="3221255" y="1017253"/>
                <a:ext cx="1172904" cy="2616101"/>
                <a:chOff x="9477371" y="702026"/>
                <a:chExt cx="1172904" cy="2616101"/>
              </a:xfrm>
            </p:grpSpPr>
            <p:sp>
              <p:nvSpPr>
                <p:cNvPr id="4399" name="Google Shape;4399;p48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00" name="Google Shape;4400;p48"/>
                <p:cNvSpPr txBox="1"/>
                <p:nvPr/>
              </p:nvSpPr>
              <p:spPr>
                <a:xfrm>
                  <a:off x="9533078" y="702026"/>
                  <a:ext cx="1117197" cy="26161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a: 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(a)=0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8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∞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1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401" name="Google Shape;4401;p48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402" name="Google Shape;4402;p48"/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403" name="Google Shape;4403;p48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computation</a:t>
            </a:r>
            <a:endParaRPr/>
          </a:p>
        </p:txBody>
      </p:sp>
      <p:cxnSp>
        <p:nvCxnSpPr>
          <p:cNvPr id="4404" name="Google Shape;4404;p48"/>
          <p:cNvCxnSpPr>
            <a:stCxn id="4405" idx="2"/>
            <a:endCxn id="4405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06" name="Google Shape;4406;p48"/>
          <p:cNvCxnSpPr>
            <a:stCxn id="4405" idx="1"/>
            <a:endCxn id="4405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05" name="Google Shape;4405;p48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7" name="Google Shape;4407;p48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08" name="Google Shape;4408;p48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4409" name="Google Shape;4409;p48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410" name="Google Shape;4410;p4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411" name="Google Shape;4411;p4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412" name="Google Shape;4412;p4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413" name="Google Shape;4413;p4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414" name="Google Shape;4414;p4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15" name="Google Shape;4415;p4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416" name="Google Shape;4416;p48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417" name="Google Shape;4417;p4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18" name="Google Shape;4418;p48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419" name="Google Shape;4419;p48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420" name="Google Shape;4420;p4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421" name="Google Shape;4421;p4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422" name="Google Shape;4422;p4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423" name="Google Shape;4423;p4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424" name="Google Shape;4424;p4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25" name="Google Shape;4425;p4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426" name="Google Shape;4426;p48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427" name="Google Shape;4427;p4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28" name="Google Shape;4428;p48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429" name="Google Shape;4429;p48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430" name="Google Shape;4430;p4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431" name="Google Shape;4431;p4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432" name="Google Shape;4432;p4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433" name="Google Shape;4433;p4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434" name="Google Shape;4434;p4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35" name="Google Shape;4435;p4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436" name="Google Shape;4436;p48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4437" name="Google Shape;4437;p4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38" name="Google Shape;4438;p48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439" name="Google Shape;4439;p48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440" name="Google Shape;4440;p48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441" name="Google Shape;4441;p48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442" name="Google Shape;4442;p48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443" name="Google Shape;4443;p48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444" name="Google Shape;4444;p48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445" name="Google Shape;4445;p48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446" name="Google Shape;4446;p48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447" name="Google Shape;4447;p48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448" name="Google Shape;4448;p48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449" name="Google Shape;4449;p48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4450" name="Google Shape;4450;p48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4451" name="Google Shape;4451;p48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4452" name="Google Shape;4452;p48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4453" name="Google Shape;4453;p48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454" name="Google Shape;4454;p48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455" name="Google Shape;4455;p48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456" name="Google Shape;4456;p48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457" name="Google Shape;4457;p48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458" name="Google Shape;4458;p48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459" name="Google Shape;4459;p48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460" name="Google Shape;4460;p48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461" name="Google Shape;4461;p48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462" name="Google Shape;4462;p48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463" name="Google Shape;4463;p48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464" name="Google Shape;4464;p48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465" name="Google Shape;4465;p48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466" name="Google Shape;4466;p48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4467" name="Google Shape;4467;p48"/>
          <p:cNvCxnSpPr/>
          <p:nvPr/>
        </p:nvCxnSpPr>
        <p:spPr>
          <a:xfrm>
            <a:off x="919556" y="1995948"/>
            <a:ext cx="0" cy="196031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68" name="Google Shape;4468;p48"/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69" name="Google Shape;4469;p48"/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4470" name="Google Shape;4470;p48"/>
            <p:cNvSpPr/>
            <p:nvPr/>
          </p:nvSpPr>
          <p:spPr>
            <a:xfrm>
              <a:off x="7010400" y="176982"/>
              <a:ext cx="2340077" cy="1848464"/>
            </a:xfrm>
            <a:custGeom>
              <a:rect b="b" l="l" r="r" t="t"/>
              <a:pathLst>
                <a:path extrusionOk="0" h="1848464" w="2340077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71" name="Google Shape;4471;p48"/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4472" name="Google Shape;4472;p48"/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73" name="Google Shape;4473;p48"/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4474" name="Google Shape;4474;p48"/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5" name="Google Shape;4475;p48"/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b:</a:t>
                  </a:r>
                  <a:endParaRPr/>
                </a:p>
              </p:txBody>
            </p:sp>
            <p:cxnSp>
              <p:nvCxnSpPr>
                <p:cNvPr id="4476" name="Google Shape;4476;p48"/>
                <p:cNvCxnSpPr/>
                <p:nvPr/>
              </p:nvCxnSpPr>
              <p:spPr>
                <a:xfrm>
                  <a:off x="7401895" y="49525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477" name="Google Shape;4477;p48"/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8" name="Google Shape;4478;p48"/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9" name="Google Shape;4479;p48"/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8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1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1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480" name="Google Shape;4480;p48"/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 receives DVs from b</a:t>
            </a:r>
            <a:endParaRPr/>
          </a:p>
        </p:txBody>
      </p:sp>
      <p:sp>
        <p:nvSpPr>
          <p:cNvPr id="4481" name="Google Shape;4481;p48"/>
          <p:cNvSpPr/>
          <p:nvPr/>
        </p:nvSpPr>
        <p:spPr>
          <a:xfrm rot="-5400000">
            <a:off x="6346718" y="340688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2" name="Google Shape;4482;p48"/>
          <p:cNvSpPr/>
          <p:nvPr/>
        </p:nvSpPr>
        <p:spPr>
          <a:xfrm>
            <a:off x="4973224" y="193798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3" name="Google Shape;4483;p48"/>
          <p:cNvSpPr/>
          <p:nvPr/>
        </p:nvSpPr>
        <p:spPr>
          <a:xfrm rot="10800000">
            <a:off x="7631559" y="191970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84" name="Google Shape;4484;p48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4485" name="Google Shape;4485;p48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486" name="Google Shape;4486;p4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487" name="Google Shape;4487;p4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488" name="Google Shape;4488;p4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489" name="Google Shape;4489;p4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490" name="Google Shape;4490;p4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91" name="Google Shape;4491;p4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492" name="Google Shape;4492;p48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493" name="Google Shape;4493;p4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94" name="Google Shape;4494;p48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495" name="Google Shape;4495;p48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496" name="Google Shape;4496;p4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497" name="Google Shape;4497;p4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498" name="Google Shape;4498;p4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499" name="Google Shape;4499;p4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500" name="Google Shape;4500;p4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1" name="Google Shape;4501;p4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02" name="Google Shape;4502;p48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503" name="Google Shape;4503;p4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4" name="Google Shape;4504;p48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05" name="Google Shape;4505;p48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506" name="Google Shape;4506;p4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507" name="Google Shape;4507;p4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508" name="Google Shape;4508;p4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509" name="Google Shape;4509;p4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510" name="Google Shape;4510;p4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1" name="Google Shape;4511;p4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12" name="Google Shape;4512;p48"/>
              <p:cNvGrpSpPr/>
              <p:nvPr/>
            </p:nvGrpSpPr>
            <p:grpSpPr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4513" name="Google Shape;4513;p4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4" name="Google Shape;4514;p48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515" name="Google Shape;4515;p48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4516" name="Google Shape;4516;p48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517" name="Google Shape;4517;p4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518" name="Google Shape;4518;p4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519" name="Google Shape;4519;p4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520" name="Google Shape;4520;p4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521" name="Google Shape;4521;p4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22" name="Google Shape;4522;p4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23" name="Google Shape;4523;p48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524" name="Google Shape;4524;p4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25" name="Google Shape;4525;p48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26" name="Google Shape;4526;p48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527" name="Google Shape;4527;p4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528" name="Google Shape;4528;p4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529" name="Google Shape;4529;p4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530" name="Google Shape;4530;p4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531" name="Google Shape;4531;p4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32" name="Google Shape;4532;p4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33" name="Google Shape;4533;p48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534" name="Google Shape;4534;p4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35" name="Google Shape;4535;p48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36" name="Google Shape;4536;p48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537" name="Google Shape;4537;p4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538" name="Google Shape;4538;p4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539" name="Google Shape;4539;p4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540" name="Google Shape;4540;p4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541" name="Google Shape;4541;p4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42" name="Google Shape;4542;p4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43" name="Google Shape;4543;p48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4544" name="Google Shape;4544;p4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45" name="Google Shape;4545;p48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546" name="Google Shape;4546;p48"/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4547" name="Google Shape;4547;p48"/>
            <p:cNvSpPr/>
            <p:nvPr/>
          </p:nvSpPr>
          <p:spPr>
            <a:xfrm>
              <a:off x="8740877" y="247036"/>
              <a:ext cx="924232" cy="2428567"/>
            </a:xfrm>
            <a:custGeom>
              <a:rect b="b" l="l" r="r" t="t"/>
              <a:pathLst>
                <a:path extrusionOk="0" h="2428567" w="1170039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548" name="Google Shape;4548;p48"/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4549" name="Google Shape;4549;p48"/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50" name="Google Shape;4550;p48"/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4551" name="Google Shape;4551;p48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52" name="Google Shape;4552;p48"/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c:</a:t>
                  </a:r>
                  <a:endParaRPr/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∞</a:t>
                  </a:r>
                  <a:endParaRPr/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1</a:t>
                  </a:r>
                  <a:endParaRPr/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0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53" name="Google Shape;4553;p48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554" name="Google Shape;4554;p48"/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555" name="Google Shape;4555;p48"/>
          <p:cNvSpPr/>
          <p:nvPr/>
        </p:nvSpPr>
        <p:spPr>
          <a:xfrm>
            <a:off x="6794417" y="3016538"/>
            <a:ext cx="2889702" cy="2634390"/>
          </a:xfrm>
          <a:custGeom>
            <a:rect b="b" l="l" r="r" t="t"/>
            <a:pathLst>
              <a:path extrusionOk="0" h="2634390" w="2889702">
                <a:moveTo>
                  <a:pt x="10817" y="896701"/>
                </a:moveTo>
                <a:cubicBezTo>
                  <a:pt x="1751126" y="516521"/>
                  <a:pt x="1777345" y="533564"/>
                  <a:pt x="2869381" y="0"/>
                </a:cubicBezTo>
                <a:cubicBezTo>
                  <a:pt x="2869381" y="783303"/>
                  <a:pt x="2889702" y="1851087"/>
                  <a:pt x="2889702" y="2634390"/>
                </a:cubicBezTo>
                <a:cubicBezTo>
                  <a:pt x="2630785" y="598784"/>
                  <a:pt x="2043143" y="642374"/>
                  <a:pt x="0" y="1094330"/>
                </a:cubicBezTo>
                <a:lnTo>
                  <a:pt x="10817" y="896701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56" name="Google Shape;4556;p48"/>
          <p:cNvGrpSpPr/>
          <p:nvPr/>
        </p:nvGrpSpPr>
        <p:grpSpPr>
          <a:xfrm>
            <a:off x="9654637" y="3018176"/>
            <a:ext cx="1131350" cy="2675039"/>
            <a:chOff x="9762792" y="4031226"/>
            <a:chExt cx="1131350" cy="2675039"/>
          </a:xfrm>
        </p:grpSpPr>
        <p:sp>
          <p:nvSpPr>
            <p:cNvPr id="4557" name="Google Shape;4557;p48"/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558" name="Google Shape;4558;p48"/>
            <p:cNvGrpSpPr/>
            <p:nvPr/>
          </p:nvGrpSpPr>
          <p:grpSpPr>
            <a:xfrm>
              <a:off x="9762792" y="4038868"/>
              <a:ext cx="1130292" cy="2667397"/>
              <a:chOff x="9472118" y="702026"/>
              <a:chExt cx="1130292" cy="2667397"/>
            </a:xfrm>
          </p:grpSpPr>
          <p:sp>
            <p:nvSpPr>
              <p:cNvPr id="4559" name="Google Shape;4559;p48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0" name="Google Shape;4560;p48"/>
              <p:cNvSpPr txBox="1"/>
              <p:nvPr/>
            </p:nvSpPr>
            <p:spPr>
              <a:xfrm>
                <a:off x="9472118" y="702026"/>
                <a:ext cx="1117197" cy="266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e:</a:t>
                </a:r>
                <a:endParaRPr/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∞</a:t>
                </a:r>
                <a:endParaRPr/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1</a:t>
                </a:r>
                <a:endParaRPr/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0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561" name="Google Shape;4561;p48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562" name="Google Shape;4562;p48"/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563" name="Google Shape;4563;p48"/>
          <p:cNvSpPr/>
          <p:nvPr/>
        </p:nvSpPr>
        <p:spPr>
          <a:xfrm>
            <a:off x="6977380" y="192782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4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4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8" name="Shape 4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9" name="Google Shape;4569;p49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computation</a:t>
            </a:r>
            <a:endParaRPr/>
          </a:p>
        </p:txBody>
      </p:sp>
      <p:cxnSp>
        <p:nvCxnSpPr>
          <p:cNvPr id="4570" name="Google Shape;4570;p49"/>
          <p:cNvCxnSpPr>
            <a:stCxn id="4571" idx="2"/>
            <a:endCxn id="4571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72" name="Google Shape;4572;p49"/>
          <p:cNvCxnSpPr>
            <a:stCxn id="4571" idx="1"/>
            <a:endCxn id="4571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71" name="Google Shape;4571;p49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3" name="Google Shape;4573;p49"/>
          <p:cNvSpPr/>
          <p:nvPr/>
        </p:nvSpPr>
        <p:spPr>
          <a:xfrm>
            <a:off x="8380337" y="222079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74" name="Google Shape;4574;p49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4575" name="Google Shape;4575;p49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576" name="Google Shape;4576;p4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577" name="Google Shape;4577;p4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578" name="Google Shape;4578;p4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579" name="Google Shape;4579;p4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580" name="Google Shape;4580;p4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81" name="Google Shape;4581;p4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82" name="Google Shape;4582;p49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583" name="Google Shape;4583;p4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84" name="Google Shape;4584;p49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85" name="Google Shape;4585;p49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586" name="Google Shape;4586;p4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587" name="Google Shape;4587;p4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588" name="Google Shape;4588;p4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589" name="Google Shape;4589;p4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590" name="Google Shape;4590;p4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91" name="Google Shape;4591;p4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92" name="Google Shape;4592;p49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593" name="Google Shape;4593;p4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94" name="Google Shape;4594;p49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95" name="Google Shape;4595;p49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596" name="Google Shape;4596;p4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597" name="Google Shape;4597;p4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598" name="Google Shape;4598;p4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599" name="Google Shape;4599;p4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600" name="Google Shape;4600;p4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01" name="Google Shape;4601;p4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602" name="Google Shape;4602;p49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4603" name="Google Shape;4603;p4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04" name="Google Shape;4604;p49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605" name="Google Shape;4605;p49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606" name="Google Shape;4606;p49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607" name="Google Shape;4607;p49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608" name="Google Shape;4608;p49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4609" name="Google Shape;4609;p49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4610" name="Google Shape;4610;p49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4611" name="Google Shape;4611;p49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4612" name="Google Shape;4612;p49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613" name="Google Shape;4613;p49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14" name="Google Shape;4614;p49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15" name="Google Shape;4615;p49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16" name="Google Shape;4616;p49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17" name="Google Shape;4617;p49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18" name="Google Shape;4618;p49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19" name="Google Shape;4619;p49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20" name="Google Shape;4620;p49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21" name="Google Shape;4621;p49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22" name="Google Shape;4622;p49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23" name="Google Shape;4623;p49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24" name="Google Shape;4624;p49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625" name="Google Shape;4625;p49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4626" name="Google Shape;4626;p49"/>
          <p:cNvCxnSpPr/>
          <p:nvPr/>
        </p:nvCxnSpPr>
        <p:spPr>
          <a:xfrm>
            <a:off x="919556" y="1995948"/>
            <a:ext cx="0" cy="196031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27" name="Google Shape;4627;p49"/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28" name="Google Shape;4628;p49"/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4629" name="Google Shape;4629;p49"/>
            <p:cNvSpPr/>
            <p:nvPr/>
          </p:nvSpPr>
          <p:spPr>
            <a:xfrm>
              <a:off x="7010400" y="176982"/>
              <a:ext cx="2340077" cy="1848464"/>
            </a:xfrm>
            <a:custGeom>
              <a:rect b="b" l="l" r="r" t="t"/>
              <a:pathLst>
                <a:path extrusionOk="0" h="1848464" w="2340077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30" name="Google Shape;4630;p49"/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4631" name="Google Shape;4631;p49"/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632" name="Google Shape;4632;p49"/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4633" name="Google Shape;4633;p49"/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4" name="Google Shape;4634;p49"/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b:</a:t>
                  </a:r>
                  <a:endParaRPr/>
                </a:p>
              </p:txBody>
            </p:sp>
            <p:cxnSp>
              <p:nvCxnSpPr>
                <p:cNvPr id="4635" name="Google Shape;4635;p49"/>
                <p:cNvCxnSpPr/>
                <p:nvPr/>
              </p:nvCxnSpPr>
              <p:spPr>
                <a:xfrm>
                  <a:off x="7401895" y="49525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636" name="Google Shape;4636;p49"/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7" name="Google Shape;4637;p49"/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8" name="Google Shape;4638;p49"/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8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1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1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639" name="Google Shape;4639;p49"/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 receives DVs from b computes:</a:t>
            </a:r>
            <a:endParaRPr/>
          </a:p>
        </p:txBody>
      </p:sp>
      <p:grpSp>
        <p:nvGrpSpPr>
          <p:cNvPr id="4640" name="Google Shape;4640;p49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4641" name="Google Shape;4641;p49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642" name="Google Shape;4642;p4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643" name="Google Shape;4643;p4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644" name="Google Shape;4644;p4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645" name="Google Shape;4645;p4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646" name="Google Shape;4646;p4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47" name="Google Shape;4647;p4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648" name="Google Shape;4648;p49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649" name="Google Shape;4649;p4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50" name="Google Shape;4650;p49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651" name="Google Shape;4651;p49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652" name="Google Shape;4652;p4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653" name="Google Shape;4653;p4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654" name="Google Shape;4654;p4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655" name="Google Shape;4655;p4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656" name="Google Shape;4656;p4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57" name="Google Shape;4657;p4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658" name="Google Shape;4658;p49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659" name="Google Shape;4659;p4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60" name="Google Shape;4660;p49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661" name="Google Shape;4661;p49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662" name="Google Shape;4662;p4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663" name="Google Shape;4663;p4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664" name="Google Shape;4664;p4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665" name="Google Shape;4665;p4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666" name="Google Shape;4666;p4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67" name="Google Shape;4667;p4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668" name="Google Shape;4668;p49"/>
              <p:cNvGrpSpPr/>
              <p:nvPr/>
            </p:nvGrpSpPr>
            <p:grpSpPr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4669" name="Google Shape;4669;p4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70" name="Google Shape;4670;p49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671" name="Google Shape;4671;p49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4672" name="Google Shape;4672;p49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673" name="Google Shape;4673;p4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674" name="Google Shape;4674;p4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675" name="Google Shape;4675;p4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676" name="Google Shape;4676;p4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677" name="Google Shape;4677;p4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78" name="Google Shape;4678;p4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679" name="Google Shape;4679;p49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680" name="Google Shape;4680;p4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81" name="Google Shape;4681;p49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682" name="Google Shape;4682;p49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683" name="Google Shape;4683;p4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684" name="Google Shape;4684;p4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685" name="Google Shape;4685;p4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686" name="Google Shape;4686;p4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687" name="Google Shape;4687;p4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88" name="Google Shape;4688;p4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689" name="Google Shape;4689;p49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690" name="Google Shape;4690;p4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91" name="Google Shape;4691;p49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692" name="Google Shape;4692;p49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693" name="Google Shape;4693;p4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694" name="Google Shape;4694;p4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695" name="Google Shape;4695;p4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696" name="Google Shape;4696;p4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697" name="Google Shape;4697;p4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98" name="Google Shape;4698;p4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699" name="Google Shape;4699;p49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4700" name="Google Shape;4700;p4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01" name="Google Shape;4701;p49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702" name="Google Shape;4702;p49"/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4703" name="Google Shape;4703;p49"/>
            <p:cNvSpPr/>
            <p:nvPr/>
          </p:nvSpPr>
          <p:spPr>
            <a:xfrm>
              <a:off x="8740877" y="247036"/>
              <a:ext cx="924232" cy="2428567"/>
            </a:xfrm>
            <a:custGeom>
              <a:rect b="b" l="l" r="r" t="t"/>
              <a:pathLst>
                <a:path extrusionOk="0" h="2428567" w="1170039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704" name="Google Shape;4704;p49"/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4705" name="Google Shape;4705;p49"/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706" name="Google Shape;4706;p49"/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4707" name="Google Shape;4707;p49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8" name="Google Shape;4708;p49"/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c:</a:t>
                  </a:r>
                  <a:endParaRPr/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∞</a:t>
                  </a:r>
                  <a:endParaRPr/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1</a:t>
                  </a:r>
                  <a:endParaRPr/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0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11430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709" name="Google Shape;4709;p49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710" name="Google Shape;4710;p49"/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711" name="Google Shape;4711;p49"/>
          <p:cNvSpPr/>
          <p:nvPr/>
        </p:nvSpPr>
        <p:spPr>
          <a:xfrm>
            <a:off x="6977380" y="192782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2" name="Google Shape;4712;p49"/>
          <p:cNvSpPr/>
          <p:nvPr/>
        </p:nvSpPr>
        <p:spPr>
          <a:xfrm>
            <a:off x="3281678" y="1747520"/>
            <a:ext cx="5923281" cy="4988560"/>
          </a:xfrm>
          <a:custGeom>
            <a:rect b="b" l="l" r="r" t="t"/>
            <a:pathLst>
              <a:path extrusionOk="0" h="4988560" w="5760999">
                <a:moveTo>
                  <a:pt x="2524413" y="30480"/>
                </a:moveTo>
                <a:lnTo>
                  <a:pt x="2829213" y="568960"/>
                </a:lnTo>
                <a:lnTo>
                  <a:pt x="3570336" y="782320"/>
                </a:lnTo>
                <a:lnTo>
                  <a:pt x="5730519" y="1950720"/>
                </a:lnTo>
                <a:lnTo>
                  <a:pt x="5760999" y="4988560"/>
                </a:lnTo>
                <a:lnTo>
                  <a:pt x="0" y="4978400"/>
                </a:lnTo>
                <a:lnTo>
                  <a:pt x="138344" y="20320"/>
                </a:lnTo>
                <a:lnTo>
                  <a:pt x="936947" y="0"/>
                </a:lnTo>
                <a:lnTo>
                  <a:pt x="2524413" y="3048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3" name="Google Shape;4713;p49"/>
          <p:cNvSpPr/>
          <p:nvPr/>
        </p:nvSpPr>
        <p:spPr>
          <a:xfrm>
            <a:off x="3068320" y="3810000"/>
            <a:ext cx="3535680" cy="2712720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4" name="Google Shape;4714;p49"/>
          <p:cNvSpPr txBox="1"/>
          <p:nvPr/>
        </p:nvSpPr>
        <p:spPr>
          <a:xfrm>
            <a:off x="3180080" y="3889494"/>
            <a:ext cx="3352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(a}} = 1 + 8 = 9 </a:t>
            </a:r>
            <a:endParaRPr/>
          </a:p>
        </p:txBody>
      </p:sp>
      <p:sp>
        <p:nvSpPr>
          <p:cNvPr id="4715" name="Google Shape;4715;p49"/>
          <p:cNvSpPr txBox="1"/>
          <p:nvPr/>
        </p:nvSpPr>
        <p:spPr>
          <a:xfrm>
            <a:off x="3180080" y="4214614"/>
            <a:ext cx="3352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(b)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(b)} = 1 + 0 = 1</a:t>
            </a:r>
            <a:endParaRPr/>
          </a:p>
        </p:txBody>
      </p:sp>
      <p:sp>
        <p:nvSpPr>
          <p:cNvPr id="4716" name="Google Shape;4716;p49"/>
          <p:cNvSpPr txBox="1"/>
          <p:nvPr/>
        </p:nvSpPr>
        <p:spPr>
          <a:xfrm>
            <a:off x="3169920" y="4539734"/>
            <a:ext cx="34442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(d)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(d)} = 1+ ∞ = ∞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7" name="Google Shape;4717;p49"/>
          <p:cNvSpPr txBox="1"/>
          <p:nvPr/>
        </p:nvSpPr>
        <p:spPr>
          <a:xfrm>
            <a:off x="3180080" y="4844534"/>
            <a:ext cx="32715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(e)} = 1 + 1 = 2</a:t>
            </a:r>
            <a:endParaRPr/>
          </a:p>
        </p:txBody>
      </p:sp>
      <p:sp>
        <p:nvSpPr>
          <p:cNvPr id="4718" name="Google Shape;4718;p49"/>
          <p:cNvSpPr txBox="1"/>
          <p:nvPr/>
        </p:nvSpPr>
        <p:spPr>
          <a:xfrm>
            <a:off x="3169920" y="5169654"/>
            <a:ext cx="33629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(f)} = 1+ ∞ = ∞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9" name="Google Shape;4719;p49"/>
          <p:cNvSpPr txBox="1"/>
          <p:nvPr/>
        </p:nvSpPr>
        <p:spPr>
          <a:xfrm>
            <a:off x="3180080" y="5484614"/>
            <a:ext cx="32207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(g)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(g)} = 1+ ∞ = ∞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0" name="Google Shape;4720;p49"/>
          <p:cNvSpPr txBox="1"/>
          <p:nvPr/>
        </p:nvSpPr>
        <p:spPr>
          <a:xfrm>
            <a:off x="3180080" y="6112748"/>
            <a:ext cx="33731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(i)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(i)} = 1+ ∞ = ∞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1" name="Google Shape;4721;p49"/>
          <p:cNvSpPr txBox="1"/>
          <p:nvPr/>
        </p:nvSpPr>
        <p:spPr>
          <a:xfrm>
            <a:off x="3169920" y="5807948"/>
            <a:ext cx="33832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(h) = min{c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bc,b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(h)} = 1+ ∞ = ∞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2" name="Google Shape;4722;p49"/>
          <p:cNvSpPr/>
          <p:nvPr/>
        </p:nvSpPr>
        <p:spPr>
          <a:xfrm rot="-5400000">
            <a:off x="6704347" y="5410623"/>
            <a:ext cx="339615" cy="560629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BBD6E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23" name="Google Shape;4723;p49"/>
          <p:cNvGrpSpPr/>
          <p:nvPr/>
        </p:nvGrpSpPr>
        <p:grpSpPr>
          <a:xfrm>
            <a:off x="7147328" y="3969037"/>
            <a:ext cx="1149458" cy="2667397"/>
            <a:chOff x="9764348" y="1447800"/>
            <a:chExt cx="1149458" cy="2667397"/>
          </a:xfrm>
        </p:grpSpPr>
        <p:sp>
          <p:nvSpPr>
            <p:cNvPr id="4724" name="Google Shape;4724;p49"/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725" name="Google Shape;4725;p49"/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4726" name="Google Shape;4726;p49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7" name="Google Shape;4727;p49"/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c:</a:t>
                </a:r>
                <a:endParaRPr/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9</a:t>
                </a:r>
                <a:endParaRPr/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1</a:t>
                </a:r>
                <a:endParaRPr/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0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2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728" name="Google Shape;4728;p49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729" name="Google Shape;4729;p49"/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730" name="Google Shape;4730;p49"/>
          <p:cNvSpPr/>
          <p:nvPr/>
        </p:nvSpPr>
        <p:spPr>
          <a:xfrm>
            <a:off x="3068320" y="2194560"/>
            <a:ext cx="5598160" cy="1625600"/>
          </a:xfrm>
          <a:custGeom>
            <a:rect b="b" l="l" r="r" t="t"/>
            <a:pathLst>
              <a:path extrusionOk="0" h="1625600" w="5598160">
                <a:moveTo>
                  <a:pt x="5120640" y="0"/>
                </a:moveTo>
                <a:cubicBezTo>
                  <a:pt x="3495040" y="812800"/>
                  <a:pt x="2540000" y="1127760"/>
                  <a:pt x="0" y="1615440"/>
                </a:cubicBezTo>
                <a:lnTo>
                  <a:pt x="3535680" y="1625600"/>
                </a:lnTo>
                <a:cubicBezTo>
                  <a:pt x="4087707" y="988907"/>
                  <a:pt x="4243493" y="890693"/>
                  <a:pt x="5598160" y="50800"/>
                </a:cubicBezTo>
                <a:cubicBezTo>
                  <a:pt x="5317067" y="98213"/>
                  <a:pt x="5259493" y="115147"/>
                  <a:pt x="5120640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DDEAF6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31" name="Google Shape;4731;p49"/>
          <p:cNvGrpSpPr/>
          <p:nvPr/>
        </p:nvGrpSpPr>
        <p:grpSpPr>
          <a:xfrm>
            <a:off x="7868428" y="1698029"/>
            <a:ext cx="1196054" cy="1022555"/>
            <a:chOff x="9655277" y="2349909"/>
            <a:chExt cx="1196054" cy="1022555"/>
          </a:xfrm>
        </p:grpSpPr>
        <p:sp>
          <p:nvSpPr>
            <p:cNvPr id="4732" name="Google Shape;4732;p49"/>
            <p:cNvSpPr/>
            <p:nvPr/>
          </p:nvSpPr>
          <p:spPr>
            <a:xfrm>
              <a:off x="9655277" y="2349909"/>
              <a:ext cx="1196054" cy="1022555"/>
            </a:xfrm>
            <a:custGeom>
              <a:rect b="b" l="l" r="r" t="t"/>
              <a:pathLst>
                <a:path extrusionOk="0" h="2290046" w="2820074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294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3" name="Google Shape;4733;p49"/>
            <p:cNvSpPr txBox="1"/>
            <p:nvPr/>
          </p:nvSpPr>
          <p:spPr>
            <a:xfrm>
              <a:off x="9753600" y="2635045"/>
              <a:ext cx="10202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compute</a:t>
              </a:r>
              <a:endParaRPr/>
            </a:p>
          </p:txBody>
        </p:sp>
      </p:grpSp>
      <p:grpSp>
        <p:nvGrpSpPr>
          <p:cNvPr id="4734" name="Google Shape;4734;p49"/>
          <p:cNvGrpSpPr/>
          <p:nvPr/>
        </p:nvGrpSpPr>
        <p:grpSpPr>
          <a:xfrm>
            <a:off x="7138737" y="3625516"/>
            <a:ext cx="1339790" cy="1983515"/>
            <a:chOff x="4892842" y="3994485"/>
            <a:chExt cx="1339790" cy="1983515"/>
          </a:xfrm>
        </p:grpSpPr>
        <p:sp>
          <p:nvSpPr>
            <p:cNvPr id="4735" name="Google Shape;4735;p49"/>
            <p:cNvSpPr txBox="1"/>
            <p:nvPr/>
          </p:nvSpPr>
          <p:spPr>
            <a:xfrm>
              <a:off x="4892842" y="3994485"/>
              <a:ext cx="13397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New DV in c</a:t>
              </a:r>
              <a:endParaRPr/>
            </a:p>
          </p:txBody>
        </p:sp>
        <p:sp>
          <p:nvSpPr>
            <p:cNvPr id="4736" name="Google Shape;4736;p49"/>
            <p:cNvSpPr/>
            <p:nvPr/>
          </p:nvSpPr>
          <p:spPr>
            <a:xfrm>
              <a:off x="5557685" y="4738736"/>
              <a:ext cx="275211" cy="263091"/>
            </a:xfrm>
            <a:prstGeom prst="ellipse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7" name="Google Shape;4737;p49"/>
            <p:cNvSpPr/>
            <p:nvPr/>
          </p:nvSpPr>
          <p:spPr>
            <a:xfrm>
              <a:off x="5556597" y="5714909"/>
              <a:ext cx="275211" cy="263091"/>
            </a:xfrm>
            <a:prstGeom prst="ellipse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7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2" name="Shape 4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3" name="Google Shape;4743;p50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computation</a:t>
            </a:r>
            <a:endParaRPr/>
          </a:p>
        </p:txBody>
      </p:sp>
      <p:cxnSp>
        <p:nvCxnSpPr>
          <p:cNvPr id="4744" name="Google Shape;4744;p50"/>
          <p:cNvCxnSpPr>
            <a:stCxn id="4745" idx="2"/>
            <a:endCxn id="4745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46" name="Google Shape;4746;p50"/>
          <p:cNvCxnSpPr>
            <a:stCxn id="4745" idx="1"/>
            <a:endCxn id="4745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45" name="Google Shape;4745;p50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7" name="Google Shape;4747;p50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8" name="Google Shape;4748;p50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749" name="Google Shape;4749;p50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750" name="Google Shape;4750;p50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751" name="Google Shape;4751;p50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752" name="Google Shape;4752;p50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753" name="Google Shape;4753;p50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754" name="Google Shape;4754;p50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755" name="Google Shape;4755;p50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756" name="Google Shape;4756;p50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757" name="Google Shape;4757;p50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758" name="Google Shape;4758;p50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4759" name="Google Shape;4759;p50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4760" name="Google Shape;4760;p50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4761" name="Google Shape;4761;p50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4762" name="Google Shape;4762;p50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763" name="Google Shape;4763;p50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64" name="Google Shape;4764;p50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65" name="Google Shape;4765;p50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66" name="Google Shape;4766;p50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67" name="Google Shape;4767;p50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68" name="Google Shape;4768;p50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69" name="Google Shape;4769;p50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70" name="Google Shape;4770;p50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71" name="Google Shape;4771;p50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72" name="Google Shape;4772;p50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73" name="Google Shape;4773;p50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74" name="Google Shape;4774;p50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775" name="Google Shape;4775;p50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4776" name="Google Shape;4776;p50"/>
          <p:cNvCxnSpPr/>
          <p:nvPr/>
        </p:nvCxnSpPr>
        <p:spPr>
          <a:xfrm>
            <a:off x="919556" y="1995948"/>
            <a:ext cx="0" cy="196031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77" name="Google Shape;4777;p50"/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78" name="Google Shape;4778;p50"/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4779" name="Google Shape;4779;p50"/>
            <p:cNvSpPr/>
            <p:nvPr/>
          </p:nvSpPr>
          <p:spPr>
            <a:xfrm>
              <a:off x="7010400" y="176982"/>
              <a:ext cx="2340077" cy="1848464"/>
            </a:xfrm>
            <a:custGeom>
              <a:rect b="b" l="l" r="r" t="t"/>
              <a:pathLst>
                <a:path extrusionOk="0" h="1848464" w="2340077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780" name="Google Shape;4780;p50"/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4781" name="Google Shape;4781;p50"/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782" name="Google Shape;4782;p50"/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4783" name="Google Shape;4783;p50"/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4" name="Google Shape;4784;p50"/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b:</a:t>
                  </a:r>
                  <a:endParaRPr/>
                </a:p>
              </p:txBody>
            </p:sp>
            <p:cxnSp>
              <p:nvCxnSpPr>
                <p:cNvPr id="4785" name="Google Shape;4785;p50"/>
                <p:cNvCxnSpPr/>
                <p:nvPr/>
              </p:nvCxnSpPr>
              <p:spPr>
                <a:xfrm>
                  <a:off x="7401895" y="49525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786" name="Google Shape;4786;p50"/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7" name="Google Shape;4787;p50"/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8" name="Google Shape;4788;p50"/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8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1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Calibri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1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789" name="Google Shape;4789;p50"/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 receives DVs from b, d, f, h</a:t>
            </a:r>
            <a:endParaRPr/>
          </a:p>
        </p:txBody>
      </p:sp>
      <p:grpSp>
        <p:nvGrpSpPr>
          <p:cNvPr id="4790" name="Google Shape;4790;p50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4791" name="Google Shape;4791;p50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792" name="Google Shape;4792;p5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793" name="Google Shape;4793;p5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794" name="Google Shape;4794;p5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95" name="Google Shape;4795;p5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796" name="Google Shape;4796;p5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97" name="Google Shape;4797;p5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798" name="Google Shape;4798;p50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799" name="Google Shape;4799;p5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00" name="Google Shape;4800;p50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801" name="Google Shape;4801;p50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802" name="Google Shape;4802;p5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803" name="Google Shape;4803;p5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804" name="Google Shape;4804;p5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05" name="Google Shape;4805;p5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806" name="Google Shape;4806;p5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07" name="Google Shape;4807;p5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808" name="Google Shape;4808;p50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809" name="Google Shape;4809;p5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10" name="Google Shape;4810;p50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811" name="Google Shape;4811;p50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812" name="Google Shape;4812;p5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813" name="Google Shape;4813;p5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814" name="Google Shape;4814;p5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15" name="Google Shape;4815;p5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816" name="Google Shape;4816;p5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17" name="Google Shape;4817;p5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818" name="Google Shape;4818;p50"/>
              <p:cNvGrpSpPr/>
              <p:nvPr/>
            </p:nvGrpSpPr>
            <p:grpSpPr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4819" name="Google Shape;4819;p5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20" name="Google Shape;4820;p50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821" name="Google Shape;4821;p50"/>
          <p:cNvSpPr/>
          <p:nvPr/>
        </p:nvSpPr>
        <p:spPr>
          <a:xfrm>
            <a:off x="6774755" y="1106458"/>
            <a:ext cx="2967758" cy="3014570"/>
          </a:xfrm>
          <a:custGeom>
            <a:rect b="b" l="l" r="r" t="t"/>
            <a:pathLst>
              <a:path extrusionOk="0" h="3014570" w="2967758">
                <a:moveTo>
                  <a:pt x="0" y="2877901"/>
                </a:moveTo>
                <a:cubicBezTo>
                  <a:pt x="1740309" y="2497721"/>
                  <a:pt x="2305008" y="1488604"/>
                  <a:pt x="2919524" y="0"/>
                </a:cubicBezTo>
                <a:cubicBezTo>
                  <a:pt x="2919524" y="783303"/>
                  <a:pt x="2990645" y="1719007"/>
                  <a:pt x="2960165" y="2583590"/>
                </a:cubicBezTo>
                <a:cubicBezTo>
                  <a:pt x="2152608" y="2386944"/>
                  <a:pt x="1676726" y="2623574"/>
                  <a:pt x="50143" y="3014570"/>
                </a:cubicBezTo>
                <a:lnTo>
                  <a:pt x="0" y="2877901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2" name="Google Shape;4822;p50"/>
          <p:cNvSpPr/>
          <p:nvPr/>
        </p:nvSpPr>
        <p:spPr>
          <a:xfrm>
            <a:off x="8446236" y="3874156"/>
            <a:ext cx="1239192" cy="2428567"/>
          </a:xfrm>
          <a:custGeom>
            <a:rect b="b" l="l" r="r" t="t"/>
            <a:pathLst>
              <a:path extrusionOk="0" h="2428567" w="1568765">
                <a:moveTo>
                  <a:pt x="360141" y="224175"/>
                </a:moveTo>
                <a:cubicBezTo>
                  <a:pt x="978394" y="281530"/>
                  <a:pt x="1236509" y="288085"/>
                  <a:pt x="1558933" y="0"/>
                </a:cubicBezTo>
                <a:cubicBezTo>
                  <a:pt x="1562210" y="809522"/>
                  <a:pt x="1565488" y="1619045"/>
                  <a:pt x="1568765" y="2428567"/>
                </a:cubicBezTo>
                <a:cubicBezTo>
                  <a:pt x="1218082" y="2058219"/>
                  <a:pt x="714478" y="485712"/>
                  <a:pt x="0" y="341506"/>
                </a:cubicBezTo>
                <a:cubicBezTo>
                  <a:pt x="0" y="295622"/>
                  <a:pt x="360141" y="270059"/>
                  <a:pt x="360141" y="224175"/>
                </a:cubicBez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23" name="Google Shape;4823;p50"/>
          <p:cNvGrpSpPr/>
          <p:nvPr/>
        </p:nvGrpSpPr>
        <p:grpSpPr>
          <a:xfrm>
            <a:off x="9656848" y="3847117"/>
            <a:ext cx="1149458" cy="2667397"/>
            <a:chOff x="9764348" y="1447800"/>
            <a:chExt cx="1149458" cy="2667397"/>
          </a:xfrm>
        </p:grpSpPr>
        <p:sp>
          <p:nvSpPr>
            <p:cNvPr id="4824" name="Google Shape;4824;p50"/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25" name="Google Shape;4825;p50"/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4826" name="Google Shape;4826;p50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7" name="Google Shape;4827;p50"/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f:</a:t>
                </a:r>
                <a:endParaRPr/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∞</a:t>
                </a:r>
                <a:endParaRPr/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0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828" name="Google Shape;4828;p50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829" name="Google Shape;4829;p50"/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830" name="Google Shape;4830;p50"/>
          <p:cNvGrpSpPr/>
          <p:nvPr/>
        </p:nvGrpSpPr>
        <p:grpSpPr>
          <a:xfrm>
            <a:off x="9685117" y="1067456"/>
            <a:ext cx="1155603" cy="2672477"/>
            <a:chOff x="10325197" y="813456"/>
            <a:chExt cx="1155603" cy="2672477"/>
          </a:xfrm>
        </p:grpSpPr>
        <p:sp>
          <p:nvSpPr>
            <p:cNvPr id="4831" name="Google Shape;4831;p50"/>
            <p:cNvSpPr/>
            <p:nvPr/>
          </p:nvSpPr>
          <p:spPr>
            <a:xfrm>
              <a:off x="10355334" y="813456"/>
              <a:ext cx="1125466" cy="263078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2" name="Google Shape;4832;p50"/>
            <p:cNvSpPr/>
            <p:nvPr/>
          </p:nvSpPr>
          <p:spPr>
            <a:xfrm>
              <a:off x="10338507" y="825123"/>
              <a:ext cx="1141582" cy="40783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3" name="Google Shape;4833;p50"/>
            <p:cNvSpPr txBox="1"/>
            <p:nvPr/>
          </p:nvSpPr>
          <p:spPr>
            <a:xfrm>
              <a:off x="10325197" y="821098"/>
              <a:ext cx="1117197" cy="26648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DV in e:</a:t>
              </a:r>
              <a:endParaRPr/>
            </a:p>
            <a:p>
              <a:pPr indent="0" lvl="1" marL="114300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(a) = ∞</a:t>
              </a:r>
              <a:endParaRPr/>
            </a:p>
            <a:p>
              <a:pPr indent="0" lvl="1" marL="1143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(b) = 1</a:t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1143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(c) = ∞</a:t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1143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(d) = 1</a:t>
              </a:r>
              <a:endParaRPr/>
            </a:p>
            <a:p>
              <a:pPr indent="0" lvl="1" marL="1143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(e) = 0</a:t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1143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(f) = 1</a:t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1143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(g) = ∞</a:t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1143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(h) = 1</a:t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1143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(i) = ∞</a:t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834" name="Google Shape;4834;p50"/>
            <p:cNvCxnSpPr/>
            <p:nvPr/>
          </p:nvCxnSpPr>
          <p:spPr>
            <a:xfrm>
              <a:off x="10330450" y="1225636"/>
              <a:ext cx="114861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835" name="Google Shape;4835;p50"/>
            <p:cNvSpPr/>
            <p:nvPr/>
          </p:nvSpPr>
          <p:spPr>
            <a:xfrm>
              <a:off x="10332745" y="825123"/>
              <a:ext cx="1122744" cy="2616597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36" name="Google Shape;4836;p50"/>
          <p:cNvGrpSpPr/>
          <p:nvPr/>
        </p:nvGrpSpPr>
        <p:grpSpPr>
          <a:xfrm>
            <a:off x="2595648" y="4070637"/>
            <a:ext cx="1149458" cy="2667397"/>
            <a:chOff x="9764348" y="1447800"/>
            <a:chExt cx="1149458" cy="2667397"/>
          </a:xfrm>
        </p:grpSpPr>
        <p:sp>
          <p:nvSpPr>
            <p:cNvPr id="4837" name="Google Shape;4837;p50"/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38" name="Google Shape;4838;p50"/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4839" name="Google Shape;4839;p50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0" name="Google Shape;4840;p50"/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h:</a:t>
                </a:r>
                <a:endParaRPr/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∞</a:t>
                </a:r>
                <a:endParaRPr/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0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841" name="Google Shape;4841;p50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842" name="Google Shape;4842;p50"/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843" name="Google Shape;4843;p50"/>
          <p:cNvGrpSpPr/>
          <p:nvPr/>
        </p:nvGrpSpPr>
        <p:grpSpPr>
          <a:xfrm>
            <a:off x="2544848" y="1246157"/>
            <a:ext cx="1149458" cy="2667397"/>
            <a:chOff x="9764348" y="1447800"/>
            <a:chExt cx="1149458" cy="2667397"/>
          </a:xfrm>
        </p:grpSpPr>
        <p:sp>
          <p:nvSpPr>
            <p:cNvPr id="4844" name="Google Shape;4844;p50"/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45" name="Google Shape;4845;p50"/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4846" name="Google Shape;4846;p50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7" name="Google Shape;4847;p50"/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d:</a:t>
                </a:r>
                <a:endParaRPr/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1</a:t>
                </a:r>
                <a:endParaRPr/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0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1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∞ 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1</a:t>
                </a:r>
                <a:endParaRPr/>
              </a:p>
              <a:p>
                <a:pPr indent="0" lvl="1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848" name="Google Shape;4848;p50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849" name="Google Shape;4849;p50"/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850" name="Google Shape;4850;p50"/>
          <p:cNvSpPr/>
          <p:nvPr/>
        </p:nvSpPr>
        <p:spPr>
          <a:xfrm>
            <a:off x="3677920" y="1280160"/>
            <a:ext cx="853440" cy="2824480"/>
          </a:xfrm>
          <a:custGeom>
            <a:rect b="b" l="l" r="r" t="t"/>
            <a:pathLst>
              <a:path extrusionOk="0" h="2824480" w="853440">
                <a:moveTo>
                  <a:pt x="680720" y="2824480"/>
                </a:moveTo>
                <a:cubicBezTo>
                  <a:pt x="443653" y="2705947"/>
                  <a:pt x="328507" y="2658533"/>
                  <a:pt x="0" y="2590800"/>
                </a:cubicBezTo>
                <a:lnTo>
                  <a:pt x="0" y="0"/>
                </a:lnTo>
                <a:cubicBezTo>
                  <a:pt x="254000" y="1222587"/>
                  <a:pt x="447040" y="1835573"/>
                  <a:pt x="853440" y="2631440"/>
                </a:cubicBezTo>
                <a:lnTo>
                  <a:pt x="680720" y="2824480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51" name="Google Shape;4851;p50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4852" name="Google Shape;4852;p50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853" name="Google Shape;4853;p5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854" name="Google Shape;4854;p5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855" name="Google Shape;4855;p5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56" name="Google Shape;4856;p5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857" name="Google Shape;4857;p5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58" name="Google Shape;4858;p5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859" name="Google Shape;4859;p50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860" name="Google Shape;4860;p5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61" name="Google Shape;4861;p50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862" name="Google Shape;4862;p50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863" name="Google Shape;4863;p5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864" name="Google Shape;4864;p5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865" name="Google Shape;4865;p5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66" name="Google Shape;4866;p5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867" name="Google Shape;4867;p5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68" name="Google Shape;4868;p5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869" name="Google Shape;4869;p50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870" name="Google Shape;4870;p5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71" name="Google Shape;4871;p50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872" name="Google Shape;4872;p50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873" name="Google Shape;4873;p5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874" name="Google Shape;4874;p5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875" name="Google Shape;4875;p5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76" name="Google Shape;4876;p5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877" name="Google Shape;4877;p5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78" name="Google Shape;4878;p5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879" name="Google Shape;4879;p50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4880" name="Google Shape;4880;p5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81" name="Google Shape;4881;p50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882" name="Google Shape;4882;p50"/>
          <p:cNvSpPr/>
          <p:nvPr/>
        </p:nvSpPr>
        <p:spPr>
          <a:xfrm>
            <a:off x="3728720" y="4114800"/>
            <a:ext cx="2722880" cy="2560320"/>
          </a:xfrm>
          <a:custGeom>
            <a:rect b="b" l="l" r="r" t="t"/>
            <a:pathLst>
              <a:path extrusionOk="0" h="2560320" w="2722880">
                <a:moveTo>
                  <a:pt x="2550160" y="1950720"/>
                </a:moveTo>
                <a:cubicBezTo>
                  <a:pt x="931333" y="1507067"/>
                  <a:pt x="399627" y="1347893"/>
                  <a:pt x="20320" y="2560320"/>
                </a:cubicBezTo>
                <a:lnTo>
                  <a:pt x="0" y="0"/>
                </a:lnTo>
                <a:cubicBezTo>
                  <a:pt x="1148080" y="887307"/>
                  <a:pt x="1513840" y="1297093"/>
                  <a:pt x="2722880" y="1757680"/>
                </a:cubicBezTo>
                <a:lnTo>
                  <a:pt x="2550160" y="1950720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83" name="Google Shape;4883;p50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4884" name="Google Shape;4884;p50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885" name="Google Shape;4885;p5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886" name="Google Shape;4886;p5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887" name="Google Shape;4887;p5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88" name="Google Shape;4888;p5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889" name="Google Shape;4889;p5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90" name="Google Shape;4890;p5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891" name="Google Shape;4891;p50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892" name="Google Shape;4892;p5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93" name="Google Shape;4893;p50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894" name="Google Shape;4894;p50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895" name="Google Shape;4895;p5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896" name="Google Shape;4896;p5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897" name="Google Shape;4897;p5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98" name="Google Shape;4898;p5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899" name="Google Shape;4899;p5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00" name="Google Shape;4900;p5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901" name="Google Shape;4901;p50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902" name="Google Shape;4902;p5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03" name="Google Shape;4903;p50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904" name="Google Shape;4904;p50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905" name="Google Shape;4905;p5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906" name="Google Shape;4906;p5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07" name="Google Shape;4907;p5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08" name="Google Shape;4908;p5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09" name="Google Shape;4909;p5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10" name="Google Shape;4910;p5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911" name="Google Shape;4911;p50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4912" name="Google Shape;4912;p5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13" name="Google Shape;4913;p50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914" name="Google Shape;4914;p50"/>
          <p:cNvSpPr/>
          <p:nvPr/>
        </p:nvSpPr>
        <p:spPr>
          <a:xfrm>
            <a:off x="4765040" y="2611120"/>
            <a:ext cx="3535680" cy="640080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Q: what is new DV computed in e at </a:t>
            </a:r>
            <a:r>
              <a:rPr b="0" i="1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t=1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4915" name="Google Shape;4915;p50"/>
          <p:cNvSpPr/>
          <p:nvPr/>
        </p:nvSpPr>
        <p:spPr>
          <a:xfrm flipH="1" rot="-5400000">
            <a:off x="6297558" y="345604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6" name="Google Shape;4916;p50"/>
          <p:cNvSpPr/>
          <p:nvPr/>
        </p:nvSpPr>
        <p:spPr>
          <a:xfrm flipH="1" rot="5400000">
            <a:off x="6312308" y="4454022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7" name="Google Shape;4917;p50"/>
          <p:cNvSpPr/>
          <p:nvPr/>
        </p:nvSpPr>
        <p:spPr>
          <a:xfrm flipH="1" rot="10800000">
            <a:off x="5651998" y="3904611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8" name="Google Shape;4918;p50"/>
          <p:cNvSpPr/>
          <p:nvPr/>
        </p:nvSpPr>
        <p:spPr>
          <a:xfrm flipH="1">
            <a:off x="6833078" y="391220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19" name="Google Shape;4919;p50"/>
          <p:cNvGrpSpPr/>
          <p:nvPr/>
        </p:nvGrpSpPr>
        <p:grpSpPr>
          <a:xfrm>
            <a:off x="6039628" y="3567469"/>
            <a:ext cx="1196054" cy="1022555"/>
            <a:chOff x="9655277" y="2349909"/>
            <a:chExt cx="1196054" cy="1022555"/>
          </a:xfrm>
        </p:grpSpPr>
        <p:sp>
          <p:nvSpPr>
            <p:cNvPr id="4920" name="Google Shape;4920;p50"/>
            <p:cNvSpPr/>
            <p:nvPr/>
          </p:nvSpPr>
          <p:spPr>
            <a:xfrm>
              <a:off x="9655277" y="2349909"/>
              <a:ext cx="1196054" cy="1022555"/>
            </a:xfrm>
            <a:custGeom>
              <a:rect b="b" l="l" r="r" t="t"/>
              <a:pathLst>
                <a:path extrusionOk="0" h="2290046" w="2820074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294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1" name="Google Shape;4921;p50"/>
            <p:cNvSpPr txBox="1"/>
            <p:nvPr/>
          </p:nvSpPr>
          <p:spPr>
            <a:xfrm>
              <a:off x="9753600" y="2635045"/>
              <a:ext cx="10202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compute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6" name="Shape 4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7" name="Google Shape;4927;p51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state information diffusion</a:t>
            </a:r>
            <a:endParaRPr/>
          </a:p>
        </p:txBody>
      </p:sp>
      <p:grpSp>
        <p:nvGrpSpPr>
          <p:cNvPr id="4928" name="Google Shape;4928;p51"/>
          <p:cNvGrpSpPr/>
          <p:nvPr/>
        </p:nvGrpSpPr>
        <p:grpSpPr>
          <a:xfrm>
            <a:off x="661263" y="1850804"/>
            <a:ext cx="4436326" cy="371277"/>
            <a:chOff x="661263" y="1925960"/>
            <a:chExt cx="4436326" cy="371277"/>
          </a:xfrm>
        </p:grpSpPr>
        <p:grpSp>
          <p:nvGrpSpPr>
            <p:cNvPr id="4929" name="Google Shape;4929;p51"/>
            <p:cNvGrpSpPr/>
            <p:nvPr/>
          </p:nvGrpSpPr>
          <p:grpSpPr>
            <a:xfrm>
              <a:off x="661263" y="1927187"/>
              <a:ext cx="918242" cy="370050"/>
              <a:chOff x="1097284" y="2174236"/>
              <a:chExt cx="918242" cy="370050"/>
            </a:xfrm>
          </p:grpSpPr>
          <p:sp>
            <p:nvSpPr>
              <p:cNvPr id="4930" name="Google Shape;4930;p51"/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t=0</a:t>
                </a:r>
                <a:endParaRPr/>
              </a:p>
            </p:txBody>
          </p:sp>
          <p:grpSp>
            <p:nvGrpSpPr>
              <p:cNvPr id="4931" name="Google Shape;4931;p51"/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4932" name="Google Shape;4932;p51"/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933" name="Google Shape;4933;p51"/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934" name="Google Shape;4934;p51"/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935" name="Google Shape;4935;p51"/>
                <p:cNvCxnSpPr/>
                <p:nvPr/>
              </p:nvCxnSpPr>
              <p:spPr>
                <a:xfrm rot="10800000">
                  <a:off x="1116663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936" name="Google Shape;4936;p51"/>
                <p:cNvCxnSpPr/>
                <p:nvPr/>
              </p:nvCxnSpPr>
              <p:spPr>
                <a:xfrm rot="10800000">
                  <a:off x="1516484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937" name="Google Shape;4937;p51"/>
                <p:cNvCxnSpPr/>
                <p:nvPr/>
              </p:nvCxnSpPr>
              <p:spPr>
                <a:xfrm>
                  <a:off x="1411431" y="249304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938" name="Google Shape;4938;p51"/>
                <p:cNvCxnSpPr/>
                <p:nvPr/>
              </p:nvCxnSpPr>
              <p:spPr>
                <a:xfrm>
                  <a:off x="1205401" y="2199023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939" name="Google Shape;4939;p51"/>
                <p:cNvCxnSpPr/>
                <p:nvPr/>
              </p:nvCxnSpPr>
              <p:spPr>
                <a:xfrm flipH="1">
                  <a:off x="1201321" y="249133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940" name="Google Shape;4940;p51"/>
                <p:cNvCxnSpPr/>
                <p:nvPr/>
              </p:nvCxnSpPr>
              <p:spPr>
                <a:xfrm flipH="1">
                  <a:off x="1407351" y="2197314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941" name="Google Shape;4941;p51"/>
                <p:cNvCxnSpPr/>
                <p:nvPr/>
              </p:nvCxnSpPr>
              <p:spPr>
                <a:xfrm flipH="1">
                  <a:off x="1480788" y="226398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942" name="Google Shape;4942;p51"/>
                <p:cNvCxnSpPr/>
                <p:nvPr/>
              </p:nvCxnSpPr>
              <p:spPr>
                <a:xfrm flipH="1">
                  <a:off x="1129926" y="243492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943" name="Google Shape;4943;p51"/>
                <p:cNvCxnSpPr/>
                <p:nvPr/>
              </p:nvCxnSpPr>
              <p:spPr>
                <a:xfrm rot="10800000">
                  <a:off x="1136045" y="226569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944" name="Google Shape;4944;p51"/>
                <p:cNvCxnSpPr/>
                <p:nvPr/>
              </p:nvCxnSpPr>
              <p:spPr>
                <a:xfrm rot="10800000">
                  <a:off x="1480788" y="243663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945" name="Google Shape;4945;p51"/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946" name="Google Shape;4946;p51"/>
                <p:cNvCxnSpPr/>
                <p:nvPr/>
              </p:nvCxnSpPr>
              <p:spPr>
                <a:xfrm>
                  <a:off x="1314533" y="2230033"/>
                  <a:ext cx="0" cy="111727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4947" name="Google Shape;4947;p51"/>
            <p:cNvSpPr txBox="1"/>
            <p:nvPr/>
          </p:nvSpPr>
          <p:spPr>
            <a:xfrm flipH="1">
              <a:off x="1653913" y="1925960"/>
              <a:ext cx="344367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c’s state at t=0 is at c only</a:t>
              </a:r>
              <a:endParaRPr/>
            </a:p>
          </p:txBody>
        </p:sp>
      </p:grpSp>
      <p:grpSp>
        <p:nvGrpSpPr>
          <p:cNvPr id="4948" name="Google Shape;4948;p51"/>
          <p:cNvGrpSpPr/>
          <p:nvPr/>
        </p:nvGrpSpPr>
        <p:grpSpPr>
          <a:xfrm>
            <a:off x="7171418" y="2007663"/>
            <a:ext cx="4435671" cy="4385738"/>
            <a:chOff x="6907258" y="1814623"/>
            <a:chExt cx="4435671" cy="4385738"/>
          </a:xfrm>
        </p:grpSpPr>
        <p:cxnSp>
          <p:nvCxnSpPr>
            <p:cNvPr id="4949" name="Google Shape;4949;p51"/>
            <p:cNvCxnSpPr>
              <a:stCxn id="4950" idx="2"/>
              <a:endCxn id="4950" idx="0"/>
            </p:cNvCxnSpPr>
            <p:nvPr/>
          </p:nvCxnSpPr>
          <p:spPr>
            <a:xfrm rot="10800000">
              <a:off x="9141446" y="2037691"/>
              <a:ext cx="0" cy="3863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51" name="Google Shape;4951;p51"/>
            <p:cNvCxnSpPr>
              <a:stCxn id="4950" idx="1"/>
              <a:endCxn id="4950" idx="3"/>
            </p:cNvCxnSpPr>
            <p:nvPr/>
          </p:nvCxnSpPr>
          <p:spPr>
            <a:xfrm>
              <a:off x="7209890" y="3969236"/>
              <a:ext cx="3863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950" name="Google Shape;4950;p51"/>
            <p:cNvSpPr/>
            <p:nvPr/>
          </p:nvSpPr>
          <p:spPr>
            <a:xfrm>
              <a:off x="7209890" y="2037680"/>
              <a:ext cx="3863111" cy="386311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2" name="Google Shape;4952;p51"/>
            <p:cNvSpPr/>
            <p:nvPr/>
          </p:nvSpPr>
          <p:spPr>
            <a:xfrm>
              <a:off x="10991457" y="2109030"/>
              <a:ext cx="132508" cy="185510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53" name="Google Shape;4953;p51"/>
            <p:cNvGrpSpPr/>
            <p:nvPr/>
          </p:nvGrpSpPr>
          <p:grpSpPr>
            <a:xfrm>
              <a:off x="6944905" y="5680773"/>
              <a:ext cx="4395351" cy="404576"/>
              <a:chOff x="4333785" y="5772213"/>
              <a:chExt cx="4395351" cy="404576"/>
            </a:xfrm>
          </p:grpSpPr>
          <p:grpSp>
            <p:nvGrpSpPr>
              <p:cNvPr id="4954" name="Google Shape;4954;p51"/>
              <p:cNvGrpSpPr/>
              <p:nvPr/>
            </p:nvGrpSpPr>
            <p:grpSpPr>
              <a:xfrm>
                <a:off x="4333785" y="5772213"/>
                <a:ext cx="531821" cy="369069"/>
                <a:chOff x="1348328" y="2475647"/>
                <a:chExt cx="603916" cy="419100"/>
              </a:xfrm>
            </p:grpSpPr>
            <p:grpSp>
              <p:nvGrpSpPr>
                <p:cNvPr id="4955" name="Google Shape;4955;p51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956" name="Google Shape;4956;p51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957" name="Google Shape;4957;p51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958" name="Google Shape;4958;p51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959" name="Google Shape;4959;p51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60" name="Google Shape;4960;p51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961" name="Google Shape;4961;p51"/>
                <p:cNvGrpSpPr/>
                <p:nvPr/>
              </p:nvGrpSpPr>
              <p:grpSpPr>
                <a:xfrm>
                  <a:off x="1456374" y="2475647"/>
                  <a:ext cx="355165" cy="419100"/>
                  <a:chOff x="2944" y="2405"/>
                  <a:chExt cx="227" cy="264"/>
                </a:xfrm>
              </p:grpSpPr>
              <p:sp>
                <p:nvSpPr>
                  <p:cNvPr id="4962" name="Google Shape;4962;p51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63" name="Google Shape;4963;p51"/>
                  <p:cNvSpPr txBox="1"/>
                  <p:nvPr/>
                </p:nvSpPr>
                <p:spPr>
                  <a:xfrm>
                    <a:off x="2944" y="240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g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964" name="Google Shape;4964;p51"/>
              <p:cNvGrpSpPr/>
              <p:nvPr/>
            </p:nvGrpSpPr>
            <p:grpSpPr>
              <a:xfrm>
                <a:off x="6263949" y="5807720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4965" name="Google Shape;4965;p51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966" name="Google Shape;4966;p51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967" name="Google Shape;4967;p51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968" name="Google Shape;4968;p51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969" name="Google Shape;4969;p51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70" name="Google Shape;4970;p51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971" name="Google Shape;4971;p51"/>
                <p:cNvGrpSpPr/>
                <p:nvPr/>
              </p:nvGrpSpPr>
              <p:grpSpPr>
                <a:xfrm>
                  <a:off x="1456374" y="2507397"/>
                  <a:ext cx="355165" cy="419100"/>
                  <a:chOff x="2944" y="2425"/>
                  <a:chExt cx="227" cy="264"/>
                </a:xfrm>
              </p:grpSpPr>
              <p:sp>
                <p:nvSpPr>
                  <p:cNvPr id="4972" name="Google Shape;4972;p51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73" name="Google Shape;4973;p51"/>
                  <p:cNvSpPr txBox="1"/>
                  <p:nvPr/>
                </p:nvSpPr>
                <p:spPr>
                  <a:xfrm>
                    <a:off x="2944" y="242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h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974" name="Google Shape;4974;p51"/>
              <p:cNvGrpSpPr/>
              <p:nvPr/>
            </p:nvGrpSpPr>
            <p:grpSpPr>
              <a:xfrm>
                <a:off x="8197315" y="5805271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4975" name="Google Shape;4975;p51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976" name="Google Shape;4976;p51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977" name="Google Shape;4977;p51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978" name="Google Shape;4978;p51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979" name="Google Shape;4979;p51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80" name="Google Shape;4980;p51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981" name="Google Shape;4981;p51"/>
                <p:cNvGrpSpPr/>
                <p:nvPr/>
              </p:nvGrpSpPr>
              <p:grpSpPr>
                <a:xfrm>
                  <a:off x="1500196" y="2507397"/>
                  <a:ext cx="267548" cy="419100"/>
                  <a:chOff x="2972" y="2425"/>
                  <a:chExt cx="171" cy="264"/>
                </a:xfrm>
              </p:grpSpPr>
              <p:sp>
                <p:nvSpPr>
                  <p:cNvPr id="4982" name="Google Shape;4982;p51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83" name="Google Shape;4983;p51"/>
                  <p:cNvSpPr txBox="1"/>
                  <p:nvPr/>
                </p:nvSpPr>
                <p:spPr>
                  <a:xfrm>
                    <a:off x="2972" y="2425"/>
                    <a:ext cx="171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i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sp>
          <p:nvSpPr>
            <p:cNvPr id="4984" name="Google Shape;4984;p51"/>
            <p:cNvSpPr txBox="1"/>
            <p:nvPr/>
          </p:nvSpPr>
          <p:spPr>
            <a:xfrm>
              <a:off x="6916902" y="2779082"/>
              <a:ext cx="3016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985" name="Google Shape;4985;p51"/>
            <p:cNvSpPr txBox="1"/>
            <p:nvPr/>
          </p:nvSpPr>
          <p:spPr>
            <a:xfrm>
              <a:off x="8828654" y="2769437"/>
              <a:ext cx="2888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986" name="Google Shape;4986;p51"/>
            <p:cNvSpPr txBox="1"/>
            <p:nvPr/>
          </p:nvSpPr>
          <p:spPr>
            <a:xfrm>
              <a:off x="6907258" y="4795006"/>
              <a:ext cx="3016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987" name="Google Shape;4987;p51"/>
            <p:cNvSpPr txBox="1"/>
            <p:nvPr/>
          </p:nvSpPr>
          <p:spPr>
            <a:xfrm>
              <a:off x="8842160" y="4796936"/>
              <a:ext cx="2888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988" name="Google Shape;4988;p51"/>
            <p:cNvSpPr txBox="1"/>
            <p:nvPr/>
          </p:nvSpPr>
          <p:spPr>
            <a:xfrm>
              <a:off x="10765485" y="4798866"/>
              <a:ext cx="2888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989" name="Google Shape;4989;p51"/>
            <p:cNvSpPr txBox="1"/>
            <p:nvPr/>
          </p:nvSpPr>
          <p:spPr>
            <a:xfrm>
              <a:off x="8053150" y="3938480"/>
              <a:ext cx="3016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990" name="Google Shape;4990;p51"/>
            <p:cNvSpPr txBox="1"/>
            <p:nvPr/>
          </p:nvSpPr>
          <p:spPr>
            <a:xfrm>
              <a:off x="9964902" y="3928835"/>
              <a:ext cx="2888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991" name="Google Shape;4991;p51"/>
            <p:cNvSpPr txBox="1"/>
            <p:nvPr/>
          </p:nvSpPr>
          <p:spPr>
            <a:xfrm>
              <a:off x="8055078" y="5861807"/>
              <a:ext cx="3016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992" name="Google Shape;4992;p51"/>
            <p:cNvSpPr txBox="1"/>
            <p:nvPr/>
          </p:nvSpPr>
          <p:spPr>
            <a:xfrm>
              <a:off x="9966830" y="5852162"/>
              <a:ext cx="2888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993" name="Google Shape;4993;p51"/>
            <p:cNvSpPr txBox="1"/>
            <p:nvPr/>
          </p:nvSpPr>
          <p:spPr>
            <a:xfrm>
              <a:off x="8057006" y="2032516"/>
              <a:ext cx="3016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4994" name="Google Shape;4994;p51"/>
            <p:cNvSpPr txBox="1"/>
            <p:nvPr/>
          </p:nvSpPr>
          <p:spPr>
            <a:xfrm>
              <a:off x="9968758" y="2022871"/>
              <a:ext cx="2888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995" name="Google Shape;4995;p51"/>
            <p:cNvSpPr/>
            <p:nvPr/>
          </p:nvSpPr>
          <p:spPr>
            <a:xfrm rot="5400000">
              <a:off x="7011053" y="2469864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6" name="Google Shape;4996;p51"/>
            <p:cNvSpPr/>
            <p:nvPr/>
          </p:nvSpPr>
          <p:spPr>
            <a:xfrm rot="-5400000">
              <a:off x="7006137" y="3379348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7" name="Google Shape;4997;p51"/>
            <p:cNvSpPr/>
            <p:nvPr/>
          </p:nvSpPr>
          <p:spPr>
            <a:xfrm rot="5400000">
              <a:off x="8913594" y="2455117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8" name="Google Shape;4998;p51"/>
            <p:cNvSpPr/>
            <p:nvPr/>
          </p:nvSpPr>
          <p:spPr>
            <a:xfrm rot="-5400000">
              <a:off x="8908678" y="3364601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9" name="Google Shape;4999;p51"/>
            <p:cNvSpPr/>
            <p:nvPr/>
          </p:nvSpPr>
          <p:spPr>
            <a:xfrm rot="5400000">
              <a:off x="6981555" y="4367494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0" name="Google Shape;5000;p51"/>
            <p:cNvSpPr/>
            <p:nvPr/>
          </p:nvSpPr>
          <p:spPr>
            <a:xfrm rot="-5400000">
              <a:off x="6976639" y="5276978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1" name="Google Shape;5001;p51"/>
            <p:cNvSpPr/>
            <p:nvPr/>
          </p:nvSpPr>
          <p:spPr>
            <a:xfrm rot="5400000">
              <a:off x="8923428" y="4362582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2" name="Google Shape;5002;p51"/>
            <p:cNvSpPr/>
            <p:nvPr/>
          </p:nvSpPr>
          <p:spPr>
            <a:xfrm rot="-5400000">
              <a:off x="8918512" y="5272066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3" name="Google Shape;5003;p51"/>
            <p:cNvSpPr/>
            <p:nvPr/>
          </p:nvSpPr>
          <p:spPr>
            <a:xfrm rot="5400000">
              <a:off x="10865301" y="4357670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4" name="Google Shape;5004;p51"/>
            <p:cNvSpPr/>
            <p:nvPr/>
          </p:nvSpPr>
          <p:spPr>
            <a:xfrm rot="-5400000">
              <a:off x="10860385" y="5267154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5" name="Google Shape;5005;p51"/>
            <p:cNvSpPr/>
            <p:nvPr/>
          </p:nvSpPr>
          <p:spPr>
            <a:xfrm rot="10800000">
              <a:off x="10193515" y="5738225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6" name="Google Shape;5006;p51"/>
            <p:cNvSpPr/>
            <p:nvPr/>
          </p:nvSpPr>
          <p:spPr>
            <a:xfrm>
              <a:off x="9430824" y="5743142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007" name="Google Shape;5007;p51"/>
            <p:cNvGrpSpPr/>
            <p:nvPr/>
          </p:nvGrpSpPr>
          <p:grpSpPr>
            <a:xfrm>
              <a:off x="6947578" y="3742350"/>
              <a:ext cx="4395351" cy="404576"/>
              <a:chOff x="4333785" y="5772213"/>
              <a:chExt cx="4395351" cy="404576"/>
            </a:xfrm>
          </p:grpSpPr>
          <p:grpSp>
            <p:nvGrpSpPr>
              <p:cNvPr id="5008" name="Google Shape;5008;p51"/>
              <p:cNvGrpSpPr/>
              <p:nvPr/>
            </p:nvGrpSpPr>
            <p:grpSpPr>
              <a:xfrm>
                <a:off x="4333785" y="5772213"/>
                <a:ext cx="531821" cy="369069"/>
                <a:chOff x="1348328" y="2475647"/>
                <a:chExt cx="603916" cy="419100"/>
              </a:xfrm>
            </p:grpSpPr>
            <p:grpSp>
              <p:nvGrpSpPr>
                <p:cNvPr id="5009" name="Google Shape;5009;p51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5010" name="Google Shape;5010;p51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5011" name="Google Shape;5011;p51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012" name="Google Shape;5012;p51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5013" name="Google Shape;5013;p51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14" name="Google Shape;5014;p51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015" name="Google Shape;5015;p51"/>
                <p:cNvGrpSpPr/>
                <p:nvPr/>
              </p:nvGrpSpPr>
              <p:grpSpPr>
                <a:xfrm>
                  <a:off x="1456374" y="2475647"/>
                  <a:ext cx="355165" cy="419100"/>
                  <a:chOff x="2944" y="2405"/>
                  <a:chExt cx="227" cy="264"/>
                </a:xfrm>
              </p:grpSpPr>
              <p:sp>
                <p:nvSpPr>
                  <p:cNvPr id="5016" name="Google Shape;5016;p51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17" name="Google Shape;5017;p51"/>
                  <p:cNvSpPr txBox="1"/>
                  <p:nvPr/>
                </p:nvSpPr>
                <p:spPr>
                  <a:xfrm>
                    <a:off x="2944" y="240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5018" name="Google Shape;5018;p51"/>
              <p:cNvGrpSpPr/>
              <p:nvPr/>
            </p:nvGrpSpPr>
            <p:grpSpPr>
              <a:xfrm>
                <a:off x="6263949" y="5807720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5019" name="Google Shape;5019;p51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5020" name="Google Shape;5020;p51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5021" name="Google Shape;5021;p51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022" name="Google Shape;5022;p51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5023" name="Google Shape;5023;p51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24" name="Google Shape;5024;p51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025" name="Google Shape;5025;p51"/>
                <p:cNvGrpSpPr/>
                <p:nvPr/>
              </p:nvGrpSpPr>
              <p:grpSpPr>
                <a:xfrm>
                  <a:off x="1456374" y="2507397"/>
                  <a:ext cx="355165" cy="419100"/>
                  <a:chOff x="2944" y="2425"/>
                  <a:chExt cx="227" cy="264"/>
                </a:xfrm>
              </p:grpSpPr>
              <p:sp>
                <p:nvSpPr>
                  <p:cNvPr id="5026" name="Google Shape;5026;p51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27" name="Google Shape;5027;p51"/>
                  <p:cNvSpPr txBox="1"/>
                  <p:nvPr/>
                </p:nvSpPr>
                <p:spPr>
                  <a:xfrm>
                    <a:off x="2944" y="242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e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5028" name="Google Shape;5028;p51"/>
              <p:cNvGrpSpPr/>
              <p:nvPr/>
            </p:nvGrpSpPr>
            <p:grpSpPr>
              <a:xfrm>
                <a:off x="8197315" y="5805271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5029" name="Google Shape;5029;p51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5030" name="Google Shape;5030;p51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5031" name="Google Shape;5031;p51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032" name="Google Shape;5032;p51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5033" name="Google Shape;5033;p51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34" name="Google Shape;5034;p51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035" name="Google Shape;5035;p51"/>
                <p:cNvGrpSpPr/>
                <p:nvPr/>
              </p:nvGrpSpPr>
              <p:grpSpPr>
                <a:xfrm>
                  <a:off x="1492372" y="2507397"/>
                  <a:ext cx="283194" cy="419100"/>
                  <a:chOff x="2967" y="2425"/>
                  <a:chExt cx="181" cy="264"/>
                </a:xfrm>
              </p:grpSpPr>
              <p:sp>
                <p:nvSpPr>
                  <p:cNvPr id="5036" name="Google Shape;5036;p51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37" name="Google Shape;5037;p51"/>
                  <p:cNvSpPr txBox="1"/>
                  <p:nvPr/>
                </p:nvSpPr>
                <p:spPr>
                  <a:xfrm>
                    <a:off x="2967" y="2425"/>
                    <a:ext cx="181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f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5038" name="Google Shape;5038;p51"/>
            <p:cNvGrpSpPr/>
            <p:nvPr/>
          </p:nvGrpSpPr>
          <p:grpSpPr>
            <a:xfrm>
              <a:off x="6944905" y="1814623"/>
              <a:ext cx="4395351" cy="404576"/>
              <a:chOff x="4333785" y="5772213"/>
              <a:chExt cx="4395351" cy="404576"/>
            </a:xfrm>
          </p:grpSpPr>
          <p:grpSp>
            <p:nvGrpSpPr>
              <p:cNvPr id="5039" name="Google Shape;5039;p51"/>
              <p:cNvGrpSpPr/>
              <p:nvPr/>
            </p:nvGrpSpPr>
            <p:grpSpPr>
              <a:xfrm>
                <a:off x="4333785" y="5772213"/>
                <a:ext cx="531821" cy="369069"/>
                <a:chOff x="1348328" y="2475647"/>
                <a:chExt cx="603916" cy="419100"/>
              </a:xfrm>
            </p:grpSpPr>
            <p:grpSp>
              <p:nvGrpSpPr>
                <p:cNvPr id="5040" name="Google Shape;5040;p51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5041" name="Google Shape;5041;p51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5042" name="Google Shape;5042;p51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043" name="Google Shape;5043;p51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5044" name="Google Shape;5044;p51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45" name="Google Shape;5045;p51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046" name="Google Shape;5046;p51"/>
                <p:cNvGrpSpPr/>
                <p:nvPr/>
              </p:nvGrpSpPr>
              <p:grpSpPr>
                <a:xfrm>
                  <a:off x="1456374" y="2475647"/>
                  <a:ext cx="355165" cy="419100"/>
                  <a:chOff x="2944" y="2405"/>
                  <a:chExt cx="227" cy="264"/>
                </a:xfrm>
              </p:grpSpPr>
              <p:sp>
                <p:nvSpPr>
                  <p:cNvPr id="5047" name="Google Shape;5047;p51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48" name="Google Shape;5048;p51"/>
                  <p:cNvSpPr txBox="1"/>
                  <p:nvPr/>
                </p:nvSpPr>
                <p:spPr>
                  <a:xfrm>
                    <a:off x="2944" y="240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5049" name="Google Shape;5049;p51"/>
              <p:cNvGrpSpPr/>
              <p:nvPr/>
            </p:nvGrpSpPr>
            <p:grpSpPr>
              <a:xfrm>
                <a:off x="6263949" y="5807720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5050" name="Google Shape;5050;p51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5051" name="Google Shape;5051;p51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5052" name="Google Shape;5052;p51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053" name="Google Shape;5053;p51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5054" name="Google Shape;5054;p51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55" name="Google Shape;5055;p51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056" name="Google Shape;5056;p51"/>
                <p:cNvGrpSpPr/>
                <p:nvPr/>
              </p:nvGrpSpPr>
              <p:grpSpPr>
                <a:xfrm>
                  <a:off x="1456374" y="2507397"/>
                  <a:ext cx="355165" cy="419100"/>
                  <a:chOff x="2944" y="2425"/>
                  <a:chExt cx="227" cy="264"/>
                </a:xfrm>
              </p:grpSpPr>
              <p:sp>
                <p:nvSpPr>
                  <p:cNvPr id="5057" name="Google Shape;5057;p51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58" name="Google Shape;5058;p51"/>
                  <p:cNvSpPr txBox="1"/>
                  <p:nvPr/>
                </p:nvSpPr>
                <p:spPr>
                  <a:xfrm>
                    <a:off x="2944" y="242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b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5059" name="Google Shape;5059;p51"/>
              <p:cNvGrpSpPr/>
              <p:nvPr/>
            </p:nvGrpSpPr>
            <p:grpSpPr>
              <a:xfrm>
                <a:off x="8197315" y="5805271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5060" name="Google Shape;5060;p51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5061" name="Google Shape;5061;p51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5062" name="Google Shape;5062;p51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063" name="Google Shape;5063;p51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5064" name="Google Shape;5064;p51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65" name="Google Shape;5065;p51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066" name="Google Shape;5066;p51"/>
                <p:cNvGrpSpPr/>
                <p:nvPr/>
              </p:nvGrpSpPr>
              <p:grpSpPr>
                <a:xfrm>
                  <a:off x="1464202" y="2507397"/>
                  <a:ext cx="341084" cy="419100"/>
                  <a:chOff x="2949" y="2425"/>
                  <a:chExt cx="218" cy="264"/>
                </a:xfrm>
              </p:grpSpPr>
              <p:sp>
                <p:nvSpPr>
                  <p:cNvPr id="5067" name="Google Shape;5067;p51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68" name="Google Shape;5068;p51"/>
                  <p:cNvSpPr txBox="1"/>
                  <p:nvPr/>
                </p:nvSpPr>
                <p:spPr>
                  <a:xfrm>
                    <a:off x="2949" y="2425"/>
                    <a:ext cx="218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c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sp>
          <p:nvSpPr>
            <p:cNvPr id="5069" name="Google Shape;5069;p51"/>
            <p:cNvSpPr/>
            <p:nvPr/>
          </p:nvSpPr>
          <p:spPr>
            <a:xfrm rot="10800000">
              <a:off x="8271137" y="5751593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0" name="Google Shape;5070;p51"/>
            <p:cNvSpPr/>
            <p:nvPr/>
          </p:nvSpPr>
          <p:spPr>
            <a:xfrm>
              <a:off x="7508446" y="5756510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1" name="Google Shape;5071;p51"/>
            <p:cNvSpPr/>
            <p:nvPr/>
          </p:nvSpPr>
          <p:spPr>
            <a:xfrm rot="10800000">
              <a:off x="8263118" y="3813171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2" name="Google Shape;5072;p51"/>
            <p:cNvSpPr/>
            <p:nvPr/>
          </p:nvSpPr>
          <p:spPr>
            <a:xfrm>
              <a:off x="7516468" y="3818088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3" name="Google Shape;5073;p51"/>
            <p:cNvSpPr/>
            <p:nvPr/>
          </p:nvSpPr>
          <p:spPr>
            <a:xfrm rot="10800000">
              <a:off x="8271140" y="1874749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4" name="Google Shape;5074;p51"/>
            <p:cNvSpPr/>
            <p:nvPr/>
          </p:nvSpPr>
          <p:spPr>
            <a:xfrm>
              <a:off x="7535184" y="1895707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5" name="Google Shape;5075;p51"/>
            <p:cNvSpPr/>
            <p:nvPr/>
          </p:nvSpPr>
          <p:spPr>
            <a:xfrm rot="10800000">
              <a:off x="10193519" y="1877422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6" name="Google Shape;5076;p51"/>
            <p:cNvSpPr/>
            <p:nvPr/>
          </p:nvSpPr>
          <p:spPr>
            <a:xfrm>
              <a:off x="9430828" y="1882339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7" name="Google Shape;5077;p51"/>
            <p:cNvSpPr/>
            <p:nvPr/>
          </p:nvSpPr>
          <p:spPr>
            <a:xfrm rot="10800000">
              <a:off x="10206889" y="3815843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8" name="Google Shape;5078;p51"/>
            <p:cNvSpPr/>
            <p:nvPr/>
          </p:nvSpPr>
          <p:spPr>
            <a:xfrm>
              <a:off x="9444198" y="3820760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79" name="Google Shape;5079;p51"/>
          <p:cNvGrpSpPr/>
          <p:nvPr/>
        </p:nvGrpSpPr>
        <p:grpSpPr>
          <a:xfrm>
            <a:off x="657860" y="2400132"/>
            <a:ext cx="5733486" cy="978729"/>
            <a:chOff x="657860" y="2475288"/>
            <a:chExt cx="5733486" cy="978729"/>
          </a:xfrm>
        </p:grpSpPr>
        <p:sp>
          <p:nvSpPr>
            <p:cNvPr id="5080" name="Google Shape;5080;p51"/>
            <p:cNvSpPr txBox="1"/>
            <p:nvPr/>
          </p:nvSpPr>
          <p:spPr>
            <a:xfrm flipH="1">
              <a:off x="1644363" y="2475288"/>
              <a:ext cx="4746983" cy="978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c’s state at t=0 has propagated to b, and may influence distance vector computations up to </a:t>
              </a:r>
              <a:r>
                <a:rPr b="1" i="0" lang="en-US" sz="24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1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hop away, i.e., at b</a:t>
              </a:r>
              <a:endParaRPr/>
            </a:p>
          </p:txBody>
        </p:sp>
        <p:grpSp>
          <p:nvGrpSpPr>
            <p:cNvPr id="5081" name="Google Shape;5081;p51"/>
            <p:cNvGrpSpPr/>
            <p:nvPr/>
          </p:nvGrpSpPr>
          <p:grpSpPr>
            <a:xfrm>
              <a:off x="657860" y="2750299"/>
              <a:ext cx="918242" cy="370050"/>
              <a:chOff x="1097284" y="2174236"/>
              <a:chExt cx="918242" cy="370050"/>
            </a:xfrm>
          </p:grpSpPr>
          <p:sp>
            <p:nvSpPr>
              <p:cNvPr id="5082" name="Google Shape;5082;p51"/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t=1</a:t>
                </a:r>
                <a:endParaRPr/>
              </a:p>
            </p:txBody>
          </p:sp>
          <p:grpSp>
            <p:nvGrpSpPr>
              <p:cNvPr id="5083" name="Google Shape;5083;p51"/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5084" name="Google Shape;5084;p51"/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085" name="Google Shape;5085;p51"/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086" name="Google Shape;5086;p51"/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087" name="Google Shape;5087;p51"/>
                <p:cNvCxnSpPr/>
                <p:nvPr/>
              </p:nvCxnSpPr>
              <p:spPr>
                <a:xfrm rot="10800000">
                  <a:off x="1116663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088" name="Google Shape;5088;p51"/>
                <p:cNvCxnSpPr/>
                <p:nvPr/>
              </p:nvCxnSpPr>
              <p:spPr>
                <a:xfrm rot="10800000">
                  <a:off x="1516484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089" name="Google Shape;5089;p51"/>
                <p:cNvCxnSpPr/>
                <p:nvPr/>
              </p:nvCxnSpPr>
              <p:spPr>
                <a:xfrm>
                  <a:off x="1411431" y="249304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090" name="Google Shape;5090;p51"/>
                <p:cNvCxnSpPr/>
                <p:nvPr/>
              </p:nvCxnSpPr>
              <p:spPr>
                <a:xfrm>
                  <a:off x="1205401" y="2199023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091" name="Google Shape;5091;p51"/>
                <p:cNvCxnSpPr/>
                <p:nvPr/>
              </p:nvCxnSpPr>
              <p:spPr>
                <a:xfrm flipH="1">
                  <a:off x="1201321" y="249133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092" name="Google Shape;5092;p51"/>
                <p:cNvCxnSpPr/>
                <p:nvPr/>
              </p:nvCxnSpPr>
              <p:spPr>
                <a:xfrm flipH="1">
                  <a:off x="1407351" y="2197314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093" name="Google Shape;5093;p51"/>
                <p:cNvCxnSpPr/>
                <p:nvPr/>
              </p:nvCxnSpPr>
              <p:spPr>
                <a:xfrm flipH="1">
                  <a:off x="1480788" y="226398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094" name="Google Shape;5094;p51"/>
                <p:cNvCxnSpPr/>
                <p:nvPr/>
              </p:nvCxnSpPr>
              <p:spPr>
                <a:xfrm flipH="1">
                  <a:off x="1129926" y="243492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095" name="Google Shape;5095;p51"/>
                <p:cNvCxnSpPr/>
                <p:nvPr/>
              </p:nvCxnSpPr>
              <p:spPr>
                <a:xfrm rot="10800000">
                  <a:off x="1136045" y="226569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096" name="Google Shape;5096;p51"/>
                <p:cNvCxnSpPr/>
                <p:nvPr/>
              </p:nvCxnSpPr>
              <p:spPr>
                <a:xfrm rot="10800000">
                  <a:off x="1480788" y="243663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5097" name="Google Shape;5097;p51"/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098" name="Google Shape;5098;p51"/>
                <p:cNvCxnSpPr/>
                <p:nvPr/>
              </p:nvCxnSpPr>
              <p:spPr>
                <a:xfrm flipH="1">
                  <a:off x="1318079" y="2243337"/>
                  <a:ext cx="79786" cy="111123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5099" name="Google Shape;5099;p51"/>
          <p:cNvGrpSpPr/>
          <p:nvPr/>
        </p:nvGrpSpPr>
        <p:grpSpPr>
          <a:xfrm>
            <a:off x="644525" y="3464640"/>
            <a:ext cx="5840095" cy="978729"/>
            <a:chOff x="644525" y="3539796"/>
            <a:chExt cx="5840095" cy="978729"/>
          </a:xfrm>
        </p:grpSpPr>
        <p:sp>
          <p:nvSpPr>
            <p:cNvPr id="5100" name="Google Shape;5100;p51"/>
            <p:cNvSpPr txBox="1"/>
            <p:nvPr/>
          </p:nvSpPr>
          <p:spPr>
            <a:xfrm flipH="1">
              <a:off x="1638864" y="3539796"/>
              <a:ext cx="4845756" cy="978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c’s state at t=0 may now influence distance vector computations up to </a:t>
              </a:r>
              <a:r>
                <a:rPr b="1" i="0" lang="en-US" sz="24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2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hops away, i.e., at b and now at a, e as well</a:t>
              </a:r>
              <a:endParaRPr/>
            </a:p>
          </p:txBody>
        </p:sp>
        <p:grpSp>
          <p:nvGrpSpPr>
            <p:cNvPr id="5101" name="Google Shape;5101;p51"/>
            <p:cNvGrpSpPr/>
            <p:nvPr/>
          </p:nvGrpSpPr>
          <p:grpSpPr>
            <a:xfrm>
              <a:off x="644525" y="3789159"/>
              <a:ext cx="918242" cy="370050"/>
              <a:chOff x="1097284" y="2174236"/>
              <a:chExt cx="918242" cy="370050"/>
            </a:xfrm>
          </p:grpSpPr>
          <p:sp>
            <p:nvSpPr>
              <p:cNvPr id="5102" name="Google Shape;5102;p51"/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t=2</a:t>
                </a:r>
                <a:endParaRPr/>
              </a:p>
            </p:txBody>
          </p:sp>
          <p:grpSp>
            <p:nvGrpSpPr>
              <p:cNvPr id="5103" name="Google Shape;5103;p51"/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5104" name="Google Shape;5104;p51"/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105" name="Google Shape;5105;p51"/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06" name="Google Shape;5106;p51"/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07" name="Google Shape;5107;p51"/>
                <p:cNvCxnSpPr/>
                <p:nvPr/>
              </p:nvCxnSpPr>
              <p:spPr>
                <a:xfrm rot="10800000">
                  <a:off x="1116663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08" name="Google Shape;5108;p51"/>
                <p:cNvCxnSpPr/>
                <p:nvPr/>
              </p:nvCxnSpPr>
              <p:spPr>
                <a:xfrm rot="10800000">
                  <a:off x="1516484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09" name="Google Shape;5109;p51"/>
                <p:cNvCxnSpPr/>
                <p:nvPr/>
              </p:nvCxnSpPr>
              <p:spPr>
                <a:xfrm>
                  <a:off x="1411431" y="249304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10" name="Google Shape;5110;p51"/>
                <p:cNvCxnSpPr/>
                <p:nvPr/>
              </p:nvCxnSpPr>
              <p:spPr>
                <a:xfrm>
                  <a:off x="1205401" y="2199023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11" name="Google Shape;5111;p51"/>
                <p:cNvCxnSpPr/>
                <p:nvPr/>
              </p:nvCxnSpPr>
              <p:spPr>
                <a:xfrm flipH="1">
                  <a:off x="1201321" y="249133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12" name="Google Shape;5112;p51"/>
                <p:cNvCxnSpPr/>
                <p:nvPr/>
              </p:nvCxnSpPr>
              <p:spPr>
                <a:xfrm flipH="1">
                  <a:off x="1407351" y="2197314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13" name="Google Shape;5113;p51"/>
                <p:cNvCxnSpPr/>
                <p:nvPr/>
              </p:nvCxnSpPr>
              <p:spPr>
                <a:xfrm flipH="1">
                  <a:off x="1480788" y="226398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14" name="Google Shape;5114;p51"/>
                <p:cNvCxnSpPr/>
                <p:nvPr/>
              </p:nvCxnSpPr>
              <p:spPr>
                <a:xfrm flipH="1">
                  <a:off x="1129926" y="243492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15" name="Google Shape;5115;p51"/>
                <p:cNvCxnSpPr/>
                <p:nvPr/>
              </p:nvCxnSpPr>
              <p:spPr>
                <a:xfrm rot="10800000">
                  <a:off x="1136045" y="226569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16" name="Google Shape;5116;p51"/>
                <p:cNvCxnSpPr/>
                <p:nvPr/>
              </p:nvCxnSpPr>
              <p:spPr>
                <a:xfrm rot="10800000">
                  <a:off x="1480788" y="243663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5117" name="Google Shape;5117;p51"/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118" name="Google Shape;5118;p51"/>
                <p:cNvCxnSpPr/>
                <p:nvPr/>
              </p:nvCxnSpPr>
              <p:spPr>
                <a:xfrm flipH="1">
                  <a:off x="1310990" y="2293502"/>
                  <a:ext cx="151387" cy="67308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5119" name="Google Shape;5119;p51"/>
          <p:cNvGrpSpPr/>
          <p:nvPr/>
        </p:nvGrpSpPr>
        <p:grpSpPr>
          <a:xfrm>
            <a:off x="657860" y="4629055"/>
            <a:ext cx="5999480" cy="701731"/>
            <a:chOff x="657860" y="4629055"/>
            <a:chExt cx="5999480" cy="701731"/>
          </a:xfrm>
        </p:grpSpPr>
        <p:sp>
          <p:nvSpPr>
            <p:cNvPr id="5120" name="Google Shape;5120;p51"/>
            <p:cNvSpPr txBox="1"/>
            <p:nvPr/>
          </p:nvSpPr>
          <p:spPr>
            <a:xfrm flipH="1">
              <a:off x="1659184" y="4629055"/>
              <a:ext cx="4998156" cy="701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c’s state at t=0 may influence distance vector computations up to </a:t>
              </a:r>
              <a:r>
                <a:rPr b="1" i="0" lang="en-US" sz="24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hops away, i.e., at d, f, h</a:t>
              </a:r>
              <a:endParaRPr/>
            </a:p>
          </p:txBody>
        </p:sp>
        <p:grpSp>
          <p:nvGrpSpPr>
            <p:cNvPr id="5121" name="Google Shape;5121;p51"/>
            <p:cNvGrpSpPr/>
            <p:nvPr/>
          </p:nvGrpSpPr>
          <p:grpSpPr>
            <a:xfrm>
              <a:off x="657860" y="4761979"/>
              <a:ext cx="918242" cy="370050"/>
              <a:chOff x="1097284" y="2174236"/>
              <a:chExt cx="918242" cy="370050"/>
            </a:xfrm>
          </p:grpSpPr>
          <p:sp>
            <p:nvSpPr>
              <p:cNvPr id="5122" name="Google Shape;5122;p51"/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t=3</a:t>
                </a:r>
                <a:endParaRPr/>
              </a:p>
            </p:txBody>
          </p:sp>
          <p:grpSp>
            <p:nvGrpSpPr>
              <p:cNvPr id="5123" name="Google Shape;5123;p51"/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5124" name="Google Shape;5124;p51"/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125" name="Google Shape;5125;p51"/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26" name="Google Shape;5126;p51"/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27" name="Google Shape;5127;p51"/>
                <p:cNvCxnSpPr/>
                <p:nvPr/>
              </p:nvCxnSpPr>
              <p:spPr>
                <a:xfrm rot="10800000">
                  <a:off x="1116663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28" name="Google Shape;5128;p51"/>
                <p:cNvCxnSpPr/>
                <p:nvPr/>
              </p:nvCxnSpPr>
              <p:spPr>
                <a:xfrm rot="10800000">
                  <a:off x="1516484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29" name="Google Shape;5129;p51"/>
                <p:cNvCxnSpPr/>
                <p:nvPr/>
              </p:nvCxnSpPr>
              <p:spPr>
                <a:xfrm>
                  <a:off x="1411431" y="249304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30" name="Google Shape;5130;p51"/>
                <p:cNvCxnSpPr/>
                <p:nvPr/>
              </p:nvCxnSpPr>
              <p:spPr>
                <a:xfrm>
                  <a:off x="1205401" y="2199023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31" name="Google Shape;5131;p51"/>
                <p:cNvCxnSpPr/>
                <p:nvPr/>
              </p:nvCxnSpPr>
              <p:spPr>
                <a:xfrm flipH="1">
                  <a:off x="1201321" y="249133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32" name="Google Shape;5132;p51"/>
                <p:cNvCxnSpPr/>
                <p:nvPr/>
              </p:nvCxnSpPr>
              <p:spPr>
                <a:xfrm flipH="1">
                  <a:off x="1407351" y="2197314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33" name="Google Shape;5133;p51"/>
                <p:cNvCxnSpPr/>
                <p:nvPr/>
              </p:nvCxnSpPr>
              <p:spPr>
                <a:xfrm flipH="1">
                  <a:off x="1480788" y="226398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34" name="Google Shape;5134;p51"/>
                <p:cNvCxnSpPr/>
                <p:nvPr/>
              </p:nvCxnSpPr>
              <p:spPr>
                <a:xfrm flipH="1">
                  <a:off x="1129926" y="243492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35" name="Google Shape;5135;p51"/>
                <p:cNvCxnSpPr/>
                <p:nvPr/>
              </p:nvCxnSpPr>
              <p:spPr>
                <a:xfrm rot="10800000">
                  <a:off x="1136045" y="226569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36" name="Google Shape;5136;p51"/>
                <p:cNvCxnSpPr/>
                <p:nvPr/>
              </p:nvCxnSpPr>
              <p:spPr>
                <a:xfrm rot="10800000">
                  <a:off x="1480788" y="243663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5137" name="Google Shape;5137;p51"/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138" name="Google Shape;5138;p51"/>
                <p:cNvCxnSpPr/>
                <p:nvPr/>
              </p:nvCxnSpPr>
              <p:spPr>
                <a:xfrm rot="10800000">
                  <a:off x="1314533" y="2354460"/>
                  <a:ext cx="154224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5139" name="Google Shape;5139;p51"/>
          <p:cNvGrpSpPr/>
          <p:nvPr/>
        </p:nvGrpSpPr>
        <p:grpSpPr>
          <a:xfrm>
            <a:off x="657860" y="5652999"/>
            <a:ext cx="5918200" cy="701731"/>
            <a:chOff x="657860" y="5627947"/>
            <a:chExt cx="5918200" cy="701731"/>
          </a:xfrm>
        </p:grpSpPr>
        <p:sp>
          <p:nvSpPr>
            <p:cNvPr id="5140" name="Google Shape;5140;p51"/>
            <p:cNvSpPr/>
            <p:nvPr/>
          </p:nvSpPr>
          <p:spPr>
            <a:xfrm>
              <a:off x="1638300" y="5627947"/>
              <a:ext cx="4937760" cy="701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c’s state at t=0 may influence distance vector computations up to </a:t>
              </a:r>
              <a:r>
                <a:rPr b="1" i="0" lang="en-US" sz="24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hops away, i.e., at g, i</a:t>
              </a:r>
              <a:endParaRPr/>
            </a:p>
          </p:txBody>
        </p:sp>
        <p:grpSp>
          <p:nvGrpSpPr>
            <p:cNvPr id="5141" name="Google Shape;5141;p51"/>
            <p:cNvGrpSpPr/>
            <p:nvPr/>
          </p:nvGrpSpPr>
          <p:grpSpPr>
            <a:xfrm>
              <a:off x="657860" y="5777979"/>
              <a:ext cx="918242" cy="370050"/>
              <a:chOff x="1097284" y="2174236"/>
              <a:chExt cx="918242" cy="370050"/>
            </a:xfrm>
          </p:grpSpPr>
          <p:sp>
            <p:nvSpPr>
              <p:cNvPr id="5142" name="Google Shape;5142;p51"/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t=4</a:t>
                </a:r>
                <a:endParaRPr/>
              </a:p>
            </p:txBody>
          </p:sp>
          <p:grpSp>
            <p:nvGrpSpPr>
              <p:cNvPr id="5143" name="Google Shape;5143;p51"/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5144" name="Google Shape;5144;p51"/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145" name="Google Shape;5145;p51"/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46" name="Google Shape;5146;p51"/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47" name="Google Shape;5147;p51"/>
                <p:cNvCxnSpPr/>
                <p:nvPr/>
              </p:nvCxnSpPr>
              <p:spPr>
                <a:xfrm rot="10800000">
                  <a:off x="1116663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48" name="Google Shape;5148;p51"/>
                <p:cNvCxnSpPr/>
                <p:nvPr/>
              </p:nvCxnSpPr>
              <p:spPr>
                <a:xfrm rot="10800000">
                  <a:off x="1516484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49" name="Google Shape;5149;p51"/>
                <p:cNvCxnSpPr/>
                <p:nvPr/>
              </p:nvCxnSpPr>
              <p:spPr>
                <a:xfrm>
                  <a:off x="1411431" y="249304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50" name="Google Shape;5150;p51"/>
                <p:cNvCxnSpPr/>
                <p:nvPr/>
              </p:nvCxnSpPr>
              <p:spPr>
                <a:xfrm>
                  <a:off x="1205401" y="2199023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51" name="Google Shape;5151;p51"/>
                <p:cNvCxnSpPr/>
                <p:nvPr/>
              </p:nvCxnSpPr>
              <p:spPr>
                <a:xfrm flipH="1">
                  <a:off x="1201321" y="249133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52" name="Google Shape;5152;p51"/>
                <p:cNvCxnSpPr/>
                <p:nvPr/>
              </p:nvCxnSpPr>
              <p:spPr>
                <a:xfrm flipH="1">
                  <a:off x="1407351" y="2197314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53" name="Google Shape;5153;p51"/>
                <p:cNvCxnSpPr/>
                <p:nvPr/>
              </p:nvCxnSpPr>
              <p:spPr>
                <a:xfrm flipH="1">
                  <a:off x="1480788" y="226398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54" name="Google Shape;5154;p51"/>
                <p:cNvCxnSpPr/>
                <p:nvPr/>
              </p:nvCxnSpPr>
              <p:spPr>
                <a:xfrm flipH="1">
                  <a:off x="1129926" y="243492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55" name="Google Shape;5155;p51"/>
                <p:cNvCxnSpPr/>
                <p:nvPr/>
              </p:nvCxnSpPr>
              <p:spPr>
                <a:xfrm rot="10800000">
                  <a:off x="1136045" y="226569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156" name="Google Shape;5156;p51"/>
                <p:cNvCxnSpPr/>
                <p:nvPr/>
              </p:nvCxnSpPr>
              <p:spPr>
                <a:xfrm rot="10800000">
                  <a:off x="1480788" y="243663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5157" name="Google Shape;5157;p51"/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158" name="Google Shape;5158;p51"/>
                <p:cNvCxnSpPr/>
                <p:nvPr/>
              </p:nvCxnSpPr>
              <p:spPr>
                <a:xfrm rot="10800000">
                  <a:off x="1310989" y="2351285"/>
                  <a:ext cx="140045" cy="7112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sp>
        <p:nvSpPr>
          <p:cNvPr id="5159" name="Google Shape;5159;p51"/>
          <p:cNvSpPr txBox="1"/>
          <p:nvPr/>
        </p:nvSpPr>
        <p:spPr>
          <a:xfrm>
            <a:off x="802640" y="1188720"/>
            <a:ext cx="1061976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Iterative communication, computation steps diffuses information through network: </a:t>
            </a:r>
            <a:endParaRPr/>
          </a:p>
        </p:txBody>
      </p:sp>
      <p:grpSp>
        <p:nvGrpSpPr>
          <p:cNvPr id="5160" name="Google Shape;5160;p51"/>
          <p:cNvGrpSpPr/>
          <p:nvPr/>
        </p:nvGrpSpPr>
        <p:grpSpPr>
          <a:xfrm>
            <a:off x="8879399" y="1803748"/>
            <a:ext cx="2857489" cy="1596883"/>
            <a:chOff x="8879399" y="1803748"/>
            <a:chExt cx="2857489" cy="1596883"/>
          </a:xfrm>
        </p:grpSpPr>
        <p:sp>
          <p:nvSpPr>
            <p:cNvPr id="5161" name="Google Shape;5161;p51"/>
            <p:cNvSpPr/>
            <p:nvPr/>
          </p:nvSpPr>
          <p:spPr>
            <a:xfrm>
              <a:off x="8879399" y="1803748"/>
              <a:ext cx="2857489" cy="1536065"/>
            </a:xfrm>
            <a:custGeom>
              <a:rect b="b" l="l" r="r" t="t"/>
              <a:pathLst>
                <a:path extrusionOk="0" h="1536065" w="2857489">
                  <a:moveTo>
                    <a:pt x="1555" y="0"/>
                  </a:moveTo>
                  <a:cubicBezTo>
                    <a:pt x="-6794" y="271398"/>
                    <a:pt x="1555" y="1075152"/>
                    <a:pt x="477544" y="1327760"/>
                  </a:cubicBezTo>
                  <a:cubicBezTo>
                    <a:pt x="953533" y="1580368"/>
                    <a:pt x="1968141" y="1544876"/>
                    <a:pt x="2857489" y="1515649"/>
                  </a:cubicBezTo>
                </a:path>
              </a:pathLst>
            </a:custGeom>
            <a:noFill/>
            <a:ln cap="flat" cmpd="sng" w="412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</a:t>
              </a:r>
              <a:endParaRPr/>
            </a:p>
          </p:txBody>
        </p:sp>
        <p:sp>
          <p:nvSpPr>
            <p:cNvPr id="5162" name="Google Shape;5162;p51"/>
            <p:cNvSpPr txBox="1"/>
            <p:nvPr/>
          </p:nvSpPr>
          <p:spPr>
            <a:xfrm>
              <a:off x="11185743" y="3031299"/>
              <a:ext cx="54694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t=1 </a:t>
              </a:r>
              <a:endParaRPr/>
            </a:p>
          </p:txBody>
        </p:sp>
      </p:grpSp>
      <p:grpSp>
        <p:nvGrpSpPr>
          <p:cNvPr id="5163" name="Google Shape;5163;p51"/>
          <p:cNvGrpSpPr/>
          <p:nvPr/>
        </p:nvGrpSpPr>
        <p:grpSpPr>
          <a:xfrm>
            <a:off x="7149715" y="1929521"/>
            <a:ext cx="4586651" cy="2599426"/>
            <a:chOff x="8907795" y="1814699"/>
            <a:chExt cx="2775713" cy="2599426"/>
          </a:xfrm>
        </p:grpSpPr>
        <p:sp>
          <p:nvSpPr>
            <p:cNvPr id="5164" name="Google Shape;5164;p51"/>
            <p:cNvSpPr/>
            <p:nvPr/>
          </p:nvSpPr>
          <p:spPr>
            <a:xfrm>
              <a:off x="8907795" y="1814699"/>
              <a:ext cx="2745708" cy="2599426"/>
            </a:xfrm>
            <a:custGeom>
              <a:rect b="b" l="l" r="r" t="t"/>
              <a:pathLst>
                <a:path extrusionOk="0" h="2364158" w="2785999">
                  <a:moveTo>
                    <a:pt x="0" y="0"/>
                  </a:moveTo>
                  <a:cubicBezTo>
                    <a:pt x="943" y="1381432"/>
                    <a:pt x="550939" y="1118129"/>
                    <a:pt x="780300" y="1512155"/>
                  </a:cubicBezTo>
                  <a:cubicBezTo>
                    <a:pt x="1009661" y="1906181"/>
                    <a:pt x="979509" y="2332843"/>
                    <a:pt x="1376166" y="2364158"/>
                  </a:cubicBezTo>
                  <a:cubicBezTo>
                    <a:pt x="1818305" y="2338511"/>
                    <a:pt x="1761382" y="1586941"/>
                    <a:pt x="2785999" y="1539867"/>
                  </a:cubicBezTo>
                </a:path>
              </a:pathLst>
            </a:custGeom>
            <a:noFill/>
            <a:ln cap="flat" cmpd="sng" w="412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</a:t>
              </a:r>
              <a:endParaRPr/>
            </a:p>
          </p:txBody>
        </p:sp>
        <p:sp>
          <p:nvSpPr>
            <p:cNvPr id="5165" name="Google Shape;5165;p51"/>
            <p:cNvSpPr txBox="1"/>
            <p:nvPr/>
          </p:nvSpPr>
          <p:spPr>
            <a:xfrm>
              <a:off x="11352512" y="3203511"/>
              <a:ext cx="33099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t=2 </a:t>
              </a:r>
              <a:endParaRPr/>
            </a:p>
          </p:txBody>
        </p:sp>
      </p:grpSp>
      <p:grpSp>
        <p:nvGrpSpPr>
          <p:cNvPr id="5166" name="Google Shape;5166;p51"/>
          <p:cNvGrpSpPr/>
          <p:nvPr/>
        </p:nvGrpSpPr>
        <p:grpSpPr>
          <a:xfrm>
            <a:off x="7026541" y="1994238"/>
            <a:ext cx="4824649" cy="4365597"/>
            <a:chOff x="8907795" y="1814698"/>
            <a:chExt cx="2919743" cy="4365597"/>
          </a:xfrm>
        </p:grpSpPr>
        <p:sp>
          <p:nvSpPr>
            <p:cNvPr id="5167" name="Google Shape;5167;p51"/>
            <p:cNvSpPr/>
            <p:nvPr/>
          </p:nvSpPr>
          <p:spPr>
            <a:xfrm>
              <a:off x="8907795" y="1814698"/>
              <a:ext cx="2806352" cy="4365597"/>
            </a:xfrm>
            <a:custGeom>
              <a:rect b="b" l="l" r="r" t="t"/>
              <a:pathLst>
                <a:path extrusionOk="0" h="3970477" w="2847532">
                  <a:moveTo>
                    <a:pt x="0" y="0"/>
                  </a:moveTo>
                  <a:cubicBezTo>
                    <a:pt x="943" y="1381432"/>
                    <a:pt x="7986" y="1928780"/>
                    <a:pt x="6598" y="2237364"/>
                  </a:cubicBezTo>
                  <a:cubicBezTo>
                    <a:pt x="5210" y="2545948"/>
                    <a:pt x="941136" y="3970903"/>
                    <a:pt x="1422317" y="3970477"/>
                  </a:cubicBezTo>
                  <a:cubicBezTo>
                    <a:pt x="1903498" y="3970051"/>
                    <a:pt x="2053664" y="2919844"/>
                    <a:pt x="2847532" y="2918339"/>
                  </a:cubicBezTo>
                </a:path>
              </a:pathLst>
            </a:custGeom>
            <a:noFill/>
            <a:ln cap="flat" cmpd="sng" w="412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</a:t>
              </a:r>
              <a:endParaRPr/>
            </a:p>
          </p:txBody>
        </p:sp>
        <p:sp>
          <p:nvSpPr>
            <p:cNvPr id="5168" name="Google Shape;5168;p51"/>
            <p:cNvSpPr txBox="1"/>
            <p:nvPr/>
          </p:nvSpPr>
          <p:spPr>
            <a:xfrm>
              <a:off x="11496542" y="4706635"/>
              <a:ext cx="33099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t=3 </a:t>
              </a:r>
              <a:endParaRPr/>
            </a:p>
          </p:txBody>
        </p:sp>
      </p:grpSp>
      <p:grpSp>
        <p:nvGrpSpPr>
          <p:cNvPr id="5169" name="Google Shape;5169;p51"/>
          <p:cNvGrpSpPr/>
          <p:nvPr/>
        </p:nvGrpSpPr>
        <p:grpSpPr>
          <a:xfrm>
            <a:off x="6828212" y="2004167"/>
            <a:ext cx="5205658" cy="4487257"/>
            <a:chOff x="8907795" y="1823741"/>
            <a:chExt cx="2917701" cy="3238676"/>
          </a:xfrm>
        </p:grpSpPr>
        <p:sp>
          <p:nvSpPr>
            <p:cNvPr id="5170" name="Google Shape;5170;p51"/>
            <p:cNvSpPr/>
            <p:nvPr/>
          </p:nvSpPr>
          <p:spPr>
            <a:xfrm>
              <a:off x="8907795" y="1823741"/>
              <a:ext cx="2806351" cy="3234534"/>
            </a:xfrm>
            <a:custGeom>
              <a:rect b="b" l="l" r="r" t="t"/>
              <a:pathLst>
                <a:path extrusionOk="0" h="2941785" w="2847532">
                  <a:moveTo>
                    <a:pt x="0" y="0"/>
                  </a:moveTo>
                  <a:cubicBezTo>
                    <a:pt x="15191" y="1611659"/>
                    <a:pt x="-19201" y="2632144"/>
                    <a:pt x="92081" y="2812934"/>
                  </a:cubicBezTo>
                  <a:cubicBezTo>
                    <a:pt x="203363" y="2993724"/>
                    <a:pt x="2234300" y="2940917"/>
                    <a:pt x="2847532" y="2910117"/>
                  </a:cubicBezTo>
                </a:path>
              </a:pathLst>
            </a:custGeom>
            <a:noFill/>
            <a:ln cap="flat" cmpd="sng" w="412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</a:t>
              </a:r>
              <a:endParaRPr/>
            </a:p>
          </p:txBody>
        </p:sp>
        <p:sp>
          <p:nvSpPr>
            <p:cNvPr id="5171" name="Google Shape;5171;p51"/>
            <p:cNvSpPr txBox="1"/>
            <p:nvPr/>
          </p:nvSpPr>
          <p:spPr>
            <a:xfrm>
              <a:off x="11518941" y="4795852"/>
              <a:ext cx="306555" cy="2665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t=4 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6" name="Shape 5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7" name="Google Shape;5177;p5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link cost changes</a:t>
            </a:r>
            <a:endParaRPr/>
          </a:p>
        </p:txBody>
      </p:sp>
      <p:sp>
        <p:nvSpPr>
          <p:cNvPr id="5178" name="Google Shape;5178;p52"/>
          <p:cNvSpPr txBox="1"/>
          <p:nvPr/>
        </p:nvSpPr>
        <p:spPr>
          <a:xfrm>
            <a:off x="488515" y="4245258"/>
            <a:ext cx="1841326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“good news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travels fast”</a:t>
            </a:r>
            <a:endParaRPr b="0" i="0" sz="1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9" name="Google Shape;5179;p52"/>
          <p:cNvSpPr/>
          <p:nvPr/>
        </p:nvSpPr>
        <p:spPr>
          <a:xfrm>
            <a:off x="2337453" y="3722449"/>
            <a:ext cx="9111337" cy="738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detects link-cost change, updates its DV, informs its neighbors.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0" name="Google Shape;5180;p52"/>
          <p:cNvSpPr/>
          <p:nvPr/>
        </p:nvSpPr>
        <p:spPr>
          <a:xfrm>
            <a:off x="2350153" y="4231521"/>
            <a:ext cx="871033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09575" lvl="0" marL="4095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receives update from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updates its DV, computes new least cost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, sends its neighbors its DV.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1" name="Google Shape;5181;p52"/>
          <p:cNvSpPr/>
          <p:nvPr/>
        </p:nvSpPr>
        <p:spPr>
          <a:xfrm>
            <a:off x="2322274" y="5064204"/>
            <a:ext cx="845011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09575" lvl="0" marL="4095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receives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’s update, updates its DV. 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y’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 least costs do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change, so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does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send a message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2" name="Google Shape;5182;p52"/>
          <p:cNvSpPr/>
          <p:nvPr/>
        </p:nvSpPr>
        <p:spPr>
          <a:xfrm>
            <a:off x="839244" y="1512909"/>
            <a:ext cx="8066762" cy="2006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link cost changes: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node detects local link cost change 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updates routing info, recalculates local DV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DV changes, notify neighbors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grpSp>
        <p:nvGrpSpPr>
          <p:cNvPr id="5183" name="Google Shape;5183;p52"/>
          <p:cNvGrpSpPr/>
          <p:nvPr/>
        </p:nvGrpSpPr>
        <p:grpSpPr>
          <a:xfrm>
            <a:off x="9120644" y="1471939"/>
            <a:ext cx="2184400" cy="1314450"/>
            <a:chOff x="3625" y="1076"/>
            <a:chExt cx="1376" cy="828"/>
          </a:xfrm>
        </p:grpSpPr>
        <p:sp>
          <p:nvSpPr>
            <p:cNvPr id="5184" name="Google Shape;5184;p52"/>
            <p:cNvSpPr/>
            <p:nvPr/>
          </p:nvSpPr>
          <p:spPr>
            <a:xfrm>
              <a:off x="3625" y="1140"/>
              <a:ext cx="1376" cy="764"/>
            </a:xfrm>
            <a:custGeom>
              <a:rect b="b" l="l" r="r" t="t"/>
              <a:pathLst>
                <a:path extrusionOk="0" h="764" w="1376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5" name="Google Shape;5185;p52"/>
            <p:cNvSpPr/>
            <p:nvPr/>
          </p:nvSpPr>
          <p:spPr>
            <a:xfrm>
              <a:off x="3984" y="1404"/>
              <a:ext cx="222" cy="180"/>
            </a:xfrm>
            <a:custGeom>
              <a:rect b="b" l="l" r="r" t="t"/>
              <a:pathLst>
                <a:path extrusionOk="0" h="180" w="222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6" name="Google Shape;5186;p52"/>
            <p:cNvSpPr/>
            <p:nvPr/>
          </p:nvSpPr>
          <p:spPr>
            <a:xfrm>
              <a:off x="3724" y="1640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87" name="Google Shape;5187;p52"/>
            <p:cNvCxnSpPr/>
            <p:nvPr/>
          </p:nvCxnSpPr>
          <p:spPr>
            <a:xfrm>
              <a:off x="3724" y="1633"/>
              <a:ext cx="1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88" name="Google Shape;5188;p52"/>
            <p:cNvCxnSpPr/>
            <p:nvPr/>
          </p:nvCxnSpPr>
          <p:spPr>
            <a:xfrm>
              <a:off x="4037" y="1633"/>
              <a:ext cx="1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89" name="Google Shape;5189;p52"/>
            <p:cNvSpPr/>
            <p:nvPr/>
          </p:nvSpPr>
          <p:spPr>
            <a:xfrm>
              <a:off x="3724" y="163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90" name="Google Shape;5190;p52"/>
            <p:cNvSpPr/>
            <p:nvPr/>
          </p:nvSpPr>
          <p:spPr>
            <a:xfrm>
              <a:off x="3721" y="1574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1" name="Google Shape;5191;p52"/>
            <p:cNvSpPr/>
            <p:nvPr/>
          </p:nvSpPr>
          <p:spPr>
            <a:xfrm>
              <a:off x="4389" y="1404"/>
              <a:ext cx="216" cy="189"/>
            </a:xfrm>
            <a:custGeom>
              <a:rect b="b" l="l" r="r" t="t"/>
              <a:pathLst>
                <a:path extrusionOk="0" h="189" w="216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2" name="Google Shape;5192;p52"/>
            <p:cNvSpPr/>
            <p:nvPr/>
          </p:nvSpPr>
          <p:spPr>
            <a:xfrm>
              <a:off x="4041" y="1668"/>
              <a:ext cx="540" cy="3"/>
            </a:xfrm>
            <a:custGeom>
              <a:rect b="b" l="l" r="r" t="t"/>
              <a:pathLst>
                <a:path extrusionOk="0" h="3" w="540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93" name="Google Shape;5193;p52"/>
            <p:cNvGrpSpPr/>
            <p:nvPr/>
          </p:nvGrpSpPr>
          <p:grpSpPr>
            <a:xfrm>
              <a:off x="3770" y="1526"/>
              <a:ext cx="210" cy="250"/>
              <a:chOff x="2951" y="2429"/>
              <a:chExt cx="213" cy="250"/>
            </a:xfrm>
          </p:grpSpPr>
          <p:sp>
            <p:nvSpPr>
              <p:cNvPr id="5194" name="Google Shape;5194;p52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5" name="Google Shape;5195;p52"/>
              <p:cNvSpPr txBox="1"/>
              <p:nvPr/>
            </p:nvSpPr>
            <p:spPr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omic Sans MS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x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196" name="Google Shape;5196;p52"/>
            <p:cNvGrpSpPr/>
            <p:nvPr/>
          </p:nvGrpSpPr>
          <p:grpSpPr>
            <a:xfrm>
              <a:off x="4566" y="1538"/>
              <a:ext cx="316" cy="250"/>
              <a:chOff x="1740" y="2306"/>
              <a:chExt cx="316" cy="250"/>
            </a:xfrm>
          </p:grpSpPr>
          <p:sp>
            <p:nvSpPr>
              <p:cNvPr id="5197" name="Google Shape;5197;p52"/>
              <p:cNvSpPr/>
              <p:nvPr/>
            </p:nvSpPr>
            <p:spPr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198" name="Google Shape;5198;p52"/>
              <p:cNvCxnSpPr/>
              <p:nvPr/>
            </p:nvCxnSpPr>
            <p:spPr>
              <a:xfrm>
                <a:off x="1743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99" name="Google Shape;5199;p52"/>
              <p:cNvCxnSpPr/>
              <p:nvPr/>
            </p:nvCxnSpPr>
            <p:spPr>
              <a:xfrm>
                <a:off x="2056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200" name="Google Shape;5200;p52"/>
              <p:cNvSpPr/>
              <p:nvPr/>
            </p:nvSpPr>
            <p:spPr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01" name="Google Shape;5201;p52"/>
              <p:cNvSpPr/>
              <p:nvPr/>
            </p:nvSpPr>
            <p:spPr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202" name="Google Shape;5202;p52"/>
              <p:cNvGrpSpPr/>
              <p:nvPr/>
            </p:nvGrpSpPr>
            <p:grpSpPr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5203" name="Google Shape;5203;p52"/>
                <p:cNvSpPr/>
                <p:nvPr/>
              </p:nvSpPr>
              <p:spPr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04" name="Google Shape;5204;p52"/>
                <p:cNvSpPr txBox="1"/>
                <p:nvPr/>
              </p:nvSpPr>
              <p:spPr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z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5205" name="Google Shape;5205;p52"/>
            <p:cNvSpPr txBox="1"/>
            <p:nvPr/>
          </p:nvSpPr>
          <p:spPr>
            <a:xfrm>
              <a:off x="4469" y="1328"/>
              <a:ext cx="18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06" name="Google Shape;5206;p52"/>
            <p:cNvSpPr txBox="1"/>
            <p:nvPr/>
          </p:nvSpPr>
          <p:spPr>
            <a:xfrm>
              <a:off x="3930" y="1325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4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07" name="Google Shape;5207;p52"/>
            <p:cNvSpPr txBox="1"/>
            <p:nvPr/>
          </p:nvSpPr>
          <p:spPr>
            <a:xfrm>
              <a:off x="4171" y="1658"/>
              <a:ext cx="2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50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5208" name="Google Shape;5208;p52"/>
            <p:cNvGrpSpPr/>
            <p:nvPr/>
          </p:nvGrpSpPr>
          <p:grpSpPr>
            <a:xfrm>
              <a:off x="4146" y="1214"/>
              <a:ext cx="316" cy="250"/>
              <a:chOff x="1740" y="2306"/>
              <a:chExt cx="316" cy="250"/>
            </a:xfrm>
          </p:grpSpPr>
          <p:sp>
            <p:nvSpPr>
              <p:cNvPr id="5209" name="Google Shape;5209;p52"/>
              <p:cNvSpPr/>
              <p:nvPr/>
            </p:nvSpPr>
            <p:spPr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210" name="Google Shape;5210;p52"/>
              <p:cNvCxnSpPr/>
              <p:nvPr/>
            </p:nvCxnSpPr>
            <p:spPr>
              <a:xfrm>
                <a:off x="1743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11" name="Google Shape;5211;p52"/>
              <p:cNvCxnSpPr/>
              <p:nvPr/>
            </p:nvCxnSpPr>
            <p:spPr>
              <a:xfrm>
                <a:off x="2056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212" name="Google Shape;5212;p52"/>
              <p:cNvSpPr/>
              <p:nvPr/>
            </p:nvSpPr>
            <p:spPr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13" name="Google Shape;5213;p52"/>
              <p:cNvSpPr/>
              <p:nvPr/>
            </p:nvSpPr>
            <p:spPr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214" name="Google Shape;5214;p52"/>
              <p:cNvGrpSpPr/>
              <p:nvPr/>
            </p:nvGrpSpPr>
            <p:grpSpPr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5215" name="Google Shape;5215;p52"/>
                <p:cNvSpPr/>
                <p:nvPr/>
              </p:nvSpPr>
              <p:spPr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16" name="Google Shape;5216;p52"/>
                <p:cNvSpPr txBox="1"/>
                <p:nvPr/>
              </p:nvSpPr>
              <p:spPr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y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5217" name="Google Shape;5217;p52"/>
            <p:cNvSpPr txBox="1"/>
            <p:nvPr/>
          </p:nvSpPr>
          <p:spPr>
            <a:xfrm>
              <a:off x="3837" y="1076"/>
              <a:ext cx="18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218" name="Google Shape;5218;p52"/>
            <p:cNvCxnSpPr/>
            <p:nvPr/>
          </p:nvCxnSpPr>
          <p:spPr>
            <a:xfrm rot="10800000">
              <a:off x="3948" y="1272"/>
              <a:ext cx="132" cy="228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3" name="Shape 5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4" name="Google Shape;5224;p5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link cost changes</a:t>
            </a:r>
            <a:endParaRPr/>
          </a:p>
        </p:txBody>
      </p:sp>
      <p:sp>
        <p:nvSpPr>
          <p:cNvPr id="5225" name="Google Shape;5225;p53"/>
          <p:cNvSpPr/>
          <p:nvPr/>
        </p:nvSpPr>
        <p:spPr>
          <a:xfrm>
            <a:off x="839244" y="1512909"/>
            <a:ext cx="8066762" cy="2006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link cost changes: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node detects local link cost change 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“bad news travels slow”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count-to-infinity problem:</a:t>
            </a:r>
            <a:endParaRPr/>
          </a:p>
        </p:txBody>
      </p:sp>
      <p:grpSp>
        <p:nvGrpSpPr>
          <p:cNvPr id="5226" name="Google Shape;5226;p53"/>
          <p:cNvGrpSpPr/>
          <p:nvPr/>
        </p:nvGrpSpPr>
        <p:grpSpPr>
          <a:xfrm>
            <a:off x="9120644" y="1471939"/>
            <a:ext cx="2184400" cy="1314450"/>
            <a:chOff x="3625" y="1076"/>
            <a:chExt cx="1376" cy="828"/>
          </a:xfrm>
        </p:grpSpPr>
        <p:sp>
          <p:nvSpPr>
            <p:cNvPr id="5227" name="Google Shape;5227;p53"/>
            <p:cNvSpPr/>
            <p:nvPr/>
          </p:nvSpPr>
          <p:spPr>
            <a:xfrm>
              <a:off x="3625" y="1140"/>
              <a:ext cx="1376" cy="764"/>
            </a:xfrm>
            <a:custGeom>
              <a:rect b="b" l="l" r="r" t="t"/>
              <a:pathLst>
                <a:path extrusionOk="0" h="764" w="1376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8" name="Google Shape;5228;p53"/>
            <p:cNvSpPr/>
            <p:nvPr/>
          </p:nvSpPr>
          <p:spPr>
            <a:xfrm>
              <a:off x="3984" y="1404"/>
              <a:ext cx="222" cy="180"/>
            </a:xfrm>
            <a:custGeom>
              <a:rect b="b" l="l" r="r" t="t"/>
              <a:pathLst>
                <a:path extrusionOk="0" h="180" w="222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9" name="Google Shape;5229;p53"/>
            <p:cNvSpPr/>
            <p:nvPr/>
          </p:nvSpPr>
          <p:spPr>
            <a:xfrm>
              <a:off x="3724" y="1640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30" name="Google Shape;5230;p53"/>
            <p:cNvCxnSpPr/>
            <p:nvPr/>
          </p:nvCxnSpPr>
          <p:spPr>
            <a:xfrm>
              <a:off x="3724" y="1633"/>
              <a:ext cx="1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31" name="Google Shape;5231;p53"/>
            <p:cNvCxnSpPr/>
            <p:nvPr/>
          </p:nvCxnSpPr>
          <p:spPr>
            <a:xfrm>
              <a:off x="4037" y="1633"/>
              <a:ext cx="1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232" name="Google Shape;5232;p53"/>
            <p:cNvSpPr/>
            <p:nvPr/>
          </p:nvSpPr>
          <p:spPr>
            <a:xfrm>
              <a:off x="3724" y="163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33" name="Google Shape;5233;p53"/>
            <p:cNvSpPr/>
            <p:nvPr/>
          </p:nvSpPr>
          <p:spPr>
            <a:xfrm>
              <a:off x="3721" y="1574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4" name="Google Shape;5234;p53"/>
            <p:cNvSpPr/>
            <p:nvPr/>
          </p:nvSpPr>
          <p:spPr>
            <a:xfrm>
              <a:off x="4389" y="1404"/>
              <a:ext cx="216" cy="189"/>
            </a:xfrm>
            <a:custGeom>
              <a:rect b="b" l="l" r="r" t="t"/>
              <a:pathLst>
                <a:path extrusionOk="0" h="189" w="216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5" name="Google Shape;5235;p53"/>
            <p:cNvSpPr/>
            <p:nvPr/>
          </p:nvSpPr>
          <p:spPr>
            <a:xfrm>
              <a:off x="4041" y="1668"/>
              <a:ext cx="540" cy="3"/>
            </a:xfrm>
            <a:custGeom>
              <a:rect b="b" l="l" r="r" t="t"/>
              <a:pathLst>
                <a:path extrusionOk="0" h="3" w="540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36" name="Google Shape;5236;p53"/>
            <p:cNvGrpSpPr/>
            <p:nvPr/>
          </p:nvGrpSpPr>
          <p:grpSpPr>
            <a:xfrm>
              <a:off x="3770" y="1526"/>
              <a:ext cx="210" cy="250"/>
              <a:chOff x="2951" y="2429"/>
              <a:chExt cx="213" cy="250"/>
            </a:xfrm>
          </p:grpSpPr>
          <p:sp>
            <p:nvSpPr>
              <p:cNvPr id="5237" name="Google Shape;5237;p53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8" name="Google Shape;5238;p53"/>
              <p:cNvSpPr txBox="1"/>
              <p:nvPr/>
            </p:nvSpPr>
            <p:spPr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omic Sans MS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x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239" name="Google Shape;5239;p53"/>
            <p:cNvGrpSpPr/>
            <p:nvPr/>
          </p:nvGrpSpPr>
          <p:grpSpPr>
            <a:xfrm>
              <a:off x="4566" y="1538"/>
              <a:ext cx="316" cy="250"/>
              <a:chOff x="1740" y="2306"/>
              <a:chExt cx="316" cy="250"/>
            </a:xfrm>
          </p:grpSpPr>
          <p:sp>
            <p:nvSpPr>
              <p:cNvPr id="5240" name="Google Shape;5240;p53"/>
              <p:cNvSpPr/>
              <p:nvPr/>
            </p:nvSpPr>
            <p:spPr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241" name="Google Shape;5241;p53"/>
              <p:cNvCxnSpPr/>
              <p:nvPr/>
            </p:nvCxnSpPr>
            <p:spPr>
              <a:xfrm>
                <a:off x="1743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42" name="Google Shape;5242;p53"/>
              <p:cNvCxnSpPr/>
              <p:nvPr/>
            </p:nvCxnSpPr>
            <p:spPr>
              <a:xfrm>
                <a:off x="2056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243" name="Google Shape;5243;p53"/>
              <p:cNvSpPr/>
              <p:nvPr/>
            </p:nvSpPr>
            <p:spPr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44" name="Google Shape;5244;p53"/>
              <p:cNvSpPr/>
              <p:nvPr/>
            </p:nvSpPr>
            <p:spPr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245" name="Google Shape;5245;p53"/>
              <p:cNvGrpSpPr/>
              <p:nvPr/>
            </p:nvGrpSpPr>
            <p:grpSpPr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5246" name="Google Shape;5246;p53"/>
                <p:cNvSpPr/>
                <p:nvPr/>
              </p:nvSpPr>
              <p:spPr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47" name="Google Shape;5247;p53"/>
                <p:cNvSpPr txBox="1"/>
                <p:nvPr/>
              </p:nvSpPr>
              <p:spPr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z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5248" name="Google Shape;5248;p53"/>
            <p:cNvSpPr txBox="1"/>
            <p:nvPr/>
          </p:nvSpPr>
          <p:spPr>
            <a:xfrm>
              <a:off x="4469" y="1328"/>
              <a:ext cx="18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49" name="Google Shape;5249;p53"/>
            <p:cNvSpPr txBox="1"/>
            <p:nvPr/>
          </p:nvSpPr>
          <p:spPr>
            <a:xfrm>
              <a:off x="3930" y="1325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4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50" name="Google Shape;5250;p53"/>
            <p:cNvSpPr txBox="1"/>
            <p:nvPr/>
          </p:nvSpPr>
          <p:spPr>
            <a:xfrm>
              <a:off x="4171" y="1658"/>
              <a:ext cx="2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50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5251" name="Google Shape;5251;p53"/>
            <p:cNvGrpSpPr/>
            <p:nvPr/>
          </p:nvGrpSpPr>
          <p:grpSpPr>
            <a:xfrm>
              <a:off x="4146" y="1214"/>
              <a:ext cx="316" cy="250"/>
              <a:chOff x="1740" y="2306"/>
              <a:chExt cx="316" cy="250"/>
            </a:xfrm>
          </p:grpSpPr>
          <p:sp>
            <p:nvSpPr>
              <p:cNvPr id="5252" name="Google Shape;5252;p53"/>
              <p:cNvSpPr/>
              <p:nvPr/>
            </p:nvSpPr>
            <p:spPr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253" name="Google Shape;5253;p53"/>
              <p:cNvCxnSpPr/>
              <p:nvPr/>
            </p:nvCxnSpPr>
            <p:spPr>
              <a:xfrm>
                <a:off x="1743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54" name="Google Shape;5254;p53"/>
              <p:cNvCxnSpPr/>
              <p:nvPr/>
            </p:nvCxnSpPr>
            <p:spPr>
              <a:xfrm>
                <a:off x="2056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255" name="Google Shape;5255;p53"/>
              <p:cNvSpPr/>
              <p:nvPr/>
            </p:nvSpPr>
            <p:spPr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56" name="Google Shape;5256;p53"/>
              <p:cNvSpPr/>
              <p:nvPr/>
            </p:nvSpPr>
            <p:spPr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257" name="Google Shape;5257;p53"/>
              <p:cNvGrpSpPr/>
              <p:nvPr/>
            </p:nvGrpSpPr>
            <p:grpSpPr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5258" name="Google Shape;5258;p53"/>
                <p:cNvSpPr/>
                <p:nvPr/>
              </p:nvSpPr>
              <p:spPr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59" name="Google Shape;5259;p53"/>
                <p:cNvSpPr txBox="1"/>
                <p:nvPr/>
              </p:nvSpPr>
              <p:spPr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y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5260" name="Google Shape;5260;p53"/>
            <p:cNvSpPr txBox="1"/>
            <p:nvPr/>
          </p:nvSpPr>
          <p:spPr>
            <a:xfrm>
              <a:off x="3781" y="1076"/>
              <a:ext cx="294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60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261" name="Google Shape;5261;p53"/>
            <p:cNvCxnSpPr/>
            <p:nvPr/>
          </p:nvCxnSpPr>
          <p:spPr>
            <a:xfrm rot="10800000">
              <a:off x="3948" y="1272"/>
              <a:ext cx="132" cy="228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5262" name="Google Shape;5262;p53"/>
          <p:cNvSpPr/>
          <p:nvPr/>
        </p:nvSpPr>
        <p:spPr>
          <a:xfrm>
            <a:off x="1041747" y="2917913"/>
            <a:ext cx="10519776" cy="752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sees direct link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has new cost 60, but z has said it has a path at cost of 5. So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computes “my new cost to x will be 6, via z); notifies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new cost of 6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x.</a:t>
            </a:r>
            <a:endParaRPr/>
          </a:p>
        </p:txBody>
      </p:sp>
      <p:sp>
        <p:nvSpPr>
          <p:cNvPr id="5263" name="Google Shape;5263;p53"/>
          <p:cNvSpPr/>
          <p:nvPr/>
        </p:nvSpPr>
        <p:spPr>
          <a:xfrm>
            <a:off x="1043836" y="3596406"/>
            <a:ext cx="9931052" cy="752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learns that path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via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has new cost 6, so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computes “my new cost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will be 7 via y), notifies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new cost of 7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x.</a:t>
            </a:r>
            <a:endParaRPr/>
          </a:p>
        </p:txBody>
      </p:sp>
      <p:sp>
        <p:nvSpPr>
          <p:cNvPr id="5264" name="Google Shape;5264;p53"/>
          <p:cNvSpPr/>
          <p:nvPr/>
        </p:nvSpPr>
        <p:spPr>
          <a:xfrm>
            <a:off x="1045923" y="4274900"/>
            <a:ext cx="9931052" cy="752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learns that path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via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has new cost 7, so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computes “my new cost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will be 8 via y), notifies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new cost of 8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x.</a:t>
            </a:r>
            <a:endParaRPr/>
          </a:p>
        </p:txBody>
      </p:sp>
      <p:sp>
        <p:nvSpPr>
          <p:cNvPr id="5265" name="Google Shape;5265;p53"/>
          <p:cNvSpPr/>
          <p:nvPr/>
        </p:nvSpPr>
        <p:spPr>
          <a:xfrm>
            <a:off x="1020871" y="4963831"/>
            <a:ext cx="9931052" cy="752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learns that path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via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has new cost 8, so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computes “my new cost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will be 9 via y), notifies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new cost of 9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x.</a:t>
            </a:r>
            <a:endParaRPr/>
          </a:p>
        </p:txBody>
      </p:sp>
      <p:sp>
        <p:nvSpPr>
          <p:cNvPr id="5266" name="Google Shape;5266;p53"/>
          <p:cNvSpPr txBox="1"/>
          <p:nvPr/>
        </p:nvSpPr>
        <p:spPr>
          <a:xfrm>
            <a:off x="1365337" y="5473616"/>
            <a:ext cx="4331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sp>
        <p:nvSpPr>
          <p:cNvPr id="5267" name="Google Shape;5267;p53"/>
          <p:cNvSpPr/>
          <p:nvPr/>
        </p:nvSpPr>
        <p:spPr>
          <a:xfrm>
            <a:off x="847596" y="6018756"/>
            <a:ext cx="9931052" cy="445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see text for solutions. 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Distributed algorithms are tricky!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2" name="Shape 5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" name="Google Shape;5273;p5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Comparison of LS and DV algorithms</a:t>
            </a:r>
            <a:endParaRPr/>
          </a:p>
        </p:txBody>
      </p:sp>
      <p:sp>
        <p:nvSpPr>
          <p:cNvPr id="5274" name="Google Shape;5274;p54"/>
          <p:cNvSpPr txBox="1"/>
          <p:nvPr/>
        </p:nvSpPr>
        <p:spPr>
          <a:xfrm>
            <a:off x="749342" y="1478070"/>
            <a:ext cx="5162943" cy="1615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message complexity</a:t>
            </a:r>
            <a:endParaRPr/>
          </a:p>
          <a:p>
            <a:pPr indent="-349249" lvl="1" marL="696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LS: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routers, O(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baseline="30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messages sent  </a:t>
            </a:r>
            <a:endParaRPr/>
          </a:p>
          <a:p>
            <a:pPr indent="-349249" lvl="1" marL="696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DV: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exchange between neighbors; convergence time varies</a:t>
            </a:r>
            <a:endParaRPr/>
          </a:p>
        </p:txBody>
      </p:sp>
      <p:sp>
        <p:nvSpPr>
          <p:cNvPr id="5275" name="Google Shape;5275;p54"/>
          <p:cNvSpPr txBox="1"/>
          <p:nvPr/>
        </p:nvSpPr>
        <p:spPr>
          <a:xfrm>
            <a:off x="738904" y="3382027"/>
            <a:ext cx="5060647" cy="2367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speed of convergence</a:t>
            </a:r>
            <a:endParaRPr/>
          </a:p>
          <a:p>
            <a:pPr indent="-349249" lvl="0" marL="69691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LS: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baseline="30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algorithm, O(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baseline="30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messages</a:t>
            </a:r>
            <a:endParaRPr/>
          </a:p>
          <a:p>
            <a:pPr indent="-236537" lvl="1" marL="6969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may have oscillations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49" lvl="0" marL="69691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DV: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convergence time varies</a:t>
            </a:r>
            <a:endParaRPr/>
          </a:p>
          <a:p>
            <a:pPr indent="-236537" lvl="1" marL="6969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may have routing loops</a:t>
            </a:r>
            <a:endParaRPr/>
          </a:p>
          <a:p>
            <a:pPr indent="-236537" lvl="1" marL="6969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count-to-infinity problem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6" name="Google Shape;5276;p54"/>
          <p:cNvSpPr txBox="1"/>
          <p:nvPr/>
        </p:nvSpPr>
        <p:spPr>
          <a:xfrm>
            <a:off x="6087648" y="1498948"/>
            <a:ext cx="5574083" cy="49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robustness: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happens if router malfunctions, or is compromised?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LS: </a:t>
            </a:r>
            <a:endParaRPr/>
          </a:p>
          <a:p>
            <a:pPr indent="-236537" lvl="1" marL="5222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 can advertise incorrect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cost</a:t>
            </a:r>
            <a:endParaRPr/>
          </a:p>
          <a:p>
            <a:pPr indent="-236537" lvl="1" marL="5222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router computes only its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own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table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DV:</a:t>
            </a:r>
            <a:endParaRPr/>
          </a:p>
          <a:p>
            <a:pPr indent="-22383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DV router can advertise incorrect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path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cost (“I have a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really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low-cost path to everywhere”):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black-holing</a:t>
            </a:r>
            <a:endParaRPr/>
          </a:p>
          <a:p>
            <a:pPr indent="-22383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router’s DV is used by others: error propagate thru network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