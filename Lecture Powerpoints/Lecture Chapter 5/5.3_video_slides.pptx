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illSans-regular.fntdata"/><Relationship Id="rId14" Type="http://schemas.openxmlformats.org/officeDocument/2006/relationships/slide" Target="slides/slide8.xml"/><Relationship Id="rId16" Type="http://schemas.openxmlformats.org/officeDocument/2006/relationships/font" Target="fonts/Gill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Control Plane</a:t>
            </a:r>
            <a:endParaRPr sz="6000"/>
          </a:p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introduction</a:t>
            </a:r>
            <a:endParaRPr/>
          </a:p>
          <a:p>
            <a:pPr indent="-274638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600">
                <a:solidFill>
                  <a:srgbClr val="D8D8D8"/>
                </a:solidFill>
              </a:rPr>
              <a:t>routing algorithms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</a:rPr>
              <a:t>link state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</a:rPr>
              <a:t>distance vector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Pct val="100000"/>
              <a:buChar char="▪"/>
            </a:pPr>
            <a:r>
              <a:rPr lang="en-US" sz="3200"/>
              <a:t>intra-ISP routing: OSPF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routing among ISPs: BGP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SDN control plane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Internet Control Message Protocol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Network management, configuration</a:t>
            </a:r>
            <a:endParaRPr/>
          </a:p>
          <a:p>
            <a:pPr indent="-121284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None/>
            </a:pPr>
            <a:r>
              <a:t/>
            </a:r>
            <a:endParaRPr>
              <a:solidFill>
                <a:srgbClr val="BFBFBF"/>
              </a:solidFill>
            </a:endParaRPr>
          </a:p>
        </p:txBody>
      </p:sp>
      <p:grpSp>
        <p:nvGrpSpPr>
          <p:cNvPr id="56" name="Google Shape;56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7" name="Google Shape;5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9" name="Google Shape;59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0" name="Google Shape;60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our routing study thus far: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0013A3"/>
                </a:solidFill>
              </a:rPr>
              <a:t>idealized 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all routers identical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network “flat”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… not true in practice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Making routing scalable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990600" y="4079122"/>
            <a:ext cx="498431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billions of destinations: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can’t store all destinations in routing tables!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exchanging  link-state or DV information  would swamp links!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" name="Google Shape;70;p12"/>
          <p:cNvSpPr txBox="1"/>
          <p:nvPr/>
        </p:nvSpPr>
        <p:spPr>
          <a:xfrm>
            <a:off x="6413326" y="4067119"/>
            <a:ext cx="536127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administrative autonomy: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Internet: a network of networks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network admin may want to control routing in its own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aggregate routers into regions known as </a:t>
            </a:r>
            <a:r>
              <a:rPr lang="en-US" sz="3200">
                <a:solidFill>
                  <a:srgbClr val="0000A8"/>
                </a:solidFill>
              </a:rPr>
              <a:t>“autonomous systems”</a:t>
            </a:r>
            <a:r>
              <a:rPr lang="en-US" sz="3200"/>
              <a:t> (AS) (a.k.a. “</a:t>
            </a:r>
            <a:r>
              <a:rPr lang="en-US" sz="3200">
                <a:solidFill>
                  <a:srgbClr val="0000A8"/>
                </a:solidFill>
              </a:rPr>
              <a:t>domains</a:t>
            </a:r>
            <a:r>
              <a:rPr lang="en-US" sz="3200"/>
              <a:t>”)</a:t>
            </a:r>
            <a:endParaRPr/>
          </a:p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approach to scalable routing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intra-AS (aka “intra-domain”):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among routers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 same AS (“network”)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routers in AS must run same intra-domain protocol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 in different AS can run different intra-domain routing protocols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gateway router: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“edge” of its own AS, has link(s) to router(s) in other AS’es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inter-AS (aka “inter-domain”):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among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AS’es</a:t>
            </a:r>
            <a:endParaRPr/>
          </a:p>
          <a:p>
            <a:pPr indent="-285750" lvl="0" marL="409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gateways perform inter-domain routing (as well as intra-domain routing)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Interconnected ASes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4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4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4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4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4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102" name="Google Shape;102;p14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104" name="Google Shape;104;p14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4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4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4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14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4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4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4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117" name="Google Shape;117;p14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119" name="Google Shape;119;p14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4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4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4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4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4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4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4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4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4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147" name="Google Shape;147;p14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14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14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" name="Google Shape;150;p14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4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155" name="Google Shape;155;p14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" name="Google Shape;156;p14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4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" name="Google Shape;158;p14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163" name="Google Shape;163;p14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14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4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" name="Google Shape;166;p14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p14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169" name="Google Shape;169;p1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4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1" name="Google Shape;171;p14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172" name="Google Shape;172;p14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" name="Google Shape;173;p14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14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" name="Google Shape;175;p14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7" name="Google Shape;177;p14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178" name="Google Shape;178;p14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4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80" name="Google Shape;180;p14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4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4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4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4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4"/>
          <p:cNvCxnSpPr/>
          <p:nvPr/>
        </p:nvCxnSpPr>
        <p:spPr>
          <a:xfrm>
            <a:off x="7246913" y="5100458"/>
            <a:ext cx="32411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4"/>
          <p:cNvCxnSpPr/>
          <p:nvPr/>
        </p:nvCxnSpPr>
        <p:spPr>
          <a:xfrm flipH="1" rot="10800000">
            <a:off x="7160776" y="4638895"/>
            <a:ext cx="382509" cy="3745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4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4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4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4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4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4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4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4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5" name="Google Shape;195;p14"/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196" name="Google Shape;196;p14"/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197" name="Google Shape;197;p14"/>
              <p:cNvSpPr/>
              <p:nvPr/>
            </p:nvSpPr>
            <p:spPr>
              <a:xfrm>
                <a:off x="3188070" y="3748892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8" name="Google Shape;198;p14"/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199" name="Google Shape;199;p14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200" name="Google Shape;200;p14"/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14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2" name="Google Shape;202;p14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203" name="Google Shape;203;p14"/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204" name="Google Shape;204;p14"/>
              <p:cNvSpPr/>
              <p:nvPr/>
            </p:nvSpPr>
            <p:spPr>
              <a:xfrm>
                <a:off x="4345585" y="4779701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5" name="Google Shape;205;p14"/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06" name="Google Shape;206;p14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207" name="Google Shape;207;p14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4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9" name="Google Shape;209;p14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210" name="Google Shape;210;p14"/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211" name="Google Shape;211;p14"/>
              <p:cNvSpPr/>
              <p:nvPr/>
            </p:nvSpPr>
            <p:spPr>
              <a:xfrm>
                <a:off x="6989573" y="3977477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2" name="Google Shape;212;p14"/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13" name="Google Shape;213;p14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214" name="Google Shape;214;p14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4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16" name="Google Shape;216;p14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</p:grpSp>
      <p:grpSp>
        <p:nvGrpSpPr>
          <p:cNvPr id="217" name="Google Shape;217;p14"/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218" name="Google Shape;218;p14"/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2563856" y="-1509951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3733897" y="-479142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6377885" y="-1281366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2" name="Google Shape;222;p14"/>
              <p:cNvCxnSpPr/>
              <p:nvPr/>
            </p:nvCxnSpPr>
            <p:spPr>
              <a:xfrm flipH="1" rot="10800000">
                <a:off x="5824603" y="-501042"/>
                <a:ext cx="814192" cy="50104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223" name="Google Shape;223;p14"/>
              <p:cNvCxnSpPr/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224" name="Google Shape;224;p14"/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inter-AS routing</a:t>
              </a:r>
              <a:endParaRPr/>
            </a:p>
          </p:txBody>
        </p:sp>
      </p:grpSp>
      <p:grpSp>
        <p:nvGrpSpPr>
          <p:cNvPr id="225" name="Google Shape;225;p14"/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226" name="Google Shape;226;p14"/>
            <p:cNvSpPr/>
            <p:nvPr/>
          </p:nvSpPr>
          <p:spPr>
            <a:xfrm flipH="1">
              <a:off x="5219204" y="3674178"/>
              <a:ext cx="2255450" cy="1347857"/>
            </a:xfrm>
            <a:custGeom>
              <a:rect b="b" l="l" r="r" t="t"/>
              <a:pathLst>
                <a:path extrusionOk="0" h="1349639" w="2254368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227" name="Google Shape;227;p14"/>
            <p:cNvGrpSpPr/>
            <p:nvPr/>
          </p:nvGrpSpPr>
          <p:grpSpPr>
            <a:xfrm>
              <a:off x="5176788" y="1691016"/>
              <a:ext cx="2334629" cy="2102478"/>
              <a:chOff x="5176788" y="1691016"/>
              <a:chExt cx="2334629" cy="2102478"/>
            </a:xfrm>
          </p:grpSpPr>
          <p:grpSp>
            <p:nvGrpSpPr>
              <p:cNvPr id="228" name="Google Shape;228;p14"/>
              <p:cNvGrpSpPr/>
              <p:nvPr/>
            </p:nvGrpSpPr>
            <p:grpSpPr>
              <a:xfrm>
                <a:off x="5176788" y="1691016"/>
                <a:ext cx="2334629" cy="2102478"/>
                <a:chOff x="1858002" y="3709936"/>
                <a:chExt cx="1045872" cy="1739638"/>
              </a:xfrm>
            </p:grpSpPr>
            <p:sp>
              <p:nvSpPr>
                <p:cNvPr id="229" name="Google Shape;229;p14"/>
                <p:cNvSpPr/>
                <p:nvPr/>
              </p:nvSpPr>
              <p:spPr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>
                  <a:gsLst>
                    <a:gs pos="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230" name="Google Shape;230;p14"/>
                <p:cNvGrpSpPr/>
                <p:nvPr/>
              </p:nvGrpSpPr>
              <p:grpSpPr>
                <a:xfrm>
                  <a:off x="1859590" y="5089265"/>
                  <a:ext cx="1035050" cy="360309"/>
                  <a:chOff x="4129067" y="3606966"/>
                  <a:chExt cx="567968" cy="338045"/>
                </a:xfrm>
              </p:grpSpPr>
              <p:sp>
                <p:nvSpPr>
                  <p:cNvPr id="231" name="Google Shape;231;p14"/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2" name="Google Shape;232;p14"/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3" name="Google Shape;233;p14"/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234" name="Google Shape;234;p14"/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" name="Google Shape;235;p14"/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36" name="Google Shape;236;p14"/>
                <p:cNvSpPr/>
                <p:nvPr/>
              </p:nvSpPr>
              <p:spPr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37" name="Google Shape;237;p14"/>
                <p:cNvCxnSpPr>
                  <a:stCxn id="238" idx="1"/>
                </p:cNvCxnSpPr>
                <p:nvPr/>
              </p:nvCxnSpPr>
              <p:spPr>
                <a:xfrm flipH="1">
                  <a:off x="1861285" y="3924839"/>
                  <a:ext cx="900" cy="1295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9" name="Google Shape;239;p14"/>
                <p:cNvCxnSpPr/>
                <p:nvPr/>
              </p:nvCxnSpPr>
              <p:spPr>
                <a:xfrm flipH="1">
                  <a:off x="2894641" y="3971833"/>
                  <a:ext cx="6350" cy="126981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240" name="Google Shape;240;p14"/>
                <p:cNvGrpSpPr/>
                <p:nvPr/>
              </p:nvGrpSpPr>
              <p:grpSpPr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241" name="Google Shape;241;p14"/>
                  <p:cNvSpPr/>
                  <p:nvPr/>
                </p:nvSpPr>
                <p:spPr>
                  <a:xfrm flipH="1" rot="10800000">
                    <a:off x="2185125" y="1689286"/>
                    <a:ext cx="1196349" cy="31485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8" name="Google Shape;238;p14"/>
                  <p:cNvSpPr/>
                  <p:nvPr/>
                </p:nvSpPr>
                <p:spPr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2" name="Google Shape;242;p14"/>
                  <p:cNvSpPr/>
                  <p:nvPr/>
                </p:nvSpPr>
                <p:spPr>
                  <a:xfrm flipH="1" rot="10800000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80808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3" name="Google Shape;243;p14"/>
                  <p:cNvSpPr/>
                  <p:nvPr/>
                </p:nvSpPr>
                <p:spPr>
                  <a:xfrm>
                    <a:off x="2489684" y="1670464"/>
                    <a:ext cx="581761" cy="157429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4" name="Google Shape;244;p14"/>
                  <p:cNvSpPr/>
                  <p:nvPr/>
                </p:nvSpPr>
                <p:spPr>
                  <a:xfrm>
                    <a:off x="2429501" y="1629396"/>
                    <a:ext cx="703949" cy="11122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" name="Google Shape;245;p14"/>
                  <p:cNvSpPr/>
                  <p:nvPr/>
                </p:nvSpPr>
                <p:spPr>
                  <a:xfrm>
                    <a:off x="2892722" y="1723510"/>
                    <a:ext cx="257143" cy="95826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" name="Google Shape;246;p14"/>
                  <p:cNvSpPr/>
                  <p:nvPr/>
                </p:nvSpPr>
                <p:spPr>
                  <a:xfrm>
                    <a:off x="2416736" y="1725222"/>
                    <a:ext cx="255318" cy="9411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47" name="Google Shape;247;p14"/>
                  <p:cNvCxnSpPr>
                    <a:endCxn id="242" idx="2"/>
                  </p:cNvCxnSpPr>
                  <p:nvPr/>
                </p:nvCxnSpPr>
                <p:spPr>
                  <a:xfrm rot="10800000">
                    <a:off x="2189930" y="1732067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248" name="Google Shape;248;p14"/>
                  <p:cNvCxnSpPr/>
                  <p:nvPr/>
                </p:nvCxnSpPr>
                <p:spPr>
                  <a:xfrm rot="10800000">
                    <a:off x="3384788" y="1728644"/>
                    <a:ext cx="1824" cy="12149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249" name="Google Shape;249;p14"/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250" name="Google Shape;250;p14"/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51" name="Google Shape;251;p14"/>
                <p:cNvCxnSpPr/>
                <p:nvPr/>
              </p:nvCxnSpPr>
              <p:spPr>
                <a:xfrm>
                  <a:off x="1992768" y="2735763"/>
                  <a:ext cx="113665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14"/>
                <p:cNvCxnSpPr/>
                <p:nvPr/>
              </p:nvCxnSpPr>
              <p:spPr>
                <a:xfrm rot="10800000">
                  <a:off x="2543809" y="2758130"/>
                  <a:ext cx="0" cy="45210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53" name="Google Shape;253;p14"/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forwarding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table</a:t>
                  </a:r>
                  <a:endParaRPr/>
                </a:p>
              </p:txBody>
            </p:sp>
          </p:grpSp>
        </p:grpSp>
      </p:grpSp>
      <p:sp>
        <p:nvSpPr>
          <p:cNvPr id="254" name="Google Shape;254;p14"/>
          <p:cNvSpPr txBox="1"/>
          <p:nvPr/>
        </p:nvSpPr>
        <p:spPr>
          <a:xfrm>
            <a:off x="6300592" y="1641655"/>
            <a:ext cx="5711869" cy="84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forwarding table  configured by intra- and inter-AS routing algorithms</a:t>
            </a:r>
            <a:endParaRPr/>
          </a:p>
        </p:txBody>
      </p:sp>
      <p:grpSp>
        <p:nvGrpSpPr>
          <p:cNvPr id="255" name="Google Shape;255;p14"/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256" name="Google Shape;256;p14"/>
            <p:cNvGrpSpPr/>
            <p:nvPr/>
          </p:nvGrpSpPr>
          <p:grpSpPr>
            <a:xfrm>
              <a:off x="-167080" y="2120214"/>
              <a:ext cx="989852" cy="697506"/>
              <a:chOff x="1653" y="2898"/>
              <a:chExt cx="678" cy="473"/>
            </a:xfrm>
          </p:grpSpPr>
          <p:sp>
            <p:nvSpPr>
              <p:cNvPr id="257" name="Google Shape;257;p14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3333CC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4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Intra-AS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" name="Google Shape;259;p14"/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4"/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261" name="Google Shape;261;p14"/>
            <p:cNvGrpSpPr/>
            <p:nvPr/>
          </p:nvGrpSpPr>
          <p:grpSpPr>
            <a:xfrm>
              <a:off x="1057515" y="2118865"/>
              <a:ext cx="989852" cy="697506"/>
              <a:chOff x="1653" y="2898"/>
              <a:chExt cx="678" cy="473"/>
            </a:xfrm>
          </p:grpSpPr>
          <p:sp>
            <p:nvSpPr>
              <p:cNvPr id="262" name="Google Shape;262;p14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4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" name="Google Shape;264;p14"/>
            <p:cNvSpPr/>
            <p:nvPr/>
          </p:nvSpPr>
          <p:spPr>
            <a:xfrm flipH="1" rot="-5400000">
              <a:off x="1454529" y="2810374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4"/>
          <p:cNvSpPr txBox="1"/>
          <p:nvPr/>
        </p:nvSpPr>
        <p:spPr>
          <a:xfrm>
            <a:off x="6392032" y="2464615"/>
            <a:ext cx="5711869" cy="68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intra-AS routing determine entries for destinations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6385936" y="3165655"/>
            <a:ext cx="5711869" cy="760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inter-AS &amp; intra-AS determine entries for external destinations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routing within an AS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857489" y="1475509"/>
            <a:ext cx="10510166" cy="461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common intra-AS routing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RIP: Routing Information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1723]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classic DV: DVs exchanged every 30 secs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longer widely used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OSPF: Open Shortest Path First 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[RFC 2328]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classic link-state routing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IS-IS protocol (ISO standard, not RFC standard) essentially same as OSPF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EIGRP: Enhanced Interior Gateway Routing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 based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formerly Cisco-proprietary for decades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became open in 2013 [RFC 7868])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OSPF (Open Shortest Path First) routing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“open”: publicly available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classic link-state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floods OSPF link-state advertisements (directly over IP rather than using TCP/UDP) to all other routers in entire AS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link costs metrics possible: bandwidth, delay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has full topology, uses Dijkstra’s algorithm to compute forwarding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OSPF messages authenticated (to prevent malicious intrusion)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Hierarchical OSPF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8" lvl="0" marL="2365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two-level hierarchy: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area, backbone.</a:t>
            </a:r>
            <a:endParaRPr/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link-state advertisements flooded only in area, or backbone</a:t>
            </a:r>
            <a:endParaRPr/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has detailed area topology; only knows direction to reach other destinations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88" name="Google Shape;288;p17"/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289" name="Google Shape;289;p17"/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area border routers: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“summarize” distances  to destinations in own area, advertise in backbone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" name="Google Shape;290;p17"/>
            <p:cNvCxnSpPr/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91" name="Google Shape;291;p17"/>
          <p:cNvSpPr/>
          <p:nvPr/>
        </p:nvSpPr>
        <p:spPr>
          <a:xfrm>
            <a:off x="4334572" y="3279558"/>
            <a:ext cx="5195932" cy="1635654"/>
          </a:xfrm>
          <a:custGeom>
            <a:rect b="b" l="l" r="r" t="t"/>
            <a:pathLst>
              <a:path extrusionOk="0" h="1390" w="3786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7"/>
          <p:cNvCxnSpPr/>
          <p:nvPr/>
        </p:nvCxnSpPr>
        <p:spPr>
          <a:xfrm flipH="1" rot="10800000">
            <a:off x="5763247" y="3566679"/>
            <a:ext cx="915396" cy="2565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17"/>
          <p:cNvCxnSpPr/>
          <p:nvPr/>
        </p:nvCxnSpPr>
        <p:spPr>
          <a:xfrm>
            <a:off x="6868035" y="3564326"/>
            <a:ext cx="1011463" cy="255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17"/>
          <p:cNvCxnSpPr/>
          <p:nvPr/>
        </p:nvCxnSpPr>
        <p:spPr>
          <a:xfrm>
            <a:off x="8088104" y="3859685"/>
            <a:ext cx="694438" cy="59424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17"/>
          <p:cNvCxnSpPr/>
          <p:nvPr/>
        </p:nvCxnSpPr>
        <p:spPr>
          <a:xfrm flipH="1" rot="10800000">
            <a:off x="6859800" y="3782021"/>
            <a:ext cx="1099297" cy="876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17"/>
          <p:cNvCxnSpPr/>
          <p:nvPr/>
        </p:nvCxnSpPr>
        <p:spPr>
          <a:xfrm>
            <a:off x="5765992" y="3886750"/>
            <a:ext cx="984016" cy="73545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17"/>
          <p:cNvCxnSpPr/>
          <p:nvPr/>
        </p:nvCxnSpPr>
        <p:spPr>
          <a:xfrm flipH="1">
            <a:off x="8443558" y="4453933"/>
            <a:ext cx="345846" cy="653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17"/>
          <p:cNvCxnSpPr/>
          <p:nvPr/>
        </p:nvCxnSpPr>
        <p:spPr>
          <a:xfrm>
            <a:off x="8468261" y="5087014"/>
            <a:ext cx="772665" cy="6201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7"/>
          <p:cNvCxnSpPr/>
          <p:nvPr/>
        </p:nvCxnSpPr>
        <p:spPr>
          <a:xfrm>
            <a:off x="6767849" y="4578667"/>
            <a:ext cx="473481" cy="9919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7"/>
          <p:cNvCxnSpPr/>
          <p:nvPr/>
        </p:nvCxnSpPr>
        <p:spPr>
          <a:xfrm>
            <a:off x="6389064" y="5218807"/>
            <a:ext cx="212723" cy="7201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7"/>
          <p:cNvCxnSpPr/>
          <p:nvPr/>
        </p:nvCxnSpPr>
        <p:spPr>
          <a:xfrm flipH="1">
            <a:off x="6599043" y="5594184"/>
            <a:ext cx="625817" cy="33889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17"/>
          <p:cNvCxnSpPr/>
          <p:nvPr/>
        </p:nvCxnSpPr>
        <p:spPr>
          <a:xfrm flipH="1">
            <a:off x="6432981" y="4663391"/>
            <a:ext cx="336240" cy="57777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17"/>
          <p:cNvCxnSpPr/>
          <p:nvPr/>
        </p:nvCxnSpPr>
        <p:spPr>
          <a:xfrm flipH="1">
            <a:off x="4906865" y="3773784"/>
            <a:ext cx="741100" cy="6271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17"/>
          <p:cNvCxnSpPr/>
          <p:nvPr/>
        </p:nvCxnSpPr>
        <p:spPr>
          <a:xfrm flipH="1">
            <a:off x="4383979" y="4405687"/>
            <a:ext cx="499556" cy="58601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17"/>
          <p:cNvCxnSpPr/>
          <p:nvPr/>
        </p:nvCxnSpPr>
        <p:spPr>
          <a:xfrm flipH="1">
            <a:off x="3822664" y="5037591"/>
            <a:ext cx="537983" cy="44480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17"/>
          <p:cNvCxnSpPr/>
          <p:nvPr/>
        </p:nvCxnSpPr>
        <p:spPr>
          <a:xfrm flipH="1">
            <a:off x="4562391" y="5429442"/>
            <a:ext cx="374667" cy="5024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7"/>
          <p:cNvCxnSpPr/>
          <p:nvPr/>
        </p:nvCxnSpPr>
        <p:spPr>
          <a:xfrm>
            <a:off x="4452599" y="5005819"/>
            <a:ext cx="550335" cy="3859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17"/>
          <p:cNvSpPr/>
          <p:nvPr/>
        </p:nvSpPr>
        <p:spPr>
          <a:xfrm>
            <a:off x="3522107" y="4155044"/>
            <a:ext cx="1889804" cy="2091048"/>
          </a:xfrm>
          <a:custGeom>
            <a:rect b="b" l="l" r="r" t="t"/>
            <a:pathLst>
              <a:path extrusionOk="0" h="1777" w="13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5997929" y="4329200"/>
            <a:ext cx="1645515" cy="2023974"/>
          </a:xfrm>
          <a:custGeom>
            <a:rect b="b" l="l" r="r" t="t"/>
            <a:pathLst>
              <a:path extrusionOk="0" h="1720" w="1199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8097711" y="4111505"/>
            <a:ext cx="1797853" cy="2016914"/>
          </a:xfrm>
          <a:custGeom>
            <a:rect b="b" l="l" r="r" t="t"/>
            <a:pathLst>
              <a:path extrusionOk="0" h="1714" w="1310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 1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 2</a:t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 3</a:t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routers</a:t>
            </a:r>
            <a:endParaRPr/>
          </a:p>
        </p:txBody>
      </p:sp>
      <p:cxnSp>
        <p:nvCxnSpPr>
          <p:cNvPr id="316" name="Google Shape;316;p17"/>
          <p:cNvCxnSpPr/>
          <p:nvPr/>
        </p:nvCxnSpPr>
        <p:spPr>
          <a:xfrm flipH="1" rot="10800000">
            <a:off x="8587660" y="5774224"/>
            <a:ext cx="424074" cy="148268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17"/>
          <p:cNvCxnSpPr/>
          <p:nvPr/>
        </p:nvCxnSpPr>
        <p:spPr>
          <a:xfrm rot="10800000">
            <a:off x="7388176" y="5681262"/>
            <a:ext cx="415840" cy="22240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17"/>
          <p:cNvCxnSpPr/>
          <p:nvPr/>
        </p:nvCxnSpPr>
        <p:spPr>
          <a:xfrm rot="10800000">
            <a:off x="6785690" y="3169085"/>
            <a:ext cx="0" cy="27403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9" name="Google Shape;319;p17"/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320" name="Google Shape;320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" name="Google Shape;322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" name="Google Shape;323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7" name="Google Shape;327;p17"/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328" name="Google Shape;328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30" name="Google Shape;330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1" name="Google Shape;331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5" name="Google Shape;335;p17"/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336" name="Google Shape;336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38" name="Google Shape;338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9" name="Google Shape;339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" name="Google Shape;343;p17"/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344" name="Google Shape;344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6" name="Google Shape;346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7" name="Google Shape;347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17"/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352" name="Google Shape;352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54" name="Google Shape;354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5" name="Google Shape;355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9" name="Google Shape;359;p17"/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360" name="Google Shape;360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62" name="Google Shape;362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3" name="Google Shape;363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7" name="Google Shape;367;p17"/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368" name="Google Shape;368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0" name="Google Shape;370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1" name="Google Shape;371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5" name="Google Shape;375;p17"/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376" name="Google Shape;376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8" name="Google Shape;378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9" name="Google Shape;379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3" name="Google Shape;383;p17"/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384" name="Google Shape;384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6" name="Google Shape;386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7" name="Google Shape;387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1" name="Google Shape;391;p17"/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392" name="Google Shape;392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4" name="Google Shape;394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5" name="Google Shape;395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7"/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400" name="Google Shape;400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2" name="Google Shape;402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3" name="Google Shape;403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7" name="Google Shape;407;p17"/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408" name="Google Shape;408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0" name="Google Shape;410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Google Shape;411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5" name="Google Shape;415;p17"/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416" name="Google Shape;416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8" name="Google Shape;418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Google Shape;419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3" name="Google Shape;423;p17"/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424" name="Google Shape;424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6" name="Google Shape;426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7" name="Google Shape;427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1" name="Google Shape;431;p17"/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432" name="Google Shape;432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4" name="Google Shape;434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5" name="Google Shape;435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7"/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440" name="Google Shape;440;p17"/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backbone router: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runs OSPF limited to backbone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1" name="Google Shape;441;p17"/>
            <p:cNvCxnSpPr/>
            <p:nvPr/>
          </p:nvCxnSpPr>
          <p:spPr>
            <a:xfrm rot="10800000">
              <a:off x="8317285" y="3820439"/>
              <a:ext cx="1503120" cy="36325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2" name="Google Shape;442;p17"/>
          <p:cNvGrpSpPr/>
          <p:nvPr/>
        </p:nvGrpSpPr>
        <p:grpSpPr>
          <a:xfrm>
            <a:off x="7166977" y="3303074"/>
            <a:ext cx="4306864" cy="646331"/>
            <a:chOff x="7166977" y="3303074"/>
            <a:chExt cx="4306864" cy="646331"/>
          </a:xfrm>
        </p:grpSpPr>
        <p:sp>
          <p:nvSpPr>
            <p:cNvPr id="443" name="Google Shape;443;p17"/>
            <p:cNvSpPr/>
            <p:nvPr/>
          </p:nvSpPr>
          <p:spPr>
            <a:xfrm>
              <a:off x="8897655" y="3303074"/>
              <a:ext cx="25761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boundary router: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connects to other ASes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4" name="Google Shape;444;p17"/>
            <p:cNvCxnSpPr/>
            <p:nvPr/>
          </p:nvCxnSpPr>
          <p:spPr>
            <a:xfrm rot="10800000">
              <a:off x="7166977" y="3521901"/>
              <a:ext cx="165134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5" name="Google Shape;445;p17"/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446" name="Google Shape;446;p17"/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local routers: 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flood LS in area only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compute routing within area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forward packets to outside via area border router</a:t>
              </a:r>
              <a:endParaRPr/>
            </a:p>
          </p:txBody>
        </p:sp>
        <p:cxnSp>
          <p:nvCxnSpPr>
            <p:cNvPr id="447" name="Google Shape;447;p17"/>
            <p:cNvCxnSpPr/>
            <p:nvPr/>
          </p:nvCxnSpPr>
          <p:spPr>
            <a:xfrm>
              <a:off x="2091847" y="5035463"/>
              <a:ext cx="1991638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8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grpSp>
        <p:nvGrpSpPr>
          <p:cNvPr id="454" name="Google Shape;454;p18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455" name="Google Shape;45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18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457" name="Google Shape;457;p18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58" name="Google Shape;458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9" name="Google Shape;459;p18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0" name="Google Shape;460;p18"/>
          <p:cNvGrpSpPr/>
          <p:nvPr/>
        </p:nvGrpSpPr>
        <p:grpSpPr>
          <a:xfrm>
            <a:off x="7605684" y="6233684"/>
            <a:ext cx="6892924" cy="461665"/>
            <a:chOff x="731521" y="6141551"/>
            <a:chExt cx="6892924" cy="461665"/>
          </a:xfrm>
        </p:grpSpPr>
        <p:sp>
          <p:nvSpPr>
            <p:cNvPr id="461" name="Google Shape;461;p18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462" name="Google Shape;462;p18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463" name="Google Shape;463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4" name="Google Shape;464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65" name="Google Shape;465;p18"/>
          <p:cNvSpPr txBox="1"/>
          <p:nvPr/>
        </p:nvSpPr>
        <p:spPr>
          <a:xfrm>
            <a:off x="681797" y="2296810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</a:t>
            </a:r>
            <a:endParaRPr/>
          </a:p>
          <a:p>
            <a:pPr indent="-121284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