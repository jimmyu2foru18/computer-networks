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</p:sldIdLst>
  <p:sldSz cy="6858000" cx="12192000"/>
  <p:notesSz cx="6858000" cy="9144000"/>
  <p:embeddedFontLst>
    <p:embeddedFont>
      <p:font typeface="Arial Narrow"/>
      <p:regular r:id="rId117"/>
      <p:bold r:id="rId118"/>
      <p:italic r:id="rId119"/>
      <p:boldItalic r:id="rId120"/>
    </p:embeddedFont>
    <p:embeddedFont>
      <p:font typeface="Gill Sans"/>
      <p:regular r:id="rId121"/>
      <p:bold r:id="rId1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96">
          <p15:clr>
            <a:srgbClr val="A4A3A4"/>
          </p15:clr>
        </p15:guide>
        <p15:guide id="2" orient="horz" pos="7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6"/>
        <p:guide pos="79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GillSans-regular.fntdata"/><Relationship Id="rId25" Type="http://schemas.openxmlformats.org/officeDocument/2006/relationships/slide" Target="slides/slide19.xml"/><Relationship Id="rId120" Type="http://schemas.openxmlformats.org/officeDocument/2006/relationships/font" Target="fonts/ArialNarrow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22" Type="http://schemas.openxmlformats.org/officeDocument/2006/relationships/font" Target="fonts/GillSans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ArialNarrow-bold.fntdata"/><Relationship Id="rId117" Type="http://schemas.openxmlformats.org/officeDocument/2006/relationships/font" Target="fonts/ArialNarrow-regular.fntdata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ArialNarrow-italic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8.2  (April 2023)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Re-do of network management slides; redo of Bellman-Ford slides</a:t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1" name="Google Shape;6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7" name="Google Shape;13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3" name="Google Shape;138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4" name="Google Shape;138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5" name="Google Shape;17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4" name="Shape 1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" name="Google Shape;18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6" name="Google Shape;186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5" name="Google Shape;187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7" name="Google Shape;212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5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6" name="Google Shape;213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7" name="Google Shape;215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6" name="Google Shape;229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7" name="Google Shape;229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4" name="Shape 2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5" name="Google Shape;24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6" name="Google Shape;246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2" name="Google Shape;262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2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4" name="Google Shape;278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8" name="Shape 2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Google Shape;29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0" name="Google Shape;29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4" name="Shape 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Google Shape;30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6" name="Google Shape;30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7" name="Google Shape;309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6" name="Shape 3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7" name="Google Shape;325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8" name="Google Shape;325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2" name="Shape 3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3" name="Google Shape;341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4" name="Google Shape;341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5" name="Google Shape;341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0" name="Shape 3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1" name="Google Shape;34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2" name="Google Shape;342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3" name="Google Shape;342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7" name="Google Shape;359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8" name="Google Shape;3598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8" name="Google Shape;38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4" name="Google Shape;3984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6" name="Google Shape;415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7" name="Google Shape;415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9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1" name="Google Shape;4341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2" name="Google Shape;4342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9" name="Shape 4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0" name="Google Shape;459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1" name="Google Shape;459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6" name="Shape 4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7" name="Google Shape;463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8" name="Google Shape;463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5" name="Shape 4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6" name="Google Shape;46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7" name="Google Shape;46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9" name="Shape 4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0" name="Google Shape;487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1" name="Google Shape;48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5" name="Shape 5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6" name="Google Shape;501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7" name="Google Shape;501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4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" name="Google Shape;502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6" name="Google Shape;502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7" name="Google Shape;502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4" name="Shape 5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5" name="Google Shape;503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6" name="Google Shape;5036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3" name="Shape 5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4" name="Google Shape;504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5" name="Google Shape;504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2" name="Shape 5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3" name="Google Shape;505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4" name="Google Shape;505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9" name="Shape 5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0" name="Google Shape;5240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1" name="Google Shape;524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1" name="Shape 5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2" name="Google Shape;5372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3" name="Google Shape;537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8" name="Shape 5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9" name="Google Shape;5379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0" name="Google Shape;538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7" name="Google Shape;538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2" name="Shape 5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3" name="Google Shape;5553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4" name="Google Shape;5554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5" name="Google Shape;5555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2" name="Shape 5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3" name="Google Shape;556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4" name="Google Shape;556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9" name="Shape 5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" name="Google Shape;5570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1" name="Google Shape;55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0" name="Shape 5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1" name="Google Shape;5801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2" name="Google Shape;5802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5" name="Shape 6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6" name="Google Shape;60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7" name="Google Shape;60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2" name="Shape 6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3" name="Google Shape;6033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4" name="Google Shape;603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7" name="Shape 6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8" name="Google Shape;6268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9" name="Google Shape;626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6" name="Shape 6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7" name="Google Shape;6517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8" name="Google Shape;651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3" name="Shape 6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4" name="Google Shape;6524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5" name="Google Shape;6525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1" name="Shape 6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2" name="Google Shape;681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3" name="Google Shape;681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0" name="Shape 7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1" name="Google Shape;708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2" name="Google Shape;70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7" name="Shape 7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8" name="Google Shape;708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9" name="Google Shape;708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4" name="Shape 7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5" name="Google Shape;7325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6" name="Google Shape;732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0" name="Shape 7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1" name="Google Shape;738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2" name="Google Shape;738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1" name="Shape 7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2" name="Google Shape;7432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3" name="Google Shape;743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8" name="Shape 7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9" name="Google Shape;743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0" name="Google Shape;744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5" name="Shape 7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6" name="Google Shape;7446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7" name="Google Shape;744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8" name="Google Shape;7448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5" name="Shape 7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6" name="Google Shape;745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7" name="Google Shape;745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2" name="Shape 7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3" name="Google Shape;7463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64" name="Google Shape;7464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5" name="Google Shape;7465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2" name="Shape 7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3" name="Google Shape;770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4" name="Google Shape;770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5" name="Google Shape;770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0" name="Shape 8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1" name="Google Shape;8061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2" name="Google Shape;8062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7" name="Shape 8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8" name="Google Shape;806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9" name="Google Shape;806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5" name="Shape 8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6" name="Google Shape;8116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7" name="Google Shape;8117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9" name="Shape 8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0" name="Google Shape;82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1" name="Google Shape;827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3" name="Shape 8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4" name="Google Shape;842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5" name="Google Shape;842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7" name="Shape 8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8" name="Google Shape;8578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9" name="Google Shape;8579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4" name="Shape 8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5" name="Google Shape;894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6" name="Google Shape;8946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2" name="Shape 9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3" name="Google Shape;907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4" name="Google Shape;907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1" name="Shape 9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2" name="Google Shape;920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3" name="Google Shape;9203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0" name="Shape 9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1" name="Google Shape;9331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2" name="Google Shape;9332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2" name="Shape 9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3" name="Google Shape;9493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94" name="Google Shape;9494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5" name="Google Shape;9495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8" name="Shape 9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9" name="Google Shape;9579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0" name="Google Shape;9580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1" name="Google Shape;9581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64" name="Shape 9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5" name="Google Shape;966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6" name="Google Shape;966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7" name="Google Shape;966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1" name="Shape 9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2" name="Google Shape;9752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3" name="Google Shape;9753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4" name="Google Shape;9754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1" name="Shape 9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2" name="Google Shape;9902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3" name="Google Shape;9903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4" name="Google Shape;9904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3" name="Shape 10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4" name="Google Shape;10054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55" name="Google Shape;10055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6" name="Google Shape;10056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4" name="Shape 10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5" name="Google Shape;10125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26" name="Google Shape;10126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7" name="Google Shape;10127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7" name="Shape 10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8" name="Google Shape;10208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9" name="Google Shape;10209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4" name="Shape 10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5" name="Google Shape;10215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6" name="Google Shape;1021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5" name="Shape 10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6" name="Google Shape;10226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27" name="Google Shape;10227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8" name="Google Shape;10228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5" name="Shape 10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6" name="Google Shape;1023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7" name="Google Shape;1023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3" name="Shape 10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Google Shape;10244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5" name="Google Shape;10245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6" name="Shape 10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7" name="Google Shape;1031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8" name="Google Shape;1031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9" name="Google Shape;1031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6" name="Shape 10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7" name="Google Shape;10327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8" name="Google Shape;1032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7" name="Shape 10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8" name="Google Shape;10338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39" name="Google Shape;10339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0" name="Google Shape;10340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5" name="Shape 10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6" name="Google Shape;10506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7" name="Google Shape;10507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8" name="Google Shape;10508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1" name="Shape 10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2" name="Google Shape;10672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3" name="Google Shape;10673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6" name="Shape 10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7" name="Google Shape;1092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8" name="Google Shape;10928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0" name="Shape 10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1" name="Google Shape;1095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2" name="Google Shape;10952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5" name="Shape 1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6" name="Google Shape;1100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7" name="Google Shape;11007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3" name="Shape 1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4" name="Google Shape;11024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5" name="Google Shape;11025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0" name="Shape 1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1" name="Google Shape;11031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2" name="Google Shape;11032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6" name="Shape 1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7" name="Google Shape;1112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8" name="Google Shape;11128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6" name="Shape 1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7" name="Google Shape;11137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8" name="Google Shape;11138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7" name="Shape 1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8" name="Google Shape;11148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9" name="Google Shape;1114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4" name="Shape 1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5" name="Google Shape;11225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6" name="Google Shape;11226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7" name="Google Shape;11227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3" name="Shape 1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4" name="Google Shape;11234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35" name="Google Shape;11235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6" name="Google Shape;11236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3" name="Shape 1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" name="Google Shape;11244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5" name="Google Shape;11245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6" name="Google Shape;11246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0" name="Shape 1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1" name="Google Shape;11251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2" name="Google Shape;11252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3" name="Google Shape;11253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1" name="Shape 1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2" name="Google Shape;11372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3" name="Google Shape;11373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4" name="Google Shape;11374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23.png"/><Relationship Id="rId11" Type="http://schemas.openxmlformats.org/officeDocument/2006/relationships/image" Target="../media/image20.png"/><Relationship Id="rId22" Type="http://schemas.openxmlformats.org/officeDocument/2006/relationships/image" Target="../media/image35.png"/><Relationship Id="rId10" Type="http://schemas.openxmlformats.org/officeDocument/2006/relationships/image" Target="../media/image18.png"/><Relationship Id="rId21" Type="http://schemas.openxmlformats.org/officeDocument/2006/relationships/image" Target="../media/image30.png"/><Relationship Id="rId13" Type="http://schemas.openxmlformats.org/officeDocument/2006/relationships/image" Target="../media/image3.png"/><Relationship Id="rId12" Type="http://schemas.openxmlformats.org/officeDocument/2006/relationships/image" Target="../media/image19.png"/><Relationship Id="rId23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15" Type="http://schemas.openxmlformats.org/officeDocument/2006/relationships/image" Target="../media/image42.png"/><Relationship Id="rId14" Type="http://schemas.openxmlformats.org/officeDocument/2006/relationships/image" Target="../media/image41.png"/><Relationship Id="rId17" Type="http://schemas.openxmlformats.org/officeDocument/2006/relationships/image" Target="../media/image33.png"/><Relationship Id="rId16" Type="http://schemas.openxmlformats.org/officeDocument/2006/relationships/image" Target="../media/image22.png"/><Relationship Id="rId5" Type="http://schemas.openxmlformats.org/officeDocument/2006/relationships/image" Target="../media/image6.png"/><Relationship Id="rId19" Type="http://schemas.openxmlformats.org/officeDocument/2006/relationships/image" Target="../media/image25.png"/><Relationship Id="rId6" Type="http://schemas.openxmlformats.org/officeDocument/2006/relationships/image" Target="../media/image7.png"/><Relationship Id="rId18" Type="http://schemas.openxmlformats.org/officeDocument/2006/relationships/image" Target="../media/image37.png"/><Relationship Id="rId7" Type="http://schemas.openxmlformats.org/officeDocument/2006/relationships/image" Target="../media/image11.png"/><Relationship Id="rId8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blog.cloudflare.com/october-2021-facebook-outage/" TargetMode="External"/><Relationship Id="rId4" Type="http://schemas.openxmlformats.org/officeDocument/2006/relationships/hyperlink" Target="https://engineering.fb.com/2021/10/04/networking-traffic/outage/" TargetMode="External"/><Relationship Id="rId5" Type="http://schemas.openxmlformats.org/officeDocument/2006/relationships/hyperlink" Target="https://engineering.fb.com/2021/10/05/networking-traffic/outage-details/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5.jpg"/><Relationship Id="rId4" Type="http://schemas.openxmlformats.org/officeDocument/2006/relationships/image" Target="../media/image51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jp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7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7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3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3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4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59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.jp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57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5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5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55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60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4.jp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5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Network Layer: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Control Plane</a:t>
            </a:r>
            <a:endParaRPr/>
          </a:p>
        </p:txBody>
      </p:sp>
      <p:sp>
        <p:nvSpPr>
          <p:cNvPr id="56" name="Google Shape;56;p11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65" name="Google Shape;65;p1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OSPF, BGP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OpenFlow, ODL and ONOS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Internet Control Message Protocol: ICMP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SNMP, YANG/NETCONF</a:t>
            </a:r>
            <a:endParaRPr/>
          </a:p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" name="Google Shape;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" type="body"/>
          </p:nvPr>
        </p:nvSpPr>
        <p:spPr>
          <a:xfrm>
            <a:off x="970936" y="4247536"/>
            <a:ext cx="10515600" cy="1473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Two approaches to structuring network control plane: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per-router control (traditional)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 centralized control (software defined networking)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functions</a:t>
            </a:r>
            <a:endParaRPr/>
          </a:p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" name="Google Shape;85;p14"/>
          <p:cNvGrpSpPr/>
          <p:nvPr/>
        </p:nvGrpSpPr>
        <p:grpSpPr>
          <a:xfrm>
            <a:off x="817202" y="1662139"/>
            <a:ext cx="9934373" cy="918829"/>
            <a:chOff x="817202" y="1662139"/>
            <a:chExt cx="9934373" cy="918829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6550" lvl="0" marL="4667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move packets from router’s input to appropriate router output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340"/>
                <a:buFont typeface="Noto Sans Symbols"/>
                <a:buNone/>
              </a:pPr>
              <a:r>
                <a:rPr b="0" i="1" lang="en-US" sz="36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948416" y="2692736"/>
            <a:ext cx="10162404" cy="920619"/>
            <a:chOff x="977913" y="2913962"/>
            <a:chExt cx="10162404" cy="920619"/>
          </a:xfrm>
        </p:grpSpPr>
        <p:sp>
          <p:nvSpPr>
            <p:cNvPr id="89" name="Google Shape;89;p14"/>
            <p:cNvSpPr/>
            <p:nvPr/>
          </p:nvSpPr>
          <p:spPr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plane</a:t>
              </a:r>
              <a:endParaRPr b="0" i="1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19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4"/>
            <p:cNvSpPr txBox="1"/>
            <p:nvPr/>
          </p:nvSpPr>
          <p:spPr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routing: </a:t>
              </a: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determine route taken by packets from source to destination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5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5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5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5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5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15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7" name="Google Shape;107;p15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108" name="Google Shape;108;p15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0" name="Google Shape;110;p15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15"/>
            <p:cNvCxnSpPr>
              <a:endCxn id="11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16" name="Google Shape;116;p15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17" name="Google Shape;117;p15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118" name="Google Shape;118;p15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0" name="Google Shape;120;p15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15"/>
            <p:cNvCxnSpPr>
              <a:endCxn id="120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26" name="Google Shape;126;p15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27" name="Google Shape;127;p15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128" name="Google Shape;128;p15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" name="Google Shape;135;p15"/>
            <p:cNvCxnSpPr>
              <a:endCxn id="13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36" name="Google Shape;136;p15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37" name="Google Shape;137;p15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138" name="Google Shape;138;p15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5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5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5"/>
            <p:cNvCxnSpPr>
              <a:endCxn id="14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46" name="Google Shape;146;p15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47" name="Google Shape;147;p15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148" name="Google Shape;148;p15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53" name="Google Shape;153;p15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154" name="Google Shape;154;p15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55" name="Google Shape;155;p15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156" name="Google Shape;156;p15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7" name="Google Shape;157;p15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58" name="Google Shape;158;p15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61" name="Google Shape;161;p15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62" name="Google Shape;162;p15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3" name="Google Shape;163;p15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64" name="Google Shape;164;p15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165" name="Google Shape;165;p15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6" name="Google Shape;166;p15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7" name="Google Shape;167;p15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8" name="Google Shape;168;p15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69" name="Google Shape;169;p15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15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15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72" name="Google Shape;172;p15"/>
                <p:cNvCxnSpPr>
                  <a:endCxn id="167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74" name="Google Shape;174;p15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175" name="Google Shape;175;p15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6" name="Google Shape;176;p15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177" name="Google Shape;177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78" name="Google Shape;178;p15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179" name="Google Shape;179;p15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0" name="Google Shape;180;p15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82" name="Google Shape;182;p15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15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84" name="Google Shape;184;p15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85" name="Google Shape;185;p15"/>
              <p:cNvCxnSpPr>
                <a:stCxn id="186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87" name="Google Shape;187;p15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188" name="Google Shape;188;p15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9" name="Google Shape;189;p15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6" name="Google Shape;186;p15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0" name="Google Shape;190;p15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94" name="Google Shape;194;p15"/>
                <p:cNvCxnSpPr>
                  <a:endCxn id="186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95" name="Google Shape;195;p15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96" name="Google Shape;196;p15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197" name="Google Shape;197;p15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8" name="Google Shape;198;p15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99" name="Google Shape;199;p15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200" name="Google Shape;200;p15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03" name="Google Shape;203;p15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4" name="Google Shape;204;p15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05" name="Google Shape;205;p15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06" name="Google Shape;206;p15"/>
              <p:cNvCxnSpPr>
                <a:stCxn id="207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8" name="Google Shape;208;p15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207" name="Google Shape;207;p15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15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15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15" name="Google Shape;215;p15"/>
                <p:cNvCxnSpPr>
                  <a:endCxn id="210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16" name="Google Shape;216;p15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7" name="Google Shape;217;p15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218" name="Google Shape;218;p15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9" name="Google Shape;219;p15"/>
              <p:cNvCxnSpPr>
                <a:stCxn id="220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221" name="Google Shape;221;p1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22" name="Google Shape;222;p15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223" name="Google Shape;223;p15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4" name="Google Shape;224;p15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5" name="Google Shape;225;p15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26" name="Google Shape;226;p15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7" name="Google Shape;227;p15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8" name="Google Shape;228;p15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9" name="Google Shape;229;p15"/>
              <p:cNvCxnSpPr>
                <a:stCxn id="221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30" name="Google Shape;230;p15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231" name="Google Shape;231;p15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2" name="Google Shape;232;p15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0" name="Google Shape;220;p15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3" name="Google Shape;233;p15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4" name="Google Shape;234;p15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5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5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7" name="Google Shape;237;p15"/>
                <p:cNvCxnSpPr>
                  <a:endCxn id="220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8" name="Google Shape;238;p15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39" name="Google Shape;239;p15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240" name="Google Shape;240;p15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1" name="Google Shape;241;p15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42" name="Google Shape;242;p15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243" name="Google Shape;243;p15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4" name="Google Shape;244;p15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5" name="Google Shape;245;p15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46" name="Google Shape;246;p15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7" name="Google Shape;247;p15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8" name="Google Shape;248;p15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9" name="Google Shape;249;p15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50" name="Google Shape;250;p15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251" name="Google Shape;251;p15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2" name="Google Shape;252;p15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3" name="Google Shape;253;p15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4" name="Google Shape;254;p15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5" name="Google Shape;255;p15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15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" name="Google Shape;258;p15"/>
                <p:cNvCxnSpPr>
                  <a:endCxn id="253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59" name="Google Shape;259;p15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60" name="Google Shape;260;p15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261" name="Google Shape;261;p15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2" name="Google Shape;262;p15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263" name="Google Shape;263;p15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4" name="Google Shape;264;p15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5" name="Google Shape;265;p15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66" name="Google Shape;266;p15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67" name="Google Shape;267;p15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71" name="Google Shape;271;p15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2" name="Google Shape;272;p15"/>
            <p:cNvCxnSpPr>
              <a:endCxn id="267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3" name="Google Shape;273;p15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4" name="Google Shape;274;p15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75" name="Google Shape;275;p15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276" name="Google Shape;276;p15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277" name="Google Shape;277;p15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278" name="Google Shape;278;p15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279" name="Google Shape;279;p15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280" name="Google Shape;28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281" name="Google Shape;281;p15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282" name="Google Shape;282;p15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283" name="Google Shape;283;p15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4" name="Google Shape;284;p15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5" name="Google Shape;285;p15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86" name="Google Shape;286;p15"/>
                <p:cNvCxnSpPr>
                  <a:stCxn id="283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87" name="Google Shape;287;p15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288" name="Google Shape;288;p15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89" name="Google Shape;289;p15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15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15"/>
                <p:cNvCxnSpPr>
                  <a:stCxn id="288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2" name="Google Shape;292;p15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293" name="Google Shape;293;p15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4" name="Google Shape;294;p15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5" name="Google Shape;295;p15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6" name="Google Shape;296;p15"/>
                <p:cNvCxnSpPr>
                  <a:stCxn id="293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97" name="Google Shape;297;p15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298" name="Google Shape;298;p15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9" name="Google Shape;299;p15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15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1" name="Google Shape;301;p15"/>
                <p:cNvCxnSpPr>
                  <a:stCxn id="298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302" name="Google Shape;302;p15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303" name="Google Shape;303;p15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4" name="Google Shape;304;p15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5" name="Google Shape;305;p15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6" name="Google Shape;306;p15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07" name="Google Shape;307;p15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308" name="Google Shape;308;p15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5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10" name="Google Shape;310;p15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311" name="Google Shape;311;p15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312" name="Google Shape;312;p15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3" name="Google Shape;313;p15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4" name="Google Shape;314;p15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5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316" name="Google Shape;316;p15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17" name="Google Shape;317;p15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15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319" name="Google Shape;319;p15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0" name="Google Shape;320;p15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1" name="Google Shape;321;p15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2" name="Google Shape;322;p15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23" name="Google Shape;323;p15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15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5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15"/>
            <p:cNvCxnSpPr>
              <a:endCxn id="32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327" name="Google Shape;327;p15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328" name="Google Shape;328;p15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30" name="Google Shape;330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338" name="Google Shape;338;p16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339" name="Google Shape;339;p16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0" name="Google Shape;340;p16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41" name="Google Shape;341;p16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42" name="Google Shape;342;p16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43" name="Google Shape;343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8" name="Google Shape;348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49" name="Google Shape;349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1" name="Google Shape;351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2" name="Google Shape;352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53" name="Google Shape;353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5" name="Google Shape;355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7" name="Google Shape;357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58" name="Google Shape;358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0" name="Google Shape;360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62" name="Google Shape;362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4" name="Google Shape;364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6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1" name="Google Shape;381;p16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82" name="Google Shape;382;p16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4" name="Google Shape;384;p16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5" name="Google Shape;385;p16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86" name="Google Shape;386;p16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7" name="Google Shape;387;p16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" name="Google Shape;388;p16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0" name="Google Shape;390;p16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91" name="Google Shape;391;p16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" name="Google Shape;392;p16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3" name="Google Shape;393;p1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" name="Google Shape;394;p16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95" name="Google Shape;395;p16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6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16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6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6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6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8" name="Google Shape;408;p16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16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6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6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6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6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6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6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6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17" name="Google Shape;417;p16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418" name="Google Shape;418;p16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419" name="Google Shape;419;p16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420" name="Google Shape;420;p16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21" name="Google Shape;421;p16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422" name="Google Shape;422;p16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423" name="Google Shape;423;p16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4" name="Google Shape;424;p16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16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16"/>
              <p:cNvCxnSpPr>
                <a:stCxn id="423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27" name="Google Shape;427;p16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29" name="Google Shape;429;p16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16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16"/>
              <p:cNvCxnSpPr>
                <a:stCxn id="428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2" name="Google Shape;432;p16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433" name="Google Shape;433;p16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4" name="Google Shape;434;p16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16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16"/>
              <p:cNvCxnSpPr>
                <a:stCxn id="433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37" name="Google Shape;437;p16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438" name="Google Shape;438;p16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9" name="Google Shape;439;p16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16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16"/>
              <p:cNvCxnSpPr>
                <a:stCxn id="438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2" name="Google Shape;442;p16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443" name="Google Shape;443;p16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4" name="Google Shape;444;p16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16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16"/>
              <p:cNvCxnSpPr>
                <a:stCxn id="443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47" name="Google Shape;447;p16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448" name="Google Shape;448;p16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0" name="Google Shape;450;p16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1" name="Google Shape;451;p16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52" name="Google Shape;452;p16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53" name="Google Shape;453;p16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454" name="Google Shape;454;p16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455" name="Google Shape;455;p16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456" name="Google Shape;456;p16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7" name="Google Shape;457;p16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58" name="Google Shape;458;p16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59" name="Google Shape;459;p16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60" name="Google Shape;460;p16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61" name="Google Shape;461;p16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62" name="Google Shape;462;p16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16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64" name="Google Shape;464;p16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69" name="Google Shape;469;p16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" name="Google Shape;470;p16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1" name="Google Shape;471;p16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2" name="Google Shape;472;p16"/>
                <p:cNvCxnSpPr>
                  <a:endCxn id="467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73" name="Google Shape;473;p16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74" name="Google Shape;474;p16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475" name="Google Shape;475;p16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76" name="Google Shape;476;p16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77" name="Google Shape;477;p16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478" name="Google Shape;478;p16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9" name="Google Shape;479;p16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0" name="Google Shape;480;p16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81" name="Google Shape;481;p16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82" name="Google Shape;482;p16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83" name="Google Shape;483;p16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84" name="Google Shape;484;p16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85" name="Google Shape;485;p16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486" name="Google Shape;486;p16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7" name="Google Shape;487;p16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8" name="Google Shape;488;p16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9" name="Google Shape;489;p16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0" name="Google Shape;490;p16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6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6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" name="Google Shape;493;p16"/>
                <p:cNvCxnSpPr>
                  <a:endCxn id="488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94" name="Google Shape;494;p16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95" name="Google Shape;495;p16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496" name="Google Shape;496;p16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97" name="Google Shape;497;p16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8" name="Google Shape;498;p16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499" name="Google Shape;499;p16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0" name="Google Shape;500;p16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1" name="Google Shape;501;p16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02" name="Google Shape;502;p16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3" name="Google Shape;503;p16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04" name="Google Shape;504;p16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05" name="Google Shape;505;p16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06" name="Google Shape;506;p16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507" name="Google Shape;507;p16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8" name="Google Shape;508;p16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9" name="Google Shape;509;p16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0" name="Google Shape;510;p16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1" name="Google Shape;511;p16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2" name="Google Shape;512;p16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6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14" name="Google Shape;514;p16"/>
                <p:cNvCxnSpPr>
                  <a:endCxn id="509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15" name="Google Shape;515;p16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16" name="Google Shape;516;p16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517" name="Google Shape;517;p16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8" name="Google Shape;518;p16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9" name="Google Shape;519;p16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520" name="Google Shape;520;p16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1" name="Google Shape;521;p16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2" name="Google Shape;522;p16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3" name="Google Shape;523;p16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4" name="Google Shape;524;p16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25" name="Google Shape;525;p16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26" name="Google Shape;526;p16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27" name="Google Shape;527;p16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528" name="Google Shape;528;p16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9" name="Google Shape;529;p16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0" name="Google Shape;530;p16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1" name="Google Shape;531;p16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2" name="Google Shape;532;p16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6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6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35" name="Google Shape;535;p16"/>
                <p:cNvCxnSpPr>
                  <a:endCxn id="530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36" name="Google Shape;536;p16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37" name="Google Shape;537;p16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538" name="Google Shape;538;p16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9" name="Google Shape;539;p16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0" name="Google Shape;540;p16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541" name="Google Shape;541;p16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2" name="Google Shape;542;p16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3" name="Google Shape;543;p16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44" name="Google Shape;544;p16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45" name="Google Shape;545;p16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46" name="Google Shape;546;p16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47" name="Google Shape;547;p16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8" name="Google Shape;548;p16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549" name="Google Shape;549;p16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0" name="Google Shape;550;p16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1" name="Google Shape;551;p16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2" name="Google Shape;552;p16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3" name="Google Shape;553;p16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6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6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56" name="Google Shape;556;p16"/>
                <p:cNvCxnSpPr>
                  <a:endCxn id="551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57" name="Google Shape;557;p16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558" name="Google Shape;558;p16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559" name="Google Shape;559;p16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61" name="Google Shape;561;p16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2" name="Google Shape;562;p16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63" name="Google Shape;563;p16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64" name="Google Shape;564;p16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565" name="Google Shape;565;p16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566" name="Google Shape;566;p16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7" name="Google Shape;567;p16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16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16"/>
              <p:cNvCxnSpPr>
                <a:stCxn id="566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0" name="Google Shape;570;p16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571" name="Google Shape;571;p16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2" name="Google Shape;572;p16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16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16"/>
              <p:cNvCxnSpPr>
                <a:stCxn id="571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75" name="Google Shape;575;p16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576" name="Google Shape;576;p16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77" name="Google Shape;577;p16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16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16"/>
              <p:cNvCxnSpPr>
                <a:stCxn id="576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0" name="Google Shape;580;p16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581" name="Google Shape;581;p16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2" name="Google Shape;582;p16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3" name="Google Shape;583;p16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4" name="Google Shape;584;p16"/>
              <p:cNvCxnSpPr>
                <a:stCxn id="581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5" name="Google Shape;585;p16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7" name="Google Shape;587;p16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16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16"/>
              <p:cNvCxnSpPr>
                <a:stCxn id="586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90" name="Google Shape;590;p16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591" name="Google Shape;591;p16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2" name="Google Shape;592;p16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3" name="Google Shape;593;p16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8" name="Google Shape;598;p16"/>
            <p:cNvCxnSpPr>
              <a:endCxn id="59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599" name="Google Shape;599;p16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00" name="Google Shape;600;p16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601" name="Google Shape;601;p16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4" name="Google Shape;604;p16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5" name="Google Shape;605;p16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6"/>
            <p:cNvCxnSpPr>
              <a:endCxn id="60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09" name="Google Shape;609;p16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10" name="Google Shape;610;p16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611" name="Google Shape;61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2" name="Google Shape;61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8" name="Google Shape;618;p16"/>
            <p:cNvCxnSpPr>
              <a:endCxn id="61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19" name="Google Shape;61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20" name="Google Shape;620;p16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621" name="Google Shape;621;p16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8" name="Google Shape;628;p16"/>
            <p:cNvCxnSpPr>
              <a:endCxn id="623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29" name="Google Shape;629;p16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30" name="Google Shape;630;p16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631" name="Google Shape;631;p16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3" name="Google Shape;633;p16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634" name="Google Shape;634;p16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635" name="Google Shape;635;p16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636" name="Google Shape;636;p16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7" name="Google Shape;637;p16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38" name="Google Shape;638;p16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639" name="Google Shape;639;p16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640" name="Google Shape;640;p16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641" name="Google Shape;641;p16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2" name="Google Shape;642;p16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3" name="Google Shape;64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4" name="Google Shape;644;p16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645" name="Google Shape;645;p16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646" name="Google Shape;646;p16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47" name="Google Shape;647;p16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48" name="Google Shape;64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9" name="Google Shape;649;p16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650" name="Google Shape;650;p16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651" name="Google Shape;651;p16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2" name="Google Shape;652;p16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3" name="Google Shape;653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4" name="Google Shape;654;p16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655" name="Google Shape;655;p16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656" name="Google Shape;656;p16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7" name="Google Shape;657;p16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8" name="Google Shape;658;p16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9" name="Google Shape;659;p16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660" name="Google Shape;660;p16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61" name="Google Shape;661;p16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62" name="Google Shape;662;p16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663" name="Google Shape;663;p16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64" name="Google Shape;664;p16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65" name="Google Shape;665;p16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66" name="Google Shape;666;p16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6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68" name="Google Shape;668;p16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69" name="Google Shape;669;p16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0" name="Google Shape;670;p16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671" name="Google Shape;671;p16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16"/>
              <p:cNvCxnSpPr>
                <a:endCxn id="673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79" name="Google Shape;679;p16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80" name="Google Shape;680;p16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81" name="Google Shape;681;p16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2" name="Google Shape;682;p16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683" name="Google Shape;683;p16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84" name="Google Shape;684;p16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5" name="Google Shape;685;p16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6" name="Google Shape;686;p16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87" name="Google Shape;687;p16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688" name="Google Shape;688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695" name="Google Shape;69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"/>
          <p:cNvSpPr txBox="1"/>
          <p:nvPr>
            <p:ph idx="1" type="body"/>
          </p:nvPr>
        </p:nvSpPr>
        <p:spPr>
          <a:xfrm>
            <a:off x="749710" y="1443808"/>
            <a:ext cx="60345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Routing</a:t>
            </a:r>
            <a:r>
              <a:rPr lang="en-US">
                <a:solidFill>
                  <a:srgbClr val="C00000"/>
                </a:solidFill>
              </a:rPr>
              <a:t> protocol goal: </a:t>
            </a:r>
            <a:r>
              <a:rPr lang="en-US"/>
              <a:t>determine “good” paths (equivalently, routes), from sending hosts to receiving host, through network of routers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path: </a:t>
            </a:r>
            <a:r>
              <a:rPr lang="en-US"/>
              <a:t>sequence of routers packets traverse from given initial source host to final destination host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“good”: </a:t>
            </a:r>
            <a:r>
              <a:rPr lang="en-US"/>
              <a:t>least “cost”, “fastest”, “least congested”</a:t>
            </a:r>
            <a:endParaRPr/>
          </a:p>
          <a:p>
            <a:pPr indent="-277813" lvl="0" marL="40798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routing: a “top-10” networking challenge!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05" name="Google Shape;705;p18"/>
          <p:cNvSpPr txBox="1"/>
          <p:nvPr>
            <p:ph type="title"/>
          </p:nvPr>
        </p:nvSpPr>
        <p:spPr>
          <a:xfrm>
            <a:off x="838200" y="33383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protocols</a:t>
            </a:r>
            <a:endParaRPr/>
          </a:p>
        </p:txBody>
      </p:sp>
      <p:sp>
        <p:nvSpPr>
          <p:cNvPr id="706" name="Google Shape;706;p18"/>
          <p:cNvSpPr/>
          <p:nvPr/>
        </p:nvSpPr>
        <p:spPr>
          <a:xfrm>
            <a:off x="9058928" y="2579084"/>
            <a:ext cx="1124807" cy="1337915"/>
          </a:xfrm>
          <a:custGeom>
            <a:rect b="b" l="l" r="r" t="t"/>
            <a:pathLst>
              <a:path extrusionOk="0" h="1800235" w="1549812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8"/>
          <p:cNvSpPr/>
          <p:nvPr/>
        </p:nvSpPr>
        <p:spPr>
          <a:xfrm>
            <a:off x="7347816" y="1339341"/>
            <a:ext cx="1736725" cy="1317704"/>
          </a:xfrm>
          <a:custGeom>
            <a:rect b="b" l="l" r="r" t="t"/>
            <a:pathLst>
              <a:path extrusionOk="0" h="675" w="1036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18"/>
          <p:cNvGrpSpPr/>
          <p:nvPr/>
        </p:nvGrpSpPr>
        <p:grpSpPr>
          <a:xfrm>
            <a:off x="7279090" y="2802557"/>
            <a:ext cx="1458912" cy="933450"/>
            <a:chOff x="2889" y="1631"/>
            <a:chExt cx="980" cy="743"/>
          </a:xfrm>
        </p:grpSpPr>
        <p:sp>
          <p:nvSpPr>
            <p:cNvPr id="709" name="Google Shape;709;p18"/>
            <p:cNvSpPr/>
            <p:nvPr/>
          </p:nvSpPr>
          <p:spPr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2889" y="1631"/>
              <a:ext cx="980" cy="253"/>
            </a:xfrm>
            <a:prstGeom prst="triangle">
              <a:avLst>
                <a:gd fmla="val 50000" name="adj"/>
              </a:avLst>
            </a:prstGeom>
            <a:solidFill>
              <a:srgbClr val="9CD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CC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18"/>
          <p:cNvSpPr/>
          <p:nvPr/>
        </p:nvSpPr>
        <p:spPr>
          <a:xfrm>
            <a:off x="7786141" y="4196440"/>
            <a:ext cx="3079750" cy="1665288"/>
          </a:xfrm>
          <a:custGeom>
            <a:rect b="b" l="l" r="r" t="t"/>
            <a:pathLst>
              <a:path extrusionOk="0" h="1049" w="1940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8"/>
          <p:cNvSpPr txBox="1"/>
          <p:nvPr/>
        </p:nvSpPr>
        <p:spPr>
          <a:xfrm>
            <a:off x="7753014" y="1001767"/>
            <a:ext cx="133940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mobile network</a:t>
            </a:r>
            <a:endParaRPr/>
          </a:p>
        </p:txBody>
      </p:sp>
      <p:sp>
        <p:nvSpPr>
          <p:cNvPr id="713" name="Google Shape;713;p18"/>
          <p:cNvSpPr txBox="1"/>
          <p:nvPr/>
        </p:nvSpPr>
        <p:spPr>
          <a:xfrm>
            <a:off x="7380648" y="5293081"/>
            <a:ext cx="1195135" cy="44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network</a:t>
            </a:r>
            <a:endParaRPr/>
          </a:p>
        </p:txBody>
      </p:sp>
      <p:sp>
        <p:nvSpPr>
          <p:cNvPr id="714" name="Google Shape;714;p18"/>
          <p:cNvSpPr/>
          <p:nvPr/>
        </p:nvSpPr>
        <p:spPr>
          <a:xfrm>
            <a:off x="10295886" y="2692846"/>
            <a:ext cx="1273167" cy="1935748"/>
          </a:xfrm>
          <a:custGeom>
            <a:rect b="b" l="l" r="r" t="t"/>
            <a:pathLst>
              <a:path extrusionOk="0" h="1952840" w="1447873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8999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15" name="Google Shape;715;p18"/>
          <p:cNvGrpSpPr/>
          <p:nvPr/>
        </p:nvGrpSpPr>
        <p:grpSpPr>
          <a:xfrm>
            <a:off x="10911440" y="3441356"/>
            <a:ext cx="687393" cy="721548"/>
            <a:chOff x="5203089" y="1751190"/>
            <a:chExt cx="858331" cy="662414"/>
          </a:xfrm>
        </p:grpSpPr>
        <p:sp>
          <p:nvSpPr>
            <p:cNvPr id="716" name="Google Shape;716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8" name="Google Shape;718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9" name="Google Shape;719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0" name="Google Shape;720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1" name="Google Shape;721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2" name="Google Shape;722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3" name="Google Shape;723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24" name="Google Shape;724;p18"/>
          <p:cNvGrpSpPr/>
          <p:nvPr/>
        </p:nvGrpSpPr>
        <p:grpSpPr>
          <a:xfrm>
            <a:off x="10844911" y="2707477"/>
            <a:ext cx="594613" cy="648336"/>
            <a:chOff x="5203089" y="1751190"/>
            <a:chExt cx="858331" cy="662414"/>
          </a:xfrm>
        </p:grpSpPr>
        <p:sp>
          <p:nvSpPr>
            <p:cNvPr id="725" name="Google Shape;725;p18"/>
            <p:cNvSpPr/>
            <p:nvPr/>
          </p:nvSpPr>
          <p:spPr>
            <a:xfrm>
              <a:off x="5536769" y="1751190"/>
              <a:ext cx="524651" cy="662124"/>
            </a:xfrm>
            <a:custGeom>
              <a:rect b="b" l="l" r="r" t="t"/>
              <a:pathLst>
                <a:path extrusionOk="0" h="662124" w="524651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5203089" y="1921244"/>
              <a:ext cx="651290" cy="492070"/>
            </a:xfrm>
            <a:custGeom>
              <a:rect b="b" l="l" r="r" t="t"/>
              <a:pathLst>
                <a:path extrusionOk="0" h="492070" w="65129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cap="flat" cmpd="sng" w="12700">
              <a:solidFill>
                <a:srgbClr val="0000A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7" name="Google Shape;727;p18"/>
            <p:cNvCxnSpPr/>
            <p:nvPr/>
          </p:nvCxnSpPr>
          <p:spPr>
            <a:xfrm flipH="1" rot="10800000">
              <a:off x="5270526" y="2029553"/>
              <a:ext cx="295249" cy="73468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8" name="Google Shape;728;p18"/>
            <p:cNvCxnSpPr/>
            <p:nvPr/>
          </p:nvCxnSpPr>
          <p:spPr>
            <a:xfrm flipH="1" rot="10800000">
              <a:off x="5275406" y="2261710"/>
              <a:ext cx="290369" cy="1675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9" name="Google Shape;729;p18"/>
            <p:cNvCxnSpPr/>
            <p:nvPr/>
          </p:nvCxnSpPr>
          <p:spPr>
            <a:xfrm flipH="1" rot="10800000">
              <a:off x="5275406" y="2151772"/>
              <a:ext cx="290369" cy="48402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0" name="Google Shape;730;p18"/>
            <p:cNvCxnSpPr/>
            <p:nvPr/>
          </p:nvCxnSpPr>
          <p:spPr>
            <a:xfrm>
              <a:off x="5270094" y="2354086"/>
              <a:ext cx="295681" cy="0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18"/>
            <p:cNvCxnSpPr/>
            <p:nvPr/>
          </p:nvCxnSpPr>
          <p:spPr>
            <a:xfrm rot="10800000">
              <a:off x="5950242" y="1866900"/>
              <a:ext cx="0" cy="465273"/>
            </a:xfrm>
            <a:prstGeom prst="straightConnector1">
              <a:avLst/>
            </a:prstGeom>
            <a:noFill/>
            <a:ln cap="flat" cmpd="sng" w="44450">
              <a:solidFill>
                <a:schemeClr val="lt1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18"/>
            <p:cNvCxnSpPr/>
            <p:nvPr/>
          </p:nvCxnSpPr>
          <p:spPr>
            <a:xfrm>
              <a:off x="5628589" y="1936750"/>
              <a:ext cx="0" cy="476854"/>
            </a:xfrm>
            <a:prstGeom prst="straightConnector1">
              <a:avLst/>
            </a:prstGeom>
            <a:noFill/>
            <a:ln cap="flat" cmpd="sng" w="15875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33" name="Google Shape;733;p18"/>
          <p:cNvSpPr/>
          <p:nvPr/>
        </p:nvSpPr>
        <p:spPr>
          <a:xfrm>
            <a:off x="9614553" y="1295348"/>
            <a:ext cx="1497864" cy="1386455"/>
          </a:xfrm>
          <a:custGeom>
            <a:rect b="b" l="l" r="r" t="t"/>
            <a:pathLst>
              <a:path extrusionOk="0" h="1796376" w="1634267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>
            <a:gsLst>
              <a:gs pos="0">
                <a:srgbClr val="9CDFF9"/>
              </a:gs>
              <a:gs pos="57000">
                <a:srgbClr val="DDEAF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18"/>
          <p:cNvSpPr txBox="1"/>
          <p:nvPr/>
        </p:nvSpPr>
        <p:spPr>
          <a:xfrm>
            <a:off x="9500941" y="1364501"/>
            <a:ext cx="1725088" cy="28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national or global ISP</a:t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9352808" y="3191214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8"/>
          <p:cNvSpPr txBox="1"/>
          <p:nvPr/>
        </p:nvSpPr>
        <p:spPr>
          <a:xfrm>
            <a:off x="10991507" y="4191243"/>
            <a:ext cx="813043" cy="38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datacenter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cxnSp>
        <p:nvCxnSpPr>
          <p:cNvPr id="737" name="Google Shape;737;p18"/>
          <p:cNvCxnSpPr/>
          <p:nvPr/>
        </p:nvCxnSpPr>
        <p:spPr>
          <a:xfrm rot="10800000">
            <a:off x="10633660" y="3093431"/>
            <a:ext cx="412964" cy="637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18"/>
          <p:cNvCxnSpPr/>
          <p:nvPr/>
        </p:nvCxnSpPr>
        <p:spPr>
          <a:xfrm rot="10800000">
            <a:off x="10734575" y="3153990"/>
            <a:ext cx="345866" cy="7389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18"/>
          <p:cNvCxnSpPr/>
          <p:nvPr/>
        </p:nvCxnSpPr>
        <p:spPr>
          <a:xfrm flipH="1" rot="10800000">
            <a:off x="10710637" y="3146727"/>
            <a:ext cx="335987" cy="39534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18"/>
          <p:cNvCxnSpPr/>
          <p:nvPr/>
        </p:nvCxnSpPr>
        <p:spPr>
          <a:xfrm rot="10800000">
            <a:off x="10644514" y="3108202"/>
            <a:ext cx="1" cy="4857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1" name="Google Shape;741;p18"/>
          <p:cNvCxnSpPr/>
          <p:nvPr/>
        </p:nvCxnSpPr>
        <p:spPr>
          <a:xfrm rot="10800000">
            <a:off x="10624360" y="3584948"/>
            <a:ext cx="508543" cy="3486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2" name="Google Shape;742;p18"/>
          <p:cNvCxnSpPr/>
          <p:nvPr/>
        </p:nvCxnSpPr>
        <p:spPr>
          <a:xfrm rot="10800000">
            <a:off x="9968935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3" name="Google Shape;743;p18"/>
          <p:cNvCxnSpPr/>
          <p:nvPr/>
        </p:nvCxnSpPr>
        <p:spPr>
          <a:xfrm rot="10800000">
            <a:off x="9293356" y="3601048"/>
            <a:ext cx="6554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4" name="Google Shape;744;p18"/>
          <p:cNvCxnSpPr/>
          <p:nvPr/>
        </p:nvCxnSpPr>
        <p:spPr>
          <a:xfrm flipH="1">
            <a:off x="9350608" y="3020978"/>
            <a:ext cx="382424" cy="517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5" name="Google Shape;745;p18"/>
          <p:cNvCxnSpPr/>
          <p:nvPr/>
        </p:nvCxnSpPr>
        <p:spPr>
          <a:xfrm>
            <a:off x="9806809" y="3020978"/>
            <a:ext cx="0" cy="54029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6" name="Google Shape;746;p18"/>
          <p:cNvCxnSpPr/>
          <p:nvPr/>
        </p:nvCxnSpPr>
        <p:spPr>
          <a:xfrm>
            <a:off x="10211408" y="2267998"/>
            <a:ext cx="488174" cy="83933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7" name="Google Shape;747;p18"/>
          <p:cNvCxnSpPr/>
          <p:nvPr/>
        </p:nvCxnSpPr>
        <p:spPr>
          <a:xfrm flipH="1">
            <a:off x="9872459" y="2208319"/>
            <a:ext cx="380432" cy="69480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48" name="Google Shape;748;p18"/>
          <p:cNvGrpSpPr/>
          <p:nvPr/>
        </p:nvGrpSpPr>
        <p:grpSpPr>
          <a:xfrm>
            <a:off x="7635978" y="1640631"/>
            <a:ext cx="3578867" cy="3640284"/>
            <a:chOff x="7562238" y="2127325"/>
            <a:chExt cx="3578867" cy="3640284"/>
          </a:xfrm>
        </p:grpSpPr>
        <p:grpSp>
          <p:nvGrpSpPr>
            <p:cNvPr id="749" name="Google Shape;749;p18"/>
            <p:cNvGrpSpPr/>
            <p:nvPr/>
          </p:nvGrpSpPr>
          <p:grpSpPr>
            <a:xfrm>
              <a:off x="7857253" y="2127325"/>
              <a:ext cx="3283852" cy="3640284"/>
              <a:chOff x="7881336" y="2104198"/>
              <a:chExt cx="3283852" cy="3640284"/>
            </a:xfrm>
          </p:grpSpPr>
          <p:cxnSp>
            <p:nvCxnSpPr>
              <p:cNvPr id="750" name="Google Shape;750;p18"/>
              <p:cNvCxnSpPr/>
              <p:nvPr/>
            </p:nvCxnSpPr>
            <p:spPr>
              <a:xfrm flipH="1" rot="5400000">
                <a:off x="9813692" y="5228612"/>
                <a:ext cx="388062" cy="756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18"/>
              <p:cNvCxnSpPr/>
              <p:nvPr/>
            </p:nvCxnSpPr>
            <p:spPr>
              <a:xfrm rot="10800000">
                <a:off x="10234009" y="5382159"/>
                <a:ext cx="0" cy="1143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8"/>
              <p:cNvCxnSpPr/>
              <p:nvPr/>
            </p:nvCxnSpPr>
            <p:spPr>
              <a:xfrm>
                <a:off x="9457042" y="4815390"/>
                <a:ext cx="524483" cy="26153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3" name="Google Shape;753;p18"/>
              <p:cNvCxnSpPr/>
              <p:nvPr/>
            </p:nvCxnSpPr>
            <p:spPr>
              <a:xfrm flipH="1" rot="10800000">
                <a:off x="8874149" y="4815390"/>
                <a:ext cx="569255" cy="2462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4" name="Google Shape;754;p18"/>
              <p:cNvCxnSpPr/>
              <p:nvPr/>
            </p:nvCxnSpPr>
            <p:spPr>
              <a:xfrm>
                <a:off x="8845827" y="5085749"/>
                <a:ext cx="1030502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5" name="Google Shape;755;p18"/>
              <p:cNvCxnSpPr/>
              <p:nvPr/>
            </p:nvCxnSpPr>
            <p:spPr>
              <a:xfrm>
                <a:off x="8234290" y="5094207"/>
                <a:ext cx="22680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6" name="Google Shape;756;p18"/>
              <p:cNvCxnSpPr/>
              <p:nvPr/>
            </p:nvCxnSpPr>
            <p:spPr>
              <a:xfrm flipH="1" rot="10800000">
                <a:off x="7972450" y="5267343"/>
                <a:ext cx="412750" cy="127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7" name="Google Shape;757;p18"/>
              <p:cNvCxnSpPr/>
              <p:nvPr/>
            </p:nvCxnSpPr>
            <p:spPr>
              <a:xfrm flipH="1">
                <a:off x="8397900" y="5259125"/>
                <a:ext cx="68080" cy="29396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8" name="Google Shape;758;p18"/>
              <p:cNvCxnSpPr/>
              <p:nvPr/>
            </p:nvCxnSpPr>
            <p:spPr>
              <a:xfrm rot="10800000">
                <a:off x="8512814" y="5284804"/>
                <a:ext cx="280374" cy="26987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9" name="Google Shape;759;p18"/>
              <p:cNvCxnSpPr/>
              <p:nvPr/>
            </p:nvCxnSpPr>
            <p:spPr>
              <a:xfrm>
                <a:off x="8512814" y="5234921"/>
                <a:ext cx="914184" cy="46862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0" name="Google Shape;760;p18"/>
              <p:cNvCxnSpPr/>
              <p:nvPr/>
            </p:nvCxnSpPr>
            <p:spPr>
              <a:xfrm>
                <a:off x="8271861" y="3806843"/>
                <a:ext cx="0" cy="13176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1" name="Google Shape;761;p18"/>
              <p:cNvCxnSpPr/>
              <p:nvPr/>
            </p:nvCxnSpPr>
            <p:spPr>
              <a:xfrm flipH="1" rot="10800000">
                <a:off x="7881336" y="4017980"/>
                <a:ext cx="168275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2" name="Google Shape;762;p18"/>
              <p:cNvCxnSpPr/>
              <p:nvPr/>
            </p:nvCxnSpPr>
            <p:spPr>
              <a:xfrm flipH="1" rot="5400000">
                <a:off x="9909628" y="5560344"/>
                <a:ext cx="366793" cy="148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3" name="Google Shape;763;p18"/>
              <p:cNvCxnSpPr/>
              <p:nvPr/>
            </p:nvCxnSpPr>
            <p:spPr>
              <a:xfrm flipH="1" rot="10800000">
                <a:off x="8483508" y="5013435"/>
                <a:ext cx="404236" cy="20777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64" name="Google Shape;764;p18"/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5" name="Google Shape;765;p18"/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6" name="Google Shape;766;p18"/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7" name="Google Shape;767;p18"/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8" name="Google Shape;768;p18"/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69" name="Google Shape;769;p18"/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18"/>
              <p:cNvCxnSpPr/>
              <p:nvPr/>
            </p:nvCxnSpPr>
            <p:spPr>
              <a:xfrm rot="10800000">
                <a:off x="10706077" y="2695840"/>
                <a:ext cx="353541" cy="6780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18"/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18"/>
              <p:cNvCxnSpPr/>
              <p:nvPr/>
            </p:nvCxnSpPr>
            <p:spPr>
              <a:xfrm flipH="1" rot="10800000">
                <a:off x="9402788" y="4090252"/>
                <a:ext cx="429324" cy="70560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73" name="Google Shape;773;p18"/>
              <p:cNvCxnSpPr/>
              <p:nvPr/>
            </p:nvCxnSpPr>
            <p:spPr>
              <a:xfrm flipH="1" rot="10800000">
                <a:off x="8268637" y="4024329"/>
                <a:ext cx="969051" cy="317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descr="antenna_radiation_stylized" id="774" name="Google Shape;77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775" name="Google Shape;775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ell_tower_radiation copy" id="776" name="Google Shape;776;p1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8"/>
            <p:cNvSpPr/>
            <p:nvPr/>
          </p:nvSpPr>
          <p:spPr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78" name="Google Shape;778;p18"/>
          <p:cNvCxnSpPr/>
          <p:nvPr/>
        </p:nvCxnSpPr>
        <p:spPr>
          <a:xfrm>
            <a:off x="8281600" y="2213665"/>
            <a:ext cx="227964" cy="1743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9" name="Google Shape;779;p18"/>
          <p:cNvGrpSpPr/>
          <p:nvPr/>
        </p:nvGrpSpPr>
        <p:grpSpPr>
          <a:xfrm>
            <a:off x="8124438" y="1822682"/>
            <a:ext cx="298450" cy="464008"/>
            <a:chOff x="3130" y="3288"/>
            <a:chExt cx="410" cy="742"/>
          </a:xfrm>
        </p:grpSpPr>
        <p:cxnSp>
          <p:nvCxnSpPr>
            <p:cNvPr id="780" name="Google Shape;780;p18"/>
            <p:cNvCxnSpPr/>
            <p:nvPr/>
          </p:nvCxnSpPr>
          <p:spPr>
            <a:xfrm flipH="1">
              <a:off x="3130" y="3288"/>
              <a:ext cx="205" cy="6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1" name="Google Shape;781;p18"/>
            <p:cNvCxnSpPr/>
            <p:nvPr/>
          </p:nvCxnSpPr>
          <p:spPr>
            <a:xfrm>
              <a:off x="3335" y="3288"/>
              <a:ext cx="205" cy="6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2" name="Google Shape;782;p18"/>
            <p:cNvCxnSpPr/>
            <p:nvPr/>
          </p:nvCxnSpPr>
          <p:spPr>
            <a:xfrm>
              <a:off x="3130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3" name="Google Shape;783;p18"/>
            <p:cNvCxnSpPr/>
            <p:nvPr/>
          </p:nvCxnSpPr>
          <p:spPr>
            <a:xfrm flipH="1">
              <a:off x="3335" y="3957"/>
              <a:ext cx="205" cy="73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4" name="Google Shape;784;p18"/>
            <p:cNvCxnSpPr/>
            <p:nvPr/>
          </p:nvCxnSpPr>
          <p:spPr>
            <a:xfrm>
              <a:off x="3335" y="3303"/>
              <a:ext cx="0" cy="7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5" name="Google Shape;785;p18"/>
            <p:cNvCxnSpPr/>
            <p:nvPr/>
          </p:nvCxnSpPr>
          <p:spPr>
            <a:xfrm flipH="1" rot="10800000">
              <a:off x="3130" y="3888"/>
              <a:ext cx="205" cy="72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6" name="Google Shape;786;p18"/>
            <p:cNvCxnSpPr/>
            <p:nvPr/>
          </p:nvCxnSpPr>
          <p:spPr>
            <a:xfrm rot="10800000">
              <a:off x="3335" y="3888"/>
              <a:ext cx="205" cy="6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7" name="Google Shape;787;p18"/>
            <p:cNvCxnSpPr/>
            <p:nvPr/>
          </p:nvCxnSpPr>
          <p:spPr>
            <a:xfrm>
              <a:off x="3217" y="3668"/>
              <a:ext cx="118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8" name="Google Shape;788;p18"/>
            <p:cNvCxnSpPr/>
            <p:nvPr/>
          </p:nvCxnSpPr>
          <p:spPr>
            <a:xfrm flipH="1" rot="10800000">
              <a:off x="3335" y="3668"/>
              <a:ext cx="124" cy="5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9" name="Google Shape;789;p18"/>
            <p:cNvCxnSpPr/>
            <p:nvPr/>
          </p:nvCxnSpPr>
          <p:spPr>
            <a:xfrm>
              <a:off x="3178" y="3766"/>
              <a:ext cx="152" cy="75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0" name="Google Shape;790;p18"/>
            <p:cNvCxnSpPr/>
            <p:nvPr/>
          </p:nvCxnSpPr>
          <p:spPr>
            <a:xfrm flipH="1" rot="10800000">
              <a:off x="3335" y="3781"/>
              <a:ext cx="153" cy="6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1" name="Google Shape;791;p18"/>
            <p:cNvCxnSpPr/>
            <p:nvPr/>
          </p:nvCxnSpPr>
          <p:spPr>
            <a:xfrm flipH="1" rot="10800000">
              <a:off x="3335" y="3567"/>
              <a:ext cx="78" cy="2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2" name="Google Shape;792;p18"/>
            <p:cNvCxnSpPr/>
            <p:nvPr/>
          </p:nvCxnSpPr>
          <p:spPr>
            <a:xfrm flipH="1" rot="10800000">
              <a:off x="3335" y="3428"/>
              <a:ext cx="49" cy="21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3" name="Google Shape;793;p18"/>
            <p:cNvCxnSpPr/>
            <p:nvPr/>
          </p:nvCxnSpPr>
          <p:spPr>
            <a:xfrm>
              <a:off x="3247" y="3558"/>
              <a:ext cx="9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4" name="Google Shape;794;p18"/>
            <p:cNvCxnSpPr/>
            <p:nvPr/>
          </p:nvCxnSpPr>
          <p:spPr>
            <a:xfrm>
              <a:off x="3289" y="3422"/>
              <a:ext cx="55" cy="36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access_point_stylized_small" id="795" name="Google Shape;79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7622" y="3375205"/>
            <a:ext cx="370169" cy="3067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ccess_point_stylized_small" id="796" name="Google Shape;7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64350" y="5037538"/>
            <a:ext cx="380935" cy="3174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18"/>
          <p:cNvGrpSpPr/>
          <p:nvPr/>
        </p:nvGrpSpPr>
        <p:grpSpPr>
          <a:xfrm>
            <a:off x="9923105" y="4852343"/>
            <a:ext cx="309740" cy="190838"/>
            <a:chOff x="3668110" y="2448910"/>
            <a:chExt cx="3794234" cy="2165130"/>
          </a:xfrm>
        </p:grpSpPr>
        <p:sp>
          <p:nvSpPr>
            <p:cNvPr id="798" name="Google Shape;798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0" name="Google Shape;800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01" name="Google Shape;801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5" name="Google Shape;805;p18"/>
          <p:cNvGrpSpPr/>
          <p:nvPr/>
        </p:nvGrpSpPr>
        <p:grpSpPr>
          <a:xfrm>
            <a:off x="8750359" y="4480726"/>
            <a:ext cx="393760" cy="218578"/>
            <a:chOff x="7493876" y="2774731"/>
            <a:chExt cx="1481958" cy="894622"/>
          </a:xfrm>
        </p:grpSpPr>
        <p:sp>
          <p:nvSpPr>
            <p:cNvPr id="806" name="Google Shape;80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08" name="Google Shape;80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09" name="Google Shape;80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13" name="Google Shape;813;p18"/>
          <p:cNvGrpSpPr/>
          <p:nvPr/>
        </p:nvGrpSpPr>
        <p:grpSpPr>
          <a:xfrm>
            <a:off x="8385260" y="4707739"/>
            <a:ext cx="309740" cy="190838"/>
            <a:chOff x="3668110" y="2448910"/>
            <a:chExt cx="3794234" cy="2165130"/>
          </a:xfrm>
        </p:grpSpPr>
        <p:sp>
          <p:nvSpPr>
            <p:cNvPr id="814" name="Google Shape;814;p1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1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6" name="Google Shape;816;p1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817" name="Google Shape;817;p1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1" name="Google Shape;821;p18"/>
          <p:cNvGrpSpPr/>
          <p:nvPr/>
        </p:nvGrpSpPr>
        <p:grpSpPr>
          <a:xfrm>
            <a:off x="8513567" y="2325615"/>
            <a:ext cx="353678" cy="168275"/>
            <a:chOff x="7493876" y="2774731"/>
            <a:chExt cx="1481958" cy="894622"/>
          </a:xfrm>
        </p:grpSpPr>
        <p:sp>
          <p:nvSpPr>
            <p:cNvPr id="822" name="Google Shape;82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23" name="Google Shape;82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24" name="Google Shape;82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25" name="Google Shape;82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9" name="Google Shape;829;p18"/>
          <p:cNvGrpSpPr/>
          <p:nvPr/>
        </p:nvGrpSpPr>
        <p:grpSpPr>
          <a:xfrm>
            <a:off x="10957825" y="3114671"/>
            <a:ext cx="170989" cy="97052"/>
            <a:chOff x="7493876" y="2774731"/>
            <a:chExt cx="1481958" cy="894622"/>
          </a:xfrm>
        </p:grpSpPr>
        <p:sp>
          <p:nvSpPr>
            <p:cNvPr id="830" name="Google Shape;83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1" name="Google Shape;83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32" name="Google Shape;83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33" name="Google Shape;83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37" name="Google Shape;837;p18"/>
          <p:cNvGrpSpPr/>
          <p:nvPr/>
        </p:nvGrpSpPr>
        <p:grpSpPr>
          <a:xfrm>
            <a:off x="10484349" y="3009444"/>
            <a:ext cx="353678" cy="198344"/>
            <a:chOff x="7493876" y="2774731"/>
            <a:chExt cx="1481958" cy="894622"/>
          </a:xfrm>
        </p:grpSpPr>
        <p:sp>
          <p:nvSpPr>
            <p:cNvPr id="838" name="Google Shape;83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39" name="Google Shape;83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0" name="Google Shape;84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1" name="Google Shape;84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45" name="Google Shape;845;p18"/>
          <p:cNvGrpSpPr/>
          <p:nvPr/>
        </p:nvGrpSpPr>
        <p:grpSpPr>
          <a:xfrm>
            <a:off x="10022464" y="1715598"/>
            <a:ext cx="353678" cy="198344"/>
            <a:chOff x="7493876" y="2774731"/>
            <a:chExt cx="1481958" cy="894622"/>
          </a:xfrm>
        </p:grpSpPr>
        <p:sp>
          <p:nvSpPr>
            <p:cNvPr id="846" name="Google Shape;84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48" name="Google Shape;84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49" name="Google Shape;84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3" name="Google Shape;853;p18"/>
          <p:cNvGrpSpPr/>
          <p:nvPr/>
        </p:nvGrpSpPr>
        <p:grpSpPr>
          <a:xfrm>
            <a:off x="10600954" y="2126673"/>
            <a:ext cx="353678" cy="198344"/>
            <a:chOff x="7493876" y="2774731"/>
            <a:chExt cx="1481958" cy="894622"/>
          </a:xfrm>
        </p:grpSpPr>
        <p:sp>
          <p:nvSpPr>
            <p:cNvPr id="854" name="Google Shape;85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56" name="Google Shape;85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57" name="Google Shape;85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1" name="Google Shape;861;p18"/>
          <p:cNvGrpSpPr/>
          <p:nvPr/>
        </p:nvGrpSpPr>
        <p:grpSpPr>
          <a:xfrm>
            <a:off x="10717565" y="1621269"/>
            <a:ext cx="353678" cy="198344"/>
            <a:chOff x="7493876" y="2774731"/>
            <a:chExt cx="1481958" cy="894622"/>
          </a:xfrm>
        </p:grpSpPr>
        <p:sp>
          <p:nvSpPr>
            <p:cNvPr id="862" name="Google Shape;86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64" name="Google Shape;86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5" name="Google Shape;86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69" name="Google Shape;869;p18"/>
          <p:cNvGrpSpPr/>
          <p:nvPr/>
        </p:nvGrpSpPr>
        <p:grpSpPr>
          <a:xfrm>
            <a:off x="10053866" y="2174871"/>
            <a:ext cx="353678" cy="198344"/>
            <a:chOff x="7493876" y="2774731"/>
            <a:chExt cx="1481958" cy="894622"/>
          </a:xfrm>
        </p:grpSpPr>
        <p:sp>
          <p:nvSpPr>
            <p:cNvPr id="870" name="Google Shape;87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72" name="Google Shape;87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73" name="Google Shape;87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7" name="Google Shape;877;p18"/>
          <p:cNvGrpSpPr/>
          <p:nvPr/>
        </p:nvGrpSpPr>
        <p:grpSpPr>
          <a:xfrm>
            <a:off x="9570878" y="2907338"/>
            <a:ext cx="367224" cy="240304"/>
            <a:chOff x="7493876" y="2774731"/>
            <a:chExt cx="1481958" cy="894622"/>
          </a:xfrm>
        </p:grpSpPr>
        <p:sp>
          <p:nvSpPr>
            <p:cNvPr id="878" name="Google Shape;878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0" name="Google Shape;880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1" name="Google Shape;881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5" name="Google Shape;885;p18"/>
          <p:cNvGrpSpPr/>
          <p:nvPr/>
        </p:nvGrpSpPr>
        <p:grpSpPr>
          <a:xfrm>
            <a:off x="10448999" y="3505631"/>
            <a:ext cx="353678" cy="198344"/>
            <a:chOff x="7493876" y="2774731"/>
            <a:chExt cx="1481958" cy="894622"/>
          </a:xfrm>
        </p:grpSpPr>
        <p:sp>
          <p:nvSpPr>
            <p:cNvPr id="886" name="Google Shape;88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88" name="Google Shape;88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9" name="Google Shape;88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0" name="Google Shape;89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93" name="Google Shape;893;p18"/>
          <p:cNvGrpSpPr/>
          <p:nvPr/>
        </p:nvGrpSpPr>
        <p:grpSpPr>
          <a:xfrm>
            <a:off x="10999722" y="3882431"/>
            <a:ext cx="228295" cy="120400"/>
            <a:chOff x="7493876" y="2774731"/>
            <a:chExt cx="1481958" cy="894622"/>
          </a:xfrm>
        </p:grpSpPr>
        <p:sp>
          <p:nvSpPr>
            <p:cNvPr id="894" name="Google Shape;89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896" name="Google Shape;89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97" name="Google Shape;89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01" name="Google Shape;901;p18"/>
          <p:cNvGrpSpPr/>
          <p:nvPr/>
        </p:nvGrpSpPr>
        <p:grpSpPr>
          <a:xfrm>
            <a:off x="7512814" y="1869919"/>
            <a:ext cx="534987" cy="414882"/>
            <a:chOff x="7432700" y="2327293"/>
            <a:chExt cx="534987" cy="414882"/>
          </a:xfrm>
        </p:grpSpPr>
        <p:pic>
          <p:nvPicPr>
            <p:cNvPr descr="antenna_stylized" id="902" name="Google Shape;90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03" name="Google Shape;903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 flipH="1" rot="109064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18"/>
            <p:cNvSpPr/>
            <p:nvPr/>
          </p:nvSpPr>
          <p:spPr>
            <a:xfrm>
              <a:off x="7603304" y="2420984"/>
              <a:ext cx="351919" cy="208167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05" name="Google Shape;905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6" name="Google Shape;906;p18"/>
            <p:cNvSpPr/>
            <p:nvPr/>
          </p:nvSpPr>
          <p:spPr>
            <a:xfrm>
              <a:off x="7667378" y="2414843"/>
              <a:ext cx="298167" cy="3873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7600188" y="2414528"/>
              <a:ext cx="82770" cy="161243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7874205" y="2443344"/>
              <a:ext cx="89197" cy="18612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7599214" y="2567582"/>
              <a:ext cx="327185" cy="62828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7884138" y="2444918"/>
              <a:ext cx="83549" cy="186909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7599603" y="2575928"/>
              <a:ext cx="290961" cy="62041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18"/>
            <p:cNvGrpSpPr/>
            <p:nvPr/>
          </p:nvGrpSpPr>
          <p:grpSpPr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913" name="Google Shape;913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9" name="Google Shape;919;p18"/>
            <p:cNvSpPr/>
            <p:nvPr/>
          </p:nvSpPr>
          <p:spPr>
            <a:xfrm>
              <a:off x="7763780" y="2647731"/>
              <a:ext cx="119578" cy="80936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7458602" y="2654187"/>
              <a:ext cx="305957" cy="73850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7458797" y="2640645"/>
              <a:ext cx="3311" cy="14959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7458992" y="2579707"/>
              <a:ext cx="142170" cy="6188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7468535" y="2643795"/>
              <a:ext cx="290182" cy="71016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 flipH="1" rot="10800000">
              <a:off x="7758327" y="2638756"/>
              <a:ext cx="118410" cy="73535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5" name="Google Shape;925;p18"/>
          <p:cNvGrpSpPr/>
          <p:nvPr/>
        </p:nvGrpSpPr>
        <p:grpSpPr>
          <a:xfrm>
            <a:off x="8711521" y="1833033"/>
            <a:ext cx="530702" cy="478009"/>
            <a:chOff x="8631407" y="2290407"/>
            <a:chExt cx="530702" cy="478009"/>
          </a:xfrm>
        </p:grpSpPr>
        <p:pic>
          <p:nvPicPr>
            <p:cNvPr descr="light2.png" id="926" name="Google Shape;926;p1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27" name="Google Shape;927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8" name="Google Shape;928;p18"/>
          <p:cNvGrpSpPr/>
          <p:nvPr/>
        </p:nvGrpSpPr>
        <p:grpSpPr>
          <a:xfrm>
            <a:off x="8573279" y="1572430"/>
            <a:ext cx="849312" cy="226109"/>
            <a:chOff x="8493165" y="2029804"/>
            <a:chExt cx="849312" cy="226109"/>
          </a:xfrm>
        </p:grpSpPr>
        <p:pic>
          <p:nvPicPr>
            <p:cNvPr descr="car_icon_small" id="929" name="Google Shape;929;p1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930" name="Google Shape;930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1" name="Google Shape;931;p18"/>
          <p:cNvGrpSpPr/>
          <p:nvPr/>
        </p:nvGrpSpPr>
        <p:grpSpPr>
          <a:xfrm>
            <a:off x="7567258" y="2838730"/>
            <a:ext cx="857739" cy="583764"/>
            <a:chOff x="7487144" y="3296104"/>
            <a:chExt cx="857739" cy="583764"/>
          </a:xfrm>
        </p:grpSpPr>
        <p:grpSp>
          <p:nvGrpSpPr>
            <p:cNvPr id="932" name="Google Shape;932;p18"/>
            <p:cNvGrpSpPr/>
            <p:nvPr/>
          </p:nvGrpSpPr>
          <p:grpSpPr>
            <a:xfrm>
              <a:off x="7487144" y="3389820"/>
              <a:ext cx="350807" cy="310034"/>
              <a:chOff x="7487144" y="3389820"/>
              <a:chExt cx="350807" cy="310034"/>
            </a:xfrm>
          </p:grpSpPr>
          <p:pic>
            <p:nvPicPr>
              <p:cNvPr descr="antenna_stylized" id="933" name="Google Shape;933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laptop_keyboard" id="934" name="Google Shape;934;p18"/>
              <p:cNvPicPr preferRelativeResize="0"/>
              <p:nvPr/>
            </p:nvPicPr>
            <p:blipFill rotWithShape="1">
              <a:blip r:embed="rId13">
                <a:alphaModFix/>
              </a:blip>
              <a:srcRect b="0" l="0" r="0" t="0"/>
              <a:stretch/>
            </p:blipFill>
            <p:spPr>
              <a:xfrm flipH="1" rot="109064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5" name="Google Shape;935;p18"/>
              <p:cNvSpPr/>
              <p:nvPr/>
            </p:nvSpPr>
            <p:spPr>
              <a:xfrm>
                <a:off x="7599014" y="3459979"/>
                <a:ext cx="230764" cy="155883"/>
              </a:xfrm>
              <a:custGeom>
                <a:rect b="b" l="l" r="r" t="t"/>
                <a:pathLst>
                  <a:path extrusionOk="0" h="2442" w="298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screen" id="936" name="Google Shape;936;p18"/>
              <p:cNvPicPr preferRelativeResize="0"/>
              <p:nvPr/>
            </p:nvPicPr>
            <p:blipFill rotWithShape="1">
              <a:blip r:embed="rId14">
                <a:alphaModFix/>
              </a:blip>
              <a:srcRect b="0" l="0" r="0" t="0"/>
              <a:stretch/>
            </p:blipFill>
            <p:spPr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37" name="Google Shape;937;p18"/>
              <p:cNvSpPr/>
              <p:nvPr/>
            </p:nvSpPr>
            <p:spPr>
              <a:xfrm>
                <a:off x="7641029" y="3455381"/>
                <a:ext cx="195517" cy="29007"/>
              </a:xfrm>
              <a:custGeom>
                <a:rect b="b" l="l" r="r" t="t"/>
                <a:pathLst>
                  <a:path extrusionOk="0" h="455" w="2528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18"/>
              <p:cNvSpPr/>
              <p:nvPr/>
            </p:nvSpPr>
            <p:spPr>
              <a:xfrm>
                <a:off x="7596971" y="3455145"/>
                <a:ext cx="54275" cy="120745"/>
              </a:xfrm>
              <a:custGeom>
                <a:rect b="b" l="l" r="r" t="t"/>
                <a:pathLst>
                  <a:path extrusionOk="0" h="1893" w="702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18"/>
              <p:cNvSpPr/>
              <p:nvPr/>
            </p:nvSpPr>
            <p:spPr>
              <a:xfrm>
                <a:off x="7776652" y="3476723"/>
                <a:ext cx="58489" cy="139375"/>
              </a:xfrm>
              <a:custGeom>
                <a:rect b="b" l="l" r="r" t="t"/>
                <a:pathLst>
                  <a:path extrusionOk="0" h="2184" w="756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chemeClr val="lt1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18"/>
              <p:cNvSpPr/>
              <p:nvPr/>
            </p:nvSpPr>
            <p:spPr>
              <a:xfrm>
                <a:off x="7596332" y="3569758"/>
                <a:ext cx="214545" cy="47048"/>
              </a:xfrm>
              <a:custGeom>
                <a:rect b="b" l="l" r="r" t="t"/>
                <a:pathLst>
                  <a:path extrusionOk="0" h="738" w="2773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CC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18"/>
              <p:cNvSpPr/>
              <p:nvPr/>
            </p:nvSpPr>
            <p:spPr>
              <a:xfrm>
                <a:off x="7783165" y="3477902"/>
                <a:ext cx="54786" cy="139965"/>
              </a:xfrm>
              <a:custGeom>
                <a:rect b="b" l="l" r="r" t="t"/>
                <a:pathLst>
                  <a:path extrusionOk="0" h="1659" w="637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18"/>
              <p:cNvSpPr/>
              <p:nvPr/>
            </p:nvSpPr>
            <p:spPr>
              <a:xfrm>
                <a:off x="7596588" y="3576007"/>
                <a:ext cx="190792" cy="46458"/>
              </a:xfrm>
              <a:custGeom>
                <a:rect b="b" l="l" r="r" t="t"/>
                <a:pathLst>
                  <a:path extrusionOk="0" h="550" w="2216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3" name="Google Shape;943;p18"/>
              <p:cNvGrpSpPr/>
              <p:nvPr/>
            </p:nvGrpSpPr>
            <p:grpSpPr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944" name="Google Shape;944;p18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rect b="b" l="l" r="r" t="t"/>
                  <a:pathLst>
                    <a:path extrusionOk="0" h="327" w="752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18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rect b="b" l="l" r="r" t="t"/>
                  <a:pathLst>
                    <a:path extrusionOk="0" h="311" w="726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18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rect b="b" l="l" r="r" t="t"/>
                  <a:pathLst>
                    <a:path extrusionOk="0" h="100" w="258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18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18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rect b="b" l="l" r="r" t="t"/>
                  <a:pathLst>
                    <a:path extrusionOk="0" h="102" w="258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9" name="Google Shape;949;p1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rect b="b" l="l" r="r" t="t"/>
                  <a:pathLst>
                    <a:path extrusionOk="0" h="63" w="194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50" name="Google Shape;950;p18"/>
              <p:cNvSpPr/>
              <p:nvPr/>
            </p:nvSpPr>
            <p:spPr>
              <a:xfrm>
                <a:off x="7704243" y="3629776"/>
                <a:ext cx="78411" cy="60608"/>
              </a:xfrm>
              <a:custGeom>
                <a:rect b="b" l="l" r="r" t="t"/>
                <a:pathLst>
                  <a:path extrusionOk="0" h="792" w="990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18"/>
              <p:cNvSpPr/>
              <p:nvPr/>
            </p:nvSpPr>
            <p:spPr>
              <a:xfrm>
                <a:off x="7504129" y="3634611"/>
                <a:ext cx="200625" cy="55302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2" name="Google Shape;952;p18"/>
              <p:cNvSpPr/>
              <p:nvPr/>
            </p:nvSpPr>
            <p:spPr>
              <a:xfrm>
                <a:off x="7504257" y="3624470"/>
                <a:ext cx="2171" cy="11202"/>
              </a:xfrm>
              <a:custGeom>
                <a:rect b="b" l="l" r="r" t="t"/>
                <a:pathLst>
                  <a:path extrusionOk="0" h="147" w="26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18"/>
              <p:cNvSpPr/>
              <p:nvPr/>
            </p:nvSpPr>
            <p:spPr>
              <a:xfrm>
                <a:off x="7504384" y="3578837"/>
                <a:ext cx="93225" cy="46340"/>
              </a:xfrm>
              <a:custGeom>
                <a:rect b="b" l="l" r="r" t="t"/>
                <a:pathLst>
                  <a:path extrusionOk="0" h="606" w="117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18"/>
              <p:cNvSpPr/>
              <p:nvPr/>
            </p:nvSpPr>
            <p:spPr>
              <a:xfrm>
                <a:off x="7510642" y="3626829"/>
                <a:ext cx="190281" cy="53180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18"/>
              <p:cNvSpPr/>
              <p:nvPr/>
            </p:nvSpPr>
            <p:spPr>
              <a:xfrm flipH="1" rot="10800000">
                <a:off x="7700668" y="3623055"/>
                <a:ext cx="77645" cy="55066"/>
              </a:xfrm>
              <a:custGeom>
                <a:rect b="b" l="l" r="r" t="t"/>
                <a:pathLst>
                  <a:path extrusionOk="0" h="723" w="2532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8"/>
            <p:cNvGrpSpPr/>
            <p:nvPr/>
          </p:nvGrpSpPr>
          <p:grpSpPr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descr="desktop_computer_stylized_medium" id="957" name="Google Shape;957;p18"/>
              <p:cNvPicPr preferRelativeResize="0"/>
              <p:nvPr/>
            </p:nvPicPr>
            <p:blipFill rotWithShape="1">
              <a:blip r:embed="rId15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58" name="Google Shape;958;p18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9" name="Google Shape;959;p18"/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descr="fridge2.png" id="960" name="Google Shape;960;p18"/>
              <p:cNvPicPr preferRelativeResize="0"/>
              <p:nvPr/>
            </p:nvPicPr>
            <p:blipFill rotWithShape="1">
              <a:blip r:embed="rId16">
                <a:alphaModFix/>
              </a:blip>
              <a:srcRect b="0" l="0" r="0" t="0"/>
              <a:stretch/>
            </p:blipFill>
            <p:spPr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stylized" id="961" name="Google Shape;961;p18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962" name="Google Shape;962;p18"/>
          <p:cNvGrpSpPr/>
          <p:nvPr/>
        </p:nvGrpSpPr>
        <p:grpSpPr>
          <a:xfrm>
            <a:off x="11138687" y="2941791"/>
            <a:ext cx="518448" cy="1212242"/>
            <a:chOff x="11058573" y="3399165"/>
            <a:chExt cx="518448" cy="1212242"/>
          </a:xfrm>
        </p:grpSpPr>
        <p:grpSp>
          <p:nvGrpSpPr>
            <p:cNvPr id="963" name="Google Shape;963;p18"/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964" name="Google Shape;964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65" name="Google Shape;965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66" name="Google Shape;966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7" name="Google Shape;967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68" name="Google Shape;968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69" name="Google Shape;969;p18"/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970" name="Google Shape;970;p18"/>
              <p:cNvCxnSpPr/>
              <p:nvPr/>
            </p:nvCxnSpPr>
            <p:spPr>
              <a:xfrm>
                <a:off x="5103720" y="2914214"/>
                <a:ext cx="232559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971" name="Google Shape;971;p18"/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descr="server_rack.png" id="972" name="Google Shape;972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3" name="Google Shape;973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server_rack.png" id="974" name="Google Shape;974;p18"/>
                <p:cNvPicPr preferRelativeResize="0"/>
                <p:nvPr/>
              </p:nvPicPr>
              <p:blipFill rotWithShape="1">
                <a:blip r:embed="rId17">
                  <a:alphaModFix/>
                </a:blip>
                <a:srcRect b="0" l="0" r="0" t="0"/>
                <a:stretch/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pSp>
        <p:nvGrpSpPr>
          <p:cNvPr id="975" name="Google Shape;975;p18"/>
          <p:cNvGrpSpPr/>
          <p:nvPr/>
        </p:nvGrpSpPr>
        <p:grpSpPr>
          <a:xfrm flipH="1">
            <a:off x="8054595" y="4413467"/>
            <a:ext cx="345630" cy="320302"/>
            <a:chOff x="2839" y="3501"/>
            <a:chExt cx="755" cy="803"/>
          </a:xfrm>
        </p:grpSpPr>
        <p:pic>
          <p:nvPicPr>
            <p:cNvPr descr="desktop_computer_stylized_medium" id="976" name="Google Shape;97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7" name="Google Shape;97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8" name="Google Shape;978;p18"/>
          <p:cNvGrpSpPr/>
          <p:nvPr/>
        </p:nvGrpSpPr>
        <p:grpSpPr>
          <a:xfrm>
            <a:off x="9275421" y="5366115"/>
            <a:ext cx="310186" cy="312008"/>
            <a:chOff x="877" y="1008"/>
            <a:chExt cx="2747" cy="2626"/>
          </a:xfrm>
        </p:grpSpPr>
        <p:pic>
          <p:nvPicPr>
            <p:cNvPr descr="antenna_stylized" id="979" name="Google Shape;97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980" name="Google Shape;98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1" name="Google Shape;98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982" name="Google Shape;98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" name="Google Shape;98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990" name="Google Shape;99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6" name="Google Shape;99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2" name="Google Shape;1002;p18"/>
          <p:cNvGrpSpPr/>
          <p:nvPr/>
        </p:nvGrpSpPr>
        <p:grpSpPr>
          <a:xfrm flipH="1">
            <a:off x="8227649" y="5017963"/>
            <a:ext cx="345630" cy="320302"/>
            <a:chOff x="2839" y="3501"/>
            <a:chExt cx="755" cy="803"/>
          </a:xfrm>
        </p:grpSpPr>
        <p:pic>
          <p:nvPicPr>
            <p:cNvPr descr="desktop_computer_stylized_medium" id="1003" name="Google Shape;1003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4" name="Google Shape;1004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5" name="Google Shape;1005;p18"/>
          <p:cNvGrpSpPr/>
          <p:nvPr/>
        </p:nvGrpSpPr>
        <p:grpSpPr>
          <a:xfrm flipH="1">
            <a:off x="8625874" y="5039436"/>
            <a:ext cx="345630" cy="320302"/>
            <a:chOff x="2839" y="3501"/>
            <a:chExt cx="755" cy="803"/>
          </a:xfrm>
        </p:grpSpPr>
        <p:pic>
          <p:nvPicPr>
            <p:cNvPr descr="desktop_computer_stylized_medium" id="1006" name="Google Shape;1006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8" name="Google Shape;1008;p18"/>
          <p:cNvGrpSpPr/>
          <p:nvPr/>
        </p:nvGrpSpPr>
        <p:grpSpPr>
          <a:xfrm>
            <a:off x="9608486" y="5308444"/>
            <a:ext cx="319264" cy="256836"/>
            <a:chOff x="877" y="1008"/>
            <a:chExt cx="2747" cy="2626"/>
          </a:xfrm>
        </p:grpSpPr>
        <p:pic>
          <p:nvPicPr>
            <p:cNvPr descr="antenna_stylized" id="1009" name="Google Shape;1009;p18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aptop_keyboard" id="1010" name="Google Shape;1010;p18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 flipH="1" rot="109064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18"/>
            <p:cNvSpPr/>
            <p:nvPr/>
          </p:nvSpPr>
          <p:spPr>
            <a:xfrm>
              <a:off x="1753" y="1603"/>
              <a:ext cx="1807" cy="1322"/>
            </a:xfrm>
            <a:custGeom>
              <a:rect b="b" l="l" r="r" t="t"/>
              <a:pathLst>
                <a:path extrusionOk="0" h="2442" w="298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screen" id="1012" name="Google Shape;1012;p18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18"/>
            <p:cNvSpPr/>
            <p:nvPr/>
          </p:nvSpPr>
          <p:spPr>
            <a:xfrm>
              <a:off x="2082" y="1564"/>
              <a:ext cx="1531" cy="246"/>
            </a:xfrm>
            <a:custGeom>
              <a:rect b="b" l="l" r="r" t="t"/>
              <a:pathLst>
                <a:path extrusionOk="0" h="455" w="2528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18"/>
            <p:cNvSpPr/>
            <p:nvPr/>
          </p:nvSpPr>
          <p:spPr>
            <a:xfrm>
              <a:off x="1737" y="1562"/>
              <a:ext cx="425" cy="1024"/>
            </a:xfrm>
            <a:custGeom>
              <a:rect b="b" l="l" r="r" t="t"/>
              <a:pathLst>
                <a:path extrusionOk="0" h="1893" w="702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18"/>
            <p:cNvSpPr/>
            <p:nvPr/>
          </p:nvSpPr>
          <p:spPr>
            <a:xfrm>
              <a:off x="3144" y="1745"/>
              <a:ext cx="458" cy="1182"/>
            </a:xfrm>
            <a:custGeom>
              <a:rect b="b" l="l" r="r" t="t"/>
              <a:pathLst>
                <a:path extrusionOk="0" h="2184" w="756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chemeClr val="lt1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18"/>
            <p:cNvSpPr/>
            <p:nvPr/>
          </p:nvSpPr>
          <p:spPr>
            <a:xfrm>
              <a:off x="1732" y="2534"/>
              <a:ext cx="1680" cy="399"/>
            </a:xfrm>
            <a:custGeom>
              <a:rect b="b" l="l" r="r" t="t"/>
              <a:pathLst>
                <a:path extrusionOk="0" h="738" w="2773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>
              <a:gsLst>
                <a:gs pos="0">
                  <a:srgbClr val="0000CC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18"/>
            <p:cNvSpPr/>
            <p:nvPr/>
          </p:nvSpPr>
          <p:spPr>
            <a:xfrm>
              <a:off x="3195" y="1755"/>
              <a:ext cx="429" cy="1187"/>
            </a:xfrm>
            <a:custGeom>
              <a:rect b="b" l="l" r="r" t="t"/>
              <a:pathLst>
                <a:path extrusionOk="0" h="1659" w="637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8"/>
            <p:cNvSpPr/>
            <p:nvPr/>
          </p:nvSpPr>
          <p:spPr>
            <a:xfrm>
              <a:off x="1734" y="2587"/>
              <a:ext cx="1494" cy="394"/>
            </a:xfrm>
            <a:custGeom>
              <a:rect b="b" l="l" r="r" t="t"/>
              <a:pathLst>
                <a:path extrusionOk="0" h="550" w="2216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18"/>
            <p:cNvGrpSpPr/>
            <p:nvPr/>
          </p:nvGrpSpPr>
          <p:grpSpPr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020" name="Google Shape;1020;p18"/>
              <p:cNvSpPr/>
              <p:nvPr/>
            </p:nvSpPr>
            <p:spPr>
              <a:xfrm>
                <a:off x="1740" y="2642"/>
                <a:ext cx="752" cy="327"/>
              </a:xfrm>
              <a:custGeom>
                <a:rect b="b" l="l" r="r" t="t"/>
                <a:pathLst>
                  <a:path extrusionOk="0" h="327" w="752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1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rect b="b" l="l" r="r" t="t"/>
                <a:pathLst>
                  <a:path extrusionOk="0" h="311" w="726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18"/>
              <p:cNvSpPr/>
              <p:nvPr/>
            </p:nvSpPr>
            <p:spPr>
              <a:xfrm>
                <a:off x="1808" y="2770"/>
                <a:ext cx="258" cy="100"/>
              </a:xfrm>
              <a:custGeom>
                <a:rect b="b" l="l" r="r" t="t"/>
                <a:pathLst>
                  <a:path extrusionOk="0" h="100" w="258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18"/>
              <p:cNvSpPr/>
              <p:nvPr/>
            </p:nvSpPr>
            <p:spPr>
              <a:xfrm>
                <a:off x="1799" y="2816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18"/>
              <p:cNvSpPr/>
              <p:nvPr/>
            </p:nvSpPr>
            <p:spPr>
              <a:xfrm>
                <a:off x="2020" y="2834"/>
                <a:ext cx="258" cy="102"/>
              </a:xfrm>
              <a:custGeom>
                <a:rect b="b" l="l" r="r" t="t"/>
                <a:pathLst>
                  <a:path extrusionOk="0" h="102" w="258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18"/>
              <p:cNvSpPr/>
              <p:nvPr/>
            </p:nvSpPr>
            <p:spPr>
              <a:xfrm>
                <a:off x="2011" y="2882"/>
                <a:ext cx="194" cy="63"/>
              </a:xfrm>
              <a:custGeom>
                <a:rect b="b" l="l" r="r" t="t"/>
                <a:pathLst>
                  <a:path extrusionOk="0" h="63" w="194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18"/>
            <p:cNvSpPr/>
            <p:nvPr/>
          </p:nvSpPr>
          <p:spPr>
            <a:xfrm>
              <a:off x="2577" y="3043"/>
              <a:ext cx="614" cy="514"/>
            </a:xfrm>
            <a:custGeom>
              <a:rect b="b" l="l" r="r" t="t"/>
              <a:pathLst>
                <a:path extrusionOk="0" h="792" w="990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8"/>
            <p:cNvSpPr/>
            <p:nvPr/>
          </p:nvSpPr>
          <p:spPr>
            <a:xfrm>
              <a:off x="1010" y="3084"/>
              <a:ext cx="1571" cy="469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1011" y="2998"/>
              <a:ext cx="17" cy="95"/>
            </a:xfrm>
            <a:custGeom>
              <a:rect b="b" l="l" r="r" t="t"/>
              <a:pathLst>
                <a:path extrusionOk="0" h="147" w="26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1012" y="2611"/>
              <a:ext cx="730" cy="393"/>
            </a:xfrm>
            <a:custGeom>
              <a:rect b="b" l="l" r="r" t="t"/>
              <a:pathLst>
                <a:path extrusionOk="0" h="606" w="117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1061" y="3018"/>
              <a:ext cx="1490" cy="451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 flipH="1" rot="10800000">
              <a:off x="2549" y="2986"/>
              <a:ext cx="608" cy="467"/>
            </a:xfrm>
            <a:custGeom>
              <a:rect b="b" l="l" r="r" t="t"/>
              <a:pathLst>
                <a:path extrusionOk="0" h="723" w="2532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2" name="Google Shape;1032;p18"/>
          <p:cNvSpPr/>
          <p:nvPr/>
        </p:nvSpPr>
        <p:spPr>
          <a:xfrm>
            <a:off x="10227333" y="5150277"/>
            <a:ext cx="34049" cy="332924"/>
          </a:xfrm>
          <a:custGeom>
            <a:rect b="b" l="l" r="r" t="t"/>
            <a:pathLst>
              <a:path extrusionOk="0" h="2742" w="354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333333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18"/>
          <p:cNvSpPr/>
          <p:nvPr/>
        </p:nvSpPr>
        <p:spPr>
          <a:xfrm>
            <a:off x="10233710" y="5170229"/>
            <a:ext cx="20333" cy="308020"/>
          </a:xfrm>
          <a:custGeom>
            <a:rect b="b" l="l" r="r" t="t"/>
            <a:pathLst>
              <a:path extrusionOk="0" h="2537" w="211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>
            <a:gsLst>
              <a:gs pos="0">
                <a:srgbClr val="808080"/>
              </a:gs>
              <a:gs pos="100000">
                <a:srgbClr val="F8F8F8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18"/>
          <p:cNvSpPr/>
          <p:nvPr/>
        </p:nvSpPr>
        <p:spPr>
          <a:xfrm>
            <a:off x="10229258" y="5326059"/>
            <a:ext cx="31643" cy="27525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18"/>
          <p:cNvSpPr/>
          <p:nvPr/>
        </p:nvSpPr>
        <p:spPr>
          <a:xfrm>
            <a:off x="10100039" y="5187705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36" name="Google Shape;1036;p18"/>
          <p:cNvGrpSpPr/>
          <p:nvPr/>
        </p:nvGrpSpPr>
        <p:grpSpPr>
          <a:xfrm>
            <a:off x="10164793" y="5184197"/>
            <a:ext cx="69517" cy="21877"/>
            <a:chOff x="613" y="2566"/>
            <a:chExt cx="721" cy="144"/>
          </a:xfrm>
        </p:grpSpPr>
        <p:sp>
          <p:nvSpPr>
            <p:cNvPr id="1037" name="Google Shape;1037;p18"/>
            <p:cNvSpPr/>
            <p:nvPr/>
          </p:nvSpPr>
          <p:spPr>
            <a:xfrm>
              <a:off x="613" y="2566"/>
              <a:ext cx="721" cy="14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625" y="2581"/>
              <a:ext cx="696" cy="114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9" name="Google Shape;1039;p18"/>
          <p:cNvSpPr/>
          <p:nvPr/>
        </p:nvSpPr>
        <p:spPr>
          <a:xfrm>
            <a:off x="10101242" y="5236056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p18"/>
          <p:cNvGrpSpPr/>
          <p:nvPr/>
        </p:nvGrpSpPr>
        <p:grpSpPr>
          <a:xfrm>
            <a:off x="10164745" y="5231416"/>
            <a:ext cx="69517" cy="19515"/>
            <a:chOff x="615" y="2564"/>
            <a:chExt cx="721" cy="139"/>
          </a:xfrm>
        </p:grpSpPr>
        <p:sp>
          <p:nvSpPr>
            <p:cNvPr id="1041" name="Google Shape;1041;p18"/>
            <p:cNvSpPr/>
            <p:nvPr/>
          </p:nvSpPr>
          <p:spPr>
            <a:xfrm>
              <a:off x="615" y="2564"/>
              <a:ext cx="721" cy="139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628" y="2581"/>
              <a:ext cx="696" cy="10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3" name="Google Shape;1043;p18"/>
          <p:cNvSpPr/>
          <p:nvPr/>
        </p:nvSpPr>
        <p:spPr>
          <a:xfrm>
            <a:off x="10101242" y="5284407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8"/>
          <p:cNvSpPr/>
          <p:nvPr/>
        </p:nvSpPr>
        <p:spPr>
          <a:xfrm>
            <a:off x="10102445" y="5328244"/>
            <a:ext cx="71949" cy="6845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5" name="Google Shape;1045;p18"/>
          <p:cNvGrpSpPr/>
          <p:nvPr/>
        </p:nvGrpSpPr>
        <p:grpSpPr>
          <a:xfrm>
            <a:off x="10163591" y="5327014"/>
            <a:ext cx="69541" cy="19618"/>
            <a:chOff x="618" y="2586"/>
            <a:chExt cx="720" cy="124"/>
          </a:xfrm>
        </p:grpSpPr>
        <p:sp>
          <p:nvSpPr>
            <p:cNvPr id="1046" name="Google Shape;1046;p18"/>
            <p:cNvSpPr/>
            <p:nvPr/>
          </p:nvSpPr>
          <p:spPr>
            <a:xfrm>
              <a:off x="618" y="2586"/>
              <a:ext cx="720" cy="12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630" y="2586"/>
              <a:ext cx="695" cy="10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18"/>
          <p:cNvSpPr/>
          <p:nvPr/>
        </p:nvSpPr>
        <p:spPr>
          <a:xfrm>
            <a:off x="10229740" y="5284407"/>
            <a:ext cx="31643" cy="27380"/>
          </a:xfrm>
          <a:custGeom>
            <a:rect b="b" l="l" r="r" t="t"/>
            <a:pathLst>
              <a:path extrusionOk="0" h="226" w="328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9" name="Google Shape;1049;p18"/>
          <p:cNvGrpSpPr/>
          <p:nvPr/>
        </p:nvGrpSpPr>
        <p:grpSpPr>
          <a:xfrm>
            <a:off x="10163589" y="5280912"/>
            <a:ext cx="70700" cy="19515"/>
            <a:chOff x="613" y="2571"/>
            <a:chExt cx="732" cy="134"/>
          </a:xfrm>
        </p:grpSpPr>
        <p:sp>
          <p:nvSpPr>
            <p:cNvPr id="1050" name="Google Shape;1050;p18"/>
            <p:cNvSpPr/>
            <p:nvPr/>
          </p:nvSpPr>
          <p:spPr>
            <a:xfrm>
              <a:off x="613" y="2571"/>
              <a:ext cx="732" cy="134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8"/>
            <p:cNvSpPr/>
            <p:nvPr/>
          </p:nvSpPr>
          <p:spPr>
            <a:xfrm>
              <a:off x="625" y="2587"/>
              <a:ext cx="720" cy="10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p18"/>
          <p:cNvSpPr/>
          <p:nvPr/>
        </p:nvSpPr>
        <p:spPr>
          <a:xfrm>
            <a:off x="10224686" y="5149694"/>
            <a:ext cx="8422" cy="332778"/>
          </a:xfrm>
          <a:prstGeom prst="rect">
            <a:avLst/>
          </a:prstGeom>
          <a:gradFill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8"/>
          <p:cNvSpPr/>
          <p:nvPr/>
        </p:nvSpPr>
        <p:spPr>
          <a:xfrm>
            <a:off x="10232627" y="5233872"/>
            <a:ext cx="28515" cy="31020"/>
          </a:xfrm>
          <a:custGeom>
            <a:rect b="b" l="l" r="r" t="t"/>
            <a:pathLst>
              <a:path extrusionOk="0" h="256" w="29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18"/>
          <p:cNvSpPr/>
          <p:nvPr/>
        </p:nvSpPr>
        <p:spPr>
          <a:xfrm>
            <a:off x="10232988" y="5186249"/>
            <a:ext cx="29357" cy="34953"/>
          </a:xfrm>
          <a:custGeom>
            <a:rect b="b" l="l" r="r" t="t"/>
            <a:pathLst>
              <a:path extrusionOk="0" h="288" w="304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292929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18"/>
          <p:cNvSpPr/>
          <p:nvPr/>
        </p:nvSpPr>
        <p:spPr>
          <a:xfrm>
            <a:off x="10257051" y="5467472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8"/>
          <p:cNvSpPr/>
          <p:nvPr/>
        </p:nvSpPr>
        <p:spPr>
          <a:xfrm>
            <a:off x="10231424" y="5467909"/>
            <a:ext cx="29477" cy="29127"/>
          </a:xfrm>
          <a:custGeom>
            <a:rect b="b" l="l" r="r" t="t"/>
            <a:pathLst>
              <a:path extrusionOk="0" h="240" w="306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8"/>
          <p:cNvSpPr/>
          <p:nvPr/>
        </p:nvSpPr>
        <p:spPr>
          <a:xfrm>
            <a:off x="10091617" y="5476793"/>
            <a:ext cx="143898" cy="21845"/>
          </a:xfrm>
          <a:prstGeom prst="roundRect">
            <a:avLst>
              <a:gd fmla="val 50000" name="adj"/>
            </a:avLst>
          </a:prstGeom>
          <a:solidFill>
            <a:srgbClr val="DDDDD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8"/>
          <p:cNvSpPr/>
          <p:nvPr/>
        </p:nvSpPr>
        <p:spPr>
          <a:xfrm>
            <a:off x="10100039" y="5482472"/>
            <a:ext cx="128257" cy="11505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dk2"/>
              </a:gs>
              <a:gs pos="100000">
                <a:schemeClr val="lt2"/>
              </a:gs>
            </a:gsLst>
            <a:lin ang="0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8"/>
          <p:cNvSpPr/>
          <p:nvPr/>
        </p:nvSpPr>
        <p:spPr>
          <a:xfrm>
            <a:off x="10111950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8"/>
          <p:cNvSpPr/>
          <p:nvPr/>
        </p:nvSpPr>
        <p:spPr>
          <a:xfrm>
            <a:off x="10133607" y="5434121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8"/>
          <p:cNvSpPr/>
          <p:nvPr/>
        </p:nvSpPr>
        <p:spPr>
          <a:xfrm>
            <a:off x="10153941" y="5434121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8"/>
          <p:cNvSpPr/>
          <p:nvPr/>
        </p:nvSpPr>
        <p:spPr>
          <a:xfrm>
            <a:off x="10203150" y="5354750"/>
            <a:ext cx="9625" cy="110538"/>
          </a:xfrm>
          <a:prstGeom prst="rect">
            <a:avLst/>
          </a:prstGeom>
          <a:solidFill>
            <a:srgbClr val="29292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3" name="Google Shape;1063;p18"/>
          <p:cNvGrpSpPr/>
          <p:nvPr/>
        </p:nvGrpSpPr>
        <p:grpSpPr>
          <a:xfrm flipH="1">
            <a:off x="7847721" y="4794366"/>
            <a:ext cx="345630" cy="320302"/>
            <a:chOff x="2839" y="3501"/>
            <a:chExt cx="755" cy="803"/>
          </a:xfrm>
        </p:grpSpPr>
        <p:pic>
          <p:nvPicPr>
            <p:cNvPr descr="desktop_computer_stylized_medium" id="1064" name="Google Shape;1064;p18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5" name="Google Shape;1065;p18"/>
            <p:cNvSpPr/>
            <p:nvPr/>
          </p:nvSpPr>
          <p:spPr>
            <a:xfrm>
              <a:off x="2916" y="3578"/>
              <a:ext cx="356" cy="368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6" name="Google Shape;1066;p18"/>
          <p:cNvGrpSpPr/>
          <p:nvPr/>
        </p:nvGrpSpPr>
        <p:grpSpPr>
          <a:xfrm>
            <a:off x="7823964" y="1373031"/>
            <a:ext cx="415925" cy="385763"/>
            <a:chOff x="2751" y="1851"/>
            <a:chExt cx="462" cy="478"/>
          </a:xfrm>
        </p:grpSpPr>
        <p:pic>
          <p:nvPicPr>
            <p:cNvPr descr="iphone_stylized_small" id="1067" name="Google Shape;1067;p18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1068" name="Google Shape;1068;p18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9" name="Google Shape;1069;p18"/>
          <p:cNvGrpSpPr/>
          <p:nvPr/>
        </p:nvGrpSpPr>
        <p:grpSpPr>
          <a:xfrm>
            <a:off x="10327730" y="4787257"/>
            <a:ext cx="177192" cy="330833"/>
            <a:chOff x="4140" y="429"/>
            <a:chExt cx="1425" cy="2396"/>
          </a:xfrm>
        </p:grpSpPr>
        <p:sp>
          <p:nvSpPr>
            <p:cNvPr id="1070" name="Google Shape;1070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5" name="Google Shape;1075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076" name="Google Shape;1076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" name="Google Shape;1079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080" name="Google Shape;1080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2" name="Google Shape;1082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4" name="Google Shape;1084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085" name="Google Shape;1085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6" name="Google Shape;1086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87" name="Google Shape;1087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88" name="Google Shape;1088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089" name="Google Shape;1089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91" name="Google Shape;1091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2" name="Google Shape;1102;p18"/>
          <p:cNvGrpSpPr/>
          <p:nvPr/>
        </p:nvGrpSpPr>
        <p:grpSpPr>
          <a:xfrm>
            <a:off x="6645453" y="2199599"/>
            <a:ext cx="1038308" cy="956788"/>
            <a:chOff x="6571713" y="2686293"/>
            <a:chExt cx="1038308" cy="956788"/>
          </a:xfrm>
        </p:grpSpPr>
        <p:sp>
          <p:nvSpPr>
            <p:cNvPr id="1103" name="Google Shape;1103;p18"/>
            <p:cNvSpPr/>
            <p:nvPr/>
          </p:nvSpPr>
          <p:spPr>
            <a:xfrm flipH="1">
              <a:off x="7291095" y="2700162"/>
              <a:ext cx="318926" cy="942919"/>
            </a:xfrm>
            <a:custGeom>
              <a:rect b="b" l="l" r="r" t="t"/>
              <a:pathLst>
                <a:path extrusionOk="0" h="10279" w="10319">
                  <a:moveTo>
                    <a:pt x="2669" y="10279"/>
                  </a:moveTo>
                  <a:lnTo>
                    <a:pt x="0" y="9878"/>
                  </a:lnTo>
                  <a:lnTo>
                    <a:pt x="10319" y="0"/>
                  </a:lnTo>
                  <a:lnTo>
                    <a:pt x="10319" y="8912"/>
                  </a:lnTo>
                  <a:lnTo>
                    <a:pt x="2669" y="10279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4" name="Google Shape;1104;p18"/>
            <p:cNvGrpSpPr/>
            <p:nvPr/>
          </p:nvGrpSpPr>
          <p:grpSpPr>
            <a:xfrm>
              <a:off x="6571713" y="2686293"/>
              <a:ext cx="764135" cy="854075"/>
              <a:chOff x="6571713" y="2686293"/>
              <a:chExt cx="764135" cy="854075"/>
            </a:xfrm>
          </p:grpSpPr>
          <p:sp>
            <p:nvSpPr>
              <p:cNvPr id="1105" name="Google Shape;110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8" name="Google Shape;110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9" name="Google Shape;110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0" name="Google Shape;111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12" name="Google Shape;1112;p18"/>
          <p:cNvGrpSpPr/>
          <p:nvPr/>
        </p:nvGrpSpPr>
        <p:grpSpPr>
          <a:xfrm>
            <a:off x="10275746" y="4871177"/>
            <a:ext cx="970347" cy="854075"/>
            <a:chOff x="10202006" y="5357871"/>
            <a:chExt cx="970347" cy="854075"/>
          </a:xfrm>
        </p:grpSpPr>
        <p:sp>
          <p:nvSpPr>
            <p:cNvPr id="1113" name="Google Shape;1113;p18"/>
            <p:cNvSpPr/>
            <p:nvPr/>
          </p:nvSpPr>
          <p:spPr>
            <a:xfrm>
              <a:off x="10202006" y="5397682"/>
              <a:ext cx="281273" cy="773122"/>
            </a:xfrm>
            <a:custGeom>
              <a:rect b="b" l="l" r="r" t="t"/>
              <a:pathLst>
                <a:path extrusionOk="0" h="10000" w="10001">
                  <a:moveTo>
                    <a:pt x="112" y="7638"/>
                  </a:moveTo>
                  <a:cubicBezTo>
                    <a:pt x="75" y="7370"/>
                    <a:pt x="37" y="7102"/>
                    <a:pt x="0" y="6834"/>
                  </a:cubicBezTo>
                  <a:lnTo>
                    <a:pt x="9647" y="0"/>
                  </a:lnTo>
                  <a:cubicBezTo>
                    <a:pt x="9534" y="4702"/>
                    <a:pt x="10099" y="5298"/>
                    <a:pt x="9986" y="10000"/>
                  </a:cubicBezTo>
                  <a:lnTo>
                    <a:pt x="112" y="7638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18"/>
            <p:cNvGrpSpPr/>
            <p:nvPr/>
          </p:nvGrpSpPr>
          <p:grpSpPr>
            <a:xfrm>
              <a:off x="10408218" y="5357871"/>
              <a:ext cx="764135" cy="854075"/>
              <a:chOff x="6571713" y="2686293"/>
              <a:chExt cx="764135" cy="854075"/>
            </a:xfrm>
          </p:grpSpPr>
          <p:sp>
            <p:nvSpPr>
              <p:cNvPr id="1115" name="Google Shape;1115;p18"/>
              <p:cNvSpPr/>
              <p:nvPr/>
            </p:nvSpPr>
            <p:spPr>
              <a:xfrm>
                <a:off x="6641713" y="2722275"/>
                <a:ext cx="647951" cy="777228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7F7F7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18"/>
              <p:cNvSpPr/>
              <p:nvPr/>
            </p:nvSpPr>
            <p:spPr>
              <a:xfrm>
                <a:off x="6642457" y="3037370"/>
                <a:ext cx="648594" cy="158772"/>
              </a:xfrm>
              <a:prstGeom prst="rect">
                <a:avLst/>
              </a:prstGeom>
              <a:solidFill>
                <a:srgbClr val="CC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18"/>
              <p:cNvSpPr txBox="1"/>
              <p:nvPr/>
            </p:nvSpPr>
            <p:spPr>
              <a:xfrm>
                <a:off x="6571713" y="2686293"/>
                <a:ext cx="764135" cy="854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application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transport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Calibri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physical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8" name="Google Shape;1118;p18"/>
              <p:cNvCxnSpPr/>
              <p:nvPr/>
            </p:nvCxnSpPr>
            <p:spPr>
              <a:xfrm>
                <a:off x="6638631" y="289132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9" name="Google Shape;1119;p18"/>
              <p:cNvCxnSpPr/>
              <p:nvPr/>
            </p:nvCxnSpPr>
            <p:spPr>
              <a:xfrm>
                <a:off x="6638631" y="304054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0" name="Google Shape;1120;p18"/>
              <p:cNvCxnSpPr/>
              <p:nvPr/>
            </p:nvCxnSpPr>
            <p:spPr>
              <a:xfrm>
                <a:off x="6638631" y="3189770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18"/>
              <p:cNvCxnSpPr/>
              <p:nvPr/>
            </p:nvCxnSpPr>
            <p:spPr>
              <a:xfrm>
                <a:off x="6638631" y="3338995"/>
                <a:ext cx="646461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122" name="Google Shape;1122;p18"/>
          <p:cNvGrpSpPr/>
          <p:nvPr/>
        </p:nvGrpSpPr>
        <p:grpSpPr>
          <a:xfrm>
            <a:off x="10076248" y="5129706"/>
            <a:ext cx="214974" cy="403920"/>
            <a:chOff x="4140" y="429"/>
            <a:chExt cx="1425" cy="2396"/>
          </a:xfrm>
        </p:grpSpPr>
        <p:sp>
          <p:nvSpPr>
            <p:cNvPr id="1123" name="Google Shape;1123;p1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8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8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8" name="Google Shape;1128;p18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29" name="Google Shape;1129;p18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18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1" name="Google Shape;1131;p18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" name="Google Shape;1132;p18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33" name="Google Shape;1133;p18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18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35" name="Google Shape;1135;p18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8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7" name="Google Shape;1137;p18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38" name="Google Shape;1138;p18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18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0" name="Google Shape;1140;p1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1" name="Google Shape;1141;p18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42" name="Google Shape;1142;p18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18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4" name="Google Shape;1144;p18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8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8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8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8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8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8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8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5" name="Google Shape;1155;p18"/>
          <p:cNvGrpSpPr/>
          <p:nvPr/>
        </p:nvGrpSpPr>
        <p:grpSpPr>
          <a:xfrm>
            <a:off x="9172528" y="3469930"/>
            <a:ext cx="367224" cy="240304"/>
            <a:chOff x="7493876" y="2774731"/>
            <a:chExt cx="1481958" cy="894622"/>
          </a:xfrm>
        </p:grpSpPr>
        <p:sp>
          <p:nvSpPr>
            <p:cNvPr id="1156" name="Google Shape;1156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57" name="Google Shape;1157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58" name="Google Shape;1158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59" name="Google Shape;1159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3" name="Google Shape;1163;p18"/>
          <p:cNvGrpSpPr/>
          <p:nvPr/>
        </p:nvGrpSpPr>
        <p:grpSpPr>
          <a:xfrm>
            <a:off x="9675294" y="3513069"/>
            <a:ext cx="367224" cy="240304"/>
            <a:chOff x="7493876" y="2774731"/>
            <a:chExt cx="1481958" cy="894622"/>
          </a:xfrm>
        </p:grpSpPr>
        <p:sp>
          <p:nvSpPr>
            <p:cNvPr id="1164" name="Google Shape;1164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65" name="Google Shape;1165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66" name="Google Shape;1166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67" name="Google Shape;1167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8" name="Google Shape;1168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9" name="Google Shape;1169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0" name="Google Shape;1170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1" name="Google Shape;1171;p18"/>
          <p:cNvGrpSpPr/>
          <p:nvPr/>
        </p:nvGrpSpPr>
        <p:grpSpPr>
          <a:xfrm>
            <a:off x="8123810" y="3479300"/>
            <a:ext cx="354986" cy="175668"/>
            <a:chOff x="7493876" y="2774731"/>
            <a:chExt cx="1481958" cy="894622"/>
          </a:xfrm>
        </p:grpSpPr>
        <p:sp>
          <p:nvSpPr>
            <p:cNvPr id="1172" name="Google Shape;1172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73" name="Google Shape;1173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74" name="Google Shape;1174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75" name="Google Shape;1175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9" name="Google Shape;1179;p18"/>
          <p:cNvGrpSpPr/>
          <p:nvPr/>
        </p:nvGrpSpPr>
        <p:grpSpPr>
          <a:xfrm>
            <a:off x="9321633" y="4288992"/>
            <a:ext cx="393760" cy="218578"/>
            <a:chOff x="7493876" y="2774731"/>
            <a:chExt cx="1481958" cy="894622"/>
          </a:xfrm>
        </p:grpSpPr>
        <p:sp>
          <p:nvSpPr>
            <p:cNvPr id="1180" name="Google Shape;1180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81" name="Google Shape;1181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82" name="Google Shape;1182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83" name="Google Shape;1183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87" name="Google Shape;1187;p18"/>
          <p:cNvGrpSpPr/>
          <p:nvPr/>
        </p:nvGrpSpPr>
        <p:grpSpPr>
          <a:xfrm>
            <a:off x="7848738" y="2976754"/>
            <a:ext cx="3007624" cy="1690703"/>
            <a:chOff x="7774998" y="3463448"/>
            <a:chExt cx="3007624" cy="1690703"/>
          </a:xfrm>
        </p:grpSpPr>
        <p:grpSp>
          <p:nvGrpSpPr>
            <p:cNvPr id="1188" name="Google Shape;1188;p18"/>
            <p:cNvGrpSpPr/>
            <p:nvPr/>
          </p:nvGrpSpPr>
          <p:grpSpPr>
            <a:xfrm>
              <a:off x="7774998" y="4090572"/>
              <a:ext cx="571917" cy="577694"/>
              <a:chOff x="7774998" y="4090572"/>
              <a:chExt cx="571917" cy="577694"/>
            </a:xfrm>
          </p:grpSpPr>
          <p:sp>
            <p:nvSpPr>
              <p:cNvPr id="1189" name="Google Shape;1189;p18"/>
              <p:cNvSpPr/>
              <p:nvPr/>
            </p:nvSpPr>
            <p:spPr>
              <a:xfrm rot="10800000">
                <a:off x="7818844" y="4090572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0" name="Google Shape;1190;p18"/>
              <p:cNvGrpSpPr/>
              <p:nvPr/>
            </p:nvGrpSpPr>
            <p:grpSpPr>
              <a:xfrm>
                <a:off x="7774998" y="4206600"/>
                <a:ext cx="571917" cy="461666"/>
                <a:chOff x="9980560" y="726571"/>
                <a:chExt cx="659732" cy="461666"/>
              </a:xfrm>
            </p:grpSpPr>
            <p:sp>
              <p:nvSpPr>
                <p:cNvPr id="1191" name="Google Shape;1191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2" name="Google Shape;1192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194" name="Google Shape;1194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195" name="Google Shape;1195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196" name="Google Shape;1196;p18"/>
            <p:cNvGrpSpPr/>
            <p:nvPr/>
          </p:nvGrpSpPr>
          <p:grpSpPr>
            <a:xfrm>
              <a:off x="8692628" y="3463448"/>
              <a:ext cx="571917" cy="574365"/>
              <a:chOff x="8692628" y="3463448"/>
              <a:chExt cx="571917" cy="574365"/>
            </a:xfrm>
          </p:grpSpPr>
          <p:sp>
            <p:nvSpPr>
              <p:cNvPr id="1197" name="Google Shape;1197;p18"/>
              <p:cNvSpPr/>
              <p:nvPr/>
            </p:nvSpPr>
            <p:spPr>
              <a:xfrm flipH="1">
                <a:off x="8735937" y="3883244"/>
                <a:ext cx="487903" cy="154569"/>
              </a:xfrm>
              <a:custGeom>
                <a:rect b="b" l="l" r="r" t="t"/>
                <a:pathLst>
                  <a:path extrusionOk="0" h="10000" w="14245">
                    <a:moveTo>
                      <a:pt x="3097" y="10000"/>
                    </a:moveTo>
                    <a:lnTo>
                      <a:pt x="689" y="7620"/>
                    </a:lnTo>
                    <a:cubicBezTo>
                      <a:pt x="459" y="5080"/>
                      <a:pt x="230" y="2540"/>
                      <a:pt x="0" y="0"/>
                    </a:cubicBezTo>
                    <a:lnTo>
                      <a:pt x="14245" y="633"/>
                    </a:lnTo>
                    <a:lnTo>
                      <a:pt x="3097" y="1000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8" name="Google Shape;1198;p18"/>
              <p:cNvGrpSpPr/>
              <p:nvPr/>
            </p:nvGrpSpPr>
            <p:grpSpPr>
              <a:xfrm>
                <a:off x="8692628" y="3463448"/>
                <a:ext cx="571917" cy="461666"/>
                <a:chOff x="9980560" y="726571"/>
                <a:chExt cx="659732" cy="461666"/>
              </a:xfrm>
            </p:grpSpPr>
            <p:sp>
              <p:nvSpPr>
                <p:cNvPr id="1199" name="Google Shape;1199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0" name="Google Shape;1200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1" name="Google Shape;1201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02" name="Google Shape;1202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03" name="Google Shape;1203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04" name="Google Shape;1204;p18"/>
            <p:cNvGrpSpPr/>
            <p:nvPr/>
          </p:nvGrpSpPr>
          <p:grpSpPr>
            <a:xfrm>
              <a:off x="9846130" y="3502221"/>
              <a:ext cx="571917" cy="607211"/>
              <a:chOff x="9846130" y="3502221"/>
              <a:chExt cx="571917" cy="607211"/>
            </a:xfrm>
          </p:grpSpPr>
          <p:sp>
            <p:nvSpPr>
              <p:cNvPr id="1205" name="Google Shape;1205;p18"/>
              <p:cNvSpPr/>
              <p:nvPr/>
            </p:nvSpPr>
            <p:spPr>
              <a:xfrm>
                <a:off x="9904716" y="3925785"/>
                <a:ext cx="466702" cy="183647"/>
              </a:xfrm>
              <a:custGeom>
                <a:rect b="b" l="l" r="r" t="t"/>
                <a:pathLst>
                  <a:path extrusionOk="0" h="12676" w="10000">
                    <a:moveTo>
                      <a:pt x="1334" y="12676"/>
                    </a:moveTo>
                    <a:lnTo>
                      <a:pt x="51" y="7461"/>
                    </a:ln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1334" y="12676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6" name="Google Shape;1206;p18"/>
              <p:cNvGrpSpPr/>
              <p:nvPr/>
            </p:nvGrpSpPr>
            <p:grpSpPr>
              <a:xfrm>
                <a:off x="9846130" y="3502221"/>
                <a:ext cx="571917" cy="461666"/>
                <a:chOff x="9980560" y="726571"/>
                <a:chExt cx="659732" cy="461666"/>
              </a:xfrm>
            </p:grpSpPr>
            <p:sp>
              <p:nvSpPr>
                <p:cNvPr id="1207" name="Google Shape;1207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8" name="Google Shape;1208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0" name="Google Shape;1210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1" name="Google Shape;1211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12" name="Google Shape;1212;p18"/>
            <p:cNvGrpSpPr/>
            <p:nvPr/>
          </p:nvGrpSpPr>
          <p:grpSpPr>
            <a:xfrm>
              <a:off x="9554792" y="4299763"/>
              <a:ext cx="571917" cy="630904"/>
              <a:chOff x="9554792" y="4299763"/>
              <a:chExt cx="571917" cy="630904"/>
            </a:xfrm>
          </p:grpSpPr>
          <p:sp>
            <p:nvSpPr>
              <p:cNvPr id="1213" name="Google Shape;1213;p18"/>
              <p:cNvSpPr/>
              <p:nvPr/>
            </p:nvSpPr>
            <p:spPr>
              <a:xfrm>
                <a:off x="9598301" y="4724405"/>
                <a:ext cx="466702" cy="206262"/>
              </a:xfrm>
              <a:custGeom>
                <a:rect b="b" l="l" r="r" t="t"/>
                <a:pathLst>
                  <a:path extrusionOk="0" h="14237" w="10000">
                    <a:moveTo>
                      <a:pt x="434" y="14237"/>
                    </a:moveTo>
                    <a:cubicBezTo>
                      <a:pt x="306" y="11978"/>
                      <a:pt x="179" y="9720"/>
                      <a:pt x="51" y="7461"/>
                    </a:cubicBezTo>
                    <a:cubicBezTo>
                      <a:pt x="-117" y="4751"/>
                      <a:pt x="199" y="2710"/>
                      <a:pt x="30" y="0"/>
                    </a:cubicBezTo>
                    <a:lnTo>
                      <a:pt x="10000" y="6"/>
                    </a:lnTo>
                    <a:lnTo>
                      <a:pt x="434" y="14237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4" name="Google Shape;1214;p18"/>
              <p:cNvGrpSpPr/>
              <p:nvPr/>
            </p:nvGrpSpPr>
            <p:grpSpPr>
              <a:xfrm>
                <a:off x="9554792" y="4299763"/>
                <a:ext cx="571917" cy="461666"/>
                <a:chOff x="9980560" y="726571"/>
                <a:chExt cx="659732" cy="461666"/>
              </a:xfrm>
            </p:grpSpPr>
            <p:sp>
              <p:nvSpPr>
                <p:cNvPr id="1215" name="Google Shape;1215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16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17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18" name="Google Shape;1218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19" name="Google Shape;1219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220" name="Google Shape;1220;p18"/>
            <p:cNvGrpSpPr/>
            <p:nvPr/>
          </p:nvGrpSpPr>
          <p:grpSpPr>
            <a:xfrm>
              <a:off x="10153753" y="4577638"/>
              <a:ext cx="628869" cy="576513"/>
              <a:chOff x="10153753" y="4577638"/>
              <a:chExt cx="628869" cy="576513"/>
            </a:xfrm>
          </p:grpSpPr>
          <p:sp>
            <p:nvSpPr>
              <p:cNvPr id="1221" name="Google Shape;1221;p18"/>
              <p:cNvSpPr/>
              <p:nvPr/>
            </p:nvSpPr>
            <p:spPr>
              <a:xfrm>
                <a:off x="10153753" y="5002899"/>
                <a:ext cx="590332" cy="151252"/>
              </a:xfrm>
              <a:custGeom>
                <a:rect b="b" l="l" r="r" t="t"/>
                <a:pathLst>
                  <a:path extrusionOk="0" h="10440" w="12649">
                    <a:moveTo>
                      <a:pt x="175" y="10440"/>
                    </a:moveTo>
                    <a:cubicBezTo>
                      <a:pt x="47" y="8181"/>
                      <a:pt x="128" y="9045"/>
                      <a:pt x="0" y="6786"/>
                    </a:cubicBezTo>
                    <a:cubicBezTo>
                      <a:pt x="1563" y="2515"/>
                      <a:pt x="1463" y="3373"/>
                      <a:pt x="2263" y="217"/>
                    </a:cubicBezTo>
                    <a:lnTo>
                      <a:pt x="12649" y="0"/>
                    </a:lnTo>
                    <a:lnTo>
                      <a:pt x="175" y="1044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99000">
                    <a:srgbClr val="BFBFBF"/>
                  </a:gs>
                  <a:gs pos="100000">
                    <a:srgbClr val="BFBFB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22" name="Google Shape;1222;p18"/>
              <p:cNvGrpSpPr/>
              <p:nvPr/>
            </p:nvGrpSpPr>
            <p:grpSpPr>
              <a:xfrm>
                <a:off x="10210705" y="4577638"/>
                <a:ext cx="571917" cy="461666"/>
                <a:chOff x="9980560" y="726571"/>
                <a:chExt cx="659732" cy="461666"/>
              </a:xfrm>
            </p:grpSpPr>
            <p:sp>
              <p:nvSpPr>
                <p:cNvPr id="1223" name="Google Shape;1223;p18"/>
                <p:cNvSpPr/>
                <p:nvPr/>
              </p:nvSpPr>
              <p:spPr>
                <a:xfrm>
                  <a:off x="10040996" y="761446"/>
                  <a:ext cx="559422" cy="389036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tl" dir="2700000" dist="38100">
                    <a:srgbClr val="7F7F7F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4" name="Google Shape;1224;p18"/>
                <p:cNvSpPr/>
                <p:nvPr/>
              </p:nvSpPr>
              <p:spPr>
                <a:xfrm>
                  <a:off x="10041638" y="769755"/>
                  <a:ext cx="559977" cy="130804"/>
                </a:xfrm>
                <a:prstGeom prst="rect">
                  <a:avLst/>
                </a:prstGeom>
                <a:solidFill>
                  <a:srgbClr val="CC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5" name="Google Shape;1225;p18"/>
                <p:cNvSpPr txBox="1"/>
                <p:nvPr/>
              </p:nvSpPr>
              <p:spPr>
                <a:xfrm>
                  <a:off x="9980560" y="726571"/>
                  <a:ext cx="659732" cy="461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network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link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Calibri"/>
                    <a:buNone/>
                  </a:pPr>
                  <a:r>
                    <a:rPr b="0" i="0" lang="en-US" sz="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physical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226" name="Google Shape;1226;p18"/>
                <p:cNvCxnSpPr/>
                <p:nvPr/>
              </p:nvCxnSpPr>
              <p:spPr>
                <a:xfrm>
                  <a:off x="10038335" y="895309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1227" name="Google Shape;1227;p18"/>
                <p:cNvCxnSpPr/>
                <p:nvPr/>
              </p:nvCxnSpPr>
              <p:spPr>
                <a:xfrm>
                  <a:off x="10038335" y="1018248"/>
                  <a:ext cx="55813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1228" name="Google Shape;1228;p18"/>
          <p:cNvGrpSpPr/>
          <p:nvPr/>
        </p:nvGrpSpPr>
        <p:grpSpPr>
          <a:xfrm>
            <a:off x="9857298" y="4503289"/>
            <a:ext cx="393760" cy="218578"/>
            <a:chOff x="7493876" y="2774731"/>
            <a:chExt cx="1481958" cy="894622"/>
          </a:xfrm>
        </p:grpSpPr>
        <p:sp>
          <p:nvSpPr>
            <p:cNvPr id="1229" name="Google Shape;1229;p1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230" name="Google Shape;1230;p1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231" name="Google Shape;1231;p1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2" name="Google Shape;1232;p1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1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1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1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36" name="Google Shape;1236;p18"/>
          <p:cNvSpPr/>
          <p:nvPr/>
        </p:nvSpPr>
        <p:spPr>
          <a:xfrm>
            <a:off x="7362436" y="2627566"/>
            <a:ext cx="3064097" cy="2683755"/>
          </a:xfrm>
          <a:custGeom>
            <a:rect b="b" l="l" r="r" t="t"/>
            <a:pathLst>
              <a:path extrusionOk="0" h="2683755" w="3064097">
                <a:moveTo>
                  <a:pt x="0" y="0"/>
                </a:moveTo>
                <a:lnTo>
                  <a:pt x="980661" y="1007165"/>
                </a:lnTo>
                <a:lnTo>
                  <a:pt x="2014330" y="1011756"/>
                </a:lnTo>
                <a:lnTo>
                  <a:pt x="2478156" y="1007165"/>
                </a:lnTo>
                <a:lnTo>
                  <a:pt x="2054087" y="1709530"/>
                </a:lnTo>
                <a:lnTo>
                  <a:pt x="2753026" y="2050143"/>
                </a:lnTo>
                <a:lnTo>
                  <a:pt x="2769703" y="2675452"/>
                </a:lnTo>
                <a:cubicBezTo>
                  <a:pt x="2903519" y="2686485"/>
                  <a:pt x="2930284" y="2684136"/>
                  <a:pt x="3064097" y="2681787"/>
                </a:cubicBezTo>
              </a:path>
            </a:pathLst>
          </a:cu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9"/>
          <p:cNvSpPr txBox="1"/>
          <p:nvPr>
            <p:ph type="title"/>
          </p:nvPr>
        </p:nvSpPr>
        <p:spPr>
          <a:xfrm>
            <a:off x="838200" y="348585"/>
            <a:ext cx="686045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Graph abstraction: link costs</a:t>
            </a:r>
            <a:endParaRPr/>
          </a:p>
        </p:txBody>
      </p:sp>
      <p:sp>
        <p:nvSpPr>
          <p:cNvPr id="1244" name="Google Shape;1244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5" name="Google Shape;1245;p19"/>
          <p:cNvGrpSpPr/>
          <p:nvPr/>
        </p:nvGrpSpPr>
        <p:grpSpPr>
          <a:xfrm>
            <a:off x="1238864" y="1288538"/>
            <a:ext cx="3571875" cy="2236788"/>
            <a:chOff x="3162" y="1071"/>
            <a:chExt cx="2250" cy="1409"/>
          </a:xfrm>
        </p:grpSpPr>
        <p:sp>
          <p:nvSpPr>
            <p:cNvPr id="1246" name="Google Shape;1246;p19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19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19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49" name="Google Shape;1249;p19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19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19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9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19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4" name="Google Shape;1254;p19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5" name="Google Shape;1255;p19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6" name="Google Shape;1256;p19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9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9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9" name="Google Shape;1259;p19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0" name="Google Shape;1260;p19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1" name="Google Shape;1261;p19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9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9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4" name="Google Shape;1264;p19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5" name="Google Shape;1265;p19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66" name="Google Shape;1266;p19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9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9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69" name="Google Shape;1269;p19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0" name="Google Shape;1270;p19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1" name="Google Shape;1271;p19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9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9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74" name="Google Shape;1274;p19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5" name="Google Shape;1275;p19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6" name="Google Shape;1276;p19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9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9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9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9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9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9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9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9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9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9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9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288" name="Google Shape;1288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9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0" name="Google Shape;1290;p19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291" name="Google Shape;1291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3" name="Google Shape;1293;p19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294" name="Google Shape;1294;p1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9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296" name="Google Shape;1296;p19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297" name="Google Shape;1297;p19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9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9" name="Google Shape;1299;p19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300" name="Google Shape;1300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9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2" name="Google Shape;1302;p19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303" name="Google Shape;1303;p19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9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305" name="Google Shape;1305;p19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19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19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19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19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19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19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9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9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9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5" name="Google Shape;1315;p19"/>
          <p:cNvSpPr txBox="1"/>
          <p:nvPr/>
        </p:nvSpPr>
        <p:spPr>
          <a:xfrm>
            <a:off x="1411748" y="3898081"/>
            <a:ext cx="248080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graph: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 = (N,E)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19"/>
          <p:cNvSpPr txBox="1"/>
          <p:nvPr/>
        </p:nvSpPr>
        <p:spPr>
          <a:xfrm>
            <a:off x="5456905" y="1415845"/>
            <a:ext cx="588460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baseline="-25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of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direct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link connecting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8016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defined by network operator: could always be 1, or inversely related to bandwidth, or inversely related to congestion</a:t>
            </a:r>
            <a:endParaRPr/>
          </a:p>
        </p:txBody>
      </p:sp>
      <p:sp>
        <p:nvSpPr>
          <p:cNvPr id="1317" name="Google Shape;1317;p19"/>
          <p:cNvSpPr txBox="1"/>
          <p:nvPr/>
        </p:nvSpPr>
        <p:spPr>
          <a:xfrm>
            <a:off x="1638300" y="4537178"/>
            <a:ext cx="511447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routers = {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 v, w, x, y, z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318" name="Google Shape;1318;p19"/>
          <p:cNvSpPr txBox="1"/>
          <p:nvPr/>
        </p:nvSpPr>
        <p:spPr>
          <a:xfrm>
            <a:off x="1638300" y="5106769"/>
            <a:ext cx="100759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of links =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r>
              <a:rPr b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u,v), (u,x), (v,x), (v,w), (x,w), (x,y), (w,y), (w,z), (y,z</a:t>
            </a:r>
            <a:r>
              <a:rPr b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0" sz="2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20"/>
          <p:cNvSpPr txBox="1"/>
          <p:nvPr>
            <p:ph type="title"/>
          </p:nvPr>
        </p:nvSpPr>
        <p:spPr>
          <a:xfrm>
            <a:off x="838200" y="348585"/>
            <a:ext cx="832054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Routing algorithm classification</a:t>
            </a:r>
            <a:endParaRPr/>
          </a:p>
        </p:txBody>
      </p:sp>
      <p:sp>
        <p:nvSpPr>
          <p:cNvPr id="1325" name="Google Shape;1325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6" name="Google Shape;1326;p20"/>
          <p:cNvCxnSpPr/>
          <p:nvPr/>
        </p:nvCxnSpPr>
        <p:spPr>
          <a:xfrm>
            <a:off x="6091084" y="1312606"/>
            <a:ext cx="0" cy="5043948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27" name="Google Shape;1327;p20"/>
          <p:cNvCxnSpPr/>
          <p:nvPr/>
        </p:nvCxnSpPr>
        <p:spPr>
          <a:xfrm rot="10800000">
            <a:off x="235974" y="3441290"/>
            <a:ext cx="11665974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28" name="Google Shape;1328;p20"/>
          <p:cNvSpPr txBox="1"/>
          <p:nvPr/>
        </p:nvSpPr>
        <p:spPr>
          <a:xfrm>
            <a:off x="4542504" y="6312310"/>
            <a:ext cx="35812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or decentralized information?</a:t>
            </a:r>
            <a:endParaRPr/>
          </a:p>
        </p:txBody>
      </p:sp>
      <p:grpSp>
        <p:nvGrpSpPr>
          <p:cNvPr id="1329" name="Google Shape;1329;p20"/>
          <p:cNvGrpSpPr/>
          <p:nvPr/>
        </p:nvGrpSpPr>
        <p:grpSpPr>
          <a:xfrm>
            <a:off x="3996813" y="1474838"/>
            <a:ext cx="4513007" cy="1209368"/>
            <a:chOff x="3996813" y="1474838"/>
            <a:chExt cx="4513007" cy="1209368"/>
          </a:xfrm>
        </p:grpSpPr>
        <p:sp>
          <p:nvSpPr>
            <p:cNvPr id="1330" name="Google Shape;1330;p20"/>
            <p:cNvSpPr/>
            <p:nvPr/>
          </p:nvSpPr>
          <p:spPr>
            <a:xfrm>
              <a:off x="5987845" y="1519084"/>
              <a:ext cx="221226" cy="116512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20"/>
            <p:cNvSpPr txBox="1"/>
            <p:nvPr/>
          </p:nvSpPr>
          <p:spPr>
            <a:xfrm>
              <a:off x="3996813" y="1474838"/>
              <a:ext cx="451300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global: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routers have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complete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topology, link cost info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“link state”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400"/>
                <a:buFont typeface="Noto Sans Symbols"/>
                <a:buNone/>
              </a:pPr>
              <a:r>
                <a:t/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332" name="Google Shape;1332;p20"/>
          <p:cNvGrpSpPr/>
          <p:nvPr/>
        </p:nvGrpSpPr>
        <p:grpSpPr>
          <a:xfrm>
            <a:off x="3465869" y="4326195"/>
            <a:ext cx="6179575" cy="2458065"/>
            <a:chOff x="3465869" y="4326195"/>
            <a:chExt cx="6179575" cy="2458065"/>
          </a:xfrm>
        </p:grpSpPr>
        <p:sp>
          <p:nvSpPr>
            <p:cNvPr id="1333" name="Google Shape;1333;p20"/>
            <p:cNvSpPr/>
            <p:nvPr/>
          </p:nvSpPr>
          <p:spPr>
            <a:xfrm>
              <a:off x="6002594" y="4365523"/>
              <a:ext cx="147483" cy="179930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20"/>
            <p:cNvSpPr txBox="1"/>
            <p:nvPr/>
          </p:nvSpPr>
          <p:spPr>
            <a:xfrm>
              <a:off x="3465869" y="4326195"/>
              <a:ext cx="6179575" cy="2458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decentralized: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iterative process of computation, exchange of info with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routers initially only know link costs to attached neighbors</a:t>
              </a:r>
              <a:endParaRPr/>
            </a:p>
            <a:p>
              <a:pPr indent="-233362" lvl="0" marL="407988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lang="en-US" sz="24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“distance vector”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algorithms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5" name="Google Shape;1335;p20"/>
          <p:cNvSpPr txBox="1"/>
          <p:nvPr/>
        </p:nvSpPr>
        <p:spPr>
          <a:xfrm>
            <a:off x="250724" y="2823539"/>
            <a:ext cx="12536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fast do routes change?</a:t>
            </a:r>
            <a:endParaRPr/>
          </a:p>
        </p:txBody>
      </p:sp>
      <p:sp>
        <p:nvSpPr>
          <p:cNvPr id="1336" name="Google Shape;1336;p20"/>
          <p:cNvSpPr/>
          <p:nvPr/>
        </p:nvSpPr>
        <p:spPr>
          <a:xfrm>
            <a:off x="10171471" y="1184788"/>
            <a:ext cx="176981" cy="10323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7" name="Google Shape;1337;p20"/>
          <p:cNvGrpSpPr/>
          <p:nvPr/>
        </p:nvGrpSpPr>
        <p:grpSpPr>
          <a:xfrm>
            <a:off x="8740391" y="2620951"/>
            <a:ext cx="3451609" cy="2373608"/>
            <a:chOff x="8740391" y="2620951"/>
            <a:chExt cx="3451609" cy="2373608"/>
          </a:xfrm>
        </p:grpSpPr>
        <p:sp>
          <p:nvSpPr>
            <p:cNvPr id="1338" name="Google Shape;1338;p20"/>
            <p:cNvSpPr/>
            <p:nvPr/>
          </p:nvSpPr>
          <p:spPr>
            <a:xfrm>
              <a:off x="8922775" y="3314699"/>
              <a:ext cx="2580968" cy="2101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20"/>
            <p:cNvSpPr txBox="1"/>
            <p:nvPr/>
          </p:nvSpPr>
          <p:spPr>
            <a:xfrm>
              <a:off x="8740391" y="2620951"/>
              <a:ext cx="3451609" cy="237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57150" lvl="0" marL="571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dynamic</a:t>
              </a:r>
              <a:r>
                <a:rPr i="1" lang="en-US" sz="24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more quickly</a:t>
              </a:r>
              <a:endParaRPr/>
            </a:p>
            <a:p>
              <a:pPr indent="-233362" lvl="1" marL="349250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periodic updates or in response to link cost changes</a:t>
              </a:r>
              <a:endParaRPr/>
            </a:p>
          </p:txBody>
        </p:sp>
      </p:grpSp>
      <p:grpSp>
        <p:nvGrpSpPr>
          <p:cNvPr id="1340" name="Google Shape;1340;p20"/>
          <p:cNvGrpSpPr/>
          <p:nvPr/>
        </p:nvGrpSpPr>
        <p:grpSpPr>
          <a:xfrm>
            <a:off x="1313787" y="3013586"/>
            <a:ext cx="3022237" cy="1209367"/>
            <a:chOff x="1313787" y="3013586"/>
            <a:chExt cx="3022237" cy="1209367"/>
          </a:xfrm>
        </p:grpSpPr>
        <p:sp>
          <p:nvSpPr>
            <p:cNvPr id="1341" name="Google Shape;1341;p20"/>
            <p:cNvSpPr/>
            <p:nvPr/>
          </p:nvSpPr>
          <p:spPr>
            <a:xfrm>
              <a:off x="1465006" y="3314699"/>
              <a:ext cx="2531807" cy="22491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20"/>
            <p:cNvSpPr txBox="1"/>
            <p:nvPr/>
          </p:nvSpPr>
          <p:spPr>
            <a:xfrm>
              <a:off x="1313787" y="3013586"/>
              <a:ext cx="3022237" cy="12093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0" lvl="0" marL="1301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static: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routes change slowly over time</a:t>
              </a:r>
              <a:endParaRPr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sp>
        <p:nvSpPr>
          <p:cNvPr id="1343" name="Google Shape;1343;p20"/>
          <p:cNvSpPr/>
          <p:nvPr/>
        </p:nvSpPr>
        <p:spPr>
          <a:xfrm>
            <a:off x="4365523" y="2064775"/>
            <a:ext cx="1622322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20"/>
          <p:cNvSpPr/>
          <p:nvPr/>
        </p:nvSpPr>
        <p:spPr>
          <a:xfrm>
            <a:off x="3883742" y="5624052"/>
            <a:ext cx="2281083" cy="737419"/>
          </a:xfrm>
          <a:prstGeom prst="ellipse">
            <a:avLst/>
          </a:prstGeom>
          <a:noFill/>
          <a:ln cap="flat" cmpd="sng" w="317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351" name="Google Shape;13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2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22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61" name="Google Shape;1361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22"/>
          <p:cNvSpPr txBox="1"/>
          <p:nvPr/>
        </p:nvSpPr>
        <p:spPr>
          <a:xfrm>
            <a:off x="750989" y="1541236"/>
            <a:ext cx="5708805" cy="490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centralized: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topology, link costs known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accomplished via “link state broadcast”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same info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least cost paths from one node (“source”) to all other nodes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gives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forwarding table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that node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iterative: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iterations, know least cost path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destinations</a:t>
            </a:r>
            <a:endParaRPr/>
          </a:p>
        </p:txBody>
      </p:sp>
      <p:grpSp>
        <p:nvGrpSpPr>
          <p:cNvPr id="1363" name="Google Shape;1363;p22"/>
          <p:cNvGrpSpPr/>
          <p:nvPr/>
        </p:nvGrpSpPr>
        <p:grpSpPr>
          <a:xfrm>
            <a:off x="7315200" y="1524000"/>
            <a:ext cx="4441371" cy="4882184"/>
            <a:chOff x="7315200" y="1524000"/>
            <a:chExt cx="4441371" cy="4882184"/>
          </a:xfrm>
        </p:grpSpPr>
        <p:sp>
          <p:nvSpPr>
            <p:cNvPr id="1364" name="Google Shape;1364;p22"/>
            <p:cNvSpPr txBox="1"/>
            <p:nvPr/>
          </p:nvSpPr>
          <p:spPr>
            <a:xfrm>
              <a:off x="7387774" y="2168014"/>
              <a:ext cx="4310742" cy="4238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73050" lvl="0" marL="403225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baseline="-25000"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x,y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 u="sng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link cost from node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;  = ∞ if not direct neighbors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current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estimate of cost of least-cost-path from source to destination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p(v):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predecessor node along path from source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  <a:p>
              <a:pPr indent="-273050" lvl="0" marL="403225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N':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 of nodes whose least-cost-path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definitively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known</a:t>
              </a:r>
              <a:endParaRPr/>
            </a:p>
            <a:p>
              <a:pPr indent="-44450" lvl="0" marL="352425" marR="0" rtl="0" algn="l">
                <a:lnSpc>
                  <a:spcPct val="75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65" name="Google Shape;1365;p22"/>
            <p:cNvSpPr/>
            <p:nvPr/>
          </p:nvSpPr>
          <p:spPr>
            <a:xfrm>
              <a:off x="7315200" y="1828800"/>
              <a:ext cx="4441371" cy="4339771"/>
            </a:xfrm>
            <a:prstGeom prst="rect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22"/>
            <p:cNvSpPr txBox="1"/>
            <p:nvPr/>
          </p:nvSpPr>
          <p:spPr>
            <a:xfrm>
              <a:off x="7823199" y="1524000"/>
              <a:ext cx="1608967" cy="5847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notation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23"/>
          <p:cNvGrpSpPr/>
          <p:nvPr/>
        </p:nvGrpSpPr>
        <p:grpSpPr>
          <a:xfrm>
            <a:off x="1088571" y="3643090"/>
            <a:ext cx="1669144" cy="2786743"/>
            <a:chOff x="391885" y="3599543"/>
            <a:chExt cx="1669144" cy="2786743"/>
          </a:xfrm>
        </p:grpSpPr>
        <p:sp>
          <p:nvSpPr>
            <p:cNvPr id="1373" name="Google Shape;1373;p23"/>
            <p:cNvSpPr/>
            <p:nvPr/>
          </p:nvSpPr>
          <p:spPr>
            <a:xfrm>
              <a:off x="391885" y="3599543"/>
              <a:ext cx="1480458" cy="2786743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23"/>
            <p:cNvSpPr/>
            <p:nvPr/>
          </p:nvSpPr>
          <p:spPr>
            <a:xfrm>
              <a:off x="1161143" y="3715658"/>
              <a:ext cx="899886" cy="258354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5" name="Google Shape;1375;p23"/>
            <p:cNvCxnSpPr/>
            <p:nvPr/>
          </p:nvCxnSpPr>
          <p:spPr>
            <a:xfrm>
              <a:off x="1377950" y="3679825"/>
              <a:ext cx="144237" cy="107497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76" name="Google Shape;1376;p23"/>
          <p:cNvSpPr txBox="1"/>
          <p:nvPr>
            <p:ph type="title"/>
          </p:nvPr>
        </p:nvSpPr>
        <p:spPr>
          <a:xfrm>
            <a:off x="838200" y="348585"/>
            <a:ext cx="983963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link-state routing algorithm</a:t>
            </a:r>
            <a:endParaRPr/>
          </a:p>
        </p:txBody>
      </p:sp>
      <p:sp>
        <p:nvSpPr>
          <p:cNvPr id="1377" name="Google Shape;137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23"/>
          <p:cNvSpPr txBox="1"/>
          <p:nvPr/>
        </p:nvSpPr>
        <p:spPr>
          <a:xfrm>
            <a:off x="2157412" y="1225689"/>
            <a:ext cx="9799235" cy="241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Initialization: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{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      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/* compute least cost path from u to all other nodes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   for all nodes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     if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initially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direct-path-cost only to  direct neighbors    */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         then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= c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u,v      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but may not be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cost!                                                    */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     else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∞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</a:t>
            </a:r>
            <a:endParaRPr/>
          </a:p>
        </p:txBody>
      </p:sp>
      <p:sp>
        <p:nvSpPr>
          <p:cNvPr id="1379" name="Google Shape;1379;p23"/>
          <p:cNvSpPr txBox="1"/>
          <p:nvPr/>
        </p:nvSpPr>
        <p:spPr>
          <a:xfrm>
            <a:off x="2179184" y="3194942"/>
            <a:ext cx="307507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8 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Loop </a:t>
            </a:r>
            <a:endParaRPr sz="2400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2400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15 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until all nodes in N'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1380" name="Google Shape;1380;p23"/>
          <p:cNvSpPr txBox="1"/>
          <p:nvPr/>
        </p:nvSpPr>
        <p:spPr>
          <a:xfrm>
            <a:off x="2767012" y="3546934"/>
            <a:ext cx="7463582" cy="2657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D(w)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D(v)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adjacent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D(v) =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( 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D(v),  D(w) + c</a:t>
            </a:r>
            <a:r>
              <a:rPr b="1" baseline="-25000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w,v  </a:t>
            </a:r>
            <a:r>
              <a:rPr b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b="1"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/* new least-path-cost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either old least-cost-path to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known 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least-cost-path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plus direct-cost from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*/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6" name="Google Shape;1386;p24"/>
          <p:cNvGrpSpPr/>
          <p:nvPr/>
        </p:nvGrpSpPr>
        <p:grpSpPr>
          <a:xfrm>
            <a:off x="5701792" y="4279392"/>
            <a:ext cx="918006" cy="1764574"/>
            <a:chOff x="4618299" y="5972536"/>
            <a:chExt cx="2734563" cy="1944547"/>
          </a:xfrm>
        </p:grpSpPr>
        <p:sp>
          <p:nvSpPr>
            <p:cNvPr id="1387" name="Google Shape;1387;p24"/>
            <p:cNvSpPr/>
            <p:nvPr/>
          </p:nvSpPr>
          <p:spPr>
            <a:xfrm>
              <a:off x="4618299" y="5972536"/>
              <a:ext cx="2511706" cy="1944547"/>
            </a:xfrm>
            <a:prstGeom prst="rect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24"/>
            <p:cNvSpPr/>
            <p:nvPr/>
          </p:nvSpPr>
          <p:spPr>
            <a:xfrm>
              <a:off x="6852056" y="6129160"/>
              <a:ext cx="500806" cy="16745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9" name="Google Shape;1389;p24"/>
            <p:cNvCxnSpPr/>
            <p:nvPr/>
          </p:nvCxnSpPr>
          <p:spPr>
            <a:xfrm>
              <a:off x="7131754" y="6015734"/>
              <a:ext cx="0" cy="235302"/>
            </a:xfrm>
            <a:prstGeom prst="straightConnector1">
              <a:avLst/>
            </a:prstGeom>
            <a:noFill/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390" name="Google Shape;1390;p24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391" name="Google Shape;1391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24"/>
          <p:cNvSpPr txBox="1"/>
          <p:nvPr/>
        </p:nvSpPr>
        <p:spPr>
          <a:xfrm>
            <a:off x="1397181" y="1647825"/>
            <a:ext cx="706437" cy="222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93" name="Google Shape;1393;p24"/>
          <p:cNvSpPr txBox="1"/>
          <p:nvPr/>
        </p:nvSpPr>
        <p:spPr>
          <a:xfrm>
            <a:off x="3007285" y="1657350"/>
            <a:ext cx="4203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394" name="Google Shape;1394;p24"/>
          <p:cNvSpPr txBox="1"/>
          <p:nvPr/>
        </p:nvSpPr>
        <p:spPr>
          <a:xfrm>
            <a:off x="3932260" y="1626727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D(v),p(v)</a:t>
            </a:r>
            <a:endParaRPr/>
          </a:p>
        </p:txBody>
      </p:sp>
      <p:sp>
        <p:nvSpPr>
          <p:cNvPr id="1395" name="Google Shape;1395;p24"/>
          <p:cNvSpPr txBox="1"/>
          <p:nvPr/>
        </p:nvSpPr>
        <p:spPr>
          <a:xfrm>
            <a:off x="6534634" y="1626726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D(x),p(x)</a:t>
            </a:r>
            <a:endParaRPr/>
          </a:p>
        </p:txBody>
      </p:sp>
      <p:sp>
        <p:nvSpPr>
          <p:cNvPr id="1396" name="Google Shape;1396;p24"/>
          <p:cNvSpPr txBox="1"/>
          <p:nvPr/>
        </p:nvSpPr>
        <p:spPr>
          <a:xfrm>
            <a:off x="7856559" y="1638300"/>
            <a:ext cx="118013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D(y),p(y)</a:t>
            </a:r>
            <a:endParaRPr/>
          </a:p>
        </p:txBody>
      </p:sp>
      <p:sp>
        <p:nvSpPr>
          <p:cNvPr id="1397" name="Google Shape;1397;p24"/>
          <p:cNvSpPr txBox="1"/>
          <p:nvPr/>
        </p:nvSpPr>
        <p:spPr>
          <a:xfrm>
            <a:off x="9163535" y="1638300"/>
            <a:ext cx="11801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D(z),p(z)</a:t>
            </a:r>
            <a:endParaRPr/>
          </a:p>
        </p:txBody>
      </p:sp>
      <p:cxnSp>
        <p:nvCxnSpPr>
          <p:cNvPr id="1398" name="Google Shape;1398;p24"/>
          <p:cNvCxnSpPr/>
          <p:nvPr/>
        </p:nvCxnSpPr>
        <p:spPr>
          <a:xfrm>
            <a:off x="1519418" y="1998662"/>
            <a:ext cx="8505825" cy="9525"/>
          </a:xfrm>
          <a:prstGeom prst="straightConnector1">
            <a:avLst/>
          </a:prstGeom>
          <a:noFill/>
          <a:ln cap="flat" cmpd="sng" w="28575">
            <a:solidFill>
              <a:srgbClr val="3333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99" name="Google Shape;1399;p24"/>
          <p:cNvGrpSpPr/>
          <p:nvPr/>
        </p:nvGrpSpPr>
        <p:grpSpPr>
          <a:xfrm>
            <a:off x="1528762" y="4132366"/>
            <a:ext cx="3571875" cy="2236788"/>
            <a:chOff x="3162" y="1071"/>
            <a:chExt cx="2250" cy="1409"/>
          </a:xfrm>
        </p:grpSpPr>
        <p:sp>
          <p:nvSpPr>
            <p:cNvPr id="1400" name="Google Shape;1400;p24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24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24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3" name="Google Shape;1403;p24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24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05" name="Google Shape;1405;p24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4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4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8" name="Google Shape;1408;p24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9" name="Google Shape;1409;p24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0" name="Google Shape;1410;p24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24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24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3" name="Google Shape;1413;p24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4" name="Google Shape;1414;p24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5" name="Google Shape;1415;p24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24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24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24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24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0" name="Google Shape;1420;p24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24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24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3" name="Google Shape;1423;p24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24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5" name="Google Shape;1425;p24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24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24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8" name="Google Shape;1428;p24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9" name="Google Shape;1429;p24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0" name="Google Shape;1430;p24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24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4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4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24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24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24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24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4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4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4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24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442" name="Google Shape;1442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24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4" name="Google Shape;1444;p24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445" name="Google Shape;1445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6" name="Google Shape;1446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7" name="Google Shape;1447;p24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448" name="Google Shape;1448;p24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9" name="Google Shape;1449;p24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450" name="Google Shape;1450;p24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451" name="Google Shape;1451;p24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2" name="Google Shape;1452;p24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3" name="Google Shape;1453;p24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454" name="Google Shape;1454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24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6" name="Google Shape;1456;p24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457" name="Google Shape;1457;p24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24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459" name="Google Shape;1459;p24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4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24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24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24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24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24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24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24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24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9" name="Google Shape;1469;p24"/>
          <p:cNvSpPr txBox="1"/>
          <p:nvPr/>
        </p:nvSpPr>
        <p:spPr>
          <a:xfrm>
            <a:off x="9490547" y="3198952"/>
            <a:ext cx="52610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4,y</a:t>
            </a:r>
            <a:endParaRPr/>
          </a:p>
        </p:txBody>
      </p:sp>
      <p:sp>
        <p:nvSpPr>
          <p:cNvPr id="1470" name="Google Shape;1470;p24"/>
          <p:cNvSpPr txBox="1"/>
          <p:nvPr/>
        </p:nvSpPr>
        <p:spPr>
          <a:xfrm>
            <a:off x="5169952" y="1633417"/>
            <a:ext cx="129554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</p:txBody>
      </p:sp>
      <p:sp>
        <p:nvSpPr>
          <p:cNvPr id="1471" name="Google Shape;1471;p24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grpSp>
        <p:nvGrpSpPr>
          <p:cNvPr id="1472" name="Google Shape;1472;p24"/>
          <p:cNvGrpSpPr/>
          <p:nvPr/>
        </p:nvGrpSpPr>
        <p:grpSpPr>
          <a:xfrm>
            <a:off x="5554672" y="2866120"/>
            <a:ext cx="4461980" cy="406922"/>
            <a:chOff x="5554672" y="2866120"/>
            <a:chExt cx="4461980" cy="406922"/>
          </a:xfrm>
        </p:grpSpPr>
        <p:sp>
          <p:nvSpPr>
            <p:cNvPr id="1473" name="Google Shape;1473;p24"/>
            <p:cNvSpPr txBox="1"/>
            <p:nvPr/>
          </p:nvSpPr>
          <p:spPr>
            <a:xfrm>
              <a:off x="9490547" y="287293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74" name="Google Shape;1474;p24"/>
            <p:cNvSpPr txBox="1"/>
            <p:nvPr/>
          </p:nvSpPr>
          <p:spPr>
            <a:xfrm>
              <a:off x="5554672" y="2866120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</p:grpSp>
      <p:grpSp>
        <p:nvGrpSpPr>
          <p:cNvPr id="1475" name="Google Shape;1475;p24"/>
          <p:cNvGrpSpPr/>
          <p:nvPr/>
        </p:nvGrpSpPr>
        <p:grpSpPr>
          <a:xfrm>
            <a:off x="4263633" y="1951300"/>
            <a:ext cx="5679281" cy="401555"/>
            <a:chOff x="4263633" y="1951300"/>
            <a:chExt cx="5679281" cy="401555"/>
          </a:xfrm>
        </p:grpSpPr>
        <p:sp>
          <p:nvSpPr>
            <p:cNvPr id="1476" name="Google Shape;1476;p24"/>
            <p:cNvSpPr txBox="1"/>
            <p:nvPr/>
          </p:nvSpPr>
          <p:spPr>
            <a:xfrm>
              <a:off x="55706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  <p:sp>
          <p:nvSpPr>
            <p:cNvPr id="1477" name="Google Shape;1477;p24"/>
            <p:cNvSpPr txBox="1"/>
            <p:nvPr/>
          </p:nvSpPr>
          <p:spPr>
            <a:xfrm>
              <a:off x="9564285" y="197589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4"/>
            <p:cNvSpPr txBox="1"/>
            <p:nvPr/>
          </p:nvSpPr>
          <p:spPr>
            <a:xfrm>
              <a:off x="8268885" y="1974450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24"/>
            <p:cNvSpPr txBox="1"/>
            <p:nvPr/>
          </p:nvSpPr>
          <p:spPr>
            <a:xfrm>
              <a:off x="6866008" y="1951300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1,u</a:t>
              </a:r>
              <a:endParaRPr/>
            </a:p>
          </p:txBody>
        </p:sp>
        <p:sp>
          <p:nvSpPr>
            <p:cNvPr id="1480" name="Google Shape;1480;p24"/>
            <p:cNvSpPr txBox="1"/>
            <p:nvPr/>
          </p:nvSpPr>
          <p:spPr>
            <a:xfrm>
              <a:off x="4263633" y="1952745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1" name="Google Shape;1481;p24"/>
          <p:cNvGrpSpPr/>
          <p:nvPr/>
        </p:nvGrpSpPr>
        <p:grpSpPr>
          <a:xfrm>
            <a:off x="4263633" y="2255616"/>
            <a:ext cx="5679281" cy="416447"/>
            <a:chOff x="4263633" y="2255616"/>
            <a:chExt cx="5679281" cy="416447"/>
          </a:xfrm>
        </p:grpSpPr>
        <p:sp>
          <p:nvSpPr>
            <p:cNvPr id="1482" name="Google Shape;1482;p24"/>
            <p:cNvSpPr txBox="1"/>
            <p:nvPr/>
          </p:nvSpPr>
          <p:spPr>
            <a:xfrm>
              <a:off x="9564285" y="2301914"/>
              <a:ext cx="37862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4"/>
            <p:cNvSpPr txBox="1"/>
            <p:nvPr/>
          </p:nvSpPr>
          <p:spPr>
            <a:xfrm>
              <a:off x="8206722" y="2260378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2,x</a:t>
              </a:r>
              <a:endParaRPr/>
            </a:p>
          </p:txBody>
        </p:sp>
        <p:sp>
          <p:nvSpPr>
            <p:cNvPr id="1484" name="Google Shape;1484;p24"/>
            <p:cNvSpPr txBox="1"/>
            <p:nvPr/>
          </p:nvSpPr>
          <p:spPr>
            <a:xfrm>
              <a:off x="5566247" y="2271953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4,x</a:t>
              </a:r>
              <a:endParaRPr/>
            </a:p>
          </p:txBody>
        </p:sp>
        <p:sp>
          <p:nvSpPr>
            <p:cNvPr id="1485" name="Google Shape;1485;p24"/>
            <p:cNvSpPr txBox="1"/>
            <p:nvPr/>
          </p:nvSpPr>
          <p:spPr>
            <a:xfrm>
              <a:off x="4263633" y="2255616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grpSp>
        <p:nvGrpSpPr>
          <p:cNvPr id="1486" name="Google Shape;1486;p24"/>
          <p:cNvGrpSpPr/>
          <p:nvPr/>
        </p:nvGrpSpPr>
        <p:grpSpPr>
          <a:xfrm>
            <a:off x="4263633" y="2546912"/>
            <a:ext cx="5753019" cy="428022"/>
            <a:chOff x="4263633" y="2546912"/>
            <a:chExt cx="5753019" cy="428022"/>
          </a:xfrm>
        </p:grpSpPr>
        <p:sp>
          <p:nvSpPr>
            <p:cNvPr id="1487" name="Google Shape;1487;p24"/>
            <p:cNvSpPr txBox="1"/>
            <p:nvPr/>
          </p:nvSpPr>
          <p:spPr>
            <a:xfrm>
              <a:off x="9490547" y="2546912"/>
              <a:ext cx="5261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4,y</a:t>
              </a:r>
              <a:endParaRPr/>
            </a:p>
          </p:txBody>
        </p:sp>
        <p:sp>
          <p:nvSpPr>
            <p:cNvPr id="1488" name="Google Shape;1488;p24"/>
            <p:cNvSpPr txBox="1"/>
            <p:nvPr/>
          </p:nvSpPr>
          <p:spPr>
            <a:xfrm>
              <a:off x="5566247" y="2574824"/>
              <a:ext cx="52610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3,y</a:t>
              </a:r>
              <a:endParaRPr/>
            </a:p>
          </p:txBody>
        </p:sp>
        <p:sp>
          <p:nvSpPr>
            <p:cNvPr id="1489" name="Google Shape;1489;p24"/>
            <p:cNvSpPr txBox="1"/>
            <p:nvPr/>
          </p:nvSpPr>
          <p:spPr>
            <a:xfrm>
              <a:off x="4263633" y="2558487"/>
              <a:ext cx="54053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2,u</a:t>
              </a:r>
              <a:endParaRPr/>
            </a:p>
          </p:txBody>
        </p:sp>
      </p:grpSp>
      <p:sp>
        <p:nvSpPr>
          <p:cNvPr id="1490" name="Google Shape;1490;p24"/>
          <p:cNvSpPr txBox="1"/>
          <p:nvPr/>
        </p:nvSpPr>
        <p:spPr>
          <a:xfrm>
            <a:off x="2380129" y="348808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uxyvwz</a:t>
            </a:r>
            <a:endParaRPr/>
          </a:p>
        </p:txBody>
      </p:sp>
      <p:sp>
        <p:nvSpPr>
          <p:cNvPr id="1491" name="Google Shape;1491;p24"/>
          <p:cNvSpPr txBox="1"/>
          <p:nvPr/>
        </p:nvSpPr>
        <p:spPr>
          <a:xfrm>
            <a:off x="2521874" y="3178926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uxyvw</a:t>
            </a:r>
            <a:endParaRPr/>
          </a:p>
        </p:txBody>
      </p:sp>
      <p:sp>
        <p:nvSpPr>
          <p:cNvPr id="1492" name="Google Shape;1492;p24"/>
          <p:cNvSpPr txBox="1"/>
          <p:nvPr/>
        </p:nvSpPr>
        <p:spPr>
          <a:xfrm>
            <a:off x="2698178" y="2856764"/>
            <a:ext cx="7120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uxyv</a:t>
            </a:r>
            <a:endParaRPr/>
          </a:p>
        </p:txBody>
      </p:sp>
      <p:sp>
        <p:nvSpPr>
          <p:cNvPr id="1493" name="Google Shape;1493;p24"/>
          <p:cNvSpPr txBox="1"/>
          <p:nvPr/>
        </p:nvSpPr>
        <p:spPr>
          <a:xfrm>
            <a:off x="2816771" y="2546463"/>
            <a:ext cx="5838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uxy</a:t>
            </a:r>
            <a:endParaRPr/>
          </a:p>
        </p:txBody>
      </p:sp>
      <p:sp>
        <p:nvSpPr>
          <p:cNvPr id="1494" name="Google Shape;1494;p24"/>
          <p:cNvSpPr txBox="1"/>
          <p:nvPr/>
        </p:nvSpPr>
        <p:spPr>
          <a:xfrm>
            <a:off x="2958516" y="2241520"/>
            <a:ext cx="4555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ux</a:t>
            </a:r>
            <a:endParaRPr/>
          </a:p>
        </p:txBody>
      </p:sp>
      <p:sp>
        <p:nvSpPr>
          <p:cNvPr id="1495" name="Google Shape;1495;p24"/>
          <p:cNvSpPr txBox="1"/>
          <p:nvPr/>
        </p:nvSpPr>
        <p:spPr>
          <a:xfrm>
            <a:off x="3082181" y="1941646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496" name="Google Shape;1496;p24"/>
          <p:cNvCxnSpPr/>
          <p:nvPr/>
        </p:nvCxnSpPr>
        <p:spPr>
          <a:xfrm>
            <a:off x="1706097" y="230336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7" name="Google Shape;1497;p24"/>
          <p:cNvCxnSpPr/>
          <p:nvPr/>
        </p:nvCxnSpPr>
        <p:spPr>
          <a:xfrm>
            <a:off x="1714983" y="2606233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8" name="Google Shape;1498;p24"/>
          <p:cNvCxnSpPr/>
          <p:nvPr/>
        </p:nvCxnSpPr>
        <p:spPr>
          <a:xfrm>
            <a:off x="1719251" y="2913722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9" name="Google Shape;1499;p24"/>
          <p:cNvCxnSpPr/>
          <p:nvPr/>
        </p:nvCxnSpPr>
        <p:spPr>
          <a:xfrm>
            <a:off x="1718901" y="3225829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0" name="Google Shape;1500;p24"/>
          <p:cNvCxnSpPr/>
          <p:nvPr/>
        </p:nvCxnSpPr>
        <p:spPr>
          <a:xfrm>
            <a:off x="1727787" y="3565644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1" name="Google Shape;1501;p24"/>
          <p:cNvSpPr txBox="1"/>
          <p:nvPr/>
        </p:nvSpPr>
        <p:spPr>
          <a:xfrm>
            <a:off x="4409954" y="134266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502" name="Google Shape;1502;p24"/>
          <p:cNvSpPr txBox="1"/>
          <p:nvPr/>
        </p:nvSpPr>
        <p:spPr>
          <a:xfrm>
            <a:off x="5685099" y="1337058"/>
            <a:ext cx="36740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503" name="Google Shape;1503;p24"/>
          <p:cNvSpPr txBox="1"/>
          <p:nvPr/>
        </p:nvSpPr>
        <p:spPr>
          <a:xfrm>
            <a:off x="6994969" y="133145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504" name="Google Shape;1504;p24"/>
          <p:cNvSpPr txBox="1"/>
          <p:nvPr/>
        </p:nvSpPr>
        <p:spPr>
          <a:xfrm>
            <a:off x="8327989" y="1337423"/>
            <a:ext cx="3000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505" name="Google Shape;1505;p24"/>
          <p:cNvSpPr txBox="1"/>
          <p:nvPr/>
        </p:nvSpPr>
        <p:spPr>
          <a:xfrm>
            <a:off x="9591559" y="1354968"/>
            <a:ext cx="2856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506" name="Google Shape;1506;p24"/>
          <p:cNvGrpSpPr/>
          <p:nvPr/>
        </p:nvGrpSpPr>
        <p:grpSpPr>
          <a:xfrm>
            <a:off x="3119488" y="1398905"/>
            <a:ext cx="4326893" cy="1233760"/>
            <a:chOff x="3104054" y="1398906"/>
            <a:chExt cx="4326893" cy="1233760"/>
          </a:xfrm>
        </p:grpSpPr>
        <p:grpSp>
          <p:nvGrpSpPr>
            <p:cNvPr id="1507" name="Google Shape;1507;p24"/>
            <p:cNvGrpSpPr/>
            <p:nvPr/>
          </p:nvGrpSpPr>
          <p:grpSpPr>
            <a:xfrm>
              <a:off x="3104054" y="1398906"/>
              <a:ext cx="4196366" cy="1233760"/>
              <a:chOff x="239710" y="526192"/>
              <a:chExt cx="4196366" cy="1233760"/>
            </a:xfrm>
          </p:grpSpPr>
          <p:sp>
            <p:nvSpPr>
              <p:cNvPr id="1508" name="Google Shape;1508;p24"/>
              <p:cNvSpPr/>
              <p:nvPr/>
            </p:nvSpPr>
            <p:spPr>
              <a:xfrm>
                <a:off x="4120980" y="526192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09" name="Google Shape;1509;p24"/>
              <p:cNvCxnSpPr>
                <a:stCxn id="1508" idx="4"/>
                <a:endCxn id="1510" idx="6"/>
              </p:cNvCxnSpPr>
              <p:nvPr/>
            </p:nvCxnSpPr>
            <p:spPr>
              <a:xfrm flipH="1">
                <a:off x="542028" y="821724"/>
                <a:ext cx="3736500" cy="790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0" name="Google Shape;1510;p24"/>
              <p:cNvSpPr/>
              <p:nvPr/>
            </p:nvSpPr>
            <p:spPr>
              <a:xfrm>
                <a:off x="239710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1" name="Google Shape;1511;p24"/>
            <p:cNvSpPr/>
            <p:nvPr/>
          </p:nvSpPr>
          <p:spPr>
            <a:xfrm>
              <a:off x="682809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2" name="Google Shape;1512;p24"/>
            <p:cNvCxnSpPr>
              <a:stCxn id="1511" idx="0"/>
            </p:cNvCxnSpPr>
            <p:nvPr/>
          </p:nvCxnSpPr>
          <p:spPr>
            <a:xfrm flipH="1" rot="10800000">
              <a:off x="7129521" y="1638269"/>
              <a:ext cx="600" cy="387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13" name="Google Shape;1513;p24"/>
          <p:cNvGrpSpPr/>
          <p:nvPr/>
        </p:nvGrpSpPr>
        <p:grpSpPr>
          <a:xfrm>
            <a:off x="3117557" y="1389255"/>
            <a:ext cx="5681132" cy="1534706"/>
            <a:chOff x="1772965" y="1097960"/>
            <a:chExt cx="5681132" cy="1534706"/>
          </a:xfrm>
        </p:grpSpPr>
        <p:grpSp>
          <p:nvGrpSpPr>
            <p:cNvPr id="1514" name="Google Shape;1514;p24"/>
            <p:cNvGrpSpPr/>
            <p:nvPr/>
          </p:nvGrpSpPr>
          <p:grpSpPr>
            <a:xfrm>
              <a:off x="1772965" y="1097960"/>
              <a:ext cx="5539030" cy="1534706"/>
              <a:chOff x="-1091379" y="225246"/>
              <a:chExt cx="5539030" cy="1534706"/>
            </a:xfrm>
          </p:grpSpPr>
          <p:sp>
            <p:nvSpPr>
              <p:cNvPr id="1515" name="Google Shape;1515;p24"/>
              <p:cNvSpPr/>
              <p:nvPr/>
            </p:nvSpPr>
            <p:spPr>
              <a:xfrm>
                <a:off x="4132555" y="225246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16" name="Google Shape;1516;p24"/>
              <p:cNvCxnSpPr>
                <a:stCxn id="1515" idx="4"/>
                <a:endCxn id="1517" idx="6"/>
              </p:cNvCxnSpPr>
              <p:nvPr/>
            </p:nvCxnSpPr>
            <p:spPr>
              <a:xfrm flipH="1">
                <a:off x="-789197" y="520778"/>
                <a:ext cx="5079300" cy="10914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17" name="Google Shape;1517;p24"/>
              <p:cNvSpPr/>
              <p:nvPr/>
            </p:nvSpPr>
            <p:spPr>
              <a:xfrm>
                <a:off x="-1091379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18" name="Google Shape;1518;p24"/>
            <p:cNvSpPr/>
            <p:nvPr/>
          </p:nvSpPr>
          <p:spPr>
            <a:xfrm>
              <a:off x="6851245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19" name="Google Shape;1519;p24"/>
            <p:cNvCxnSpPr>
              <a:stCxn id="1518" idx="0"/>
              <a:endCxn id="1515" idx="4"/>
            </p:cNvCxnSpPr>
            <p:nvPr/>
          </p:nvCxnSpPr>
          <p:spPr>
            <a:xfrm flipH="1" rot="10800000">
              <a:off x="7152671" y="1393469"/>
              <a:ext cx="1800" cy="632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0" name="Google Shape;1520;p24"/>
          <p:cNvGrpSpPr/>
          <p:nvPr/>
        </p:nvGrpSpPr>
        <p:grpSpPr>
          <a:xfrm>
            <a:off x="3109189" y="1412217"/>
            <a:ext cx="1746239" cy="1817119"/>
            <a:chOff x="5709634" y="1003247"/>
            <a:chExt cx="1746239" cy="1817119"/>
          </a:xfrm>
        </p:grpSpPr>
        <p:grpSp>
          <p:nvGrpSpPr>
            <p:cNvPr id="1521" name="Google Shape;1521;p24"/>
            <p:cNvGrpSpPr/>
            <p:nvPr/>
          </p:nvGrpSpPr>
          <p:grpSpPr>
            <a:xfrm>
              <a:off x="5709634" y="1003247"/>
              <a:ext cx="1602361" cy="1817119"/>
              <a:chOff x="2845290" y="130533"/>
              <a:chExt cx="1602361" cy="1817119"/>
            </a:xfrm>
          </p:grpSpPr>
          <p:sp>
            <p:nvSpPr>
              <p:cNvPr id="1522" name="Google Shape;1522;p24"/>
              <p:cNvSpPr/>
              <p:nvPr/>
            </p:nvSpPr>
            <p:spPr>
              <a:xfrm>
                <a:off x="4132555" y="130533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23" name="Google Shape;1523;p24"/>
              <p:cNvCxnSpPr>
                <a:stCxn id="1522" idx="4"/>
                <a:endCxn id="1524" idx="6"/>
              </p:cNvCxnSpPr>
              <p:nvPr/>
            </p:nvCxnSpPr>
            <p:spPr>
              <a:xfrm flipH="1">
                <a:off x="3147403" y="426065"/>
                <a:ext cx="1142700" cy="1373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24" name="Google Shape;1524;p24"/>
              <p:cNvSpPr/>
              <p:nvPr/>
            </p:nvSpPr>
            <p:spPr>
              <a:xfrm>
                <a:off x="2845290" y="16521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25" name="Google Shape;1525;p24"/>
            <p:cNvSpPr/>
            <p:nvPr/>
          </p:nvSpPr>
          <p:spPr>
            <a:xfrm>
              <a:off x="6853021" y="219918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26" name="Google Shape;1526;p24"/>
            <p:cNvCxnSpPr>
              <a:stCxn id="1525" idx="0"/>
              <a:endCxn id="1522" idx="4"/>
            </p:cNvCxnSpPr>
            <p:nvPr/>
          </p:nvCxnSpPr>
          <p:spPr>
            <a:xfrm rot="10800000">
              <a:off x="7154447" y="1298889"/>
              <a:ext cx="0" cy="9003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27" name="Google Shape;1527;p24"/>
          <p:cNvGrpSpPr/>
          <p:nvPr/>
        </p:nvGrpSpPr>
        <p:grpSpPr>
          <a:xfrm>
            <a:off x="3082834" y="1400642"/>
            <a:ext cx="3065254" cy="2136777"/>
            <a:chOff x="4423568" y="495889"/>
            <a:chExt cx="3065254" cy="2136777"/>
          </a:xfrm>
        </p:grpSpPr>
        <p:grpSp>
          <p:nvGrpSpPr>
            <p:cNvPr id="1528" name="Google Shape;1528;p24"/>
            <p:cNvGrpSpPr/>
            <p:nvPr/>
          </p:nvGrpSpPr>
          <p:grpSpPr>
            <a:xfrm>
              <a:off x="4423568" y="495889"/>
              <a:ext cx="2923151" cy="2136777"/>
              <a:chOff x="1559224" y="-376825"/>
              <a:chExt cx="2923151" cy="2136777"/>
            </a:xfrm>
          </p:grpSpPr>
          <p:sp>
            <p:nvSpPr>
              <p:cNvPr id="1529" name="Google Shape;1529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0" name="Google Shape;1530;p24"/>
              <p:cNvCxnSpPr>
                <a:stCxn id="1529" idx="4"/>
                <a:endCxn id="1531" idx="6"/>
              </p:cNvCxnSpPr>
              <p:nvPr/>
            </p:nvCxnSpPr>
            <p:spPr>
              <a:xfrm flipH="1">
                <a:off x="1861527" y="-81293"/>
                <a:ext cx="2463300" cy="16935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1" name="Google Shape;1531;p24"/>
              <p:cNvSpPr/>
              <p:nvPr/>
            </p:nvSpPr>
            <p:spPr>
              <a:xfrm>
                <a:off x="1559224" y="1464420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2" name="Google Shape;1532;p24"/>
            <p:cNvSpPr/>
            <p:nvPr/>
          </p:nvSpPr>
          <p:spPr>
            <a:xfrm>
              <a:off x="6885970" y="2025569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33" name="Google Shape;1533;p24"/>
            <p:cNvCxnSpPr>
              <a:stCxn id="1532" idx="0"/>
              <a:endCxn id="1529" idx="4"/>
            </p:cNvCxnSpPr>
            <p:nvPr/>
          </p:nvCxnSpPr>
          <p:spPr>
            <a:xfrm flipH="1" rot="10800000">
              <a:off x="7187396" y="791369"/>
              <a:ext cx="1800" cy="12342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534" name="Google Shape;1534;p24"/>
          <p:cNvGrpSpPr/>
          <p:nvPr/>
        </p:nvGrpSpPr>
        <p:grpSpPr>
          <a:xfrm>
            <a:off x="3084763" y="1437297"/>
            <a:ext cx="6956123" cy="2426144"/>
            <a:chOff x="534474" y="495889"/>
            <a:chExt cx="6956123" cy="2426144"/>
          </a:xfrm>
        </p:grpSpPr>
        <p:grpSp>
          <p:nvGrpSpPr>
            <p:cNvPr id="1535" name="Google Shape;1535;p24"/>
            <p:cNvGrpSpPr/>
            <p:nvPr/>
          </p:nvGrpSpPr>
          <p:grpSpPr>
            <a:xfrm>
              <a:off x="534474" y="495889"/>
              <a:ext cx="6812245" cy="2426144"/>
              <a:chOff x="-2329870" y="-376825"/>
              <a:chExt cx="6812245" cy="2426144"/>
            </a:xfrm>
          </p:grpSpPr>
          <p:sp>
            <p:nvSpPr>
              <p:cNvPr id="1536" name="Google Shape;1536;p24"/>
              <p:cNvSpPr/>
              <p:nvPr/>
            </p:nvSpPr>
            <p:spPr>
              <a:xfrm>
                <a:off x="4167279" y="-376825"/>
                <a:ext cx="315096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37" name="Google Shape;1537;p24"/>
              <p:cNvCxnSpPr>
                <a:stCxn id="1536" idx="4"/>
                <a:endCxn id="1538" idx="6"/>
              </p:cNvCxnSpPr>
              <p:nvPr/>
            </p:nvCxnSpPr>
            <p:spPr>
              <a:xfrm flipH="1">
                <a:off x="-2027673" y="-81293"/>
                <a:ext cx="6352500" cy="1982700"/>
              </a:xfrm>
              <a:prstGeom prst="straightConnector1">
                <a:avLst/>
              </a:prstGeom>
              <a:noFill/>
              <a:ln cap="flat" cmpd="sng" w="15875">
                <a:solidFill>
                  <a:srgbClr val="FF00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538" name="Google Shape;1538;p24"/>
              <p:cNvSpPr/>
              <p:nvPr/>
            </p:nvSpPr>
            <p:spPr>
              <a:xfrm>
                <a:off x="-2329870" y="1753787"/>
                <a:ext cx="302217" cy="295532"/>
              </a:xfrm>
              <a:prstGeom prst="ellipse">
                <a:avLst/>
              </a:prstGeom>
              <a:noFill/>
              <a:ln cap="flat" cmpd="sng" w="19050">
                <a:solidFill>
                  <a:srgbClr val="FF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9" name="Google Shape;1539;p24"/>
            <p:cNvSpPr/>
            <p:nvPr/>
          </p:nvSpPr>
          <p:spPr>
            <a:xfrm>
              <a:off x="6887745" y="2326511"/>
              <a:ext cx="602852" cy="30197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540" name="Google Shape;1540;p24"/>
            <p:cNvCxnSpPr>
              <a:stCxn id="1539" idx="0"/>
              <a:endCxn id="1536" idx="4"/>
            </p:cNvCxnSpPr>
            <p:nvPr/>
          </p:nvCxnSpPr>
          <p:spPr>
            <a:xfrm rot="10800000">
              <a:off x="7189171" y="791411"/>
              <a:ext cx="0" cy="153510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1541" name="Google Shape;1541;p24"/>
          <p:cNvCxnSpPr>
            <a:endCxn id="1411" idx="2"/>
          </p:cNvCxnSpPr>
          <p:nvPr/>
        </p:nvCxnSpPr>
        <p:spPr>
          <a:xfrm>
            <a:off x="1957625" y="5544373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2" name="Google Shape;1542;p24"/>
          <p:cNvCxnSpPr>
            <a:endCxn id="1422" idx="2"/>
          </p:cNvCxnSpPr>
          <p:nvPr/>
        </p:nvCxnSpPr>
        <p:spPr>
          <a:xfrm>
            <a:off x="2908575" y="6055373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3" name="Google Shape;1543;p24"/>
          <p:cNvCxnSpPr>
            <a:stCxn id="1406" idx="7"/>
          </p:cNvCxnSpPr>
          <p:nvPr/>
        </p:nvCxnSpPr>
        <p:spPr>
          <a:xfrm flipH="1" rot="10800000">
            <a:off x="2068770" y="5023390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4" name="Google Shape;1544;p24"/>
          <p:cNvCxnSpPr/>
          <p:nvPr/>
        </p:nvCxnSpPr>
        <p:spPr>
          <a:xfrm rot="10800000">
            <a:off x="3744012" y="4988689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5" name="Google Shape;1545;p24"/>
          <p:cNvCxnSpPr/>
          <p:nvPr/>
        </p:nvCxnSpPr>
        <p:spPr>
          <a:xfrm flipH="1" rot="10800000">
            <a:off x="4007312" y="5577069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46" name="Google Shape;1546;p24"/>
          <p:cNvSpPr txBox="1"/>
          <p:nvPr/>
        </p:nvSpPr>
        <p:spPr>
          <a:xfrm>
            <a:off x="5894442" y="4463262"/>
            <a:ext cx="5770234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such that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 minimum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D(b)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all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not in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N'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D(b) = </a:t>
            </a:r>
            <a:r>
              <a:rPr b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min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( D(b), D(a) + c</a:t>
            </a:r>
            <a:r>
              <a:rPr b="1" baseline="-25000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a,b </a:t>
            </a:r>
            <a:r>
              <a:rPr b="1" i="1" lang="en-US" sz="2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sp>
        <p:nvSpPr>
          <p:cNvPr id="1547" name="Google Shape;1547;p24"/>
          <p:cNvSpPr/>
          <p:nvPr/>
        </p:nvSpPr>
        <p:spPr>
          <a:xfrm>
            <a:off x="5606004" y="3868305"/>
            <a:ext cx="6721033" cy="3416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Initialization (step 0): For all a: if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adjacent to then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D(a) = c</a:t>
            </a:r>
            <a:r>
              <a:rPr baseline="-25000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u,a </a:t>
            </a:r>
            <a:endParaRPr baseline="-25000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25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 example</a:t>
            </a:r>
            <a:endParaRPr/>
          </a:p>
        </p:txBody>
      </p:sp>
      <p:sp>
        <p:nvSpPr>
          <p:cNvPr id="1554" name="Google Shape;1554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5" name="Google Shape;1555;p25"/>
          <p:cNvGrpSpPr/>
          <p:nvPr/>
        </p:nvGrpSpPr>
        <p:grpSpPr>
          <a:xfrm>
            <a:off x="4237238" y="1377591"/>
            <a:ext cx="3571875" cy="2236788"/>
            <a:chOff x="3162" y="1071"/>
            <a:chExt cx="2250" cy="1409"/>
          </a:xfrm>
        </p:grpSpPr>
        <p:sp>
          <p:nvSpPr>
            <p:cNvPr id="1556" name="Google Shape;1556;p25"/>
            <p:cNvSpPr/>
            <p:nvPr/>
          </p:nvSpPr>
          <p:spPr>
            <a:xfrm>
              <a:off x="3162" y="1071"/>
              <a:ext cx="2250" cy="1409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25"/>
            <p:cNvSpPr/>
            <p:nvPr/>
          </p:nvSpPr>
          <p:spPr>
            <a:xfrm>
              <a:off x="3498" y="1620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25"/>
            <p:cNvSpPr/>
            <p:nvPr/>
          </p:nvSpPr>
          <p:spPr>
            <a:xfrm>
              <a:off x="3238" y="186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25"/>
            <p:cNvCxnSpPr/>
            <p:nvPr/>
          </p:nvCxnSpPr>
          <p:spPr>
            <a:xfrm>
              <a:off x="3238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0" name="Google Shape;1560;p25"/>
            <p:cNvCxnSpPr/>
            <p:nvPr/>
          </p:nvCxnSpPr>
          <p:spPr>
            <a:xfrm>
              <a:off x="3551" y="185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1" name="Google Shape;1561;p25"/>
            <p:cNvSpPr/>
            <p:nvPr/>
          </p:nvSpPr>
          <p:spPr>
            <a:xfrm>
              <a:off x="3238" y="1855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25"/>
            <p:cNvSpPr/>
            <p:nvPr/>
          </p:nvSpPr>
          <p:spPr>
            <a:xfrm>
              <a:off x="3235" y="179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25"/>
            <p:cNvSpPr/>
            <p:nvPr/>
          </p:nvSpPr>
          <p:spPr>
            <a:xfrm>
              <a:off x="3712" y="224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4" name="Google Shape;1564;p25"/>
            <p:cNvCxnSpPr/>
            <p:nvPr/>
          </p:nvCxnSpPr>
          <p:spPr>
            <a:xfrm>
              <a:off x="3712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5" name="Google Shape;1565;p25"/>
            <p:cNvCxnSpPr/>
            <p:nvPr/>
          </p:nvCxnSpPr>
          <p:spPr>
            <a:xfrm>
              <a:off x="4025" y="224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6" name="Google Shape;1566;p25"/>
            <p:cNvSpPr/>
            <p:nvPr/>
          </p:nvSpPr>
          <p:spPr>
            <a:xfrm>
              <a:off x="3712" y="224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3709" y="218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3708" y="1559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69" name="Google Shape;1569;p25"/>
            <p:cNvCxnSpPr/>
            <p:nvPr/>
          </p:nvCxnSpPr>
          <p:spPr>
            <a:xfrm>
              <a:off x="3708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0" name="Google Shape;1570;p25"/>
            <p:cNvCxnSpPr/>
            <p:nvPr/>
          </p:nvCxnSpPr>
          <p:spPr>
            <a:xfrm>
              <a:off x="4021" y="1552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1" name="Google Shape;1571;p25"/>
            <p:cNvSpPr/>
            <p:nvPr/>
          </p:nvSpPr>
          <p:spPr>
            <a:xfrm>
              <a:off x="3708" y="1552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3705" y="1493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4391" y="1555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4" name="Google Shape;1574;p25"/>
            <p:cNvCxnSpPr/>
            <p:nvPr/>
          </p:nvCxnSpPr>
          <p:spPr>
            <a:xfrm>
              <a:off x="4391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5" name="Google Shape;1575;p25"/>
            <p:cNvCxnSpPr/>
            <p:nvPr/>
          </p:nvCxnSpPr>
          <p:spPr>
            <a:xfrm>
              <a:off x="4703" y="154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76" name="Google Shape;1576;p25"/>
            <p:cNvSpPr/>
            <p:nvPr/>
          </p:nvSpPr>
          <p:spPr>
            <a:xfrm>
              <a:off x="4391" y="1548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4394" y="1492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4401" y="2246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9" name="Google Shape;1579;p25"/>
            <p:cNvCxnSpPr/>
            <p:nvPr/>
          </p:nvCxnSpPr>
          <p:spPr>
            <a:xfrm>
              <a:off x="4401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0" name="Google Shape;1580;p25"/>
            <p:cNvCxnSpPr/>
            <p:nvPr/>
          </p:nvCxnSpPr>
          <p:spPr>
            <a:xfrm>
              <a:off x="4714" y="2239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1" name="Google Shape;1581;p25"/>
            <p:cNvSpPr/>
            <p:nvPr/>
          </p:nvSpPr>
          <p:spPr>
            <a:xfrm>
              <a:off x="4401" y="2239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25"/>
            <p:cNvSpPr/>
            <p:nvPr/>
          </p:nvSpPr>
          <p:spPr>
            <a:xfrm>
              <a:off x="4398" y="2180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25"/>
            <p:cNvSpPr/>
            <p:nvPr/>
          </p:nvSpPr>
          <p:spPr>
            <a:xfrm>
              <a:off x="4966" y="19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84" name="Google Shape;1584;p25"/>
            <p:cNvCxnSpPr/>
            <p:nvPr/>
          </p:nvCxnSpPr>
          <p:spPr>
            <a:xfrm>
              <a:off x="4966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85" name="Google Shape;1585;p25"/>
            <p:cNvCxnSpPr/>
            <p:nvPr/>
          </p:nvCxnSpPr>
          <p:spPr>
            <a:xfrm>
              <a:off x="5279" y="18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86" name="Google Shape;1586;p25"/>
            <p:cNvSpPr/>
            <p:nvPr/>
          </p:nvSpPr>
          <p:spPr>
            <a:xfrm>
              <a:off x="4966" y="18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25"/>
            <p:cNvSpPr/>
            <p:nvPr/>
          </p:nvSpPr>
          <p:spPr>
            <a:xfrm>
              <a:off x="4963" y="18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25"/>
            <p:cNvSpPr/>
            <p:nvPr/>
          </p:nvSpPr>
          <p:spPr>
            <a:xfrm>
              <a:off x="4557" y="1647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3864" y="1653"/>
              <a:ext cx="1" cy="53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25"/>
            <p:cNvSpPr/>
            <p:nvPr/>
          </p:nvSpPr>
          <p:spPr>
            <a:xfrm>
              <a:off x="4029" y="1638"/>
              <a:ext cx="504" cy="600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25"/>
            <p:cNvSpPr/>
            <p:nvPr/>
          </p:nvSpPr>
          <p:spPr>
            <a:xfrm>
              <a:off x="4716" y="1986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25"/>
            <p:cNvSpPr/>
            <p:nvPr/>
          </p:nvSpPr>
          <p:spPr>
            <a:xfrm>
              <a:off x="4035" y="226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25"/>
            <p:cNvSpPr/>
            <p:nvPr/>
          </p:nvSpPr>
          <p:spPr>
            <a:xfrm>
              <a:off x="3444" y="1944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25"/>
            <p:cNvSpPr/>
            <p:nvPr/>
          </p:nvSpPr>
          <p:spPr>
            <a:xfrm>
              <a:off x="4029" y="1578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25"/>
            <p:cNvSpPr/>
            <p:nvPr/>
          </p:nvSpPr>
          <p:spPr>
            <a:xfrm>
              <a:off x="4704" y="1575"/>
              <a:ext cx="396" cy="267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25"/>
            <p:cNvSpPr/>
            <p:nvPr/>
          </p:nvSpPr>
          <p:spPr>
            <a:xfrm>
              <a:off x="3387" y="1146"/>
              <a:ext cx="1110" cy="645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7" name="Google Shape;1597;p25"/>
            <p:cNvGrpSpPr/>
            <p:nvPr/>
          </p:nvGrpSpPr>
          <p:grpSpPr>
            <a:xfrm>
              <a:off x="3287" y="1744"/>
              <a:ext cx="205" cy="250"/>
              <a:chOff x="2954" y="2425"/>
              <a:chExt cx="208" cy="250"/>
            </a:xfrm>
          </p:grpSpPr>
          <p:sp>
            <p:nvSpPr>
              <p:cNvPr id="1598" name="Google Shape;159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25"/>
            <p:cNvGrpSpPr/>
            <p:nvPr/>
          </p:nvGrpSpPr>
          <p:grpSpPr>
            <a:xfrm>
              <a:off x="4461" y="2128"/>
              <a:ext cx="196" cy="250"/>
              <a:chOff x="2958" y="2425"/>
              <a:chExt cx="199" cy="250"/>
            </a:xfrm>
          </p:grpSpPr>
          <p:sp>
            <p:nvSpPr>
              <p:cNvPr id="1601" name="Google Shape;160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3" name="Google Shape;1603;p25"/>
            <p:cNvGrpSpPr/>
            <p:nvPr/>
          </p:nvGrpSpPr>
          <p:grpSpPr>
            <a:xfrm>
              <a:off x="3772" y="2095"/>
              <a:ext cx="212" cy="288"/>
              <a:chOff x="2951" y="2395"/>
              <a:chExt cx="213" cy="288"/>
            </a:xfrm>
          </p:grpSpPr>
          <p:sp>
            <p:nvSpPr>
              <p:cNvPr id="1604" name="Google Shape;160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5" name="Google Shape;160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06" name="Google Shape;1606;p25"/>
            <p:cNvGrpSpPr/>
            <p:nvPr/>
          </p:nvGrpSpPr>
          <p:grpSpPr>
            <a:xfrm>
              <a:off x="4438" y="1438"/>
              <a:ext cx="232" cy="250"/>
              <a:chOff x="2941" y="2425"/>
              <a:chExt cx="235" cy="250"/>
            </a:xfrm>
          </p:grpSpPr>
          <p:sp>
            <p:nvSpPr>
              <p:cNvPr id="1607" name="Google Shape;160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8" name="Google Shape;160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9" name="Google Shape;1609;p25"/>
            <p:cNvGrpSpPr/>
            <p:nvPr/>
          </p:nvGrpSpPr>
          <p:grpSpPr>
            <a:xfrm>
              <a:off x="3771" y="1438"/>
              <a:ext cx="196" cy="250"/>
              <a:chOff x="2958" y="2425"/>
              <a:chExt cx="199" cy="250"/>
            </a:xfrm>
          </p:grpSpPr>
          <p:sp>
            <p:nvSpPr>
              <p:cNvPr id="1610" name="Google Shape;161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2" name="Google Shape;1612;p25"/>
            <p:cNvGrpSpPr/>
            <p:nvPr/>
          </p:nvGrpSpPr>
          <p:grpSpPr>
            <a:xfrm>
              <a:off x="5025" y="1756"/>
              <a:ext cx="212" cy="288"/>
              <a:chOff x="2949" y="2395"/>
              <a:chExt cx="214" cy="288"/>
            </a:xfrm>
          </p:grpSpPr>
          <p:sp>
            <p:nvSpPr>
              <p:cNvPr id="1613" name="Google Shape;161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  <p:sp>
          <p:nvSpPr>
            <p:cNvPr id="1615" name="Google Shape;1615;p25"/>
            <p:cNvSpPr txBox="1"/>
            <p:nvPr/>
          </p:nvSpPr>
          <p:spPr>
            <a:xfrm>
              <a:off x="3493" y="156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25"/>
            <p:cNvSpPr txBox="1"/>
            <p:nvPr/>
          </p:nvSpPr>
          <p:spPr>
            <a:xfrm>
              <a:off x="3841" y="178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25"/>
            <p:cNvSpPr txBox="1"/>
            <p:nvPr/>
          </p:nvSpPr>
          <p:spPr>
            <a:xfrm>
              <a:off x="3406" y="200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25"/>
            <p:cNvSpPr txBox="1"/>
            <p:nvPr/>
          </p:nvSpPr>
          <p:spPr>
            <a:xfrm>
              <a:off x="4225" y="188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25"/>
            <p:cNvSpPr txBox="1"/>
            <p:nvPr/>
          </p:nvSpPr>
          <p:spPr>
            <a:xfrm>
              <a:off x="4162" y="223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25"/>
            <p:cNvSpPr txBox="1"/>
            <p:nvPr/>
          </p:nvSpPr>
          <p:spPr>
            <a:xfrm>
              <a:off x="4522" y="18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25"/>
            <p:cNvSpPr txBox="1"/>
            <p:nvPr/>
          </p:nvSpPr>
          <p:spPr>
            <a:xfrm>
              <a:off x="4882" y="206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25"/>
            <p:cNvSpPr txBox="1"/>
            <p:nvPr/>
          </p:nvSpPr>
          <p:spPr>
            <a:xfrm>
              <a:off x="4855" y="153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25"/>
            <p:cNvSpPr txBox="1"/>
            <p:nvPr/>
          </p:nvSpPr>
          <p:spPr>
            <a:xfrm>
              <a:off x="4120" y="1382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25"/>
            <p:cNvSpPr txBox="1"/>
            <p:nvPr/>
          </p:nvSpPr>
          <p:spPr>
            <a:xfrm>
              <a:off x="3769" y="111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5" name="Google Shape;1625;p25"/>
          <p:cNvSpPr txBox="1"/>
          <p:nvPr/>
        </p:nvSpPr>
        <p:spPr>
          <a:xfrm>
            <a:off x="13837414" y="2958717"/>
            <a:ext cx="1284288" cy="1616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D(w),p(w)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5,u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4,x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3,y</a:t>
            </a:r>
            <a:endParaRPr/>
          </a:p>
        </p:txBody>
      </p:sp>
      <p:cxnSp>
        <p:nvCxnSpPr>
          <p:cNvPr id="1626" name="Google Shape;1626;p25"/>
          <p:cNvCxnSpPr>
            <a:endCxn id="1567" idx="2"/>
          </p:cNvCxnSpPr>
          <p:nvPr/>
        </p:nvCxnSpPr>
        <p:spPr>
          <a:xfrm>
            <a:off x="4666101" y="2789598"/>
            <a:ext cx="439500" cy="4287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7" name="Google Shape;1627;p25"/>
          <p:cNvCxnSpPr>
            <a:endCxn id="1578" idx="2"/>
          </p:cNvCxnSpPr>
          <p:nvPr/>
        </p:nvCxnSpPr>
        <p:spPr>
          <a:xfrm>
            <a:off x="5617051" y="3300598"/>
            <a:ext cx="587100" cy="66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8" name="Google Shape;1628;p25"/>
          <p:cNvCxnSpPr>
            <a:stCxn id="1562" idx="7"/>
          </p:cNvCxnSpPr>
          <p:nvPr/>
        </p:nvCxnSpPr>
        <p:spPr>
          <a:xfrm flipH="1" rot="10800000">
            <a:off x="4777246" y="2268615"/>
            <a:ext cx="502200" cy="28200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9" name="Google Shape;1629;p25"/>
          <p:cNvCxnSpPr/>
          <p:nvPr/>
        </p:nvCxnSpPr>
        <p:spPr>
          <a:xfrm rot="10800000">
            <a:off x="6452488" y="2233914"/>
            <a:ext cx="0" cy="883534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0" name="Google Shape;1630;p25"/>
          <p:cNvCxnSpPr/>
          <p:nvPr/>
        </p:nvCxnSpPr>
        <p:spPr>
          <a:xfrm flipH="1" rot="10800000">
            <a:off x="6715788" y="2822294"/>
            <a:ext cx="606730" cy="448060"/>
          </a:xfrm>
          <a:prstGeom prst="straightConnector1">
            <a:avLst/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631" name="Google Shape;1631;p25"/>
          <p:cNvGrpSpPr/>
          <p:nvPr/>
        </p:nvGrpSpPr>
        <p:grpSpPr>
          <a:xfrm>
            <a:off x="1182356" y="4594769"/>
            <a:ext cx="3244850" cy="1500187"/>
            <a:chOff x="1385" y="1283"/>
            <a:chExt cx="2044" cy="945"/>
          </a:xfrm>
        </p:grpSpPr>
        <p:sp>
          <p:nvSpPr>
            <p:cNvPr id="1632" name="Google Shape;1632;p25"/>
            <p:cNvSpPr/>
            <p:nvPr/>
          </p:nvSpPr>
          <p:spPr>
            <a:xfrm>
              <a:off x="1648" y="1465"/>
              <a:ext cx="342" cy="18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1388" y="1707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4" name="Google Shape;1634;p25"/>
            <p:cNvCxnSpPr/>
            <p:nvPr/>
          </p:nvCxnSpPr>
          <p:spPr>
            <a:xfrm>
              <a:off x="1388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5" name="Google Shape;1635;p25"/>
            <p:cNvCxnSpPr/>
            <p:nvPr/>
          </p:nvCxnSpPr>
          <p:spPr>
            <a:xfrm>
              <a:off x="1701" y="1700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6" name="Google Shape;1636;p25"/>
            <p:cNvSpPr/>
            <p:nvPr/>
          </p:nvSpPr>
          <p:spPr>
            <a:xfrm>
              <a:off x="1388" y="1700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1385" y="1641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1862" y="209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9" name="Google Shape;1639;p25"/>
            <p:cNvCxnSpPr/>
            <p:nvPr/>
          </p:nvCxnSpPr>
          <p:spPr>
            <a:xfrm>
              <a:off x="1862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0" name="Google Shape;1640;p25"/>
            <p:cNvCxnSpPr/>
            <p:nvPr/>
          </p:nvCxnSpPr>
          <p:spPr>
            <a:xfrm>
              <a:off x="2175" y="208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1" name="Google Shape;1641;p25"/>
            <p:cNvSpPr/>
            <p:nvPr/>
          </p:nvSpPr>
          <p:spPr>
            <a:xfrm>
              <a:off x="1862" y="208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1859" y="202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1858" y="140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4" name="Google Shape;1644;p25"/>
            <p:cNvCxnSpPr/>
            <p:nvPr/>
          </p:nvCxnSpPr>
          <p:spPr>
            <a:xfrm>
              <a:off x="1858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45" name="Google Shape;1645;p25"/>
            <p:cNvCxnSpPr/>
            <p:nvPr/>
          </p:nvCxnSpPr>
          <p:spPr>
            <a:xfrm>
              <a:off x="2171" y="13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6" name="Google Shape;1646;p25"/>
            <p:cNvSpPr/>
            <p:nvPr/>
          </p:nvSpPr>
          <p:spPr>
            <a:xfrm>
              <a:off x="1858" y="1397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1855" y="1338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25"/>
            <p:cNvSpPr/>
            <p:nvPr/>
          </p:nvSpPr>
          <p:spPr>
            <a:xfrm>
              <a:off x="2541" y="1400"/>
              <a:ext cx="312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9" name="Google Shape;1649;p25"/>
            <p:cNvCxnSpPr/>
            <p:nvPr/>
          </p:nvCxnSpPr>
          <p:spPr>
            <a:xfrm>
              <a:off x="2541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0" name="Google Shape;1650;p25"/>
            <p:cNvCxnSpPr/>
            <p:nvPr/>
          </p:nvCxnSpPr>
          <p:spPr>
            <a:xfrm>
              <a:off x="2853" y="139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1" name="Google Shape;1651;p25"/>
            <p:cNvSpPr/>
            <p:nvPr/>
          </p:nvSpPr>
          <p:spPr>
            <a:xfrm>
              <a:off x="2541" y="1393"/>
              <a:ext cx="309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2544" y="1337"/>
              <a:ext cx="312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2551" y="2091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4" name="Google Shape;1654;p25"/>
            <p:cNvCxnSpPr/>
            <p:nvPr/>
          </p:nvCxnSpPr>
          <p:spPr>
            <a:xfrm>
              <a:off x="2551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5" name="Google Shape;1655;p25"/>
            <p:cNvCxnSpPr/>
            <p:nvPr/>
          </p:nvCxnSpPr>
          <p:spPr>
            <a:xfrm>
              <a:off x="2864" y="2084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6" name="Google Shape;1656;p25"/>
            <p:cNvSpPr/>
            <p:nvPr/>
          </p:nvSpPr>
          <p:spPr>
            <a:xfrm>
              <a:off x="2551" y="2084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2548" y="2025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3116" y="175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59" name="Google Shape;1659;p25"/>
            <p:cNvCxnSpPr/>
            <p:nvPr/>
          </p:nvCxnSpPr>
          <p:spPr>
            <a:xfrm>
              <a:off x="3116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0" name="Google Shape;1660;p25"/>
            <p:cNvCxnSpPr/>
            <p:nvPr/>
          </p:nvCxnSpPr>
          <p:spPr>
            <a:xfrm>
              <a:off x="3429" y="1743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61" name="Google Shape;1661;p25"/>
            <p:cNvSpPr/>
            <p:nvPr/>
          </p:nvSpPr>
          <p:spPr>
            <a:xfrm>
              <a:off x="3116" y="174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3113" y="168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2707" y="1492"/>
              <a:ext cx="1" cy="522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2866" y="1831"/>
              <a:ext cx="366" cy="270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2185" y="2113"/>
              <a:ext cx="366" cy="1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1594" y="1789"/>
              <a:ext cx="276" cy="264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7" name="Google Shape;1667;p25"/>
            <p:cNvGrpSpPr/>
            <p:nvPr/>
          </p:nvGrpSpPr>
          <p:grpSpPr>
            <a:xfrm>
              <a:off x="1437" y="1589"/>
              <a:ext cx="205" cy="250"/>
              <a:chOff x="2954" y="2425"/>
              <a:chExt cx="208" cy="250"/>
            </a:xfrm>
          </p:grpSpPr>
          <p:sp>
            <p:nvSpPr>
              <p:cNvPr id="1668" name="Google Shape;1668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25"/>
              <p:cNvSpPr txBox="1"/>
              <p:nvPr/>
            </p:nvSpPr>
            <p:spPr>
              <a:xfrm>
                <a:off x="2954" y="2425"/>
                <a:ext cx="208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25"/>
            <p:cNvGrpSpPr/>
            <p:nvPr/>
          </p:nvGrpSpPr>
          <p:grpSpPr>
            <a:xfrm>
              <a:off x="2611" y="1973"/>
              <a:ext cx="196" cy="250"/>
              <a:chOff x="2958" y="2425"/>
              <a:chExt cx="199" cy="250"/>
            </a:xfrm>
          </p:grpSpPr>
          <p:sp>
            <p:nvSpPr>
              <p:cNvPr id="1671" name="Google Shape;1671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3" name="Google Shape;1673;p25"/>
            <p:cNvGrpSpPr/>
            <p:nvPr/>
          </p:nvGrpSpPr>
          <p:grpSpPr>
            <a:xfrm>
              <a:off x="1922" y="1940"/>
              <a:ext cx="212" cy="288"/>
              <a:chOff x="2951" y="2395"/>
              <a:chExt cx="213" cy="288"/>
            </a:xfrm>
          </p:grpSpPr>
          <p:sp>
            <p:nvSpPr>
              <p:cNvPr id="1674" name="Google Shape;1674;p25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25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  <p:grpSp>
          <p:nvGrpSpPr>
            <p:cNvPr id="1676" name="Google Shape;1676;p25"/>
            <p:cNvGrpSpPr/>
            <p:nvPr/>
          </p:nvGrpSpPr>
          <p:grpSpPr>
            <a:xfrm>
              <a:off x="2588" y="1283"/>
              <a:ext cx="232" cy="250"/>
              <a:chOff x="2941" y="2425"/>
              <a:chExt cx="235" cy="250"/>
            </a:xfrm>
          </p:grpSpPr>
          <p:sp>
            <p:nvSpPr>
              <p:cNvPr id="1677" name="Google Shape;1677;p25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25"/>
              <p:cNvSpPr txBox="1"/>
              <p:nvPr/>
            </p:nvSpPr>
            <p:spPr>
              <a:xfrm>
                <a:off x="2941" y="2425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9" name="Google Shape;1679;p25"/>
            <p:cNvGrpSpPr/>
            <p:nvPr/>
          </p:nvGrpSpPr>
          <p:grpSpPr>
            <a:xfrm>
              <a:off x="1921" y="1283"/>
              <a:ext cx="196" cy="250"/>
              <a:chOff x="2958" y="2425"/>
              <a:chExt cx="199" cy="250"/>
            </a:xfrm>
          </p:grpSpPr>
          <p:sp>
            <p:nvSpPr>
              <p:cNvPr id="1680" name="Google Shape;1680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25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82" name="Google Shape;1682;p25"/>
            <p:cNvGrpSpPr/>
            <p:nvPr/>
          </p:nvGrpSpPr>
          <p:grpSpPr>
            <a:xfrm>
              <a:off x="3175" y="1601"/>
              <a:ext cx="212" cy="288"/>
              <a:chOff x="2949" y="2395"/>
              <a:chExt cx="214" cy="288"/>
            </a:xfrm>
          </p:grpSpPr>
          <p:sp>
            <p:nvSpPr>
              <p:cNvPr id="1683" name="Google Shape;1683;p25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4" name="Google Shape;1684;p25"/>
              <p:cNvSpPr txBox="1"/>
              <p:nvPr/>
            </p:nvSpPr>
            <p:spPr>
              <a:xfrm>
                <a:off x="2949" y="2395"/>
                <a:ext cx="214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/>
              </a:p>
            </p:txBody>
          </p:sp>
        </p:grpSp>
      </p:grpSp>
      <p:sp>
        <p:nvSpPr>
          <p:cNvPr id="1685" name="Google Shape;1685;p25"/>
          <p:cNvSpPr txBox="1"/>
          <p:nvPr/>
        </p:nvSpPr>
        <p:spPr>
          <a:xfrm>
            <a:off x="441194" y="3975560"/>
            <a:ext cx="47521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resulting least-cost-path tree from u:</a:t>
            </a:r>
            <a:endParaRPr/>
          </a:p>
        </p:txBody>
      </p:sp>
      <p:grpSp>
        <p:nvGrpSpPr>
          <p:cNvPr id="1686" name="Google Shape;1686;p25"/>
          <p:cNvGrpSpPr/>
          <p:nvPr/>
        </p:nvGrpSpPr>
        <p:grpSpPr>
          <a:xfrm>
            <a:off x="5736310" y="3974818"/>
            <a:ext cx="4022768" cy="2583002"/>
            <a:chOff x="6731733" y="3986393"/>
            <a:chExt cx="4022768" cy="2583002"/>
          </a:xfrm>
        </p:grpSpPr>
        <p:sp>
          <p:nvSpPr>
            <p:cNvPr id="1687" name="Google Shape;1687;p25"/>
            <p:cNvSpPr txBox="1"/>
            <p:nvPr/>
          </p:nvSpPr>
          <p:spPr>
            <a:xfrm>
              <a:off x="6731733" y="3986393"/>
              <a:ext cx="402276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resulting forwarding table in u:</a:t>
              </a:r>
              <a:endParaRPr/>
            </a:p>
          </p:txBody>
        </p:sp>
        <p:grpSp>
          <p:nvGrpSpPr>
            <p:cNvPr id="1688" name="Google Shape;1688;p25"/>
            <p:cNvGrpSpPr/>
            <p:nvPr/>
          </p:nvGrpSpPr>
          <p:grpSpPr>
            <a:xfrm>
              <a:off x="7373074" y="4495305"/>
              <a:ext cx="2423080" cy="2074090"/>
              <a:chOff x="9178724" y="1740531"/>
              <a:chExt cx="2423080" cy="2074090"/>
            </a:xfrm>
          </p:grpSpPr>
          <p:sp>
            <p:nvSpPr>
              <p:cNvPr id="1689" name="Google Shape;1689;p25"/>
              <p:cNvSpPr/>
              <p:nvPr/>
            </p:nvSpPr>
            <p:spPr>
              <a:xfrm>
                <a:off x="9199418" y="1778000"/>
                <a:ext cx="2373746" cy="277091"/>
              </a:xfrm>
              <a:prstGeom prst="rect">
                <a:avLst/>
              </a:prstGeom>
              <a:solidFill>
                <a:srgbClr val="D8D8D8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5"/>
              <p:cNvSpPr/>
              <p:nvPr/>
            </p:nvSpPr>
            <p:spPr>
              <a:xfrm>
                <a:off x="9190298" y="1770927"/>
                <a:ext cx="2384385" cy="1979271"/>
              </a:xfrm>
              <a:prstGeom prst="rect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5"/>
              <p:cNvSpPr txBox="1"/>
              <p:nvPr/>
            </p:nvSpPr>
            <p:spPr>
              <a:xfrm>
                <a:off x="9572264" y="2060295"/>
                <a:ext cx="404277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5"/>
              <p:cNvSpPr txBox="1"/>
              <p:nvPr/>
            </p:nvSpPr>
            <p:spPr>
              <a:xfrm>
                <a:off x="10615914" y="2050649"/>
                <a:ext cx="748923" cy="17543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(u,v)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(u,x)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5"/>
              <p:cNvSpPr txBox="1"/>
              <p:nvPr/>
            </p:nvSpPr>
            <p:spPr>
              <a:xfrm>
                <a:off x="9220467" y="1747835"/>
                <a:ext cx="11230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destination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5"/>
              <p:cNvSpPr txBox="1"/>
              <p:nvPr/>
            </p:nvSpPr>
            <p:spPr>
              <a:xfrm>
                <a:off x="10338125" y="1740531"/>
                <a:ext cx="1263679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outgoing link</a:t>
                </a:r>
                <a:endParaRPr/>
              </a:p>
            </p:txBody>
          </p:sp>
          <p:cxnSp>
            <p:nvCxnSpPr>
              <p:cNvPr id="1695" name="Google Shape;1695;p25"/>
              <p:cNvCxnSpPr/>
              <p:nvPr/>
            </p:nvCxnSpPr>
            <p:spPr>
              <a:xfrm>
                <a:off x="9178724" y="2060293"/>
                <a:ext cx="239596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696" name="Google Shape;1696;p25"/>
              <p:cNvCxnSpPr/>
              <p:nvPr/>
            </p:nvCxnSpPr>
            <p:spPr>
              <a:xfrm>
                <a:off x="10359342" y="1770927"/>
                <a:ext cx="0" cy="199084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697" name="Google Shape;1697;p25"/>
          <p:cNvGrpSpPr/>
          <p:nvPr/>
        </p:nvGrpSpPr>
        <p:grpSpPr>
          <a:xfrm>
            <a:off x="8565265" y="4815068"/>
            <a:ext cx="3170508" cy="369332"/>
            <a:chOff x="8565265" y="4815068"/>
            <a:chExt cx="3170508" cy="369332"/>
          </a:xfrm>
        </p:grpSpPr>
        <p:sp>
          <p:nvSpPr>
            <p:cNvPr id="1698" name="Google Shape;1698;p25"/>
            <p:cNvSpPr txBox="1"/>
            <p:nvPr/>
          </p:nvSpPr>
          <p:spPr>
            <a:xfrm>
              <a:off x="9201874" y="4815068"/>
              <a:ext cx="25338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directly</a:t>
              </a:r>
              <a:endParaRPr/>
            </a:p>
          </p:txBody>
        </p:sp>
        <p:cxnSp>
          <p:nvCxnSpPr>
            <p:cNvPr id="1699" name="Google Shape;1699;p25"/>
            <p:cNvCxnSpPr/>
            <p:nvPr/>
          </p:nvCxnSpPr>
          <p:spPr>
            <a:xfrm>
              <a:off x="8565265" y="5000264"/>
              <a:ext cx="682907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700" name="Google Shape;1700;p25"/>
          <p:cNvGrpSpPr/>
          <p:nvPr/>
        </p:nvGrpSpPr>
        <p:grpSpPr>
          <a:xfrm>
            <a:off x="8877782" y="5197032"/>
            <a:ext cx="2372811" cy="1260926"/>
            <a:chOff x="8877782" y="5197032"/>
            <a:chExt cx="2372811" cy="1260926"/>
          </a:xfrm>
        </p:grpSpPr>
        <p:sp>
          <p:nvSpPr>
            <p:cNvPr id="1701" name="Google Shape;1701;p25"/>
            <p:cNvSpPr txBox="1"/>
            <p:nvPr/>
          </p:nvSpPr>
          <p:spPr>
            <a:xfrm>
              <a:off x="9215379" y="5534628"/>
              <a:ext cx="2035214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route from u to all other destinations via </a:t>
              </a:r>
              <a:r>
                <a:rPr i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1702" name="Google Shape;1702;p25"/>
            <p:cNvSpPr/>
            <p:nvPr/>
          </p:nvSpPr>
          <p:spPr>
            <a:xfrm>
              <a:off x="8877782" y="5197032"/>
              <a:ext cx="352218" cy="1238491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26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another example</a:t>
            </a:r>
            <a:endParaRPr/>
          </a:p>
        </p:txBody>
      </p:sp>
      <p:sp>
        <p:nvSpPr>
          <p:cNvPr id="1709" name="Google Shape;170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10" name="Google Shape;1710;p26"/>
          <p:cNvGrpSpPr/>
          <p:nvPr/>
        </p:nvGrpSpPr>
        <p:grpSpPr>
          <a:xfrm>
            <a:off x="7267328" y="1497821"/>
            <a:ext cx="4217987" cy="3361377"/>
            <a:chOff x="415" y="856"/>
            <a:chExt cx="2910" cy="2256"/>
          </a:xfrm>
        </p:grpSpPr>
        <p:grpSp>
          <p:nvGrpSpPr>
            <p:cNvPr id="1711" name="Google Shape;1711;p26"/>
            <p:cNvGrpSpPr/>
            <p:nvPr/>
          </p:nvGrpSpPr>
          <p:grpSpPr>
            <a:xfrm>
              <a:off x="1290" y="1997"/>
              <a:ext cx="316" cy="265"/>
              <a:chOff x="1613" y="2011"/>
              <a:chExt cx="316" cy="265"/>
            </a:xfrm>
          </p:grpSpPr>
          <p:sp>
            <p:nvSpPr>
              <p:cNvPr id="1712" name="Google Shape;1712;p26"/>
              <p:cNvSpPr/>
              <p:nvPr/>
            </p:nvSpPr>
            <p:spPr>
              <a:xfrm>
                <a:off x="1616" y="2138"/>
                <a:ext cx="311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13" name="Google Shape;1713;p26"/>
              <p:cNvCxnSpPr/>
              <p:nvPr/>
            </p:nvCxnSpPr>
            <p:spPr>
              <a:xfrm>
                <a:off x="1616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14" name="Google Shape;1714;p26"/>
              <p:cNvCxnSpPr/>
              <p:nvPr/>
            </p:nvCxnSpPr>
            <p:spPr>
              <a:xfrm>
                <a:off x="1929" y="2129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15" name="Google Shape;1715;p26"/>
              <p:cNvSpPr/>
              <p:nvPr/>
            </p:nvSpPr>
            <p:spPr>
              <a:xfrm>
                <a:off x="1616" y="2129"/>
                <a:ext cx="308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6" name="Google Shape;1716;p26"/>
              <p:cNvSpPr/>
              <p:nvPr/>
            </p:nvSpPr>
            <p:spPr>
              <a:xfrm>
                <a:off x="1613" y="2072"/>
                <a:ext cx="311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7" name="Google Shape;1717;p26"/>
              <p:cNvSpPr/>
              <p:nvPr/>
            </p:nvSpPr>
            <p:spPr>
              <a:xfrm>
                <a:off x="1686" y="2100"/>
                <a:ext cx="140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8" name="Google Shape;1718;p26"/>
              <p:cNvSpPr txBox="1"/>
              <p:nvPr/>
            </p:nvSpPr>
            <p:spPr>
              <a:xfrm>
                <a:off x="1633" y="2011"/>
                <a:ext cx="254" cy="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19" name="Google Shape;1719;p26"/>
            <p:cNvSpPr txBox="1"/>
            <p:nvPr/>
          </p:nvSpPr>
          <p:spPr>
            <a:xfrm>
              <a:off x="925" y="1959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26"/>
            <p:cNvSpPr txBox="1"/>
            <p:nvPr/>
          </p:nvSpPr>
          <p:spPr>
            <a:xfrm>
              <a:off x="1430" y="147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1" name="Google Shape;1721;p26"/>
            <p:cNvGrpSpPr/>
            <p:nvPr/>
          </p:nvGrpSpPr>
          <p:grpSpPr>
            <a:xfrm>
              <a:off x="1299" y="2848"/>
              <a:ext cx="316" cy="264"/>
              <a:chOff x="1613" y="2011"/>
              <a:chExt cx="316" cy="264"/>
            </a:xfrm>
          </p:grpSpPr>
          <p:sp>
            <p:nvSpPr>
              <p:cNvPr id="1722" name="Google Shape;1722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23" name="Google Shape;1723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4" name="Google Shape;1724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5" name="Google Shape;1725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6" name="Google Shape;1726;p26"/>
              <p:cNvSpPr/>
              <p:nvPr/>
            </p:nvSpPr>
            <p:spPr>
              <a:xfrm>
                <a:off x="1613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7" name="Google Shape;1727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8" name="Google Shape;1728;p26"/>
              <p:cNvSpPr txBox="1"/>
              <p:nvPr/>
            </p:nvSpPr>
            <p:spPr>
              <a:xfrm>
                <a:off x="1652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29" name="Google Shape;1729;p26"/>
            <p:cNvGrpSpPr/>
            <p:nvPr/>
          </p:nvGrpSpPr>
          <p:grpSpPr>
            <a:xfrm>
              <a:off x="1293" y="856"/>
              <a:ext cx="318" cy="266"/>
              <a:chOff x="1611" y="2011"/>
              <a:chExt cx="318" cy="266"/>
            </a:xfrm>
          </p:grpSpPr>
          <p:sp>
            <p:nvSpPr>
              <p:cNvPr id="1730" name="Google Shape;1730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1" name="Google Shape;1731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2" name="Google Shape;1732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33" name="Google Shape;1733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4" name="Google Shape;1734;p26"/>
              <p:cNvSpPr/>
              <p:nvPr/>
            </p:nvSpPr>
            <p:spPr>
              <a:xfrm>
                <a:off x="1611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5" name="Google Shape;1735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6" name="Google Shape;1736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7" name="Google Shape;1737;p26"/>
            <p:cNvGrpSpPr/>
            <p:nvPr/>
          </p:nvGrpSpPr>
          <p:grpSpPr>
            <a:xfrm>
              <a:off x="415" y="2028"/>
              <a:ext cx="318" cy="267"/>
              <a:chOff x="1613" y="2011"/>
              <a:chExt cx="318" cy="267"/>
            </a:xfrm>
          </p:grpSpPr>
          <p:sp>
            <p:nvSpPr>
              <p:cNvPr id="1738" name="Google Shape;1738;p26"/>
              <p:cNvSpPr/>
              <p:nvPr/>
            </p:nvSpPr>
            <p:spPr>
              <a:xfrm>
                <a:off x="1616" y="2138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39" name="Google Shape;1739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0" name="Google Shape;1740;p26"/>
              <p:cNvCxnSpPr/>
              <p:nvPr/>
            </p:nvCxnSpPr>
            <p:spPr>
              <a:xfrm>
                <a:off x="1931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41" name="Google Shape;1741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2" name="Google Shape;1742;p26"/>
              <p:cNvSpPr/>
              <p:nvPr/>
            </p:nvSpPr>
            <p:spPr>
              <a:xfrm>
                <a:off x="1613" y="2072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3" name="Google Shape;1743;p26"/>
              <p:cNvSpPr/>
              <p:nvPr/>
            </p:nvSpPr>
            <p:spPr>
              <a:xfrm>
                <a:off x="1687" y="2102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26"/>
              <p:cNvSpPr txBox="1"/>
              <p:nvPr/>
            </p:nvSpPr>
            <p:spPr>
              <a:xfrm>
                <a:off x="1648" y="2011"/>
                <a:ext cx="226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45" name="Google Shape;1745;p26"/>
            <p:cNvCxnSpPr/>
            <p:nvPr/>
          </p:nvCxnSpPr>
          <p:spPr>
            <a:xfrm>
              <a:off x="738" y="2156"/>
              <a:ext cx="63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6" name="Google Shape;1746;p26"/>
            <p:cNvCxnSpPr/>
            <p:nvPr/>
          </p:nvCxnSpPr>
          <p:spPr>
            <a:xfrm>
              <a:off x="1440" y="1082"/>
              <a:ext cx="0" cy="9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7" name="Google Shape;1747;p26"/>
            <p:cNvCxnSpPr/>
            <p:nvPr/>
          </p:nvCxnSpPr>
          <p:spPr>
            <a:xfrm flipH="1">
              <a:off x="614" y="1021"/>
              <a:ext cx="674" cy="108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8" name="Google Shape;1748;p26"/>
            <p:cNvSpPr txBox="1"/>
            <p:nvPr/>
          </p:nvSpPr>
          <p:spPr>
            <a:xfrm>
              <a:off x="772" y="1368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9" name="Google Shape;1749;p26"/>
            <p:cNvCxnSpPr/>
            <p:nvPr/>
          </p:nvCxnSpPr>
          <p:spPr>
            <a:xfrm>
              <a:off x="1447" y="2206"/>
              <a:ext cx="9" cy="71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0" name="Google Shape;1750;p26"/>
            <p:cNvSpPr txBox="1"/>
            <p:nvPr/>
          </p:nvSpPr>
          <p:spPr>
            <a:xfrm>
              <a:off x="1454" y="2407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601" y="2227"/>
              <a:ext cx="860" cy="799"/>
            </a:xfrm>
            <a:custGeom>
              <a:rect b="b" l="l" r="r" t="t"/>
              <a:pathLst>
                <a:path extrusionOk="0" h="10136" w="10032">
                  <a:moveTo>
                    <a:pt x="32" y="0"/>
                  </a:moveTo>
                  <a:cubicBezTo>
                    <a:pt x="62" y="4573"/>
                    <a:pt x="-465" y="5047"/>
                    <a:pt x="1834" y="7734"/>
                  </a:cubicBezTo>
                  <a:cubicBezTo>
                    <a:pt x="4132" y="9414"/>
                    <a:pt x="9320" y="10802"/>
                    <a:pt x="10032" y="979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26"/>
            <p:cNvSpPr txBox="1"/>
            <p:nvPr/>
          </p:nvSpPr>
          <p:spPr>
            <a:xfrm>
              <a:off x="768" y="2582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53" name="Google Shape;1753;p26"/>
            <p:cNvCxnSpPr/>
            <p:nvPr/>
          </p:nvCxnSpPr>
          <p:spPr>
            <a:xfrm flipH="1">
              <a:off x="1450" y="2158"/>
              <a:ext cx="998" cy="82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26"/>
            <p:cNvSpPr txBox="1"/>
            <p:nvPr/>
          </p:nvSpPr>
          <p:spPr>
            <a:xfrm>
              <a:off x="1896" y="2569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477" y="1946"/>
              <a:ext cx="991" cy="484"/>
            </a:xfrm>
            <a:custGeom>
              <a:rect b="b" l="l" r="r" t="t"/>
              <a:pathLst>
                <a:path extrusionOk="0" h="484" w="991">
                  <a:moveTo>
                    <a:pt x="0" y="168"/>
                  </a:moveTo>
                  <a:cubicBezTo>
                    <a:pt x="0" y="168"/>
                    <a:pt x="145" y="484"/>
                    <a:pt x="204" y="484"/>
                  </a:cubicBezTo>
                  <a:cubicBezTo>
                    <a:pt x="263" y="484"/>
                    <a:pt x="253" y="6"/>
                    <a:pt x="302" y="7"/>
                  </a:cubicBezTo>
                  <a:cubicBezTo>
                    <a:pt x="331" y="0"/>
                    <a:pt x="313" y="444"/>
                    <a:pt x="379" y="442"/>
                  </a:cubicBezTo>
                  <a:cubicBezTo>
                    <a:pt x="418" y="444"/>
                    <a:pt x="475" y="24"/>
                    <a:pt x="534" y="21"/>
                  </a:cubicBezTo>
                  <a:cubicBezTo>
                    <a:pt x="573" y="6"/>
                    <a:pt x="575" y="360"/>
                    <a:pt x="611" y="351"/>
                  </a:cubicBezTo>
                  <a:cubicBezTo>
                    <a:pt x="647" y="342"/>
                    <a:pt x="577" y="80"/>
                    <a:pt x="660" y="77"/>
                  </a:cubicBezTo>
                  <a:cubicBezTo>
                    <a:pt x="743" y="74"/>
                    <a:pt x="922" y="189"/>
                    <a:pt x="991" y="21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6" name="Google Shape;1756;p26"/>
            <p:cNvGrpSpPr/>
            <p:nvPr/>
          </p:nvGrpSpPr>
          <p:grpSpPr>
            <a:xfrm>
              <a:off x="2332" y="2021"/>
              <a:ext cx="316" cy="266"/>
              <a:chOff x="1613" y="2011"/>
              <a:chExt cx="316" cy="266"/>
            </a:xfrm>
          </p:grpSpPr>
          <p:sp>
            <p:nvSpPr>
              <p:cNvPr id="1757" name="Google Shape;1757;p26"/>
              <p:cNvSpPr/>
              <p:nvPr/>
            </p:nvSpPr>
            <p:spPr>
              <a:xfrm>
                <a:off x="1616" y="2136"/>
                <a:ext cx="313" cy="82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58" name="Google Shape;1758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9" name="Google Shape;1759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0" name="Google Shape;1760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1" name="Google Shape;1761;p26"/>
              <p:cNvSpPr/>
              <p:nvPr/>
            </p:nvSpPr>
            <p:spPr>
              <a:xfrm>
                <a:off x="1613" y="2070"/>
                <a:ext cx="313" cy="97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2" name="Google Shape;1762;p26"/>
              <p:cNvSpPr/>
              <p:nvPr/>
            </p:nvSpPr>
            <p:spPr>
              <a:xfrm>
                <a:off x="1687" y="2100"/>
                <a:ext cx="141" cy="103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3" name="Google Shape;1763;p26"/>
              <p:cNvSpPr txBox="1"/>
              <p:nvPr/>
            </p:nvSpPr>
            <p:spPr>
              <a:xfrm>
                <a:off x="1652" y="2011"/>
                <a:ext cx="215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y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64" name="Google Shape;1764;p26"/>
            <p:cNvSpPr txBox="1"/>
            <p:nvPr/>
          </p:nvSpPr>
          <p:spPr>
            <a:xfrm>
              <a:off x="1814" y="1721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65" name="Google Shape;1765;p26"/>
            <p:cNvGrpSpPr/>
            <p:nvPr/>
          </p:nvGrpSpPr>
          <p:grpSpPr>
            <a:xfrm>
              <a:off x="3007" y="2002"/>
              <a:ext cx="318" cy="264"/>
              <a:chOff x="1611" y="2011"/>
              <a:chExt cx="318" cy="264"/>
            </a:xfrm>
          </p:grpSpPr>
          <p:sp>
            <p:nvSpPr>
              <p:cNvPr id="1766" name="Google Shape;1766;p26"/>
              <p:cNvSpPr/>
              <p:nvPr/>
            </p:nvSpPr>
            <p:spPr>
              <a:xfrm>
                <a:off x="1616" y="213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767" name="Google Shape;1767;p26"/>
              <p:cNvCxnSpPr/>
              <p:nvPr/>
            </p:nvCxnSpPr>
            <p:spPr>
              <a:xfrm>
                <a:off x="1616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68" name="Google Shape;1768;p26"/>
              <p:cNvCxnSpPr/>
              <p:nvPr/>
            </p:nvCxnSpPr>
            <p:spPr>
              <a:xfrm>
                <a:off x="1929" y="213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69" name="Google Shape;1769;p26"/>
              <p:cNvSpPr/>
              <p:nvPr/>
            </p:nvSpPr>
            <p:spPr>
              <a:xfrm>
                <a:off x="1616" y="213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0" name="Google Shape;1770;p26"/>
              <p:cNvSpPr/>
              <p:nvPr/>
            </p:nvSpPr>
            <p:spPr>
              <a:xfrm>
                <a:off x="1611" y="207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1" name="Google Shape;1771;p26"/>
              <p:cNvSpPr/>
              <p:nvPr/>
            </p:nvSpPr>
            <p:spPr>
              <a:xfrm>
                <a:off x="1687" y="2100"/>
                <a:ext cx="141" cy="105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2" name="Google Shape;1772;p26"/>
              <p:cNvSpPr txBox="1"/>
              <p:nvPr/>
            </p:nvSpPr>
            <p:spPr>
              <a:xfrm>
                <a:off x="1653" y="2011"/>
                <a:ext cx="215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z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73" name="Google Shape;1773;p26"/>
            <p:cNvCxnSpPr/>
            <p:nvPr/>
          </p:nvCxnSpPr>
          <p:spPr>
            <a:xfrm>
              <a:off x="2640" y="2149"/>
              <a:ext cx="35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4" name="Google Shape;1774;p26"/>
            <p:cNvSpPr txBox="1"/>
            <p:nvPr/>
          </p:nvSpPr>
          <p:spPr>
            <a:xfrm>
              <a:off x="2706" y="2149"/>
              <a:ext cx="215" cy="2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75" name="Google Shape;1775;p26"/>
            <p:cNvCxnSpPr/>
            <p:nvPr/>
          </p:nvCxnSpPr>
          <p:spPr>
            <a:xfrm>
              <a:off x="1503" y="990"/>
              <a:ext cx="965" cy="113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6" name="Google Shape;1776;p26"/>
            <p:cNvSpPr txBox="1"/>
            <p:nvPr/>
          </p:nvSpPr>
          <p:spPr>
            <a:xfrm>
              <a:off x="1919" y="1343"/>
              <a:ext cx="216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1489" y="976"/>
              <a:ext cx="28" cy="14"/>
            </a:xfrm>
            <a:custGeom>
              <a:rect b="b" l="l" r="r" t="t"/>
              <a:pathLst>
                <a:path extrusionOk="0" h="14" w="28">
                  <a:moveTo>
                    <a:pt x="0" y="14"/>
                  </a:moveTo>
                  <a:cubicBezTo>
                    <a:pt x="9" y="9"/>
                    <a:pt x="28" y="0"/>
                    <a:pt x="28" y="0"/>
                  </a:cubicBezTo>
                  <a:cubicBezTo>
                    <a:pt x="28" y="0"/>
                    <a:pt x="9" y="9"/>
                    <a:pt x="0" y="14"/>
                  </a:cubicBezTo>
                  <a:close/>
                </a:path>
              </a:pathLst>
            </a:cu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1623" y="999"/>
              <a:ext cx="1510" cy="1052"/>
            </a:xfrm>
            <a:custGeom>
              <a:rect b="b" l="l" r="r" t="t"/>
              <a:pathLst>
                <a:path extrusionOk="0" h="1052" w="1510">
                  <a:moveTo>
                    <a:pt x="0" y="5"/>
                  </a:moveTo>
                  <a:cubicBezTo>
                    <a:pt x="184" y="33"/>
                    <a:pt x="851" y="0"/>
                    <a:pt x="1102" y="174"/>
                  </a:cubicBezTo>
                  <a:cubicBezTo>
                    <a:pt x="1353" y="348"/>
                    <a:pt x="1425" y="869"/>
                    <a:pt x="1510" y="105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26"/>
            <p:cNvSpPr txBox="1"/>
            <p:nvPr/>
          </p:nvSpPr>
          <p:spPr>
            <a:xfrm>
              <a:off x="2680" y="1008"/>
              <a:ext cx="215" cy="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0" name="Google Shape;1780;p26"/>
          <p:cNvSpPr txBox="1"/>
          <p:nvPr/>
        </p:nvSpPr>
        <p:spPr>
          <a:xfrm>
            <a:off x="593232" y="1792545"/>
            <a:ext cx="81791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26"/>
          <p:cNvSpPr txBox="1"/>
          <p:nvPr/>
        </p:nvSpPr>
        <p:spPr>
          <a:xfrm>
            <a:off x="1661579" y="1793419"/>
            <a:ext cx="4667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N'</a:t>
            </a:r>
            <a:endParaRPr/>
          </a:p>
        </p:txBody>
      </p:sp>
      <p:sp>
        <p:nvSpPr>
          <p:cNvPr id="1782" name="Google Shape;1782;p26"/>
          <p:cNvSpPr txBox="1"/>
          <p:nvPr/>
        </p:nvSpPr>
        <p:spPr>
          <a:xfrm>
            <a:off x="2373738" y="164471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p(v)</a:t>
            </a:r>
            <a:endParaRPr/>
          </a:p>
        </p:txBody>
      </p:sp>
      <p:sp>
        <p:nvSpPr>
          <p:cNvPr id="1783" name="Google Shape;1783;p26"/>
          <p:cNvSpPr txBox="1"/>
          <p:nvPr/>
        </p:nvSpPr>
        <p:spPr>
          <a:xfrm>
            <a:off x="785268" y="228010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784" name="Google Shape;1784;p26"/>
          <p:cNvSpPr txBox="1"/>
          <p:nvPr/>
        </p:nvSpPr>
        <p:spPr>
          <a:xfrm>
            <a:off x="770326" y="271538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785" name="Google Shape;1785;p26"/>
          <p:cNvSpPr txBox="1"/>
          <p:nvPr/>
        </p:nvSpPr>
        <p:spPr>
          <a:xfrm>
            <a:off x="767972" y="319393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786" name="Google Shape;1786;p26"/>
          <p:cNvSpPr txBox="1"/>
          <p:nvPr/>
        </p:nvSpPr>
        <p:spPr>
          <a:xfrm>
            <a:off x="765563" y="3622020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787" name="Google Shape;1787;p26"/>
          <p:cNvSpPr txBox="1"/>
          <p:nvPr/>
        </p:nvSpPr>
        <p:spPr>
          <a:xfrm>
            <a:off x="762130" y="4110058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788" name="Google Shape;1788;p26"/>
          <p:cNvSpPr txBox="1"/>
          <p:nvPr/>
        </p:nvSpPr>
        <p:spPr>
          <a:xfrm>
            <a:off x="760856" y="455104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789" name="Google Shape;1789;p26"/>
          <p:cNvSpPr txBox="1"/>
          <p:nvPr/>
        </p:nvSpPr>
        <p:spPr>
          <a:xfrm>
            <a:off x="3207477" y="1647177"/>
            <a:ext cx="688010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p(w)</a:t>
            </a:r>
            <a:endParaRPr/>
          </a:p>
        </p:txBody>
      </p:sp>
      <p:sp>
        <p:nvSpPr>
          <p:cNvPr id="1790" name="Google Shape;1790;p26"/>
          <p:cNvSpPr txBox="1"/>
          <p:nvPr/>
        </p:nvSpPr>
        <p:spPr>
          <a:xfrm>
            <a:off x="4098638" y="1647176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p(x)</a:t>
            </a:r>
            <a:endParaRPr/>
          </a:p>
        </p:txBody>
      </p:sp>
      <p:sp>
        <p:nvSpPr>
          <p:cNvPr id="1791" name="Google Shape;1791;p26"/>
          <p:cNvSpPr txBox="1"/>
          <p:nvPr/>
        </p:nvSpPr>
        <p:spPr>
          <a:xfrm>
            <a:off x="4934206" y="1652652"/>
            <a:ext cx="64152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p(y)</a:t>
            </a:r>
            <a:endParaRPr/>
          </a:p>
        </p:txBody>
      </p:sp>
      <p:sp>
        <p:nvSpPr>
          <p:cNvPr id="1792" name="Google Shape;1792;p26"/>
          <p:cNvSpPr txBox="1"/>
          <p:nvPr/>
        </p:nvSpPr>
        <p:spPr>
          <a:xfrm>
            <a:off x="5771830" y="1651940"/>
            <a:ext cx="630302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D(</a:t>
            </a:r>
            <a:r>
              <a:rPr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p(z)</a:t>
            </a:r>
            <a:endParaRPr/>
          </a:p>
        </p:txBody>
      </p:sp>
      <p:cxnSp>
        <p:nvCxnSpPr>
          <p:cNvPr id="1793" name="Google Shape;1793;p26"/>
          <p:cNvCxnSpPr/>
          <p:nvPr/>
        </p:nvCxnSpPr>
        <p:spPr>
          <a:xfrm>
            <a:off x="939397" y="2690590"/>
            <a:ext cx="5150117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4" name="Google Shape;1794;p26"/>
          <p:cNvSpPr txBox="1"/>
          <p:nvPr/>
        </p:nvSpPr>
        <p:spPr>
          <a:xfrm>
            <a:off x="1766343" y="2270575"/>
            <a:ext cx="327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endParaRPr/>
          </a:p>
        </p:txBody>
      </p:sp>
      <p:cxnSp>
        <p:nvCxnSpPr>
          <p:cNvPr id="1795" name="Google Shape;1795;p26"/>
          <p:cNvCxnSpPr/>
          <p:nvPr/>
        </p:nvCxnSpPr>
        <p:spPr>
          <a:xfrm>
            <a:off x="871302" y="3151241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26"/>
          <p:cNvCxnSpPr/>
          <p:nvPr/>
        </p:nvCxnSpPr>
        <p:spPr>
          <a:xfrm>
            <a:off x="871302" y="3618848"/>
            <a:ext cx="5224698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7" name="Google Shape;1797;p26"/>
          <p:cNvCxnSpPr/>
          <p:nvPr/>
        </p:nvCxnSpPr>
        <p:spPr>
          <a:xfrm>
            <a:off x="818428" y="4551040"/>
            <a:ext cx="5277571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8" name="Google Shape;1798;p26"/>
          <p:cNvCxnSpPr/>
          <p:nvPr/>
        </p:nvCxnSpPr>
        <p:spPr>
          <a:xfrm>
            <a:off x="866540" y="4075166"/>
            <a:ext cx="5229460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26"/>
          <p:cNvCxnSpPr/>
          <p:nvPr/>
        </p:nvCxnSpPr>
        <p:spPr>
          <a:xfrm>
            <a:off x="866016" y="5009992"/>
            <a:ext cx="5229984" cy="0"/>
          </a:xfrm>
          <a:prstGeom prst="straightConnector1">
            <a:avLst/>
          </a:prstGeom>
          <a:noFill/>
          <a:ln cap="flat" cmpd="sng" w="12700">
            <a:solidFill>
              <a:srgbClr val="A5A5A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0" name="Google Shape;1800;p26"/>
          <p:cNvGrpSpPr/>
          <p:nvPr/>
        </p:nvGrpSpPr>
        <p:grpSpPr>
          <a:xfrm>
            <a:off x="2400069" y="2268766"/>
            <a:ext cx="3937006" cy="409575"/>
            <a:chOff x="1329" y="1036"/>
            <a:chExt cx="2480" cy="258"/>
          </a:xfrm>
        </p:grpSpPr>
        <p:sp>
          <p:nvSpPr>
            <p:cNvPr id="1801" name="Google Shape;1801;p26"/>
            <p:cNvSpPr txBox="1"/>
            <p:nvPr/>
          </p:nvSpPr>
          <p:spPr>
            <a:xfrm>
              <a:off x="3509" y="1036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26"/>
            <p:cNvSpPr txBox="1"/>
            <p:nvPr/>
          </p:nvSpPr>
          <p:spPr>
            <a:xfrm>
              <a:off x="2989" y="1042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26"/>
            <p:cNvSpPr txBox="1"/>
            <p:nvPr/>
          </p:nvSpPr>
          <p:spPr>
            <a:xfrm>
              <a:off x="1329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7,u</a:t>
              </a:r>
              <a:endParaRPr/>
            </a:p>
          </p:txBody>
        </p:sp>
        <p:sp>
          <p:nvSpPr>
            <p:cNvPr id="1804" name="Google Shape;1804;p26"/>
            <p:cNvSpPr txBox="1"/>
            <p:nvPr/>
          </p:nvSpPr>
          <p:spPr>
            <a:xfrm>
              <a:off x="1855" y="1041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3,u</a:t>
              </a:r>
              <a:endParaRPr/>
            </a:p>
          </p:txBody>
        </p:sp>
        <p:sp>
          <p:nvSpPr>
            <p:cNvPr id="1805" name="Google Shape;1805;p26"/>
            <p:cNvSpPr txBox="1"/>
            <p:nvPr/>
          </p:nvSpPr>
          <p:spPr>
            <a:xfrm>
              <a:off x="2407" y="1038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sp>
        <p:nvSpPr>
          <p:cNvPr id="1806" name="Google Shape;1806;p26"/>
          <p:cNvSpPr txBox="1"/>
          <p:nvPr/>
        </p:nvSpPr>
        <p:spPr>
          <a:xfrm>
            <a:off x="1595504" y="2721633"/>
            <a:ext cx="51328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</a:t>
            </a:r>
            <a:endParaRPr/>
          </a:p>
        </p:txBody>
      </p:sp>
      <p:grpSp>
        <p:nvGrpSpPr>
          <p:cNvPr id="1807" name="Google Shape;1807;p26"/>
          <p:cNvGrpSpPr/>
          <p:nvPr/>
        </p:nvGrpSpPr>
        <p:grpSpPr>
          <a:xfrm>
            <a:off x="2409590" y="2707832"/>
            <a:ext cx="3933824" cy="420688"/>
            <a:chOff x="1328" y="1004"/>
            <a:chExt cx="2478" cy="265"/>
          </a:xfrm>
        </p:grpSpPr>
        <p:sp>
          <p:nvSpPr>
            <p:cNvPr id="1808" name="Google Shape;1808;p26"/>
            <p:cNvSpPr txBox="1"/>
            <p:nvPr/>
          </p:nvSpPr>
          <p:spPr>
            <a:xfrm>
              <a:off x="3506" y="1004"/>
              <a:ext cx="30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omic Sans MS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∞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26"/>
            <p:cNvSpPr txBox="1"/>
            <p:nvPr/>
          </p:nvSpPr>
          <p:spPr>
            <a:xfrm>
              <a:off x="2880" y="1014"/>
              <a:ext cx="48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,w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1" name="Google Shape;1811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26"/>
            <p:cNvSpPr txBox="1"/>
            <p:nvPr/>
          </p:nvSpPr>
          <p:spPr>
            <a:xfrm>
              <a:off x="2400" y="1013"/>
              <a:ext cx="34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5,u</a:t>
              </a:r>
              <a:endParaRPr/>
            </a:p>
          </p:txBody>
        </p:sp>
      </p:grpSp>
      <p:grpSp>
        <p:nvGrpSpPr>
          <p:cNvPr id="1813" name="Google Shape;1813;p26"/>
          <p:cNvGrpSpPr/>
          <p:nvPr/>
        </p:nvGrpSpPr>
        <p:grpSpPr>
          <a:xfrm>
            <a:off x="2398427" y="3156225"/>
            <a:ext cx="4005263" cy="414336"/>
            <a:chOff x="1328" y="1008"/>
            <a:chExt cx="2523" cy="261"/>
          </a:xfrm>
        </p:grpSpPr>
        <p:sp>
          <p:nvSpPr>
            <p:cNvPr id="1814" name="Google Shape;1814;p26"/>
            <p:cNvSpPr txBox="1"/>
            <p:nvPr/>
          </p:nvSpPr>
          <p:spPr>
            <a:xfrm>
              <a:off x="3403" y="1011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15" name="Google Shape;1815;p26"/>
            <p:cNvSpPr txBox="1"/>
            <p:nvPr/>
          </p:nvSpPr>
          <p:spPr>
            <a:xfrm>
              <a:off x="2885" y="1008"/>
              <a:ext cx="48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11,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26"/>
            <p:cNvSpPr txBox="1"/>
            <p:nvPr/>
          </p:nvSpPr>
          <p:spPr>
            <a:xfrm>
              <a:off x="1328" y="1017"/>
              <a:ext cx="36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6,w</a:t>
              </a:r>
              <a:endParaRPr/>
            </a:p>
          </p:txBody>
        </p:sp>
        <p:sp>
          <p:nvSpPr>
            <p:cNvPr id="1817" name="Google Shape;1817;p26"/>
            <p:cNvSpPr txBox="1"/>
            <p:nvPr/>
          </p:nvSpPr>
          <p:spPr>
            <a:xfrm>
              <a:off x="1987" y="1015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26"/>
            <p:cNvSpPr txBox="1"/>
            <p:nvPr/>
          </p:nvSpPr>
          <p:spPr>
            <a:xfrm>
              <a:off x="2390" y="1016"/>
              <a:ext cx="116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19" name="Google Shape;1819;p26"/>
          <p:cNvSpPr/>
          <p:nvPr/>
        </p:nvSpPr>
        <p:spPr>
          <a:xfrm>
            <a:off x="3192476" y="2263739"/>
            <a:ext cx="661410" cy="406374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0" name="Google Shape;1820;p26"/>
          <p:cNvSpPr/>
          <p:nvPr/>
        </p:nvSpPr>
        <p:spPr>
          <a:xfrm>
            <a:off x="4050170" y="2719263"/>
            <a:ext cx="679816" cy="406932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1" name="Google Shape;1821;p26"/>
          <p:cNvSpPr txBox="1"/>
          <p:nvPr/>
        </p:nvSpPr>
        <p:spPr>
          <a:xfrm>
            <a:off x="1479143" y="3195058"/>
            <a:ext cx="64152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</a:t>
            </a:r>
            <a:endParaRPr/>
          </a:p>
        </p:txBody>
      </p:sp>
      <p:sp>
        <p:nvSpPr>
          <p:cNvPr id="1822" name="Google Shape;1822;p26"/>
          <p:cNvSpPr/>
          <p:nvPr/>
        </p:nvSpPr>
        <p:spPr>
          <a:xfrm>
            <a:off x="2374191" y="3175054"/>
            <a:ext cx="665830" cy="42509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3" name="Google Shape;1823;p26"/>
          <p:cNvSpPr txBox="1"/>
          <p:nvPr/>
        </p:nvSpPr>
        <p:spPr>
          <a:xfrm>
            <a:off x="1373894" y="3653711"/>
            <a:ext cx="7623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</a:t>
            </a:r>
            <a:endParaRPr/>
          </a:p>
        </p:txBody>
      </p:sp>
      <p:grpSp>
        <p:nvGrpSpPr>
          <p:cNvPr id="1824" name="Google Shape;1824;p26"/>
          <p:cNvGrpSpPr/>
          <p:nvPr/>
        </p:nvGrpSpPr>
        <p:grpSpPr>
          <a:xfrm>
            <a:off x="4873416" y="3639944"/>
            <a:ext cx="1544638" cy="400050"/>
            <a:chOff x="1851" y="2756"/>
            <a:chExt cx="973" cy="252"/>
          </a:xfrm>
        </p:grpSpPr>
        <p:sp>
          <p:nvSpPr>
            <p:cNvPr id="1825" name="Google Shape;1825;p26"/>
            <p:cNvSpPr txBox="1"/>
            <p:nvPr/>
          </p:nvSpPr>
          <p:spPr>
            <a:xfrm>
              <a:off x="2376" y="2756"/>
              <a:ext cx="4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,x </a:t>
              </a:r>
              <a:endParaRPr/>
            </a:p>
          </p:txBody>
        </p:sp>
        <p:sp>
          <p:nvSpPr>
            <p:cNvPr id="1826" name="Google Shape;1826;p26"/>
            <p:cNvSpPr txBox="1"/>
            <p:nvPr/>
          </p:nvSpPr>
          <p:spPr>
            <a:xfrm>
              <a:off x="1851" y="2756"/>
              <a:ext cx="44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10,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 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7" name="Google Shape;1827;p26"/>
          <p:cNvSpPr/>
          <p:nvPr/>
        </p:nvSpPr>
        <p:spPr>
          <a:xfrm>
            <a:off x="4848116" y="3652013"/>
            <a:ext cx="676583" cy="393367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28" name="Google Shape;1828;p26"/>
          <p:cNvSpPr txBox="1"/>
          <p:nvPr/>
        </p:nvSpPr>
        <p:spPr>
          <a:xfrm>
            <a:off x="1295811" y="4107137"/>
            <a:ext cx="8980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</a:t>
            </a:r>
            <a:endParaRPr/>
          </a:p>
        </p:txBody>
      </p:sp>
      <p:sp>
        <p:nvSpPr>
          <p:cNvPr id="1829" name="Google Shape;1829;p26"/>
          <p:cNvSpPr txBox="1"/>
          <p:nvPr/>
        </p:nvSpPr>
        <p:spPr>
          <a:xfrm>
            <a:off x="5621287" y="4095635"/>
            <a:ext cx="70770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,y </a:t>
            </a:r>
            <a:endParaRPr/>
          </a:p>
        </p:txBody>
      </p:sp>
      <p:sp>
        <p:nvSpPr>
          <p:cNvPr id="1830" name="Google Shape;1830;p26"/>
          <p:cNvSpPr/>
          <p:nvPr/>
        </p:nvSpPr>
        <p:spPr>
          <a:xfrm>
            <a:off x="5669111" y="4130222"/>
            <a:ext cx="707756" cy="389115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31" name="Google Shape;1831;p26"/>
          <p:cNvSpPr/>
          <p:nvPr/>
        </p:nvSpPr>
        <p:spPr>
          <a:xfrm>
            <a:off x="1229773" y="5251763"/>
            <a:ext cx="8910647" cy="1421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notes: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least-cost-path tree by tracing predecessor nodes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ties can exist (can be broken arbitrarily)</a:t>
            </a:r>
            <a:endParaRPr/>
          </a:p>
        </p:txBody>
      </p:sp>
      <p:cxnSp>
        <p:nvCxnSpPr>
          <p:cNvPr id="1832" name="Google Shape;1832;p26"/>
          <p:cNvCxnSpPr/>
          <p:nvPr/>
        </p:nvCxnSpPr>
        <p:spPr>
          <a:xfrm>
            <a:off x="10477917" y="3471860"/>
            <a:ext cx="59055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3" name="Google Shape;1833;p26"/>
          <p:cNvCxnSpPr/>
          <p:nvPr/>
        </p:nvCxnSpPr>
        <p:spPr>
          <a:xfrm flipH="1" rot="10800000">
            <a:off x="8821087" y="3483435"/>
            <a:ext cx="1463675" cy="120491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4" name="Google Shape;1834;p26"/>
          <p:cNvCxnSpPr/>
          <p:nvPr/>
        </p:nvCxnSpPr>
        <p:spPr>
          <a:xfrm>
            <a:off x="8718966" y="3539863"/>
            <a:ext cx="9525" cy="104775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5" name="Google Shape;1835;p26"/>
          <p:cNvCxnSpPr/>
          <p:nvPr/>
        </p:nvCxnSpPr>
        <p:spPr>
          <a:xfrm flipH="1" rot="10800000">
            <a:off x="7577755" y="1754709"/>
            <a:ext cx="1012825" cy="1628775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26"/>
          <p:cNvCxnSpPr/>
          <p:nvPr/>
        </p:nvCxnSpPr>
        <p:spPr>
          <a:xfrm>
            <a:off x="7693502" y="3475036"/>
            <a:ext cx="944562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7" name="Google Shape;1837;p26"/>
          <p:cNvSpPr txBox="1"/>
          <p:nvPr/>
        </p:nvSpPr>
        <p:spPr>
          <a:xfrm>
            <a:off x="1138922" y="4584970"/>
            <a:ext cx="10262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uwxvyz</a:t>
            </a:r>
            <a:endParaRPr/>
          </a:p>
        </p:txBody>
      </p:sp>
      <p:cxnSp>
        <p:nvCxnSpPr>
          <p:cNvPr id="1838" name="Google Shape;1838;p26"/>
          <p:cNvCxnSpPr/>
          <p:nvPr/>
        </p:nvCxnSpPr>
        <p:spPr>
          <a:xfrm>
            <a:off x="668005" y="2233984"/>
            <a:ext cx="5645188" cy="0"/>
          </a:xfrm>
          <a:prstGeom prst="straightConnector1">
            <a:avLst/>
          </a:prstGeom>
          <a:noFill/>
          <a:ln cap="flat" cmpd="sng" w="2540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9" name="Google Shape;1839;p26"/>
          <p:cNvSpPr txBox="1"/>
          <p:nvPr/>
        </p:nvSpPr>
        <p:spPr>
          <a:xfrm>
            <a:off x="2529460" y="1384347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1840" name="Google Shape;1840;p26"/>
          <p:cNvSpPr txBox="1"/>
          <p:nvPr/>
        </p:nvSpPr>
        <p:spPr>
          <a:xfrm>
            <a:off x="3373839" y="138228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/>
          </a:p>
        </p:txBody>
      </p:sp>
      <p:sp>
        <p:nvSpPr>
          <p:cNvPr id="1841" name="Google Shape;1841;p26"/>
          <p:cNvSpPr txBox="1"/>
          <p:nvPr/>
        </p:nvSpPr>
        <p:spPr>
          <a:xfrm>
            <a:off x="4255287" y="138022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1842" name="Google Shape;1842;p26"/>
          <p:cNvSpPr txBox="1"/>
          <p:nvPr/>
        </p:nvSpPr>
        <p:spPr>
          <a:xfrm>
            <a:off x="5099667" y="137816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/>
          </a:p>
        </p:txBody>
      </p:sp>
      <p:sp>
        <p:nvSpPr>
          <p:cNvPr id="1843" name="Google Shape;1843;p26"/>
          <p:cNvSpPr txBox="1"/>
          <p:nvPr/>
        </p:nvSpPr>
        <p:spPr>
          <a:xfrm>
            <a:off x="5968759" y="1376108"/>
            <a:ext cx="370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endParaRPr/>
          </a:p>
        </p:txBody>
      </p:sp>
      <p:grpSp>
        <p:nvGrpSpPr>
          <p:cNvPr id="1844" name="Google Shape;1844;p26"/>
          <p:cNvGrpSpPr/>
          <p:nvPr/>
        </p:nvGrpSpPr>
        <p:grpSpPr>
          <a:xfrm>
            <a:off x="1771136" y="1428236"/>
            <a:ext cx="1923534" cy="1652716"/>
            <a:chOff x="1771136" y="1428236"/>
            <a:chExt cx="1923534" cy="1652716"/>
          </a:xfrm>
        </p:grpSpPr>
        <p:sp>
          <p:nvSpPr>
            <p:cNvPr id="1845" name="Google Shape;1845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46" name="Google Shape;1846;p26"/>
            <p:cNvCxnSpPr/>
            <p:nvPr/>
          </p:nvCxnSpPr>
          <p:spPr>
            <a:xfrm flipH="1">
              <a:off x="2007973" y="1686697"/>
              <a:ext cx="1414851" cy="1143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47" name="Google Shape;1847;p26"/>
            <p:cNvSpPr/>
            <p:nvPr/>
          </p:nvSpPr>
          <p:spPr>
            <a:xfrm>
              <a:off x="1771136" y="278542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26"/>
          <p:cNvGrpSpPr/>
          <p:nvPr/>
        </p:nvGrpSpPr>
        <p:grpSpPr>
          <a:xfrm>
            <a:off x="1812326" y="1419997"/>
            <a:ext cx="2739080" cy="2146986"/>
            <a:chOff x="955590" y="1428236"/>
            <a:chExt cx="2739080" cy="2146986"/>
          </a:xfrm>
        </p:grpSpPr>
        <p:sp>
          <p:nvSpPr>
            <p:cNvPr id="1849" name="Google Shape;1849;p26"/>
            <p:cNvSpPr/>
            <p:nvPr/>
          </p:nvSpPr>
          <p:spPr>
            <a:xfrm>
              <a:off x="3379574" y="1428236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0" name="Google Shape;1850;p26"/>
            <p:cNvCxnSpPr>
              <a:endCxn id="1851" idx="7"/>
            </p:cNvCxnSpPr>
            <p:nvPr/>
          </p:nvCxnSpPr>
          <p:spPr>
            <a:xfrm flipH="1">
              <a:off x="1224541" y="1686770"/>
              <a:ext cx="2198400" cy="16362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1" name="Google Shape;1851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26"/>
          <p:cNvGrpSpPr/>
          <p:nvPr/>
        </p:nvGrpSpPr>
        <p:grpSpPr>
          <a:xfrm>
            <a:off x="1853514" y="1417939"/>
            <a:ext cx="990599" cy="2598007"/>
            <a:chOff x="955590" y="977215"/>
            <a:chExt cx="990599" cy="2598007"/>
          </a:xfrm>
        </p:grpSpPr>
        <p:sp>
          <p:nvSpPr>
            <p:cNvPr id="1853" name="Google Shape;1853;p26"/>
            <p:cNvSpPr/>
            <p:nvPr/>
          </p:nvSpPr>
          <p:spPr>
            <a:xfrm>
              <a:off x="1631093" y="977215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4" name="Google Shape;1854;p26"/>
            <p:cNvCxnSpPr>
              <a:stCxn id="1853" idx="4"/>
              <a:endCxn id="1855" idx="0"/>
            </p:cNvCxnSpPr>
            <p:nvPr/>
          </p:nvCxnSpPr>
          <p:spPr>
            <a:xfrm flipH="1">
              <a:off x="1113041" y="1272747"/>
              <a:ext cx="675600" cy="20070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5" name="Google Shape;1855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6" name="Google Shape;1856;p26"/>
          <p:cNvGrpSpPr/>
          <p:nvPr/>
        </p:nvGrpSpPr>
        <p:grpSpPr>
          <a:xfrm>
            <a:off x="1915299" y="1436471"/>
            <a:ext cx="3480486" cy="3049030"/>
            <a:chOff x="955590" y="526192"/>
            <a:chExt cx="3480486" cy="3049030"/>
          </a:xfrm>
        </p:grpSpPr>
        <p:sp>
          <p:nvSpPr>
            <p:cNvPr id="1857" name="Google Shape;1857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58" name="Google Shape;1858;p26"/>
            <p:cNvCxnSpPr>
              <a:stCxn id="1857" idx="3"/>
              <a:endCxn id="1859" idx="7"/>
            </p:cNvCxnSpPr>
            <p:nvPr/>
          </p:nvCxnSpPr>
          <p:spPr>
            <a:xfrm flipH="1">
              <a:off x="1224425" y="778444"/>
              <a:ext cx="2942700" cy="25446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59" name="Google Shape;1859;p26"/>
            <p:cNvSpPr/>
            <p:nvPr/>
          </p:nvSpPr>
          <p:spPr>
            <a:xfrm>
              <a:off x="955590" y="3279690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0" name="Google Shape;1860;p26"/>
          <p:cNvGrpSpPr/>
          <p:nvPr/>
        </p:nvGrpSpPr>
        <p:grpSpPr>
          <a:xfrm>
            <a:off x="1839100" y="1422055"/>
            <a:ext cx="4419599" cy="3537122"/>
            <a:chOff x="16477" y="526192"/>
            <a:chExt cx="4419599" cy="3537122"/>
          </a:xfrm>
        </p:grpSpPr>
        <p:sp>
          <p:nvSpPr>
            <p:cNvPr id="1861" name="Google Shape;1861;p26"/>
            <p:cNvSpPr/>
            <p:nvPr/>
          </p:nvSpPr>
          <p:spPr>
            <a:xfrm>
              <a:off x="4120980" y="52619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2" name="Google Shape;1862;p26"/>
            <p:cNvCxnSpPr>
              <a:stCxn id="1861" idx="3"/>
              <a:endCxn id="1863" idx="7"/>
            </p:cNvCxnSpPr>
            <p:nvPr/>
          </p:nvCxnSpPr>
          <p:spPr>
            <a:xfrm flipH="1">
              <a:off x="285425" y="778444"/>
              <a:ext cx="3881700" cy="3032700"/>
            </a:xfrm>
            <a:prstGeom prst="straightConnector1">
              <a:avLst/>
            </a:prstGeom>
            <a:noFill/>
            <a:ln cap="flat" cmpd="sng" w="158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63" name="Google Shape;1863;p26"/>
            <p:cNvSpPr/>
            <p:nvPr/>
          </p:nvSpPr>
          <p:spPr>
            <a:xfrm>
              <a:off x="16477" y="3767782"/>
              <a:ext cx="315096" cy="295532"/>
            </a:xfrm>
            <a:prstGeom prst="ellipse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p27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discussion</a:t>
            </a:r>
            <a:endParaRPr/>
          </a:p>
        </p:txBody>
      </p:sp>
      <p:sp>
        <p:nvSpPr>
          <p:cNvPr id="1870" name="Google Shape;1870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27"/>
          <p:cNvSpPr txBox="1"/>
          <p:nvPr/>
        </p:nvSpPr>
        <p:spPr>
          <a:xfrm>
            <a:off x="739458" y="1447801"/>
            <a:ext cx="8709342" cy="191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algorithm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nodes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iteration: need to check all nodes,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not in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+1)/2 comparisons: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complexity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efficient implementations possible: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872" name="Google Shape;1872;p27"/>
          <p:cNvSpPr txBox="1"/>
          <p:nvPr/>
        </p:nvSpPr>
        <p:spPr>
          <a:xfrm>
            <a:off x="729298" y="3378200"/>
            <a:ext cx="11310302" cy="2331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message complexity: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must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 link state information to other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routers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efficient (and interesting!) broadcast algorithms: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 crossings to disseminate a broadcast message from one source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message crosses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links: overall message complexity: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7" name="Shape 1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8" name="Google Shape;1878;p28"/>
          <p:cNvSpPr txBox="1"/>
          <p:nvPr>
            <p:ph type="title"/>
          </p:nvPr>
        </p:nvSpPr>
        <p:spPr>
          <a:xfrm>
            <a:off x="838199" y="354060"/>
            <a:ext cx="1117962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Dijkstra’s algorithm: oscillations possible</a:t>
            </a:r>
            <a:endParaRPr/>
          </a:p>
        </p:txBody>
      </p:sp>
      <p:sp>
        <p:nvSpPr>
          <p:cNvPr id="1879" name="Google Shape;1879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0" name="Google Shape;1880;p28"/>
          <p:cNvSpPr txBox="1"/>
          <p:nvPr/>
        </p:nvSpPr>
        <p:spPr>
          <a:xfrm>
            <a:off x="637858" y="1315720"/>
            <a:ext cx="10792142" cy="55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link costs depend on traffic volume,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route oscillations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28"/>
          <p:cNvSpPr/>
          <p:nvPr/>
        </p:nvSpPr>
        <p:spPr>
          <a:xfrm>
            <a:off x="435928" y="3502025"/>
            <a:ext cx="1971675" cy="1355725"/>
          </a:xfrm>
          <a:custGeom>
            <a:rect b="b" l="l" r="r" t="t"/>
            <a:pathLst>
              <a:path extrusionOk="0" h="854" w="1242">
                <a:moveTo>
                  <a:pt x="1" y="381"/>
                </a:moveTo>
                <a:cubicBezTo>
                  <a:pt x="0" y="296"/>
                  <a:pt x="88" y="222"/>
                  <a:pt x="169" y="162"/>
                </a:cubicBezTo>
                <a:cubicBezTo>
                  <a:pt x="250" y="102"/>
                  <a:pt x="378" y="40"/>
                  <a:pt x="487" y="18"/>
                </a:cubicBezTo>
                <a:cubicBezTo>
                  <a:pt x="616" y="6"/>
                  <a:pt x="685" y="0"/>
                  <a:pt x="823" y="30"/>
                </a:cubicBezTo>
                <a:cubicBezTo>
                  <a:pt x="961" y="60"/>
                  <a:pt x="1121" y="165"/>
                  <a:pt x="1183" y="261"/>
                </a:cubicBezTo>
                <a:cubicBezTo>
                  <a:pt x="1242" y="357"/>
                  <a:pt x="1219" y="523"/>
                  <a:pt x="1177" y="609"/>
                </a:cubicBezTo>
                <a:cubicBezTo>
                  <a:pt x="1135" y="695"/>
                  <a:pt x="1049" y="742"/>
                  <a:pt x="928" y="780"/>
                </a:cubicBezTo>
                <a:cubicBezTo>
                  <a:pt x="807" y="818"/>
                  <a:pt x="573" y="854"/>
                  <a:pt x="448" y="837"/>
                </a:cubicBezTo>
                <a:cubicBezTo>
                  <a:pt x="323" y="820"/>
                  <a:pt x="252" y="751"/>
                  <a:pt x="178" y="675"/>
                </a:cubicBezTo>
                <a:cubicBezTo>
                  <a:pt x="104" y="599"/>
                  <a:pt x="2" y="466"/>
                  <a:pt x="1" y="3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2" name="Google Shape;1882;p28"/>
          <p:cNvSpPr/>
          <p:nvPr/>
        </p:nvSpPr>
        <p:spPr>
          <a:xfrm>
            <a:off x="837565" y="3840162"/>
            <a:ext cx="390525" cy="2095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3" name="Google Shape;1883;p28"/>
          <p:cNvGrpSpPr/>
          <p:nvPr/>
        </p:nvGrpSpPr>
        <p:grpSpPr>
          <a:xfrm>
            <a:off x="1143953" y="3522662"/>
            <a:ext cx="501650" cy="400050"/>
            <a:chOff x="1747" y="3190"/>
            <a:chExt cx="316" cy="252"/>
          </a:xfrm>
        </p:grpSpPr>
        <p:sp>
          <p:nvSpPr>
            <p:cNvPr id="1884" name="Google Shape;1884;p28"/>
            <p:cNvSpPr/>
            <p:nvPr/>
          </p:nvSpPr>
          <p:spPr>
            <a:xfrm>
              <a:off x="1750" y="3308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85" name="Google Shape;1885;p28"/>
            <p:cNvCxnSpPr/>
            <p:nvPr/>
          </p:nvCxnSpPr>
          <p:spPr>
            <a:xfrm>
              <a:off x="1750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6" name="Google Shape;1886;p28"/>
            <p:cNvCxnSpPr/>
            <p:nvPr/>
          </p:nvCxnSpPr>
          <p:spPr>
            <a:xfrm>
              <a:off x="2063" y="3301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87" name="Google Shape;1887;p28"/>
            <p:cNvSpPr/>
            <p:nvPr/>
          </p:nvSpPr>
          <p:spPr>
            <a:xfrm>
              <a:off x="1750" y="3301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28"/>
            <p:cNvSpPr/>
            <p:nvPr/>
          </p:nvSpPr>
          <p:spPr>
            <a:xfrm>
              <a:off x="1747" y="3242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9" name="Google Shape;1889;p28"/>
            <p:cNvGrpSpPr/>
            <p:nvPr/>
          </p:nvGrpSpPr>
          <p:grpSpPr>
            <a:xfrm>
              <a:off x="1799" y="3190"/>
              <a:ext cx="194" cy="252"/>
              <a:chOff x="2960" y="2425"/>
              <a:chExt cx="197" cy="252"/>
            </a:xfrm>
          </p:grpSpPr>
          <p:sp>
            <p:nvSpPr>
              <p:cNvPr id="1890" name="Google Shape;1890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28"/>
              <p:cNvSpPr txBox="1"/>
              <p:nvPr/>
            </p:nvSpPr>
            <p:spPr>
              <a:xfrm>
                <a:off x="2960" y="2425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2" name="Google Shape;1892;p28"/>
          <p:cNvGrpSpPr/>
          <p:nvPr/>
        </p:nvGrpSpPr>
        <p:grpSpPr>
          <a:xfrm>
            <a:off x="496253" y="3927475"/>
            <a:ext cx="501650" cy="400050"/>
            <a:chOff x="2221" y="3571"/>
            <a:chExt cx="316" cy="252"/>
          </a:xfrm>
        </p:grpSpPr>
        <p:sp>
          <p:nvSpPr>
            <p:cNvPr id="1893" name="Google Shape;1893;p28"/>
            <p:cNvSpPr/>
            <p:nvPr/>
          </p:nvSpPr>
          <p:spPr>
            <a:xfrm>
              <a:off x="2224" y="369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4" name="Google Shape;1894;p28"/>
            <p:cNvCxnSpPr/>
            <p:nvPr/>
          </p:nvCxnSpPr>
          <p:spPr>
            <a:xfrm>
              <a:off x="2224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5" name="Google Shape;1895;p28"/>
            <p:cNvCxnSpPr/>
            <p:nvPr/>
          </p:nvCxnSpPr>
          <p:spPr>
            <a:xfrm>
              <a:off x="2537" y="368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6" name="Google Shape;1896;p28"/>
            <p:cNvSpPr/>
            <p:nvPr/>
          </p:nvSpPr>
          <p:spPr>
            <a:xfrm>
              <a:off x="2224" y="368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28"/>
            <p:cNvSpPr/>
            <p:nvPr/>
          </p:nvSpPr>
          <p:spPr>
            <a:xfrm>
              <a:off x="2221" y="362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8" name="Google Shape;1898;p28"/>
            <p:cNvGrpSpPr/>
            <p:nvPr/>
          </p:nvGrpSpPr>
          <p:grpSpPr>
            <a:xfrm>
              <a:off x="2283" y="3571"/>
              <a:ext cx="206" cy="252"/>
              <a:chOff x="2954" y="2425"/>
              <a:chExt cx="209" cy="252"/>
            </a:xfrm>
          </p:grpSpPr>
          <p:sp>
            <p:nvSpPr>
              <p:cNvPr id="1899" name="Google Shape;189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0" name="Google Shape;1900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1" name="Google Shape;1901;p28"/>
          <p:cNvGrpSpPr/>
          <p:nvPr/>
        </p:nvGrpSpPr>
        <p:grpSpPr>
          <a:xfrm>
            <a:off x="1131253" y="4389437"/>
            <a:ext cx="500062" cy="400050"/>
            <a:chOff x="2903" y="2884"/>
            <a:chExt cx="315" cy="252"/>
          </a:xfrm>
        </p:grpSpPr>
        <p:grpSp>
          <p:nvGrpSpPr>
            <p:cNvPr id="1902" name="Google Shape;1902;p28"/>
            <p:cNvGrpSpPr/>
            <p:nvPr/>
          </p:nvGrpSpPr>
          <p:grpSpPr>
            <a:xfrm>
              <a:off x="2903" y="2938"/>
              <a:ext cx="315" cy="144"/>
              <a:chOff x="2903" y="2938"/>
              <a:chExt cx="315" cy="144"/>
            </a:xfrm>
          </p:grpSpPr>
          <p:sp>
            <p:nvSpPr>
              <p:cNvPr id="1903" name="Google Shape;1903;p28"/>
              <p:cNvSpPr/>
              <p:nvPr/>
            </p:nvSpPr>
            <p:spPr>
              <a:xfrm>
                <a:off x="2903" y="3001"/>
                <a:ext cx="312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04" name="Google Shape;1904;p28"/>
              <p:cNvCxnSpPr/>
              <p:nvPr/>
            </p:nvCxnSpPr>
            <p:spPr>
              <a:xfrm>
                <a:off x="2903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05" name="Google Shape;1905;p28"/>
              <p:cNvCxnSpPr/>
              <p:nvPr/>
            </p:nvCxnSpPr>
            <p:spPr>
              <a:xfrm>
                <a:off x="3215" y="2994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06" name="Google Shape;1906;p28"/>
              <p:cNvSpPr/>
              <p:nvPr/>
            </p:nvSpPr>
            <p:spPr>
              <a:xfrm>
                <a:off x="2903" y="2994"/>
                <a:ext cx="309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7" name="Google Shape;1907;p28"/>
              <p:cNvSpPr/>
              <p:nvPr/>
            </p:nvSpPr>
            <p:spPr>
              <a:xfrm>
                <a:off x="2906" y="2938"/>
                <a:ext cx="312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8" name="Google Shape;1908;p28"/>
            <p:cNvGrpSpPr/>
            <p:nvPr/>
          </p:nvGrpSpPr>
          <p:grpSpPr>
            <a:xfrm>
              <a:off x="2963" y="2884"/>
              <a:ext cx="185" cy="252"/>
              <a:chOff x="2964" y="2425"/>
              <a:chExt cx="188" cy="252"/>
            </a:xfrm>
          </p:grpSpPr>
          <p:sp>
            <p:nvSpPr>
              <p:cNvPr id="1909" name="Google Shape;1909;p28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0" name="Google Shape;1910;p28"/>
              <p:cNvSpPr txBox="1"/>
              <p:nvPr/>
            </p:nvSpPr>
            <p:spPr>
              <a:xfrm>
                <a:off x="2964" y="2425"/>
                <a:ext cx="188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1" name="Google Shape;1911;p28"/>
          <p:cNvGrpSpPr/>
          <p:nvPr/>
        </p:nvGrpSpPr>
        <p:grpSpPr>
          <a:xfrm>
            <a:off x="1785303" y="3941762"/>
            <a:ext cx="501650" cy="400050"/>
            <a:chOff x="2217" y="2884"/>
            <a:chExt cx="316" cy="252"/>
          </a:xfrm>
        </p:grpSpPr>
        <p:sp>
          <p:nvSpPr>
            <p:cNvPr id="1912" name="Google Shape;1912;p28"/>
            <p:cNvSpPr/>
            <p:nvPr/>
          </p:nvSpPr>
          <p:spPr>
            <a:xfrm>
              <a:off x="2220" y="3005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3" name="Google Shape;1913;p28"/>
            <p:cNvCxnSpPr/>
            <p:nvPr/>
          </p:nvCxnSpPr>
          <p:spPr>
            <a:xfrm>
              <a:off x="2220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4" name="Google Shape;1914;p28"/>
            <p:cNvCxnSpPr/>
            <p:nvPr/>
          </p:nvCxnSpPr>
          <p:spPr>
            <a:xfrm>
              <a:off x="2533" y="2998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5" name="Google Shape;1915;p28"/>
            <p:cNvSpPr/>
            <p:nvPr/>
          </p:nvSpPr>
          <p:spPr>
            <a:xfrm>
              <a:off x="2220" y="2998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28"/>
            <p:cNvSpPr/>
            <p:nvPr/>
          </p:nvSpPr>
          <p:spPr>
            <a:xfrm>
              <a:off x="2217" y="2939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28"/>
            <p:cNvGrpSpPr/>
            <p:nvPr/>
          </p:nvGrpSpPr>
          <p:grpSpPr>
            <a:xfrm>
              <a:off x="2276" y="2884"/>
              <a:ext cx="206" cy="252"/>
              <a:chOff x="2954" y="2425"/>
              <a:chExt cx="209" cy="252"/>
            </a:xfrm>
          </p:grpSpPr>
          <p:sp>
            <p:nvSpPr>
              <p:cNvPr id="1918" name="Google Shape;1918;p2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28"/>
              <p:cNvSpPr txBox="1"/>
              <p:nvPr/>
            </p:nvSpPr>
            <p:spPr>
              <a:xfrm>
                <a:off x="2954" y="2425"/>
                <a:ext cx="20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0" name="Google Shape;1920;p28"/>
          <p:cNvSpPr txBox="1"/>
          <p:nvPr/>
        </p:nvSpPr>
        <p:spPr>
          <a:xfrm>
            <a:off x="839153" y="3694112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921" name="Google Shape;1921;p28"/>
          <p:cNvSpPr/>
          <p:nvPr/>
        </p:nvSpPr>
        <p:spPr>
          <a:xfrm flipH="1">
            <a:off x="1523365" y="3840162"/>
            <a:ext cx="338138" cy="204788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28"/>
          <p:cNvSpPr/>
          <p:nvPr/>
        </p:nvSpPr>
        <p:spPr>
          <a:xfrm rot="10800000">
            <a:off x="1537653" y="4254500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triangl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28"/>
          <p:cNvSpPr/>
          <p:nvPr/>
        </p:nvSpPr>
        <p:spPr>
          <a:xfrm flipH="1" rot="10800000">
            <a:off x="899478" y="4244975"/>
            <a:ext cx="323850" cy="24765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28"/>
          <p:cNvSpPr txBox="1"/>
          <p:nvPr/>
        </p:nvSpPr>
        <p:spPr>
          <a:xfrm>
            <a:off x="1682134" y="3703637"/>
            <a:ext cx="4555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1+e</a:t>
            </a:r>
            <a:endParaRPr/>
          </a:p>
        </p:txBody>
      </p:sp>
      <p:sp>
        <p:nvSpPr>
          <p:cNvPr id="1925" name="Google Shape;1925;p28"/>
          <p:cNvSpPr txBox="1"/>
          <p:nvPr/>
        </p:nvSpPr>
        <p:spPr>
          <a:xfrm>
            <a:off x="1674178" y="42941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sp>
        <p:nvSpPr>
          <p:cNvPr id="1926" name="Google Shape;1926;p28"/>
          <p:cNvSpPr txBox="1"/>
          <p:nvPr/>
        </p:nvSpPr>
        <p:spPr>
          <a:xfrm>
            <a:off x="802640" y="431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cxnSp>
        <p:nvCxnSpPr>
          <p:cNvPr id="1927" name="Google Shape;1927;p28"/>
          <p:cNvCxnSpPr/>
          <p:nvPr/>
        </p:nvCxnSpPr>
        <p:spPr>
          <a:xfrm rot="10800000">
            <a:off x="1370965" y="4711700"/>
            <a:ext cx="0" cy="40005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8" name="Google Shape;1928;p28"/>
          <p:cNvCxnSpPr/>
          <p:nvPr/>
        </p:nvCxnSpPr>
        <p:spPr>
          <a:xfrm rot="10800000">
            <a:off x="551815" y="4244975"/>
            <a:ext cx="4763" cy="338137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9" name="Google Shape;1929;p28"/>
          <p:cNvCxnSpPr/>
          <p:nvPr/>
        </p:nvCxnSpPr>
        <p:spPr>
          <a:xfrm rot="10800000">
            <a:off x="2071053" y="4278312"/>
            <a:ext cx="0" cy="42862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930" name="Google Shape;1930;p28"/>
          <p:cNvGrpSpPr/>
          <p:nvPr/>
        </p:nvGrpSpPr>
        <p:grpSpPr>
          <a:xfrm>
            <a:off x="297498" y="4320540"/>
            <a:ext cx="2047875" cy="894715"/>
            <a:chOff x="297498" y="4320540"/>
            <a:chExt cx="2047875" cy="894715"/>
          </a:xfrm>
        </p:grpSpPr>
        <p:sp>
          <p:nvSpPr>
            <p:cNvPr id="1931" name="Google Shape;1931;p28"/>
            <p:cNvSpPr txBox="1"/>
            <p:nvPr/>
          </p:nvSpPr>
          <p:spPr>
            <a:xfrm>
              <a:off x="1116330" y="484854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28"/>
            <p:cNvSpPr txBox="1"/>
            <p:nvPr/>
          </p:nvSpPr>
          <p:spPr>
            <a:xfrm>
              <a:off x="297498" y="43205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4" name="Google Shape;1934;p28"/>
          <p:cNvSpPr/>
          <p:nvPr/>
        </p:nvSpPr>
        <p:spPr>
          <a:xfrm rot="10800000">
            <a:off x="1442403" y="4211637"/>
            <a:ext cx="314325" cy="228600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28"/>
          <p:cNvSpPr/>
          <p:nvPr/>
        </p:nvSpPr>
        <p:spPr>
          <a:xfrm flipH="1">
            <a:off x="989965" y="4221162"/>
            <a:ext cx="304800" cy="2190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28"/>
          <p:cNvSpPr txBox="1"/>
          <p:nvPr/>
        </p:nvSpPr>
        <p:spPr>
          <a:xfrm>
            <a:off x="1088390" y="4098925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7" name="Google Shape;1937;p28"/>
          <p:cNvSpPr txBox="1"/>
          <p:nvPr/>
        </p:nvSpPr>
        <p:spPr>
          <a:xfrm>
            <a:off x="1431290" y="4090987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38" name="Google Shape;1938;p28"/>
          <p:cNvSpPr txBox="1"/>
          <p:nvPr/>
        </p:nvSpPr>
        <p:spPr>
          <a:xfrm>
            <a:off x="1009650" y="5560695"/>
            <a:ext cx="9493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initially</a:t>
            </a:r>
            <a:endParaRPr b="0" i="0" sz="24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9" name="Google Shape;1939;p28"/>
          <p:cNvGrpSpPr/>
          <p:nvPr/>
        </p:nvGrpSpPr>
        <p:grpSpPr>
          <a:xfrm>
            <a:off x="3028316" y="3458208"/>
            <a:ext cx="2651124" cy="2716211"/>
            <a:chOff x="1560" y="2639"/>
            <a:chExt cx="1670" cy="1711"/>
          </a:xfrm>
        </p:grpSpPr>
        <p:sp>
          <p:nvSpPr>
            <p:cNvPr id="1940" name="Google Shape;1940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1943" name="Google Shape;1943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44" name="Google Shape;1944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5" name="Google Shape;1945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6" name="Google Shape;1946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7" name="Google Shape;1947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48" name="Google Shape;1948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1949" name="Google Shape;1949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0" name="Google Shape;1950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51" name="Google Shape;1951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1952" name="Google Shape;1952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53" name="Google Shape;1953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54" name="Google Shape;1954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55" name="Google Shape;1955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57" name="Google Shape;1957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1958" name="Google Shape;195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9" name="Google Shape;1959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60" name="Google Shape;1960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1961" name="Google Shape;1961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1962" name="Google Shape;1962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1963" name="Google Shape;1963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64" name="Google Shape;1964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65" name="Google Shape;1965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6" name="Google Shape;1966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67" name="Google Shape;1967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1968" name="Google Shape;1968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9" name="Google Shape;1969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970" name="Google Shape;1970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1971" name="Google Shape;1971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972" name="Google Shape;1972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73" name="Google Shape;1973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74" name="Google Shape;1974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5" name="Google Shape;1975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76" name="Google Shape;1976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1977" name="Google Shape;1977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8" name="Google Shape;197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979" name="Google Shape;1979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8"/>
            <p:cNvSpPr txBox="1"/>
            <p:nvPr/>
          </p:nvSpPr>
          <p:spPr>
            <a:xfrm>
              <a:off x="1560" y="3823"/>
              <a:ext cx="1670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1985" name="Google Shape;1985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6" name="Google Shape;1986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87" name="Google Shape;1987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88" name="Google Shape;1988;p28"/>
          <p:cNvSpPr/>
          <p:nvPr/>
        </p:nvSpPr>
        <p:spPr>
          <a:xfrm>
            <a:off x="1399540" y="3698875"/>
            <a:ext cx="609600" cy="828675"/>
          </a:xfrm>
          <a:custGeom>
            <a:rect b="b" l="l" r="r" t="t"/>
            <a:pathLst>
              <a:path extrusionOk="0" h="522" w="384">
                <a:moveTo>
                  <a:pt x="0" y="522"/>
                </a:moveTo>
                <a:lnTo>
                  <a:pt x="384" y="249"/>
                </a:lnTo>
                <a:lnTo>
                  <a:pt x="12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9" name="Google Shape;1989;p28"/>
          <p:cNvCxnSpPr/>
          <p:nvPr/>
        </p:nvCxnSpPr>
        <p:spPr>
          <a:xfrm flipH="1" rot="10800000">
            <a:off x="761365" y="3779837"/>
            <a:ext cx="447675" cy="242888"/>
          </a:xfrm>
          <a:prstGeom prst="straightConnector1">
            <a:avLst/>
          </a:prstGeom>
          <a:noFill/>
          <a:ln cap="flat" cmpd="sng" w="57150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0" name="Google Shape;1990;p28"/>
          <p:cNvSpPr/>
          <p:nvPr/>
        </p:nvSpPr>
        <p:spPr>
          <a:xfrm>
            <a:off x="3695065" y="365982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1" name="Google Shape;1991;p28"/>
          <p:cNvGrpSpPr/>
          <p:nvPr/>
        </p:nvGrpSpPr>
        <p:grpSpPr>
          <a:xfrm>
            <a:off x="3520440" y="3645535"/>
            <a:ext cx="1430338" cy="966787"/>
            <a:chOff x="1870" y="2772"/>
            <a:chExt cx="901" cy="609"/>
          </a:xfrm>
        </p:grpSpPr>
        <p:sp>
          <p:nvSpPr>
            <p:cNvPr id="1992" name="Google Shape;1992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1993" name="Google Shape;1993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4" name="Google Shape;1994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5" name="Google Shape;1995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996" name="Google Shape;1996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1997" name="Google Shape;1997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998" name="Google Shape;1998;p28"/>
          <p:cNvGrpSpPr/>
          <p:nvPr/>
        </p:nvGrpSpPr>
        <p:grpSpPr>
          <a:xfrm>
            <a:off x="6509069" y="3455988"/>
            <a:ext cx="2443162" cy="2752726"/>
            <a:chOff x="1721" y="2639"/>
            <a:chExt cx="1539" cy="1734"/>
          </a:xfrm>
        </p:grpSpPr>
        <p:sp>
          <p:nvSpPr>
            <p:cNvPr id="1999" name="Google Shape;1999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02" name="Google Shape;2002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03" name="Google Shape;2003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04" name="Google Shape;2004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05" name="Google Shape;2005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6" name="Google Shape;2006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7" name="Google Shape;2007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08" name="Google Shape;2008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9" name="Google Shape;2009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0" name="Google Shape;2010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11" name="Google Shape;2011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12" name="Google Shape;2012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13" name="Google Shape;2013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14" name="Google Shape;2014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5" name="Google Shape;2015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16" name="Google Shape;2016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17" name="Google Shape;201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8" name="Google Shape;2018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19" name="Google Shape;2019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20" name="Google Shape;2020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21" name="Google Shape;2021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22" name="Google Shape;2022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23" name="Google Shape;2023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24" name="Google Shape;2024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26" name="Google Shape;2026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27" name="Google Shape;2027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9" name="Google Shape;2029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30" name="Google Shape;2030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31" name="Google Shape;2031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32" name="Google Shape;2032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33" name="Google Shape;2033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4" name="Google Shape;2034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5" name="Google Shape;2035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36" name="Google Shape;2036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38" name="Google Shape;2038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28"/>
            <p:cNvSpPr txBox="1"/>
            <p:nvPr/>
          </p:nvSpPr>
          <p:spPr>
            <a:xfrm>
              <a:off x="1721" y="3846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044" name="Google Shape;2044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5" name="Google Shape;2045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46" name="Google Shape;2046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47" name="Google Shape;2047;p28"/>
          <p:cNvSpPr/>
          <p:nvPr/>
        </p:nvSpPr>
        <p:spPr>
          <a:xfrm>
            <a:off x="6926580" y="3590925"/>
            <a:ext cx="1181100" cy="952500"/>
          </a:xfrm>
          <a:custGeom>
            <a:rect b="b" l="l" r="r" t="t"/>
            <a:pathLst>
              <a:path extrusionOk="0" h="600" w="744">
                <a:moveTo>
                  <a:pt x="0" y="294"/>
                </a:moveTo>
                <a:lnTo>
                  <a:pt x="387" y="600"/>
                </a:lnTo>
                <a:lnTo>
                  <a:pt x="744" y="304"/>
                </a:lnTo>
                <a:lnTo>
                  <a:pt x="429" y="66"/>
                </a:lnTo>
                <a:lnTo>
                  <a:pt x="354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48" name="Google Shape;2048;p28"/>
          <p:cNvGrpSpPr/>
          <p:nvPr/>
        </p:nvGrpSpPr>
        <p:grpSpPr>
          <a:xfrm>
            <a:off x="6844030" y="3668712"/>
            <a:ext cx="1493838" cy="990600"/>
            <a:chOff x="-186" y="1184"/>
            <a:chExt cx="941" cy="624"/>
          </a:xfrm>
        </p:grpSpPr>
        <p:sp>
          <p:nvSpPr>
            <p:cNvPr id="2049" name="Google Shape;2049;p28"/>
            <p:cNvSpPr txBox="1"/>
            <p:nvPr/>
          </p:nvSpPr>
          <p:spPr>
            <a:xfrm>
              <a:off x="-186" y="119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0" name="Google Shape;2050;p28"/>
            <p:cNvSpPr txBox="1"/>
            <p:nvPr/>
          </p:nvSpPr>
          <p:spPr>
            <a:xfrm>
              <a:off x="450" y="1184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051" name="Google Shape;2051;p28"/>
            <p:cNvSpPr txBox="1"/>
            <p:nvPr/>
          </p:nvSpPr>
          <p:spPr>
            <a:xfrm>
              <a:off x="340" y="1616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052" name="Google Shape;2052;p28"/>
            <p:cNvSpPr txBox="1"/>
            <p:nvPr/>
          </p:nvSpPr>
          <p:spPr>
            <a:xfrm>
              <a:off x="-132" y="158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2053" name="Google Shape;2053;p28"/>
            <p:cNvSpPr txBox="1"/>
            <p:nvPr/>
          </p:nvSpPr>
          <p:spPr>
            <a:xfrm>
              <a:off x="79" y="1436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054" name="Google Shape;2054;p28"/>
            <p:cNvSpPr txBox="1"/>
            <p:nvPr/>
          </p:nvSpPr>
          <p:spPr>
            <a:xfrm>
              <a:off x="261" y="1430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2055" name="Google Shape;2055;p28"/>
          <p:cNvGrpSpPr/>
          <p:nvPr/>
        </p:nvGrpSpPr>
        <p:grpSpPr>
          <a:xfrm>
            <a:off x="9495792" y="3505198"/>
            <a:ext cx="2443162" cy="2703511"/>
            <a:chOff x="1632" y="2639"/>
            <a:chExt cx="1539" cy="1703"/>
          </a:xfrm>
        </p:grpSpPr>
        <p:sp>
          <p:nvSpPr>
            <p:cNvPr id="2056" name="Google Shape;2056;p28"/>
            <p:cNvSpPr/>
            <p:nvPr/>
          </p:nvSpPr>
          <p:spPr>
            <a:xfrm>
              <a:off x="1752" y="2639"/>
              <a:ext cx="1225" cy="854"/>
            </a:xfrm>
            <a:custGeom>
              <a:rect b="b" l="l" r="r" t="t"/>
              <a:pathLst>
                <a:path extrusionOk="0" h="854" w="1225">
                  <a:moveTo>
                    <a:pt x="0" y="387"/>
                  </a:moveTo>
                  <a:cubicBezTo>
                    <a:pt x="0" y="243"/>
                    <a:pt x="87" y="223"/>
                    <a:pt x="168" y="162"/>
                  </a:cubicBezTo>
                  <a:cubicBezTo>
                    <a:pt x="249" y="101"/>
                    <a:pt x="377" y="40"/>
                    <a:pt x="486" y="18"/>
                  </a:cubicBezTo>
                  <a:cubicBezTo>
                    <a:pt x="615" y="6"/>
                    <a:pt x="684" y="0"/>
                    <a:pt x="822" y="30"/>
                  </a:cubicBezTo>
                  <a:cubicBezTo>
                    <a:pt x="960" y="60"/>
                    <a:pt x="1099" y="169"/>
                    <a:pt x="1152" y="267"/>
                  </a:cubicBezTo>
                  <a:cubicBezTo>
                    <a:pt x="1213" y="351"/>
                    <a:pt x="1225" y="452"/>
                    <a:pt x="1188" y="537"/>
                  </a:cubicBezTo>
                  <a:cubicBezTo>
                    <a:pt x="1151" y="622"/>
                    <a:pt x="1050" y="730"/>
                    <a:pt x="927" y="780"/>
                  </a:cubicBezTo>
                  <a:cubicBezTo>
                    <a:pt x="804" y="830"/>
                    <a:pt x="572" y="854"/>
                    <a:pt x="447" y="837"/>
                  </a:cubicBezTo>
                  <a:cubicBezTo>
                    <a:pt x="322" y="820"/>
                    <a:pt x="251" y="750"/>
                    <a:pt x="177" y="675"/>
                  </a:cubicBezTo>
                  <a:cubicBezTo>
                    <a:pt x="103" y="600"/>
                    <a:pt x="0" y="531"/>
                    <a:pt x="0" y="38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28"/>
            <p:cNvSpPr/>
            <p:nvPr/>
          </p:nvSpPr>
          <p:spPr>
            <a:xfrm>
              <a:off x="2010" y="2852"/>
              <a:ext cx="246" cy="132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8" name="Google Shape;2058;p28"/>
            <p:cNvGrpSpPr/>
            <p:nvPr/>
          </p:nvGrpSpPr>
          <p:grpSpPr>
            <a:xfrm>
              <a:off x="2203" y="2652"/>
              <a:ext cx="316" cy="252"/>
              <a:chOff x="1747" y="3190"/>
              <a:chExt cx="316" cy="252"/>
            </a:xfrm>
          </p:grpSpPr>
          <p:sp>
            <p:nvSpPr>
              <p:cNvPr id="2059" name="Google Shape;2059;p28"/>
              <p:cNvSpPr/>
              <p:nvPr/>
            </p:nvSpPr>
            <p:spPr>
              <a:xfrm>
                <a:off x="1750" y="3308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0" name="Google Shape;2060;p28"/>
              <p:cNvCxnSpPr/>
              <p:nvPr/>
            </p:nvCxnSpPr>
            <p:spPr>
              <a:xfrm>
                <a:off x="1750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61" name="Google Shape;2061;p28"/>
              <p:cNvCxnSpPr/>
              <p:nvPr/>
            </p:nvCxnSpPr>
            <p:spPr>
              <a:xfrm>
                <a:off x="2063" y="3301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62" name="Google Shape;2062;p28"/>
              <p:cNvSpPr/>
              <p:nvPr/>
            </p:nvSpPr>
            <p:spPr>
              <a:xfrm>
                <a:off x="1750" y="3301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3" name="Google Shape;2063;p28"/>
              <p:cNvSpPr/>
              <p:nvPr/>
            </p:nvSpPr>
            <p:spPr>
              <a:xfrm>
                <a:off x="1747" y="3242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4" name="Google Shape;2064;p28"/>
              <p:cNvGrpSpPr/>
              <p:nvPr/>
            </p:nvGrpSpPr>
            <p:grpSpPr>
              <a:xfrm>
                <a:off x="1799" y="3190"/>
                <a:ext cx="194" cy="252"/>
                <a:chOff x="2960" y="2425"/>
                <a:chExt cx="197" cy="252"/>
              </a:xfrm>
            </p:grpSpPr>
            <p:sp>
              <p:nvSpPr>
                <p:cNvPr id="2065" name="Google Shape;2065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6" name="Google Shape;2066;p28"/>
                <p:cNvSpPr txBox="1"/>
                <p:nvPr/>
              </p:nvSpPr>
              <p:spPr>
                <a:xfrm>
                  <a:off x="2960" y="2425"/>
                  <a:ext cx="197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67" name="Google Shape;2067;p28"/>
            <p:cNvGrpSpPr/>
            <p:nvPr/>
          </p:nvGrpSpPr>
          <p:grpSpPr>
            <a:xfrm>
              <a:off x="1795" y="2907"/>
              <a:ext cx="316" cy="252"/>
              <a:chOff x="2221" y="3571"/>
              <a:chExt cx="316" cy="252"/>
            </a:xfrm>
          </p:grpSpPr>
          <p:sp>
            <p:nvSpPr>
              <p:cNvPr id="2068" name="Google Shape;2068;p28"/>
              <p:cNvSpPr/>
              <p:nvPr/>
            </p:nvSpPr>
            <p:spPr>
              <a:xfrm>
                <a:off x="2224" y="369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69" name="Google Shape;2069;p28"/>
              <p:cNvCxnSpPr/>
              <p:nvPr/>
            </p:nvCxnSpPr>
            <p:spPr>
              <a:xfrm>
                <a:off x="2224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70" name="Google Shape;2070;p28"/>
              <p:cNvCxnSpPr/>
              <p:nvPr/>
            </p:nvCxnSpPr>
            <p:spPr>
              <a:xfrm>
                <a:off x="2537" y="368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71" name="Google Shape;2071;p28"/>
              <p:cNvSpPr/>
              <p:nvPr/>
            </p:nvSpPr>
            <p:spPr>
              <a:xfrm>
                <a:off x="2224" y="368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2" name="Google Shape;2072;p28"/>
              <p:cNvSpPr/>
              <p:nvPr/>
            </p:nvSpPr>
            <p:spPr>
              <a:xfrm>
                <a:off x="2221" y="362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3" name="Google Shape;2073;p28"/>
              <p:cNvGrpSpPr/>
              <p:nvPr/>
            </p:nvGrpSpPr>
            <p:grpSpPr>
              <a:xfrm>
                <a:off x="2283" y="3571"/>
                <a:ext cx="206" cy="252"/>
                <a:chOff x="2954" y="2425"/>
                <a:chExt cx="209" cy="252"/>
              </a:xfrm>
            </p:grpSpPr>
            <p:sp>
              <p:nvSpPr>
                <p:cNvPr id="2074" name="Google Shape;207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76" name="Google Shape;2076;p28"/>
            <p:cNvGrpSpPr/>
            <p:nvPr/>
          </p:nvGrpSpPr>
          <p:grpSpPr>
            <a:xfrm>
              <a:off x="2195" y="3198"/>
              <a:ext cx="315" cy="252"/>
              <a:chOff x="2903" y="2884"/>
              <a:chExt cx="315" cy="252"/>
            </a:xfrm>
          </p:grpSpPr>
          <p:grpSp>
            <p:nvGrpSpPr>
              <p:cNvPr id="2077" name="Google Shape;2077;p28"/>
              <p:cNvGrpSpPr/>
              <p:nvPr/>
            </p:nvGrpSpPr>
            <p:grpSpPr>
              <a:xfrm>
                <a:off x="2903" y="2938"/>
                <a:ext cx="315" cy="144"/>
                <a:chOff x="2903" y="2938"/>
                <a:chExt cx="315" cy="144"/>
              </a:xfrm>
            </p:grpSpPr>
            <p:sp>
              <p:nvSpPr>
                <p:cNvPr id="2078" name="Google Shape;2078;p28"/>
                <p:cNvSpPr/>
                <p:nvPr/>
              </p:nvSpPr>
              <p:spPr>
                <a:xfrm>
                  <a:off x="2903" y="3001"/>
                  <a:ext cx="312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079" name="Google Shape;2079;p28"/>
                <p:cNvCxnSpPr/>
                <p:nvPr/>
              </p:nvCxnSpPr>
              <p:spPr>
                <a:xfrm>
                  <a:off x="2903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080" name="Google Shape;2080;p28"/>
                <p:cNvCxnSpPr/>
                <p:nvPr/>
              </p:nvCxnSpPr>
              <p:spPr>
                <a:xfrm>
                  <a:off x="3215" y="2994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081" name="Google Shape;2081;p28"/>
                <p:cNvSpPr/>
                <p:nvPr/>
              </p:nvSpPr>
              <p:spPr>
                <a:xfrm>
                  <a:off x="2903" y="2994"/>
                  <a:ext cx="309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2906" y="2938"/>
                  <a:ext cx="312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83" name="Google Shape;2083;p28"/>
              <p:cNvGrpSpPr/>
              <p:nvPr/>
            </p:nvGrpSpPr>
            <p:grpSpPr>
              <a:xfrm>
                <a:off x="2963" y="2884"/>
                <a:ext cx="185" cy="252"/>
                <a:chOff x="2964" y="2425"/>
                <a:chExt cx="188" cy="252"/>
              </a:xfrm>
            </p:grpSpPr>
            <p:sp>
              <p:nvSpPr>
                <p:cNvPr id="2084" name="Google Shape;2084;p28"/>
                <p:cNvSpPr/>
                <p:nvPr/>
              </p:nvSpPr>
              <p:spPr>
                <a:xfrm>
                  <a:off x="2982" y="2490"/>
                  <a:ext cx="146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5" name="Google Shape;2085;p28"/>
                <p:cNvSpPr txBox="1"/>
                <p:nvPr/>
              </p:nvSpPr>
              <p:spPr>
                <a:xfrm>
                  <a:off x="2964" y="2425"/>
                  <a:ext cx="188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86" name="Google Shape;2086;p28"/>
            <p:cNvGrpSpPr/>
            <p:nvPr/>
          </p:nvGrpSpPr>
          <p:grpSpPr>
            <a:xfrm>
              <a:off x="2607" y="2916"/>
              <a:ext cx="316" cy="252"/>
              <a:chOff x="2217" y="2884"/>
              <a:chExt cx="316" cy="252"/>
            </a:xfrm>
          </p:grpSpPr>
          <p:sp>
            <p:nvSpPr>
              <p:cNvPr id="2087" name="Google Shape;2087;p28"/>
              <p:cNvSpPr/>
              <p:nvPr/>
            </p:nvSpPr>
            <p:spPr>
              <a:xfrm>
                <a:off x="2220" y="3005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88" name="Google Shape;2088;p28"/>
              <p:cNvCxnSpPr/>
              <p:nvPr/>
            </p:nvCxnSpPr>
            <p:spPr>
              <a:xfrm>
                <a:off x="2220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089" name="Google Shape;2089;p28"/>
              <p:cNvCxnSpPr/>
              <p:nvPr/>
            </p:nvCxnSpPr>
            <p:spPr>
              <a:xfrm>
                <a:off x="2533" y="2998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090" name="Google Shape;2090;p28"/>
              <p:cNvSpPr/>
              <p:nvPr/>
            </p:nvSpPr>
            <p:spPr>
              <a:xfrm>
                <a:off x="2220" y="2998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1" name="Google Shape;2091;p28"/>
              <p:cNvSpPr/>
              <p:nvPr/>
            </p:nvSpPr>
            <p:spPr>
              <a:xfrm>
                <a:off x="2217" y="2939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92" name="Google Shape;2092;p28"/>
              <p:cNvGrpSpPr/>
              <p:nvPr/>
            </p:nvGrpSpPr>
            <p:grpSpPr>
              <a:xfrm>
                <a:off x="2276" y="2884"/>
                <a:ext cx="206" cy="252"/>
                <a:chOff x="2954" y="2425"/>
                <a:chExt cx="209" cy="252"/>
              </a:xfrm>
            </p:grpSpPr>
            <p:sp>
              <p:nvSpPr>
                <p:cNvPr id="2093" name="Google Shape;2093;p2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4" name="Google Shape;2094;p28"/>
                <p:cNvSpPr txBox="1"/>
                <p:nvPr/>
              </p:nvSpPr>
              <p:spPr>
                <a:xfrm>
                  <a:off x="2954" y="2425"/>
                  <a:ext cx="20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alibri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95" name="Google Shape;2095;p28"/>
            <p:cNvSpPr/>
            <p:nvPr/>
          </p:nvSpPr>
          <p:spPr>
            <a:xfrm flipH="1">
              <a:off x="2505" y="2819"/>
              <a:ext cx="198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28"/>
            <p:cNvSpPr/>
            <p:nvPr/>
          </p:nvSpPr>
          <p:spPr>
            <a:xfrm rot="10800000">
              <a:off x="2484" y="3125"/>
              <a:ext cx="180" cy="141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28"/>
            <p:cNvSpPr/>
            <p:nvPr/>
          </p:nvSpPr>
          <p:spPr>
            <a:xfrm flipH="1" rot="10800000">
              <a:off x="2031" y="3107"/>
              <a:ext cx="204" cy="156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28"/>
            <p:cNvSpPr/>
            <p:nvPr/>
          </p:nvSpPr>
          <p:spPr>
            <a:xfrm rot="10800000">
              <a:off x="2400" y="3086"/>
              <a:ext cx="189" cy="153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28"/>
            <p:cNvSpPr/>
            <p:nvPr/>
          </p:nvSpPr>
          <p:spPr>
            <a:xfrm flipH="1">
              <a:off x="2124" y="3083"/>
              <a:ext cx="174" cy="147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28"/>
            <p:cNvSpPr txBox="1"/>
            <p:nvPr/>
          </p:nvSpPr>
          <p:spPr>
            <a:xfrm>
              <a:off x="1632" y="3815"/>
              <a:ext cx="1539" cy="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given these costs,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find new routing….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resulting in new costs</a:t>
              </a:r>
              <a:endParaRPr/>
            </a:p>
          </p:txBody>
        </p:sp>
        <p:cxnSp>
          <p:nvCxnSpPr>
            <p:cNvPr id="2101" name="Google Shape;2101;p28"/>
            <p:cNvCxnSpPr/>
            <p:nvPr/>
          </p:nvCxnSpPr>
          <p:spPr>
            <a:xfrm rot="10800000">
              <a:off x="2358" y="3407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2" name="Google Shape;2102;p28"/>
            <p:cNvCxnSpPr/>
            <p:nvPr/>
          </p:nvCxnSpPr>
          <p:spPr>
            <a:xfrm rot="10800000">
              <a:off x="1938" y="3119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03" name="Google Shape;2103;p28"/>
            <p:cNvCxnSpPr/>
            <p:nvPr/>
          </p:nvCxnSpPr>
          <p:spPr>
            <a:xfrm rot="10800000">
              <a:off x="2778" y="3122"/>
              <a:ext cx="0" cy="156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104" name="Google Shape;2104;p28"/>
          <p:cNvSpPr/>
          <p:nvPr/>
        </p:nvSpPr>
        <p:spPr>
          <a:xfrm>
            <a:off x="10048240" y="3706812"/>
            <a:ext cx="1193800" cy="866775"/>
          </a:xfrm>
          <a:custGeom>
            <a:rect b="b" l="l" r="r" t="t"/>
            <a:pathLst>
              <a:path extrusionOk="0" h="546" w="752">
                <a:moveTo>
                  <a:pt x="752" y="264"/>
                </a:moveTo>
                <a:lnTo>
                  <a:pt x="383" y="546"/>
                </a:lnTo>
                <a:lnTo>
                  <a:pt x="0" y="248"/>
                </a:lnTo>
                <a:lnTo>
                  <a:pt x="383" y="0"/>
                </a:lnTo>
              </a:path>
            </a:pathLst>
          </a:custGeom>
          <a:noFill/>
          <a:ln cap="flat" cmpd="sng" w="571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5" name="Google Shape;2105;p28"/>
          <p:cNvGrpSpPr/>
          <p:nvPr/>
        </p:nvGrpSpPr>
        <p:grpSpPr>
          <a:xfrm>
            <a:off x="9873615" y="3692525"/>
            <a:ext cx="1430338" cy="966787"/>
            <a:chOff x="1870" y="2772"/>
            <a:chExt cx="901" cy="609"/>
          </a:xfrm>
        </p:grpSpPr>
        <p:sp>
          <p:nvSpPr>
            <p:cNvPr id="2106" name="Google Shape;2106;p28"/>
            <p:cNvSpPr txBox="1"/>
            <p:nvPr/>
          </p:nvSpPr>
          <p:spPr>
            <a:xfrm>
              <a:off x="1870" y="2772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2+e</a:t>
              </a:r>
              <a:endParaRPr/>
            </a:p>
          </p:txBody>
        </p:sp>
        <p:sp>
          <p:nvSpPr>
            <p:cNvPr id="2107" name="Google Shape;2107;p28"/>
            <p:cNvSpPr txBox="1"/>
            <p:nvPr/>
          </p:nvSpPr>
          <p:spPr>
            <a:xfrm>
              <a:off x="2593" y="279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8" name="Google Shape;2108;p28"/>
            <p:cNvSpPr txBox="1"/>
            <p:nvPr/>
          </p:nvSpPr>
          <p:spPr>
            <a:xfrm>
              <a:off x="2501" y="3189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09" name="Google Shape;2109;p28"/>
            <p:cNvSpPr txBox="1"/>
            <p:nvPr/>
          </p:nvSpPr>
          <p:spPr>
            <a:xfrm>
              <a:off x="1987" y="315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2110" name="Google Shape;2110;p28"/>
            <p:cNvSpPr txBox="1"/>
            <p:nvPr/>
          </p:nvSpPr>
          <p:spPr>
            <a:xfrm>
              <a:off x="2135" y="3009"/>
              <a:ext cx="305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1+e</a:t>
              </a:r>
              <a:endParaRPr/>
            </a:p>
          </p:txBody>
        </p:sp>
        <p:sp>
          <p:nvSpPr>
            <p:cNvPr id="2111" name="Google Shape;2111;p28"/>
            <p:cNvSpPr txBox="1"/>
            <p:nvPr/>
          </p:nvSpPr>
          <p:spPr>
            <a:xfrm>
              <a:off x="2380" y="3003"/>
              <a:ext cx="17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112" name="Google Shape;2112;p28"/>
          <p:cNvSpPr txBox="1"/>
          <p:nvPr/>
        </p:nvSpPr>
        <p:spPr>
          <a:xfrm>
            <a:off x="627698" y="1762759"/>
            <a:ext cx="10792142" cy="1201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1463" lvl="0" marL="4016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 scenario: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to destination a, traffic entering at d, c, e with rates 1, e (&lt;1), 1</a:t>
            </a:r>
            <a:endParaRPr/>
          </a:p>
          <a:p>
            <a:pPr indent="-271463" lvl="1" marL="7445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costs are directional, and volume-dependent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13" name="Google Shape;2113;p28"/>
          <p:cNvGrpSpPr/>
          <p:nvPr/>
        </p:nvGrpSpPr>
        <p:grpSpPr>
          <a:xfrm>
            <a:off x="3365818" y="4272915"/>
            <a:ext cx="1854835" cy="769620"/>
            <a:chOff x="490538" y="4465955"/>
            <a:chExt cx="1854835" cy="769620"/>
          </a:xfrm>
        </p:grpSpPr>
        <p:sp>
          <p:nvSpPr>
            <p:cNvPr id="2114" name="Google Shape;2114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7" name="Google Shape;2117;p28"/>
          <p:cNvGrpSpPr/>
          <p:nvPr/>
        </p:nvGrpSpPr>
        <p:grpSpPr>
          <a:xfrm>
            <a:off x="6576378" y="4293235"/>
            <a:ext cx="1854835" cy="769620"/>
            <a:chOff x="490538" y="4465955"/>
            <a:chExt cx="1854835" cy="769620"/>
          </a:xfrm>
        </p:grpSpPr>
        <p:sp>
          <p:nvSpPr>
            <p:cNvPr id="2118" name="Google Shape;2118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1" name="Google Shape;2121;p28"/>
          <p:cNvGrpSpPr/>
          <p:nvPr/>
        </p:nvGrpSpPr>
        <p:grpSpPr>
          <a:xfrm>
            <a:off x="9705658" y="4313555"/>
            <a:ext cx="1854835" cy="769620"/>
            <a:chOff x="490538" y="4465955"/>
            <a:chExt cx="1854835" cy="769620"/>
          </a:xfrm>
        </p:grpSpPr>
        <p:sp>
          <p:nvSpPr>
            <p:cNvPr id="2122" name="Google Shape;2122;p28"/>
            <p:cNvSpPr txBox="1"/>
            <p:nvPr/>
          </p:nvSpPr>
          <p:spPr>
            <a:xfrm>
              <a:off x="1167130" y="4868862"/>
              <a:ext cx="311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28"/>
            <p:cNvSpPr txBox="1"/>
            <p:nvPr/>
          </p:nvSpPr>
          <p:spPr>
            <a:xfrm>
              <a:off x="490538" y="4472940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28"/>
            <p:cNvSpPr txBox="1"/>
            <p:nvPr/>
          </p:nvSpPr>
          <p:spPr>
            <a:xfrm>
              <a:off x="2034223" y="4465955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131" name="Google Shape;213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2132" name="Google Shape;2132;p29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29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0"/>
          <p:cNvSpPr txBox="1"/>
          <p:nvPr>
            <p:ph idx="1" type="body"/>
          </p:nvPr>
        </p:nvSpPr>
        <p:spPr>
          <a:xfrm>
            <a:off x="838200" y="1724027"/>
            <a:ext cx="10813026" cy="517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Based on </a:t>
            </a:r>
            <a:r>
              <a:rPr i="1" lang="en-US" sz="3200">
                <a:solidFill>
                  <a:srgbClr val="0000A8"/>
                </a:solidFill>
              </a:rPr>
              <a:t>Bellman-Ford</a:t>
            </a:r>
            <a:r>
              <a:rPr lang="en-US" sz="3200"/>
              <a:t> (BF) equation (dynamic programming):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40" name="Google Shape;2140;p3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141" name="Google Shape;2141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42" name="Google Shape;2142;p30"/>
          <p:cNvGrpSpPr/>
          <p:nvPr/>
        </p:nvGrpSpPr>
        <p:grpSpPr>
          <a:xfrm>
            <a:off x="1902542" y="2507226"/>
            <a:ext cx="8854256" cy="2757948"/>
            <a:chOff x="1902542" y="2507226"/>
            <a:chExt cx="8854256" cy="2757948"/>
          </a:xfrm>
        </p:grpSpPr>
        <p:sp>
          <p:nvSpPr>
            <p:cNvPr id="2143" name="Google Shape;2143;p30"/>
            <p:cNvSpPr txBox="1"/>
            <p:nvPr/>
          </p:nvSpPr>
          <p:spPr>
            <a:xfrm>
              <a:off x="2803423" y="3288890"/>
              <a:ext cx="7953375" cy="19762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10000"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Let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(y): 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of least-cost path from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to </a:t>
              </a:r>
              <a:r>
                <a:rPr i="1"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Then: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2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= </a:t>
              </a:r>
              <a:r>
                <a:rPr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min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{ c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x,v 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aseline="-25000"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i="1" lang="en-US" sz="32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(y) }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2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144" name="Google Shape;2144;p30"/>
            <p:cNvSpPr/>
            <p:nvPr/>
          </p:nvSpPr>
          <p:spPr>
            <a:xfrm>
              <a:off x="1902542" y="2743199"/>
              <a:ext cx="8686800" cy="2182761"/>
            </a:xfrm>
            <a:prstGeom prst="rect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0"/>
            <p:cNvSpPr txBox="1"/>
            <p:nvPr/>
          </p:nvSpPr>
          <p:spPr>
            <a:xfrm>
              <a:off x="2418735" y="2507226"/>
              <a:ext cx="3047501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</a:t>
              </a:r>
              <a:endParaRPr/>
            </a:p>
          </p:txBody>
        </p:sp>
      </p:grpSp>
      <p:grpSp>
        <p:nvGrpSpPr>
          <p:cNvPr id="2146" name="Google Shape;2146;p30"/>
          <p:cNvGrpSpPr/>
          <p:nvPr/>
        </p:nvGrpSpPr>
        <p:grpSpPr>
          <a:xfrm>
            <a:off x="882140" y="4742711"/>
            <a:ext cx="4443412" cy="1557316"/>
            <a:chOff x="2040982" y="4374411"/>
            <a:chExt cx="4443412" cy="1557316"/>
          </a:xfrm>
        </p:grpSpPr>
        <p:sp>
          <p:nvSpPr>
            <p:cNvPr id="2147" name="Google Shape;2147;p30"/>
            <p:cNvSpPr txBox="1"/>
            <p:nvPr/>
          </p:nvSpPr>
          <p:spPr>
            <a:xfrm>
              <a:off x="2040982" y="5474527"/>
              <a:ext cx="4443412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taken over all neighbors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cxnSp>
          <p:nvCxnSpPr>
            <p:cNvPr id="2148" name="Google Shape;2148;p30"/>
            <p:cNvCxnSpPr/>
            <p:nvPr/>
          </p:nvCxnSpPr>
          <p:spPr>
            <a:xfrm>
              <a:off x="6409694" y="4374411"/>
              <a:ext cx="0" cy="1357464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149" name="Google Shape;2149;p30"/>
          <p:cNvGrpSpPr/>
          <p:nvPr/>
        </p:nvGrpSpPr>
        <p:grpSpPr>
          <a:xfrm>
            <a:off x="6490417" y="4684735"/>
            <a:ext cx="4855304" cy="1072830"/>
            <a:chOff x="6490417" y="4684735"/>
            <a:chExt cx="4855304" cy="1072830"/>
          </a:xfrm>
        </p:grpSpPr>
        <p:sp>
          <p:nvSpPr>
            <p:cNvPr id="2150" name="Google Shape;2150;p30"/>
            <p:cNvSpPr txBox="1"/>
            <p:nvPr/>
          </p:nvSpPr>
          <p:spPr>
            <a:xfrm>
              <a:off x="6490417" y="5295900"/>
              <a:ext cx="485530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’s estimated least-cost-path cost 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endParaRPr/>
            </a:p>
          </p:txBody>
        </p:sp>
        <p:cxnSp>
          <p:nvCxnSpPr>
            <p:cNvPr id="2151" name="Google Shape;2151;p30"/>
            <p:cNvCxnSpPr/>
            <p:nvPr/>
          </p:nvCxnSpPr>
          <p:spPr>
            <a:xfrm rot="10800000">
              <a:off x="6789107" y="4684735"/>
              <a:ext cx="0" cy="713983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52" name="Google Shape;2152;p30"/>
          <p:cNvGrpSpPr/>
          <p:nvPr/>
        </p:nvGrpSpPr>
        <p:grpSpPr>
          <a:xfrm>
            <a:off x="5898825" y="4749453"/>
            <a:ext cx="3734933" cy="1589812"/>
            <a:chOff x="5898825" y="4749453"/>
            <a:chExt cx="3734933" cy="1589812"/>
          </a:xfrm>
        </p:grpSpPr>
        <p:sp>
          <p:nvSpPr>
            <p:cNvPr id="2153" name="Google Shape;2153;p30"/>
            <p:cNvSpPr txBox="1"/>
            <p:nvPr/>
          </p:nvSpPr>
          <p:spPr>
            <a:xfrm>
              <a:off x="5898825" y="5877600"/>
              <a:ext cx="37349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direct cost of link from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x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endParaRPr/>
            </a:p>
          </p:txBody>
        </p:sp>
        <p:cxnSp>
          <p:nvCxnSpPr>
            <p:cNvPr id="2154" name="Google Shape;2154;p30"/>
            <p:cNvCxnSpPr/>
            <p:nvPr/>
          </p:nvCxnSpPr>
          <p:spPr>
            <a:xfrm rot="10800000">
              <a:off x="5901847" y="4749453"/>
              <a:ext cx="0" cy="1338196"/>
            </a:xfrm>
            <a:prstGeom prst="straightConnector1">
              <a:avLst/>
            </a:prstGeom>
            <a:noFill/>
            <a:ln cap="flat" cmpd="sng" w="127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3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Bellman-Ford Example</a:t>
            </a:r>
            <a:endParaRPr/>
          </a:p>
        </p:txBody>
      </p:sp>
      <p:sp>
        <p:nvSpPr>
          <p:cNvPr id="2161" name="Google Shape;2161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2" name="Google Shape;2162;p31"/>
          <p:cNvSpPr/>
          <p:nvPr/>
        </p:nvSpPr>
        <p:spPr>
          <a:xfrm>
            <a:off x="1464895" y="2577601"/>
            <a:ext cx="3571875" cy="2236788"/>
          </a:xfrm>
          <a:custGeom>
            <a:rect b="b" l="l" r="r" t="t"/>
            <a:pathLst>
              <a:path extrusionOk="0" h="1409" w="2250">
                <a:moveTo>
                  <a:pt x="0" y="624"/>
                </a:moveTo>
                <a:cubicBezTo>
                  <a:pt x="5" y="506"/>
                  <a:pt x="131" y="419"/>
                  <a:pt x="219" y="321"/>
                </a:cubicBezTo>
                <a:cubicBezTo>
                  <a:pt x="307" y="223"/>
                  <a:pt x="307" y="70"/>
                  <a:pt x="529" y="35"/>
                </a:cubicBezTo>
                <a:cubicBezTo>
                  <a:pt x="751" y="0"/>
                  <a:pt x="1311" y="36"/>
                  <a:pt x="1551" y="111"/>
                </a:cubicBezTo>
                <a:cubicBezTo>
                  <a:pt x="1791" y="186"/>
                  <a:pt x="1860" y="351"/>
                  <a:pt x="1968" y="483"/>
                </a:cubicBezTo>
                <a:cubicBezTo>
                  <a:pt x="2076" y="615"/>
                  <a:pt x="2250" y="767"/>
                  <a:pt x="2199" y="906"/>
                </a:cubicBezTo>
                <a:cubicBezTo>
                  <a:pt x="2148" y="1045"/>
                  <a:pt x="1860" y="1234"/>
                  <a:pt x="1659" y="1314"/>
                </a:cubicBezTo>
                <a:cubicBezTo>
                  <a:pt x="1458" y="1394"/>
                  <a:pt x="1192" y="1379"/>
                  <a:pt x="993" y="1386"/>
                </a:cubicBezTo>
                <a:cubicBezTo>
                  <a:pt x="794" y="1393"/>
                  <a:pt x="613" y="1409"/>
                  <a:pt x="465" y="1356"/>
                </a:cubicBezTo>
                <a:cubicBezTo>
                  <a:pt x="317" y="1303"/>
                  <a:pt x="180" y="1190"/>
                  <a:pt x="102" y="1068"/>
                </a:cubicBezTo>
                <a:cubicBezTo>
                  <a:pt x="24" y="946"/>
                  <a:pt x="21" y="716"/>
                  <a:pt x="0" y="6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31"/>
          <p:cNvSpPr/>
          <p:nvPr/>
        </p:nvSpPr>
        <p:spPr>
          <a:xfrm>
            <a:off x="1974545" y="3431326"/>
            <a:ext cx="542925" cy="295275"/>
          </a:xfrm>
          <a:custGeom>
            <a:rect b="b" l="l" r="r" t="t"/>
            <a:pathLst>
              <a:path extrusionOk="0" h="186" w="342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31"/>
          <p:cNvSpPr/>
          <p:nvPr/>
        </p:nvSpPr>
        <p:spPr>
          <a:xfrm>
            <a:off x="1561795" y="38155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5" name="Google Shape;2165;p31"/>
          <p:cNvCxnSpPr/>
          <p:nvPr/>
        </p:nvCxnSpPr>
        <p:spPr>
          <a:xfrm>
            <a:off x="1561795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6" name="Google Shape;2166;p31"/>
          <p:cNvCxnSpPr/>
          <p:nvPr/>
        </p:nvCxnSpPr>
        <p:spPr>
          <a:xfrm>
            <a:off x="2058683" y="38043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7" name="Google Shape;2167;p31"/>
          <p:cNvSpPr/>
          <p:nvPr/>
        </p:nvSpPr>
        <p:spPr>
          <a:xfrm>
            <a:off x="1561795" y="38043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31"/>
          <p:cNvSpPr/>
          <p:nvPr/>
        </p:nvSpPr>
        <p:spPr>
          <a:xfrm>
            <a:off x="1557033" y="37107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9" name="Google Shape;2169;p31"/>
          <p:cNvSpPr/>
          <p:nvPr/>
        </p:nvSpPr>
        <p:spPr>
          <a:xfrm>
            <a:off x="3408058" y="4425101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0" name="Google Shape;2170;p31"/>
          <p:cNvCxnSpPr/>
          <p:nvPr/>
        </p:nvCxnSpPr>
        <p:spPr>
          <a:xfrm>
            <a:off x="3408058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31"/>
          <p:cNvCxnSpPr/>
          <p:nvPr/>
        </p:nvCxnSpPr>
        <p:spPr>
          <a:xfrm>
            <a:off x="3904945" y="4413988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2" name="Google Shape;2172;p31"/>
          <p:cNvSpPr/>
          <p:nvPr/>
        </p:nvSpPr>
        <p:spPr>
          <a:xfrm>
            <a:off x="3408058" y="4413988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3" name="Google Shape;2173;p31"/>
          <p:cNvSpPr/>
          <p:nvPr/>
        </p:nvSpPr>
        <p:spPr>
          <a:xfrm>
            <a:off x="3403295" y="4320326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4" name="Google Shape;2174;p31"/>
          <p:cNvSpPr/>
          <p:nvPr/>
        </p:nvSpPr>
        <p:spPr>
          <a:xfrm>
            <a:off x="4304995" y="3883763"/>
            <a:ext cx="496888" cy="128588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5" name="Google Shape;2175;p31"/>
          <p:cNvCxnSpPr/>
          <p:nvPr/>
        </p:nvCxnSpPr>
        <p:spPr>
          <a:xfrm>
            <a:off x="4304995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31"/>
          <p:cNvCxnSpPr/>
          <p:nvPr/>
        </p:nvCxnSpPr>
        <p:spPr>
          <a:xfrm>
            <a:off x="4801883" y="3872651"/>
            <a:ext cx="0" cy="793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31"/>
          <p:cNvSpPr/>
          <p:nvPr/>
        </p:nvSpPr>
        <p:spPr>
          <a:xfrm>
            <a:off x="4304995" y="3872651"/>
            <a:ext cx="492125" cy="7778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31"/>
          <p:cNvSpPr/>
          <p:nvPr/>
        </p:nvSpPr>
        <p:spPr>
          <a:xfrm>
            <a:off x="4300233" y="3778988"/>
            <a:ext cx="496888" cy="150813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31"/>
          <p:cNvSpPr/>
          <p:nvPr/>
        </p:nvSpPr>
        <p:spPr>
          <a:xfrm>
            <a:off x="3655708" y="3474188"/>
            <a:ext cx="1588" cy="828675"/>
          </a:xfrm>
          <a:custGeom>
            <a:rect b="b" l="l" r="r" t="t"/>
            <a:pathLst>
              <a:path extrusionOk="0" h="522" w="1">
                <a:moveTo>
                  <a:pt x="0" y="0"/>
                </a:moveTo>
                <a:lnTo>
                  <a:pt x="0" y="522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0" name="Google Shape;2180;p31"/>
          <p:cNvSpPr/>
          <p:nvPr/>
        </p:nvSpPr>
        <p:spPr>
          <a:xfrm>
            <a:off x="2555570" y="3483713"/>
            <a:ext cx="1588" cy="852488"/>
          </a:xfrm>
          <a:custGeom>
            <a:rect b="b" l="l" r="r" t="t"/>
            <a:pathLst>
              <a:path extrusionOk="0" h="537" w="1">
                <a:moveTo>
                  <a:pt x="0" y="0"/>
                </a:moveTo>
                <a:lnTo>
                  <a:pt x="0" y="537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1" name="Google Shape;2181;p31"/>
          <p:cNvSpPr/>
          <p:nvPr/>
        </p:nvSpPr>
        <p:spPr>
          <a:xfrm>
            <a:off x="2817508" y="3459901"/>
            <a:ext cx="800100" cy="952500"/>
          </a:xfrm>
          <a:custGeom>
            <a:rect b="b" l="l" r="r" t="t"/>
            <a:pathLst>
              <a:path extrusionOk="0" h="174" w="378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2" name="Google Shape;2182;p31"/>
          <p:cNvSpPr/>
          <p:nvPr/>
        </p:nvSpPr>
        <p:spPr>
          <a:xfrm>
            <a:off x="3908120" y="4012351"/>
            <a:ext cx="581025" cy="428625"/>
          </a:xfrm>
          <a:custGeom>
            <a:rect b="b" l="l" r="r" t="t"/>
            <a:pathLst>
              <a:path extrusionOk="0" h="270" w="366">
                <a:moveTo>
                  <a:pt x="0" y="270"/>
                </a:moveTo>
                <a:lnTo>
                  <a:pt x="366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31"/>
          <p:cNvSpPr/>
          <p:nvPr/>
        </p:nvSpPr>
        <p:spPr>
          <a:xfrm>
            <a:off x="2827033" y="4460026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31"/>
          <p:cNvSpPr/>
          <p:nvPr/>
        </p:nvSpPr>
        <p:spPr>
          <a:xfrm>
            <a:off x="1888820" y="3945676"/>
            <a:ext cx="438150" cy="419100"/>
          </a:xfrm>
          <a:custGeom>
            <a:rect b="b" l="l" r="r" t="t"/>
            <a:pathLst>
              <a:path extrusionOk="0" h="264" w="276">
                <a:moveTo>
                  <a:pt x="276" y="264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5" name="Google Shape;2185;p31"/>
          <p:cNvSpPr/>
          <p:nvPr/>
        </p:nvSpPr>
        <p:spPr>
          <a:xfrm>
            <a:off x="2817508" y="3364651"/>
            <a:ext cx="581025" cy="1588"/>
          </a:xfrm>
          <a:custGeom>
            <a:rect b="b" l="l" r="r" t="t"/>
            <a:pathLst>
              <a:path extrusionOk="0" h="1" w="366">
                <a:moveTo>
                  <a:pt x="366" y="0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6" name="Google Shape;2186;p31"/>
          <p:cNvSpPr/>
          <p:nvPr/>
        </p:nvSpPr>
        <p:spPr>
          <a:xfrm>
            <a:off x="3889070" y="3359888"/>
            <a:ext cx="628650" cy="423863"/>
          </a:xfrm>
          <a:custGeom>
            <a:rect b="b" l="l" r="r" t="t"/>
            <a:pathLst>
              <a:path extrusionOk="0" h="267" w="396">
                <a:moveTo>
                  <a:pt x="396" y="267"/>
                </a:moveTo>
                <a:lnTo>
                  <a:pt x="0" y="0"/>
                </a:ln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31"/>
          <p:cNvSpPr/>
          <p:nvPr/>
        </p:nvSpPr>
        <p:spPr>
          <a:xfrm>
            <a:off x="1798333" y="2678851"/>
            <a:ext cx="1762125" cy="1023938"/>
          </a:xfrm>
          <a:custGeom>
            <a:rect b="b" l="l" r="r" t="t"/>
            <a:pathLst>
              <a:path extrusionOk="0" h="645" w="1110">
                <a:moveTo>
                  <a:pt x="1110" y="342"/>
                </a:moveTo>
                <a:cubicBezTo>
                  <a:pt x="1104" y="0"/>
                  <a:pt x="21" y="63"/>
                  <a:pt x="0" y="645"/>
                </a:cubicBezTo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8" name="Google Shape;2188;p31"/>
          <p:cNvGrpSpPr/>
          <p:nvPr/>
        </p:nvGrpSpPr>
        <p:grpSpPr>
          <a:xfrm>
            <a:off x="1639583" y="3628176"/>
            <a:ext cx="325438" cy="396875"/>
            <a:chOff x="2954" y="2425"/>
            <a:chExt cx="208" cy="250"/>
          </a:xfrm>
        </p:grpSpPr>
        <p:sp>
          <p:nvSpPr>
            <p:cNvPr id="2189" name="Google Shape;2189;p31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0" name="Google Shape;2190;p31"/>
            <p:cNvSpPr txBox="1"/>
            <p:nvPr/>
          </p:nvSpPr>
          <p:spPr>
            <a:xfrm>
              <a:off x="2954" y="2425"/>
              <a:ext cx="208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1" name="Google Shape;2191;p31"/>
          <p:cNvGrpSpPr/>
          <p:nvPr/>
        </p:nvGrpSpPr>
        <p:grpSpPr>
          <a:xfrm>
            <a:off x="3503308" y="4237776"/>
            <a:ext cx="311150" cy="396875"/>
            <a:chOff x="2958" y="2425"/>
            <a:chExt cx="199" cy="250"/>
          </a:xfrm>
        </p:grpSpPr>
        <p:sp>
          <p:nvSpPr>
            <p:cNvPr id="2192" name="Google Shape;2192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3" name="Google Shape;2193;p31"/>
            <p:cNvSpPr txBox="1"/>
            <p:nvPr/>
          </p:nvSpPr>
          <p:spPr>
            <a:xfrm>
              <a:off x="2958" y="2425"/>
              <a:ext cx="199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94" name="Google Shape;2194;p31"/>
          <p:cNvGrpSpPr/>
          <p:nvPr/>
        </p:nvGrpSpPr>
        <p:grpSpPr>
          <a:xfrm>
            <a:off x="4398658" y="3647226"/>
            <a:ext cx="336550" cy="457200"/>
            <a:chOff x="2949" y="2395"/>
            <a:chExt cx="214" cy="288"/>
          </a:xfrm>
        </p:grpSpPr>
        <p:sp>
          <p:nvSpPr>
            <p:cNvPr id="2195" name="Google Shape;2195;p31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6" name="Google Shape;2196;p31"/>
            <p:cNvSpPr txBox="1"/>
            <p:nvPr/>
          </p:nvSpPr>
          <p:spPr>
            <a:xfrm>
              <a:off x="2949" y="2395"/>
              <a:ext cx="21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</p:grpSp>
      <p:sp>
        <p:nvSpPr>
          <p:cNvPr id="2197" name="Google Shape;2197;p31"/>
          <p:cNvSpPr txBox="1"/>
          <p:nvPr/>
        </p:nvSpPr>
        <p:spPr>
          <a:xfrm>
            <a:off x="1966608" y="33487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31"/>
          <p:cNvSpPr txBox="1"/>
          <p:nvPr/>
        </p:nvSpPr>
        <p:spPr>
          <a:xfrm>
            <a:off x="2519058" y="36964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31"/>
          <p:cNvSpPr txBox="1"/>
          <p:nvPr/>
        </p:nvSpPr>
        <p:spPr>
          <a:xfrm>
            <a:off x="1828495" y="40345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31"/>
          <p:cNvSpPr txBox="1"/>
          <p:nvPr/>
        </p:nvSpPr>
        <p:spPr>
          <a:xfrm>
            <a:off x="3128658" y="38440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31"/>
          <p:cNvSpPr txBox="1"/>
          <p:nvPr/>
        </p:nvSpPr>
        <p:spPr>
          <a:xfrm>
            <a:off x="3028645" y="440605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31"/>
          <p:cNvSpPr txBox="1"/>
          <p:nvPr/>
        </p:nvSpPr>
        <p:spPr>
          <a:xfrm>
            <a:off x="3600145" y="37250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31"/>
          <p:cNvSpPr txBox="1"/>
          <p:nvPr/>
        </p:nvSpPr>
        <p:spPr>
          <a:xfrm>
            <a:off x="4171645" y="4144113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31"/>
          <p:cNvSpPr txBox="1"/>
          <p:nvPr/>
        </p:nvSpPr>
        <p:spPr>
          <a:xfrm>
            <a:off x="4128783" y="329162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5" name="Google Shape;2205;p31"/>
          <p:cNvSpPr txBox="1"/>
          <p:nvPr/>
        </p:nvSpPr>
        <p:spPr>
          <a:xfrm>
            <a:off x="2961970" y="30535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31"/>
          <p:cNvSpPr txBox="1"/>
          <p:nvPr/>
        </p:nvSpPr>
        <p:spPr>
          <a:xfrm>
            <a:off x="2404758" y="2629638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7" name="Google Shape;2207;p31"/>
          <p:cNvSpPr txBox="1"/>
          <p:nvPr/>
        </p:nvSpPr>
        <p:spPr>
          <a:xfrm>
            <a:off x="826718" y="1453057"/>
            <a:ext cx="1106048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that </a:t>
            </a:r>
            <a:r>
              <a:rPr b="0" i="1" lang="en-US" sz="2800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’s neighboring node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s, x,v,w,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know that for destination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grpSp>
        <p:nvGrpSpPr>
          <p:cNvPr id="2208" name="Google Shape;2208;p31"/>
          <p:cNvGrpSpPr/>
          <p:nvPr/>
        </p:nvGrpSpPr>
        <p:grpSpPr>
          <a:xfrm>
            <a:off x="5954236" y="2228981"/>
            <a:ext cx="4331635" cy="1775026"/>
            <a:chOff x="5954236" y="2228981"/>
            <a:chExt cx="4331635" cy="1775026"/>
          </a:xfrm>
        </p:grpSpPr>
        <p:sp>
          <p:nvSpPr>
            <p:cNvPr id="2209" name="Google Shape;2209;p31"/>
            <p:cNvSpPr txBox="1"/>
            <p:nvPr/>
          </p:nvSpPr>
          <p:spPr>
            <a:xfrm>
              <a:off x="6467193" y="2803678"/>
              <a:ext cx="3595856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 min {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u,v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u,x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(z),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             c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u,w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 D</a:t>
              </a:r>
              <a:r>
                <a:rPr b="0" baseline="-2500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(z)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/>
            </a:p>
          </p:txBody>
        </p:sp>
        <p:sp>
          <p:nvSpPr>
            <p:cNvPr id="2210" name="Google Shape;2210;p31"/>
            <p:cNvSpPr txBox="1"/>
            <p:nvPr/>
          </p:nvSpPr>
          <p:spPr>
            <a:xfrm>
              <a:off x="5954236" y="2228981"/>
              <a:ext cx="433163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Bellman-Ford equation says:</a:t>
              </a:r>
              <a:endParaRPr/>
            </a:p>
          </p:txBody>
        </p:sp>
      </p:grpSp>
      <p:sp>
        <p:nvSpPr>
          <p:cNvPr id="2211" name="Google Shape;2211;p31"/>
          <p:cNvSpPr/>
          <p:nvPr/>
        </p:nvSpPr>
        <p:spPr>
          <a:xfrm>
            <a:off x="1490598" y="3507287"/>
            <a:ext cx="613776" cy="613776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2" name="Google Shape;2212;p31"/>
          <p:cNvGrpSpPr/>
          <p:nvPr/>
        </p:nvGrpSpPr>
        <p:grpSpPr>
          <a:xfrm>
            <a:off x="764088" y="2192055"/>
            <a:ext cx="1691013" cy="1127342"/>
            <a:chOff x="764088" y="2192055"/>
            <a:chExt cx="1691013" cy="1127342"/>
          </a:xfrm>
        </p:grpSpPr>
        <p:sp>
          <p:nvSpPr>
            <p:cNvPr id="2213" name="Google Shape;2213;p31"/>
            <p:cNvSpPr/>
            <p:nvPr/>
          </p:nvSpPr>
          <p:spPr>
            <a:xfrm>
              <a:off x="851770" y="2630466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4" name="Google Shape;2214;p31"/>
            <p:cNvGrpSpPr/>
            <p:nvPr/>
          </p:nvGrpSpPr>
          <p:grpSpPr>
            <a:xfrm>
              <a:off x="764088" y="2192055"/>
              <a:ext cx="1346844" cy="461665"/>
              <a:chOff x="764088" y="2192055"/>
              <a:chExt cx="1346844" cy="461665"/>
            </a:xfrm>
          </p:grpSpPr>
          <p:sp>
            <p:nvSpPr>
              <p:cNvPr id="2215" name="Google Shape;2215;p31"/>
              <p:cNvSpPr/>
              <p:nvPr/>
            </p:nvSpPr>
            <p:spPr>
              <a:xfrm>
                <a:off x="851770" y="224215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6" name="Google Shape;2216;p31"/>
              <p:cNvSpPr txBox="1"/>
              <p:nvPr/>
            </p:nvSpPr>
            <p:spPr>
              <a:xfrm>
                <a:off x="764088" y="2192055"/>
                <a:ext cx="13468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 5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17" name="Google Shape;2217;p31"/>
          <p:cNvGrpSpPr/>
          <p:nvPr/>
        </p:nvGrpSpPr>
        <p:grpSpPr>
          <a:xfrm>
            <a:off x="2315033" y="3160213"/>
            <a:ext cx="501650" cy="396875"/>
            <a:chOff x="836555" y="3112712"/>
            <a:chExt cx="501650" cy="396875"/>
          </a:xfrm>
        </p:grpSpPr>
        <p:grpSp>
          <p:nvGrpSpPr>
            <p:cNvPr id="2218" name="Google Shape;2218;p31"/>
            <p:cNvGrpSpPr/>
            <p:nvPr/>
          </p:nvGrpSpPr>
          <p:grpSpPr>
            <a:xfrm>
              <a:off x="836555" y="3205962"/>
              <a:ext cx="501650" cy="233363"/>
              <a:chOff x="2303158" y="3229713"/>
              <a:chExt cx="501650" cy="233363"/>
            </a:xfrm>
          </p:grpSpPr>
          <p:sp>
            <p:nvSpPr>
              <p:cNvPr id="2219" name="Google Shape;2219;p31"/>
              <p:cNvSpPr/>
              <p:nvPr/>
            </p:nvSpPr>
            <p:spPr>
              <a:xfrm>
                <a:off x="2307920" y="3334488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0" name="Google Shape;2220;p31"/>
              <p:cNvCxnSpPr/>
              <p:nvPr/>
            </p:nvCxnSpPr>
            <p:spPr>
              <a:xfrm>
                <a:off x="2307920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221" name="Google Shape;2221;p31"/>
              <p:cNvCxnSpPr/>
              <p:nvPr/>
            </p:nvCxnSpPr>
            <p:spPr>
              <a:xfrm>
                <a:off x="2804808" y="3323376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222" name="Google Shape;2222;p31"/>
              <p:cNvSpPr/>
              <p:nvPr/>
            </p:nvSpPr>
            <p:spPr>
              <a:xfrm>
                <a:off x="2307920" y="3323376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3" name="Google Shape;2223;p31"/>
              <p:cNvSpPr/>
              <p:nvPr/>
            </p:nvSpPr>
            <p:spPr>
              <a:xfrm>
                <a:off x="2303158" y="3229713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24" name="Google Shape;2224;p31"/>
            <p:cNvGrpSpPr/>
            <p:nvPr/>
          </p:nvGrpSpPr>
          <p:grpSpPr>
            <a:xfrm>
              <a:off x="929455" y="3112712"/>
              <a:ext cx="311150" cy="396875"/>
              <a:chOff x="2958" y="2425"/>
              <a:chExt cx="199" cy="250"/>
            </a:xfrm>
          </p:grpSpPr>
          <p:sp>
            <p:nvSpPr>
              <p:cNvPr id="2225" name="Google Shape;2225;p31"/>
              <p:cNvSpPr/>
              <p:nvPr/>
            </p:nvSpPr>
            <p:spPr>
              <a:xfrm>
                <a:off x="2982" y="2490"/>
                <a:ext cx="142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6" name="Google Shape;2226;p31"/>
              <p:cNvSpPr txBox="1"/>
              <p:nvPr/>
            </p:nvSpPr>
            <p:spPr>
              <a:xfrm>
                <a:off x="2958" y="2425"/>
                <a:ext cx="199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27" name="Google Shape;2227;p31"/>
          <p:cNvGrpSpPr/>
          <p:nvPr/>
        </p:nvGrpSpPr>
        <p:grpSpPr>
          <a:xfrm>
            <a:off x="3717682" y="2156537"/>
            <a:ext cx="1617434" cy="1131193"/>
            <a:chOff x="3717682" y="2156537"/>
            <a:chExt cx="1617434" cy="1131193"/>
          </a:xfrm>
        </p:grpSpPr>
        <p:sp>
          <p:nvSpPr>
            <p:cNvPr id="2228" name="Google Shape;2228;p31"/>
            <p:cNvSpPr/>
            <p:nvPr/>
          </p:nvSpPr>
          <p:spPr>
            <a:xfrm flipH="1">
              <a:off x="3717682" y="2598799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9" name="Google Shape;2229;p31"/>
            <p:cNvGrpSpPr/>
            <p:nvPr/>
          </p:nvGrpSpPr>
          <p:grpSpPr>
            <a:xfrm>
              <a:off x="3933770" y="2156537"/>
              <a:ext cx="1401346" cy="461665"/>
              <a:chOff x="5257869" y="2364355"/>
              <a:chExt cx="1401346" cy="461665"/>
            </a:xfrm>
          </p:grpSpPr>
          <p:sp>
            <p:nvSpPr>
              <p:cNvPr id="2230" name="Google Shape;2230;p31"/>
              <p:cNvSpPr/>
              <p:nvPr/>
            </p:nvSpPr>
            <p:spPr>
              <a:xfrm>
                <a:off x="5402893" y="2421699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31"/>
              <p:cNvSpPr txBox="1"/>
              <p:nvPr/>
            </p:nvSpPr>
            <p:spPr>
              <a:xfrm>
                <a:off x="5257869" y="2364355"/>
                <a:ext cx="140134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2232" name="Google Shape;2232;p31"/>
          <p:cNvGrpSpPr/>
          <p:nvPr/>
        </p:nvGrpSpPr>
        <p:grpSpPr>
          <a:xfrm>
            <a:off x="3392183" y="3123351"/>
            <a:ext cx="500062" cy="396875"/>
            <a:chOff x="3392183" y="3123351"/>
            <a:chExt cx="500062" cy="396875"/>
          </a:xfrm>
        </p:grpSpPr>
        <p:sp>
          <p:nvSpPr>
            <p:cNvPr id="2233" name="Google Shape;2233;p31"/>
            <p:cNvSpPr/>
            <p:nvPr/>
          </p:nvSpPr>
          <p:spPr>
            <a:xfrm>
              <a:off x="3392183" y="3328138"/>
              <a:ext cx="495300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4" name="Google Shape;2234;p31"/>
            <p:cNvCxnSpPr/>
            <p:nvPr/>
          </p:nvCxnSpPr>
          <p:spPr>
            <a:xfrm>
              <a:off x="33921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5" name="Google Shape;2235;p31"/>
            <p:cNvCxnSpPr/>
            <p:nvPr/>
          </p:nvCxnSpPr>
          <p:spPr>
            <a:xfrm>
              <a:off x="3887483" y="3317026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6" name="Google Shape;2236;p31"/>
            <p:cNvSpPr/>
            <p:nvPr/>
          </p:nvSpPr>
          <p:spPr>
            <a:xfrm>
              <a:off x="3392183" y="3317026"/>
              <a:ext cx="490538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7" name="Google Shape;2237;p31"/>
            <p:cNvSpPr/>
            <p:nvPr/>
          </p:nvSpPr>
          <p:spPr>
            <a:xfrm>
              <a:off x="3396945" y="3228126"/>
              <a:ext cx="495300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38" name="Google Shape;2238;p31"/>
            <p:cNvGrpSpPr/>
            <p:nvPr/>
          </p:nvGrpSpPr>
          <p:grpSpPr>
            <a:xfrm>
              <a:off x="3466795" y="3123351"/>
              <a:ext cx="368300" cy="396875"/>
              <a:chOff x="2941" y="2413"/>
              <a:chExt cx="235" cy="250"/>
            </a:xfrm>
          </p:grpSpPr>
          <p:sp>
            <p:nvSpPr>
              <p:cNvPr id="2239" name="Google Shape;2239;p31"/>
              <p:cNvSpPr/>
              <p:nvPr/>
            </p:nvSpPr>
            <p:spPr>
              <a:xfrm>
                <a:off x="2982" y="2490"/>
                <a:ext cx="146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0" name="Google Shape;2240;p31"/>
              <p:cNvSpPr txBox="1"/>
              <p:nvPr/>
            </p:nvSpPr>
            <p:spPr>
              <a:xfrm>
                <a:off x="2941" y="2413"/>
                <a:ext cx="235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41" name="Google Shape;2241;p31"/>
          <p:cNvGrpSpPr/>
          <p:nvPr/>
        </p:nvGrpSpPr>
        <p:grpSpPr>
          <a:xfrm>
            <a:off x="848468" y="4372180"/>
            <a:ext cx="1691740" cy="1106944"/>
            <a:chOff x="848468" y="4372180"/>
            <a:chExt cx="1691740" cy="1106944"/>
          </a:xfrm>
        </p:grpSpPr>
        <p:sp>
          <p:nvSpPr>
            <p:cNvPr id="2242" name="Google Shape;2242;p31"/>
            <p:cNvSpPr/>
            <p:nvPr/>
          </p:nvSpPr>
          <p:spPr>
            <a:xfrm flipH="1" rot="10800000">
              <a:off x="936877" y="4372180"/>
              <a:ext cx="1603331" cy="688931"/>
            </a:xfrm>
            <a:custGeom>
              <a:rect b="b" l="l" r="r" t="t"/>
              <a:pathLst>
                <a:path extrusionOk="0" h="688931" w="1603331">
                  <a:moveTo>
                    <a:pt x="1603331" y="626301"/>
                  </a:moveTo>
                  <a:lnTo>
                    <a:pt x="1453019" y="688931"/>
                  </a:lnTo>
                  <a:cubicBezTo>
                    <a:pt x="1028055" y="405848"/>
                    <a:pt x="858413" y="306834"/>
                    <a:pt x="0" y="0"/>
                  </a:cubicBezTo>
                  <a:lnTo>
                    <a:pt x="1240077" y="0"/>
                  </a:lnTo>
                  <a:cubicBezTo>
                    <a:pt x="1367100" y="327520"/>
                    <a:pt x="1416932" y="417534"/>
                    <a:pt x="1603331" y="62630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8000">
                  <a:srgbClr val="D8D8D8"/>
                </a:gs>
                <a:gs pos="100000">
                  <a:srgbClr val="D8D8D8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43" name="Google Shape;2243;p31"/>
            <p:cNvGrpSpPr/>
            <p:nvPr/>
          </p:nvGrpSpPr>
          <p:grpSpPr>
            <a:xfrm>
              <a:off x="848468" y="5017459"/>
              <a:ext cx="1342034" cy="461665"/>
              <a:chOff x="296266" y="4536509"/>
              <a:chExt cx="1342034" cy="461665"/>
            </a:xfrm>
          </p:grpSpPr>
          <p:sp>
            <p:nvSpPr>
              <p:cNvPr id="2244" name="Google Shape;2244;p31"/>
              <p:cNvSpPr/>
              <p:nvPr/>
            </p:nvSpPr>
            <p:spPr>
              <a:xfrm>
                <a:off x="398223" y="4576176"/>
                <a:ext cx="1240077" cy="388307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31"/>
              <p:cNvSpPr txBox="1"/>
              <p:nvPr/>
            </p:nvSpPr>
            <p:spPr>
              <a:xfrm>
                <a:off x="296266" y="4536509"/>
                <a:ext cx="134203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123825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i="1"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= 3</a:t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46" name="Google Shape;2246;p31"/>
          <p:cNvGrpSpPr/>
          <p:nvPr/>
        </p:nvGrpSpPr>
        <p:grpSpPr>
          <a:xfrm>
            <a:off x="2309508" y="4185388"/>
            <a:ext cx="501650" cy="457200"/>
            <a:chOff x="2309508" y="4185388"/>
            <a:chExt cx="501650" cy="457200"/>
          </a:xfrm>
        </p:grpSpPr>
        <p:sp>
          <p:nvSpPr>
            <p:cNvPr id="2247" name="Google Shape;2247;p31"/>
            <p:cNvSpPr/>
            <p:nvPr/>
          </p:nvSpPr>
          <p:spPr>
            <a:xfrm>
              <a:off x="2314270" y="4429863"/>
              <a:ext cx="496888" cy="128588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48" name="Google Shape;2248;p31"/>
            <p:cNvCxnSpPr/>
            <p:nvPr/>
          </p:nvCxnSpPr>
          <p:spPr>
            <a:xfrm>
              <a:off x="2314270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9" name="Google Shape;2249;p31"/>
            <p:cNvCxnSpPr/>
            <p:nvPr/>
          </p:nvCxnSpPr>
          <p:spPr>
            <a:xfrm>
              <a:off x="2811158" y="4418751"/>
              <a:ext cx="0" cy="793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0" name="Google Shape;2250;p31"/>
            <p:cNvSpPr/>
            <p:nvPr/>
          </p:nvSpPr>
          <p:spPr>
            <a:xfrm>
              <a:off x="2314270" y="4418751"/>
              <a:ext cx="492125" cy="7778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31"/>
            <p:cNvSpPr/>
            <p:nvPr/>
          </p:nvSpPr>
          <p:spPr>
            <a:xfrm>
              <a:off x="2309508" y="4325088"/>
              <a:ext cx="496888" cy="150813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52" name="Google Shape;2252;p31"/>
            <p:cNvGrpSpPr/>
            <p:nvPr/>
          </p:nvGrpSpPr>
          <p:grpSpPr>
            <a:xfrm>
              <a:off x="2409520" y="4185388"/>
              <a:ext cx="336550" cy="457200"/>
              <a:chOff x="2951" y="2395"/>
              <a:chExt cx="213" cy="288"/>
            </a:xfrm>
          </p:grpSpPr>
          <p:sp>
            <p:nvSpPr>
              <p:cNvPr id="2253" name="Google Shape;2253;p31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4" name="Google Shape;2254;p31"/>
              <p:cNvSpPr txBox="1"/>
              <p:nvPr/>
            </p:nvSpPr>
            <p:spPr>
              <a:xfrm>
                <a:off x="2951" y="2395"/>
                <a:ext cx="213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x</a:t>
                </a:r>
                <a:endParaRPr/>
              </a:p>
            </p:txBody>
          </p:sp>
        </p:grpSp>
      </p:grpSp>
      <p:sp>
        <p:nvSpPr>
          <p:cNvPr id="2255" name="Google Shape;2255;p31"/>
          <p:cNvSpPr txBox="1"/>
          <p:nvPr/>
        </p:nvSpPr>
        <p:spPr>
          <a:xfrm>
            <a:off x="7446311" y="3940800"/>
            <a:ext cx="2605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 {2 + 5,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1 + 3,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5 + 3}  = 4</a:t>
            </a:r>
            <a:endParaRPr/>
          </a:p>
        </p:txBody>
      </p:sp>
      <p:grpSp>
        <p:nvGrpSpPr>
          <p:cNvPr id="2256" name="Google Shape;2256;p31"/>
          <p:cNvGrpSpPr/>
          <p:nvPr/>
        </p:nvGrpSpPr>
        <p:grpSpPr>
          <a:xfrm>
            <a:off x="6270932" y="2745287"/>
            <a:ext cx="4777024" cy="3733537"/>
            <a:chOff x="6270932" y="2745287"/>
            <a:chExt cx="4777024" cy="3733537"/>
          </a:xfrm>
        </p:grpSpPr>
        <p:sp>
          <p:nvSpPr>
            <p:cNvPr id="2257" name="Google Shape;2257;p31"/>
            <p:cNvSpPr txBox="1"/>
            <p:nvPr/>
          </p:nvSpPr>
          <p:spPr>
            <a:xfrm>
              <a:off x="6270932" y="5284523"/>
              <a:ext cx="4777024" cy="11943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node achieving minimum (x) is next hop on estimated least-cost path to destination (z)</a:t>
              </a:r>
              <a:endParaRPr/>
            </a:p>
          </p:txBody>
        </p:sp>
        <p:grpSp>
          <p:nvGrpSpPr>
            <p:cNvPr id="2258" name="Google Shape;2258;p31"/>
            <p:cNvGrpSpPr/>
            <p:nvPr/>
          </p:nvGrpSpPr>
          <p:grpSpPr>
            <a:xfrm>
              <a:off x="6465518" y="2745287"/>
              <a:ext cx="3645073" cy="2469715"/>
              <a:chOff x="6465518" y="2745287"/>
              <a:chExt cx="3645073" cy="2469715"/>
            </a:xfrm>
          </p:grpSpPr>
          <p:sp>
            <p:nvSpPr>
              <p:cNvPr id="2259" name="Google Shape;2259;p31"/>
              <p:cNvSpPr/>
              <p:nvPr/>
            </p:nvSpPr>
            <p:spPr>
              <a:xfrm>
                <a:off x="6465518" y="2745287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31"/>
              <p:cNvSpPr/>
              <p:nvPr/>
            </p:nvSpPr>
            <p:spPr>
              <a:xfrm>
                <a:off x="9235857" y="4601226"/>
                <a:ext cx="874734" cy="613776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31"/>
              <p:cNvSpPr/>
              <p:nvPr/>
            </p:nvSpPr>
            <p:spPr>
              <a:xfrm>
                <a:off x="8098076" y="3187872"/>
                <a:ext cx="1722329" cy="482254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3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 </a:t>
            </a:r>
            <a:endParaRPr/>
          </a:p>
        </p:txBody>
      </p:sp>
      <p:sp>
        <p:nvSpPr>
          <p:cNvPr id="2267" name="Google Shape;2267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8" name="Google Shape;2268;p32"/>
          <p:cNvSpPr txBox="1"/>
          <p:nvPr/>
        </p:nvSpPr>
        <p:spPr>
          <a:xfrm>
            <a:off x="696238" y="1449887"/>
            <a:ext cx="10815181" cy="1380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key idea: 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time-to-time, each node sends its own distance vector estimate to neighbors</a:t>
            </a:r>
            <a:endParaRPr/>
          </a:p>
        </p:txBody>
      </p:sp>
      <p:sp>
        <p:nvSpPr>
          <p:cNvPr id="2269" name="Google Shape;2269;p32"/>
          <p:cNvSpPr/>
          <p:nvPr/>
        </p:nvSpPr>
        <p:spPr>
          <a:xfrm>
            <a:off x="824173" y="4778050"/>
            <a:ext cx="10674719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3" lvl="0" marL="3476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minor, natural conditions, the estimate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converge to the actual least cost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2270" name="Google Shape;2270;p32"/>
          <p:cNvGrpSpPr/>
          <p:nvPr/>
        </p:nvGrpSpPr>
        <p:grpSpPr>
          <a:xfrm>
            <a:off x="648222" y="2792259"/>
            <a:ext cx="10815181" cy="1412234"/>
            <a:chOff x="648222" y="2792259"/>
            <a:chExt cx="10815181" cy="1412234"/>
          </a:xfrm>
        </p:grpSpPr>
        <p:sp>
          <p:nvSpPr>
            <p:cNvPr id="2271" name="Google Shape;2271;p32"/>
            <p:cNvSpPr/>
            <p:nvPr/>
          </p:nvSpPr>
          <p:spPr>
            <a:xfrm>
              <a:off x="2556528" y="3681273"/>
              <a:ext cx="6709465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 ← min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{c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x,v 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+ D</a:t>
              </a:r>
              <a:r>
                <a:rPr baseline="-25000"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v</a:t>
              </a:r>
              <a:r>
                <a:rPr i="1" lang="en-US" sz="2800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(y)} 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 each node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∊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</a:t>
              </a:r>
              <a:endParaRPr/>
            </a:p>
          </p:txBody>
        </p:sp>
        <p:sp>
          <p:nvSpPr>
            <p:cNvPr id="2272" name="Google Shape;2272;p32"/>
            <p:cNvSpPr txBox="1"/>
            <p:nvPr/>
          </p:nvSpPr>
          <p:spPr>
            <a:xfrm>
              <a:off x="648222" y="2792259"/>
              <a:ext cx="10815181" cy="10156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0200" lvl="0" marL="4603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when </a:t>
              </a: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receives new DV estimate from any neighbor, it updates its own DV using B-F equation: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6" name="Shape 2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7" name="Google Shape;2277;p3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algorithm:  </a:t>
            </a:r>
            <a:endParaRPr/>
          </a:p>
        </p:txBody>
      </p:sp>
      <p:sp>
        <p:nvSpPr>
          <p:cNvPr id="2278" name="Google Shape;2278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9" name="Google Shape;2279;p33"/>
          <p:cNvSpPr txBox="1"/>
          <p:nvPr/>
        </p:nvSpPr>
        <p:spPr>
          <a:xfrm>
            <a:off x="6173635" y="1530372"/>
            <a:ext cx="5400414" cy="1976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iterative, asynchronous: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local iteration caused by: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link cost change </a:t>
            </a:r>
            <a:endParaRPr/>
          </a:p>
          <a:p>
            <a:pPr indent="-223838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update message from neighbor</a:t>
            </a:r>
            <a:endParaRPr/>
          </a:p>
        </p:txBody>
      </p:sp>
      <p:sp>
        <p:nvSpPr>
          <p:cNvPr id="2280" name="Google Shape;2280;p33"/>
          <p:cNvSpPr txBox="1"/>
          <p:nvPr/>
        </p:nvSpPr>
        <p:spPr>
          <a:xfrm>
            <a:off x="1077577" y="2097023"/>
            <a:ext cx="4622104" cy="23452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wait</a:t>
            </a:r>
            <a:r>
              <a:rPr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(change in local link cost or msg from neighbor)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1" name="Google Shape;2281;p33"/>
          <p:cNvSpPr txBox="1"/>
          <p:nvPr/>
        </p:nvSpPr>
        <p:spPr>
          <a:xfrm>
            <a:off x="977032" y="1397588"/>
            <a:ext cx="20313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each node:</a:t>
            </a:r>
            <a:endParaRPr/>
          </a:p>
        </p:txBody>
      </p:sp>
      <p:sp>
        <p:nvSpPr>
          <p:cNvPr id="2282" name="Google Shape;2282;p33"/>
          <p:cNvSpPr txBox="1"/>
          <p:nvPr/>
        </p:nvSpPr>
        <p:spPr>
          <a:xfrm>
            <a:off x="6138145" y="3549151"/>
            <a:ext cx="4936951" cy="2914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distributed, self-stopping: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node notifies neighbors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its DV changes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neighbors then notify their neighbors –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if necessary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notification received, no actions taken!</a:t>
            </a:r>
            <a:endParaRPr/>
          </a:p>
        </p:txBody>
      </p:sp>
      <p:grpSp>
        <p:nvGrpSpPr>
          <p:cNvPr id="2283" name="Google Shape;2283;p33"/>
          <p:cNvGrpSpPr/>
          <p:nvPr/>
        </p:nvGrpSpPr>
        <p:grpSpPr>
          <a:xfrm>
            <a:off x="1092191" y="3294344"/>
            <a:ext cx="4622104" cy="1554474"/>
            <a:chOff x="1317659" y="3169084"/>
            <a:chExt cx="4622104" cy="1554474"/>
          </a:xfrm>
        </p:grpSpPr>
        <p:cxnSp>
          <p:nvCxnSpPr>
            <p:cNvPr id="2284" name="Google Shape;2284;p33"/>
            <p:cNvCxnSpPr/>
            <p:nvPr/>
          </p:nvCxnSpPr>
          <p:spPr>
            <a:xfrm>
              <a:off x="3601463" y="3169084"/>
              <a:ext cx="0" cy="422581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5" name="Google Shape;2285;p33"/>
            <p:cNvSpPr txBox="1"/>
            <p:nvPr/>
          </p:nvSpPr>
          <p:spPr>
            <a:xfrm>
              <a:off x="1317659" y="3301630"/>
              <a:ext cx="4622104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recompute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DV estimates using DV received from neighbor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6" name="Google Shape;2286;p33"/>
          <p:cNvGrpSpPr/>
          <p:nvPr/>
        </p:nvGrpSpPr>
        <p:grpSpPr>
          <a:xfrm>
            <a:off x="1054612" y="4521895"/>
            <a:ext cx="4622104" cy="1284197"/>
            <a:chOff x="1280080" y="4396635"/>
            <a:chExt cx="4622104" cy="1284197"/>
          </a:xfrm>
        </p:grpSpPr>
        <p:cxnSp>
          <p:nvCxnSpPr>
            <p:cNvPr id="2287" name="Google Shape;2287;p33"/>
            <p:cNvCxnSpPr/>
            <p:nvPr/>
          </p:nvCxnSpPr>
          <p:spPr>
            <a:xfrm>
              <a:off x="3578268" y="4396635"/>
              <a:ext cx="0" cy="439673"/>
            </a:xfrm>
            <a:prstGeom prst="straightConnector1">
              <a:avLst/>
            </a:prstGeom>
            <a:noFill/>
            <a:ln cap="flat" cmpd="sng" w="19050">
              <a:solidFill>
                <a:srgbClr val="00009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88" name="Google Shape;2288;p33"/>
            <p:cNvSpPr txBox="1"/>
            <p:nvPr/>
          </p:nvSpPr>
          <p:spPr>
            <a:xfrm>
              <a:off x="1280080" y="4535903"/>
              <a:ext cx="4622104" cy="1144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if DV to any destination has changed,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notify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neighbors </a:t>
              </a:r>
              <a:endParaRPr/>
            </a:p>
          </p:txBody>
        </p:sp>
      </p:grpSp>
      <p:cxnSp>
        <p:nvCxnSpPr>
          <p:cNvPr id="2289" name="Google Shape;2289;p33"/>
          <p:cNvCxnSpPr/>
          <p:nvPr/>
        </p:nvCxnSpPr>
        <p:spPr>
          <a:xfrm rot="10800000">
            <a:off x="3369501" y="5718132"/>
            <a:ext cx="0" cy="454068"/>
          </a:xfrm>
          <a:prstGeom prst="straightConnector1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0" name="Google Shape;2290;p33"/>
          <p:cNvCxnSpPr/>
          <p:nvPr/>
        </p:nvCxnSpPr>
        <p:spPr>
          <a:xfrm>
            <a:off x="3352800" y="2179529"/>
            <a:ext cx="0" cy="33820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1" name="Google Shape;2291;p33"/>
          <p:cNvCxnSpPr/>
          <p:nvPr/>
        </p:nvCxnSpPr>
        <p:spPr>
          <a:xfrm>
            <a:off x="1052186" y="6172200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2" name="Google Shape;2292;p33"/>
          <p:cNvCxnSpPr/>
          <p:nvPr/>
        </p:nvCxnSpPr>
        <p:spPr>
          <a:xfrm>
            <a:off x="1052186" y="2178485"/>
            <a:ext cx="23006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93" name="Google Shape;2293;p33"/>
          <p:cNvCxnSpPr/>
          <p:nvPr/>
        </p:nvCxnSpPr>
        <p:spPr>
          <a:xfrm>
            <a:off x="1039660" y="2167003"/>
            <a:ext cx="0" cy="40051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9" name="Google Shape;2299;p34"/>
          <p:cNvGrpSpPr/>
          <p:nvPr/>
        </p:nvGrpSpPr>
        <p:grpSpPr>
          <a:xfrm>
            <a:off x="2822712" y="1130710"/>
            <a:ext cx="1552644" cy="2620631"/>
            <a:chOff x="3216002" y="1012723"/>
            <a:chExt cx="1552644" cy="2620631"/>
          </a:xfrm>
        </p:grpSpPr>
        <p:sp>
          <p:nvSpPr>
            <p:cNvPr id="2300" name="Google Shape;2300;p3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01" name="Google Shape;2301;p34"/>
            <p:cNvGrpSpPr/>
            <p:nvPr/>
          </p:nvGrpSpPr>
          <p:grpSpPr>
            <a:xfrm>
              <a:off x="3216002" y="1012723"/>
              <a:ext cx="1130292" cy="2620631"/>
              <a:chOff x="3216002" y="1012723"/>
              <a:chExt cx="1130292" cy="2620631"/>
            </a:xfrm>
          </p:grpSpPr>
          <p:sp>
            <p:nvSpPr>
              <p:cNvPr id="2302" name="Google Shape;2302;p3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03" name="Google Shape;2303;p34"/>
              <p:cNvGrpSpPr/>
              <p:nvPr/>
            </p:nvGrpSpPr>
            <p:grpSpPr>
              <a:xfrm>
                <a:off x="3216002" y="1017253"/>
                <a:ext cx="1130292" cy="2616101"/>
                <a:chOff x="9472118" y="702026"/>
                <a:chExt cx="1130292" cy="2616101"/>
              </a:xfrm>
            </p:grpSpPr>
            <p:sp>
              <p:nvSpPr>
                <p:cNvPr id="2304" name="Google Shape;2304;p3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34"/>
                <p:cNvSpPr txBox="1"/>
                <p:nvPr/>
              </p:nvSpPr>
              <p:spPr>
                <a:xfrm>
                  <a:off x="947211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2306" name="Google Shape;2306;p3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2307" name="Google Shape;2307;p3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2308" name="Google Shape;2308;p34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example</a:t>
            </a:r>
            <a:endParaRPr/>
          </a:p>
        </p:txBody>
      </p:sp>
      <p:sp>
        <p:nvSpPr>
          <p:cNvPr id="2309" name="Google Shape;2309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10" name="Google Shape;2310;p34"/>
          <p:cNvCxnSpPr>
            <a:stCxn id="2311" idx="2"/>
            <a:endCxn id="231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2" name="Google Shape;2312;p34"/>
          <p:cNvCxnSpPr>
            <a:stCxn id="2311" idx="1"/>
            <a:endCxn id="231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1" name="Google Shape;2311;p3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3" name="Google Shape;2313;p3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14" name="Google Shape;2314;p3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315" name="Google Shape;2315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16" name="Google Shape;231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17" name="Google Shape;231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18" name="Google Shape;231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19" name="Google Shape;231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20" name="Google Shape;232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1" name="Google Shape;232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22" name="Google Shape;2322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323" name="Google Shape;232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4" name="Google Shape;2324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25" name="Google Shape;2325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326" name="Google Shape;232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27" name="Google Shape;232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28" name="Google Shape;232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29" name="Google Shape;232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30" name="Google Shape;233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1" name="Google Shape;233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32" name="Google Shape;2332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333" name="Google Shape;233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4" name="Google Shape;2334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335" name="Google Shape;2335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336" name="Google Shape;2336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37" name="Google Shape;2337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38" name="Google Shape;2338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39" name="Google Shape;2339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40" name="Google Shape;2340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1" name="Google Shape;2341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42" name="Google Shape;2342;p3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343" name="Google Shape;2343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4" name="Google Shape;2344;p3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45" name="Google Shape;2345;p3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6" name="Google Shape;2346;p3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7" name="Google Shape;2347;p3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8" name="Google Shape;2348;p3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49" name="Google Shape;2349;p3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0" name="Google Shape;2350;p3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1" name="Google Shape;2351;p3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2" name="Google Shape;2352;p3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3" name="Google Shape;2353;p3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54" name="Google Shape;2354;p3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55" name="Google Shape;2355;p3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356" name="Google Shape;2356;p3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357" name="Google Shape;2357;p3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t=0</a:t>
              </a:r>
              <a:endParaRPr/>
            </a:p>
          </p:txBody>
        </p:sp>
        <p:grpSp>
          <p:nvGrpSpPr>
            <p:cNvPr id="2358" name="Google Shape;2358;p3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359" name="Google Shape;2359;p3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60" name="Google Shape;2360;p3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1" name="Google Shape;2361;p3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2" name="Google Shape;2362;p3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3" name="Google Shape;2363;p3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4" name="Google Shape;2364;p3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5" name="Google Shape;2365;p3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6" name="Google Shape;2366;p3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7" name="Google Shape;2367;p3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8" name="Google Shape;2368;p3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69" name="Google Shape;2369;p3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0" name="Google Shape;2370;p3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371" name="Google Shape;2371;p3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372" name="Google Shape;2372;p3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373" name="Google Shape;2373;p34"/>
              <p:cNvCxnSpPr/>
              <p:nvPr/>
            </p:nvCxnSpPr>
            <p:spPr>
              <a:xfrm>
                <a:off x="10372725" y="3548510"/>
                <a:ext cx="0" cy="20751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sp>
        <p:nvSpPr>
          <p:cNvPr id="2374" name="Google Shape;2374;p34"/>
          <p:cNvSpPr txBox="1"/>
          <p:nvPr/>
        </p:nvSpPr>
        <p:spPr>
          <a:xfrm flipH="1">
            <a:off x="427284" y="3275636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have distance estimates to nearest neighbors (only)</a:t>
            </a:r>
            <a:endParaRPr/>
          </a:p>
        </p:txBody>
      </p:sp>
      <p:grpSp>
        <p:nvGrpSpPr>
          <p:cNvPr id="2375" name="Google Shape;2375;p34"/>
          <p:cNvGrpSpPr/>
          <p:nvPr/>
        </p:nvGrpSpPr>
        <p:grpSpPr>
          <a:xfrm>
            <a:off x="5663694" y="2293717"/>
            <a:ext cx="5624685" cy="2298788"/>
            <a:chOff x="5663694" y="2293717"/>
            <a:chExt cx="5624685" cy="2298788"/>
          </a:xfrm>
        </p:grpSpPr>
        <p:sp>
          <p:nvSpPr>
            <p:cNvPr id="2376" name="Google Shape;2376;p34"/>
            <p:cNvSpPr txBox="1"/>
            <p:nvPr/>
          </p:nvSpPr>
          <p:spPr>
            <a:xfrm>
              <a:off x="9259747" y="3669175"/>
              <a:ext cx="2028632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few asymmetries: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missing link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larger cost</a:t>
              </a:r>
              <a:endParaRPr/>
            </a:p>
          </p:txBody>
        </p:sp>
        <p:cxnSp>
          <p:nvCxnSpPr>
            <p:cNvPr id="2377" name="Google Shape;2377;p34"/>
            <p:cNvCxnSpPr/>
            <p:nvPr/>
          </p:nvCxnSpPr>
          <p:spPr>
            <a:xfrm rot="10800000">
              <a:off x="8414795" y="3032568"/>
              <a:ext cx="995423" cy="1111169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78" name="Google Shape;2378;p34"/>
            <p:cNvCxnSpPr/>
            <p:nvPr/>
          </p:nvCxnSpPr>
          <p:spPr>
            <a:xfrm rot="10800000">
              <a:off x="5663694" y="2293717"/>
              <a:ext cx="3726112" cy="2091470"/>
            </a:xfrm>
            <a:prstGeom prst="straightConnector1">
              <a:avLst/>
            </a:prstGeom>
            <a:noFill/>
            <a:ln cap="flat" cmpd="sng" w="9525">
              <a:solidFill>
                <a:srgbClr val="0000A8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2379" name="Google Shape;2379;p34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0" name="Google Shape;2380;p34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34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34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34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4" name="Google Shape;2384;p34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34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6" name="Google Shape;2386;p34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34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8" name="Google Shape;2388;p34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34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0" name="Google Shape;2390;p34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1" name="Google Shape;2391;p3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392" name="Google Shape;2392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393" name="Google Shape;239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394" name="Google Shape;239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95" name="Google Shape;239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396" name="Google Shape;239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397" name="Google Shape;239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8" name="Google Shape;239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99" name="Google Shape;2399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00" name="Google Shape;240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1" name="Google Shape;2401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02" name="Google Shape;2402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03" name="Google Shape;240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04" name="Google Shape;240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05" name="Google Shape;240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06" name="Google Shape;240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07" name="Google Shape;240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8" name="Google Shape;240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09" name="Google Shape;2409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10" name="Google Shape;241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1" name="Google Shape;2411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12" name="Google Shape;2412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13" name="Google Shape;2413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14" name="Google Shape;2414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15" name="Google Shape;2415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16" name="Google Shape;2416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17" name="Google Shape;2417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8" name="Google Shape;2418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19" name="Google Shape;2419;p3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420" name="Google Shape;2420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1" name="Google Shape;2421;p3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422" name="Google Shape;2422;p3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423" name="Google Shape;2423;p3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24" name="Google Shape;242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25" name="Google Shape;242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26" name="Google Shape;242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27" name="Google Shape;242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28" name="Google Shape;242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29" name="Google Shape;242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30" name="Google Shape;2430;p3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431" name="Google Shape;243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2" name="Google Shape;2432;p3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33" name="Google Shape;2433;p3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434" name="Google Shape;243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35" name="Google Shape;243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36" name="Google Shape;243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37" name="Google Shape;243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38" name="Google Shape;243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39" name="Google Shape;243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40" name="Google Shape;2440;p3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441" name="Google Shape;244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2" name="Google Shape;2442;p3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443" name="Google Shape;2443;p3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444" name="Google Shape;2444;p3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45" name="Google Shape;2445;p3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46" name="Google Shape;2446;p3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47" name="Google Shape;2447;p3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48" name="Google Shape;2448;p3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9" name="Google Shape;2449;p3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50" name="Google Shape;2450;p34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451" name="Google Shape;2451;p3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2" name="Google Shape;2452;p3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453" name="Google Shape;2453;p34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34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5" name="Google Shape;2455;p34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6" name="Google Shape;2456;p34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7" name="Google Shape;2457;p34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34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34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0" name="Google Shape;2460;p34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34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2" name="Google Shape;2462;p34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3" name="Google Shape;2463;p34"/>
          <p:cNvSpPr txBox="1"/>
          <p:nvPr/>
        </p:nvSpPr>
        <p:spPr>
          <a:xfrm flipH="1">
            <a:off x="435306" y="4375569"/>
            <a:ext cx="2195814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 send their local distance vector to their neighbors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35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470" name="Google Shape;2470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1" name="Google Shape;2471;p35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472" name="Google Shape;2472;p3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473" name="Google Shape;2473;p3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474" name="Google Shape;2474;p3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475" name="Google Shape;2475;p3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76" name="Google Shape;2476;p3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7" name="Google Shape;2477;p3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8" name="Google Shape;2478;p3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79" name="Google Shape;2479;p3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0" name="Google Shape;2480;p3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1" name="Google Shape;2481;p3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2" name="Google Shape;2482;p3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3" name="Google Shape;2483;p3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4" name="Google Shape;2484;p3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5" name="Google Shape;2485;p3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6" name="Google Shape;2486;p3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87" name="Google Shape;2487;p3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88" name="Google Shape;2488;p3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89" name="Google Shape;2489;p35"/>
              <p:cNvCxnSpPr/>
              <p:nvPr/>
            </p:nvCxnSpPr>
            <p:spPr>
              <a:xfrm flipH="1">
                <a:off x="10361752" y="3564494"/>
                <a:ext cx="137579" cy="231764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2490" name="Google Shape;2490;p35"/>
          <p:cNvCxnSpPr>
            <a:stCxn id="2491" idx="2"/>
            <a:endCxn id="2491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92" name="Google Shape;2492;p35"/>
          <p:cNvCxnSpPr>
            <a:stCxn id="2491" idx="1"/>
            <a:endCxn id="2491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1" name="Google Shape;2491;p3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35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4" name="Google Shape;2494;p3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495" name="Google Shape;2495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496" name="Google Shape;249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497" name="Google Shape;249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98" name="Google Shape;249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9" name="Google Shape;249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00" name="Google Shape;250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1" name="Google Shape;250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02" name="Google Shape;2502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03" name="Google Shape;250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4" name="Google Shape;2504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05" name="Google Shape;2505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06" name="Google Shape;250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07" name="Google Shape;250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08" name="Google Shape;250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9" name="Google Shape;250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10" name="Google Shape;251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1" name="Google Shape;251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12" name="Google Shape;2512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13" name="Google Shape;251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4" name="Google Shape;2514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15" name="Google Shape;2515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16" name="Google Shape;2516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17" name="Google Shape;2517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8" name="Google Shape;2518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19" name="Google Shape;2519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0" name="Google Shape;2520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1" name="Google Shape;2521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22" name="Google Shape;2522;p3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523" name="Google Shape;2523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Google Shape;2524;p3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525" name="Google Shape;2525;p3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6" name="Google Shape;2526;p3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7" name="Google Shape;2527;p35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8" name="Google Shape;2528;p35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29" name="Google Shape;2529;p35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0" name="Google Shape;2530;p35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1" name="Google Shape;2531;p35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2" name="Google Shape;2532;p35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3" name="Google Shape;2533;p35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4" name="Google Shape;2534;p3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35" name="Google Shape;2535;p3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536" name="Google Shape;2536;p35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7" name="Google Shape;2537;p35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35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35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35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1" name="Google Shape;2541;p35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35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3" name="Google Shape;2543;p35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35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5" name="Google Shape;2545;p35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35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7" name="Google Shape;2547;p35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48" name="Google Shape;2548;p3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549" name="Google Shape;2549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50" name="Google Shape;255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51" name="Google Shape;255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52" name="Google Shape;255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53" name="Google Shape;255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54" name="Google Shape;255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5" name="Google Shape;255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6" name="Google Shape;2556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57" name="Google Shape;255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58" name="Google Shape;2558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59" name="Google Shape;2559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60" name="Google Shape;256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61" name="Google Shape;256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62" name="Google Shape;256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63" name="Google Shape;256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64" name="Google Shape;256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5" name="Google Shape;256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66" name="Google Shape;2566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67" name="Google Shape;256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8" name="Google Shape;2568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69" name="Google Shape;2569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570" name="Google Shape;2570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71" name="Google Shape;2571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72" name="Google Shape;2572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73" name="Google Shape;2573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74" name="Google Shape;2574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5" name="Google Shape;2575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76" name="Google Shape;2576;p3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577" name="Google Shape;2577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8" name="Google Shape;2578;p3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579" name="Google Shape;2579;p3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580" name="Google Shape;2580;p3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581" name="Google Shape;258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82" name="Google Shape;258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83" name="Google Shape;258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84" name="Google Shape;258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85" name="Google Shape;258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6" name="Google Shape;258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87" name="Google Shape;2587;p3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588" name="Google Shape;258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9" name="Google Shape;2589;p3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590" name="Google Shape;2590;p3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591" name="Google Shape;259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592" name="Google Shape;259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93" name="Google Shape;259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94" name="Google Shape;259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95" name="Google Shape;259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6" name="Google Shape;259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97" name="Google Shape;2597;p3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598" name="Google Shape;259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9" name="Google Shape;2599;p3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00" name="Google Shape;2600;p3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01" name="Google Shape;2601;p3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02" name="Google Shape;2602;p3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03" name="Google Shape;2603;p3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04" name="Google Shape;2604;p3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05" name="Google Shape;2605;p3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6" name="Google Shape;2606;p3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07" name="Google Shape;2607;p35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608" name="Google Shape;2608;p3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9" name="Google Shape;2609;p3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10" name="Google Shape;2610;p35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1" name="Google Shape;2611;p35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35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35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4" name="Google Shape;2614;p35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35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6" name="Google Shape;2616;p35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35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8" name="Google Shape;2618;p35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35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4" name="Shape 2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5" name="Google Shape;2625;p36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626" name="Google Shape;2626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27" name="Google Shape;2627;p36"/>
          <p:cNvCxnSpPr>
            <a:stCxn id="2628" idx="2"/>
            <a:endCxn id="2628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29" name="Google Shape;2629;p36"/>
          <p:cNvCxnSpPr>
            <a:stCxn id="2628" idx="1"/>
            <a:endCxn id="2628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8" name="Google Shape;2628;p3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3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31" name="Google Shape;2631;p3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632" name="Google Shape;2632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33" name="Google Shape;263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34" name="Google Shape;263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35" name="Google Shape;263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36" name="Google Shape;263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37" name="Google Shape;263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8" name="Google Shape;263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39" name="Google Shape;2639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40" name="Google Shape;264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1" name="Google Shape;2641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42" name="Google Shape;2642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43" name="Google Shape;264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44" name="Google Shape;264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45" name="Google Shape;264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46" name="Google Shape;264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47" name="Google Shape;264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8" name="Google Shape;264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49" name="Google Shape;2649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50" name="Google Shape;265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1" name="Google Shape;2651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52" name="Google Shape;2652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53" name="Google Shape;2653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54" name="Google Shape;2654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55" name="Google Shape;2655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56" name="Google Shape;2656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57" name="Google Shape;2657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8" name="Google Shape;2658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59" name="Google Shape;2659;p3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660" name="Google Shape;2660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1" name="Google Shape;2661;p3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662" name="Google Shape;2662;p3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3" name="Google Shape;2663;p3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4" name="Google Shape;2664;p3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5" name="Google Shape;2665;p3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6" name="Google Shape;2666;p3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7" name="Google Shape;2667;p3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8" name="Google Shape;2668;p3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69" name="Google Shape;2669;p3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0" name="Google Shape;2670;p3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671" name="Google Shape;2671;p3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672" name="Google Shape;2672;p3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2673" name="Google Shape;2673;p3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674" name="Google Shape;2674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675" name="Google Shape;267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76" name="Google Shape;267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77" name="Google Shape;267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78" name="Google Shape;267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79" name="Google Shape;267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0" name="Google Shape;268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81" name="Google Shape;2681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682" name="Google Shape;268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83" name="Google Shape;2683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4" name="Google Shape;2684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685" name="Google Shape;268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86" name="Google Shape;268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87" name="Google Shape;268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88" name="Google Shape;268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89" name="Google Shape;268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0" name="Google Shape;269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91" name="Google Shape;2691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692" name="Google Shape;269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93" name="Google Shape;2693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94" name="Google Shape;2694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695" name="Google Shape;2695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696" name="Google Shape;2696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697" name="Google Shape;2697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698" name="Google Shape;2698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699" name="Google Shape;2699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0" name="Google Shape;2700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01" name="Google Shape;2701;p3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702" name="Google Shape;2702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3" name="Google Shape;2703;p3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704" name="Google Shape;2704;p3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705" name="Google Shape;2705;p3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06" name="Google Shape;270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07" name="Google Shape;270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08" name="Google Shape;270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09" name="Google Shape;270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10" name="Google Shape;271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1" name="Google Shape;271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12" name="Google Shape;2712;p3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713" name="Google Shape;271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4" name="Google Shape;2714;p3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15" name="Google Shape;2715;p3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716" name="Google Shape;271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17" name="Google Shape;271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18" name="Google Shape;271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19" name="Google Shape;271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20" name="Google Shape;272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1" name="Google Shape;272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22" name="Google Shape;2722;p3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723" name="Google Shape;272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4" name="Google Shape;2724;p3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725" name="Google Shape;2725;p3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726" name="Google Shape;2726;p3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27" name="Google Shape;2727;p3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8" name="Google Shape;2728;p3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29" name="Google Shape;2729;p3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30" name="Google Shape;2730;p3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1" name="Google Shape;2731;p3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732" name="Google Shape;2732;p36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733" name="Google Shape;2733;p3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4" name="Google Shape;2734;p3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735" name="Google Shape;2735;p36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736" name="Google Shape;2736;p3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737" name="Google Shape;2737;p3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738" name="Google Shape;2738;p3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739" name="Google Shape;2739;p3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740" name="Google Shape;2740;p3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1" name="Google Shape;2741;p3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2" name="Google Shape;2742;p3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3" name="Google Shape;2743;p3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4" name="Google Shape;2744;p3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5" name="Google Shape;2745;p3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6" name="Google Shape;2746;p3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7" name="Google Shape;2747;p3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8" name="Google Shape;2748;p3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49" name="Google Shape;2749;p3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0" name="Google Shape;2750;p3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751" name="Google Shape;2751;p3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752" name="Google Shape;2752;p3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53" name="Google Shape;2753;p36"/>
          <p:cNvGrpSpPr/>
          <p:nvPr/>
        </p:nvGrpSpPr>
        <p:grpSpPr>
          <a:xfrm>
            <a:off x="3972233" y="1627242"/>
            <a:ext cx="5089626" cy="4955455"/>
            <a:chOff x="3982064" y="1612491"/>
            <a:chExt cx="5089626" cy="4955455"/>
          </a:xfrm>
        </p:grpSpPr>
        <p:grpSp>
          <p:nvGrpSpPr>
            <p:cNvPr id="2754" name="Google Shape;2754;p36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2755" name="Google Shape;2755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6" name="Google Shape;2756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57" name="Google Shape;2757;p36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2758" name="Google Shape;2758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9" name="Google Shape;2759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0" name="Google Shape;2760;p36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2761" name="Google Shape;2761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2" name="Google Shape;2762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3" name="Google Shape;2763;p36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2764" name="Google Shape;2764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5" name="Google Shape;2765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6" name="Google Shape;2766;p36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2767" name="Google Shape;2767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8" name="Google Shape;2768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69" name="Google Shape;2769;p36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2770" name="Google Shape;2770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1" name="Google Shape;2771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2" name="Google Shape;2772;p36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2773" name="Google Shape;2773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4" name="Google Shape;2774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5" name="Google Shape;2775;p36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2776" name="Google Shape;2776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7" name="Google Shape;2777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2778" name="Google Shape;2778;p36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2779" name="Google Shape;2779;p36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0" name="Google Shape;2780;p36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2781" name="Google Shape;2781;p36"/>
          <p:cNvCxnSpPr/>
          <p:nvPr/>
        </p:nvCxnSpPr>
        <p:spPr>
          <a:xfrm flipH="1">
            <a:off x="901961" y="1975104"/>
            <a:ext cx="151428" cy="257429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6" name="Shape 2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7" name="Google Shape;2787;p3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2788" name="Google Shape;2788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89" name="Google Shape;2789;p37"/>
          <p:cNvCxnSpPr>
            <a:stCxn id="2790" idx="2"/>
            <a:endCxn id="27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91" name="Google Shape;2791;p37"/>
          <p:cNvCxnSpPr>
            <a:stCxn id="2790" idx="1"/>
            <a:endCxn id="27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0" name="Google Shape;2790;p37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37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3" name="Google Shape;2793;p37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794" name="Google Shape;2794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795" name="Google Shape;279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796" name="Google Shape;279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97" name="Google Shape;279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798" name="Google Shape;279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799" name="Google Shape;279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0" name="Google Shape;280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1" name="Google Shape;2801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02" name="Google Shape;280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3" name="Google Shape;2803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04" name="Google Shape;2804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05" name="Google Shape;280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06" name="Google Shape;280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07" name="Google Shape;280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08" name="Google Shape;280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09" name="Google Shape;280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0" name="Google Shape;281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11" name="Google Shape;2811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12" name="Google Shape;281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3" name="Google Shape;2813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14" name="Google Shape;2814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15" name="Google Shape;2815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16" name="Google Shape;2816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17" name="Google Shape;2817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18" name="Google Shape;2818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19" name="Google Shape;2819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0" name="Google Shape;2820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1" name="Google Shape;2821;p37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822" name="Google Shape;2822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23" name="Google Shape;2823;p37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24" name="Google Shape;2824;p37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5" name="Google Shape;2825;p37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6" name="Google Shape;2826;p37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7" name="Google Shape;2827;p37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8" name="Google Shape;2828;p37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29" name="Google Shape;2829;p37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0" name="Google Shape;2830;p37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1" name="Google Shape;2831;p37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2" name="Google Shape;2832;p37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3" name="Google Shape;2833;p37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834" name="Google Shape;2834;p37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835" name="Google Shape;2835;p37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37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7" name="Google Shape;2837;p37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37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9" name="Google Shape;2839;p37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0" name="Google Shape;2840;p37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37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37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3" name="Google Shape;2843;p37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37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5" name="Google Shape;2845;p37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37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47" name="Google Shape;2847;p37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2848" name="Google Shape;2848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49" name="Google Shape;284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50" name="Google Shape;285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51" name="Google Shape;285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52" name="Google Shape;285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53" name="Google Shape;285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4" name="Google Shape;285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5" name="Google Shape;2855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56" name="Google Shape;285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57" name="Google Shape;2857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58" name="Google Shape;2858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59" name="Google Shape;285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60" name="Google Shape;286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61" name="Google Shape;286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62" name="Google Shape;286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63" name="Google Shape;286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4" name="Google Shape;286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65" name="Google Shape;2865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66" name="Google Shape;286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67" name="Google Shape;2867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68" name="Google Shape;2868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869" name="Google Shape;2869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70" name="Google Shape;2870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71" name="Google Shape;2871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72" name="Google Shape;2872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73" name="Google Shape;2873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4" name="Google Shape;2874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75" name="Google Shape;2875;p37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2876" name="Google Shape;2876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7" name="Google Shape;2877;p37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2878" name="Google Shape;2878;p37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2879" name="Google Shape;2879;p37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880" name="Google Shape;288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81" name="Google Shape;288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82" name="Google Shape;288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83" name="Google Shape;288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84" name="Google Shape;288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5" name="Google Shape;288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86" name="Google Shape;2886;p37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887" name="Google Shape;288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8" name="Google Shape;2888;p37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89" name="Google Shape;2889;p37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890" name="Google Shape;289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891" name="Google Shape;289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892" name="Google Shape;289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893" name="Google Shape;289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894" name="Google Shape;289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5" name="Google Shape;289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96" name="Google Shape;2896;p37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897" name="Google Shape;289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98" name="Google Shape;2898;p37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9" name="Google Shape;2899;p37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00" name="Google Shape;2900;p37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01" name="Google Shape;2901;p37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02" name="Google Shape;2902;p37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03" name="Google Shape;2903;p37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04" name="Google Shape;2904;p37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5" name="Google Shape;2905;p37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06" name="Google Shape;2906;p37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2907" name="Google Shape;2907;p37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08" name="Google Shape;2908;p37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09" name="Google Shape;2909;p37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0" name="Google Shape;2910;p37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37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2" name="Google Shape;2912;p37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37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4" name="Google Shape;2914;p37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37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6" name="Google Shape;2916;p37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37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8" name="Google Shape;2918;p37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37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2920" name="Google Shape;2920;p37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2921" name="Google Shape;2921;p37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2922" name="Google Shape;2922;p37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2923" name="Google Shape;2923;p37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924" name="Google Shape;2924;p37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5" name="Google Shape;2925;p37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6" name="Google Shape;2926;p37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7" name="Google Shape;2927;p37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8" name="Google Shape;2928;p37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29" name="Google Shape;2929;p37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0" name="Google Shape;2930;p37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1" name="Google Shape;2931;p37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2" name="Google Shape;2932;p37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3" name="Google Shape;2933;p37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4" name="Google Shape;2934;p37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935" name="Google Shape;2935;p37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936" name="Google Shape;2936;p37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937" name="Google Shape;2937;p37"/>
          <p:cNvCxnSpPr/>
          <p:nvPr/>
        </p:nvCxnSpPr>
        <p:spPr>
          <a:xfrm flipH="1">
            <a:off x="908583" y="1975104"/>
            <a:ext cx="148463" cy="24613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2" name="Shape 2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38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2944" name="Google Shape;2944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945" name="Google Shape;2945;p38"/>
          <p:cNvCxnSpPr>
            <a:stCxn id="2946" idx="2"/>
            <a:endCxn id="2946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47" name="Google Shape;2947;p38"/>
          <p:cNvCxnSpPr>
            <a:stCxn id="2946" idx="1"/>
            <a:endCxn id="2946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6" name="Google Shape;2946;p38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38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49" name="Google Shape;2949;p38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2950" name="Google Shape;2950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2951" name="Google Shape;295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52" name="Google Shape;295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53" name="Google Shape;295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54" name="Google Shape;295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55" name="Google Shape;295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6" name="Google Shape;295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57" name="Google Shape;2957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2958" name="Google Shape;295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9" name="Google Shape;2959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60" name="Google Shape;2960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2961" name="Google Shape;296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62" name="Google Shape;296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63" name="Google Shape;296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64" name="Google Shape;296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65" name="Google Shape;296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6" name="Google Shape;296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7" name="Google Shape;2967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2968" name="Google Shape;296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69" name="Google Shape;2969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970" name="Google Shape;2970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2971" name="Google Shape;2971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2972" name="Google Shape;2972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973" name="Google Shape;2973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974" name="Google Shape;2974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975" name="Google Shape;2975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6" name="Google Shape;2976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77" name="Google Shape;2977;p38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2978" name="Google Shape;2978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79" name="Google Shape;2979;p38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980" name="Google Shape;2980;p38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1" name="Google Shape;2981;p38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2" name="Google Shape;2982;p38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3" name="Google Shape;2983;p38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4" name="Google Shape;2984;p38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5" name="Google Shape;2985;p38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6" name="Google Shape;2986;p38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7" name="Google Shape;2987;p38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8" name="Google Shape;2988;p38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89" name="Google Shape;2989;p38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90" name="Google Shape;2990;p38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991" name="Google Shape;2991;p38"/>
          <p:cNvSpPr/>
          <p:nvPr/>
        </p:nvSpPr>
        <p:spPr>
          <a:xfrm flipH="1"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2" name="Google Shape;2992;p38"/>
          <p:cNvSpPr/>
          <p:nvPr/>
        </p:nvSpPr>
        <p:spPr>
          <a:xfrm flipH="1"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38"/>
          <p:cNvSpPr/>
          <p:nvPr/>
        </p:nvSpPr>
        <p:spPr>
          <a:xfrm flipH="1"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4" name="Google Shape;2994;p38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5" name="Google Shape;2995;p38"/>
          <p:cNvSpPr/>
          <p:nvPr/>
        </p:nvSpPr>
        <p:spPr>
          <a:xfrm flipH="1"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38"/>
          <p:cNvSpPr/>
          <p:nvPr/>
        </p:nvSpPr>
        <p:spPr>
          <a:xfrm flipH="1"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38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8" name="Google Shape;2998;p38"/>
          <p:cNvSpPr/>
          <p:nvPr/>
        </p:nvSpPr>
        <p:spPr>
          <a:xfrm flipH="1"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38"/>
          <p:cNvSpPr/>
          <p:nvPr/>
        </p:nvSpPr>
        <p:spPr>
          <a:xfrm flipH="1"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0" name="Google Shape;3000;p38"/>
          <p:cNvSpPr/>
          <p:nvPr/>
        </p:nvSpPr>
        <p:spPr>
          <a:xfrm flipH="1"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38"/>
          <p:cNvSpPr/>
          <p:nvPr/>
        </p:nvSpPr>
        <p:spPr>
          <a:xfrm flipH="1"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2" name="Google Shape;3002;p38"/>
          <p:cNvSpPr/>
          <p:nvPr/>
        </p:nvSpPr>
        <p:spPr>
          <a:xfrm flipH="1"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3" name="Google Shape;3003;p38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004" name="Google Shape;3004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05" name="Google Shape;300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06" name="Google Shape;300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07" name="Google Shape;300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08" name="Google Shape;300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09" name="Google Shape;300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0" name="Google Shape;301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1" name="Google Shape;3011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12" name="Google Shape;301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13" name="Google Shape;3013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14" name="Google Shape;3014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15" name="Google Shape;301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16" name="Google Shape;301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17" name="Google Shape;301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18" name="Google Shape;301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19" name="Google Shape;301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0" name="Google Shape;302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21" name="Google Shape;3021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22" name="Google Shape;302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23" name="Google Shape;3023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24" name="Google Shape;3024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25" name="Google Shape;3025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26" name="Google Shape;3026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27" name="Google Shape;3027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28" name="Google Shape;3028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29" name="Google Shape;3029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0" name="Google Shape;3030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31" name="Google Shape;3031;p38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032" name="Google Shape;3032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3" name="Google Shape;3033;p38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034" name="Google Shape;3034;p38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035" name="Google Shape;3035;p38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036" name="Google Shape;303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37" name="Google Shape;303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38" name="Google Shape;303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39" name="Google Shape;303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40" name="Google Shape;304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1" name="Google Shape;304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42" name="Google Shape;3042;p38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043" name="Google Shape;304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4" name="Google Shape;3044;p38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45" name="Google Shape;3045;p38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046" name="Google Shape;304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47" name="Google Shape;304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48" name="Google Shape;304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50" name="Google Shape;305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1" name="Google Shape;305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52" name="Google Shape;3052;p38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053" name="Google Shape;305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4" name="Google Shape;3054;p38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055" name="Google Shape;3055;p38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056" name="Google Shape;3056;p38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057" name="Google Shape;3057;p38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058" name="Google Shape;3058;p38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38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060" name="Google Shape;3060;p38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1" name="Google Shape;3061;p38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62" name="Google Shape;3062;p38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063" name="Google Shape;3063;p38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64" name="Google Shape;3064;p38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65" name="Google Shape;3065;p38"/>
          <p:cNvSpPr/>
          <p:nvPr/>
        </p:nvSpPr>
        <p:spPr>
          <a:xfrm flipH="1"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38"/>
          <p:cNvSpPr/>
          <p:nvPr/>
        </p:nvSpPr>
        <p:spPr>
          <a:xfrm flipH="1"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7" name="Google Shape;3067;p38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38"/>
          <p:cNvSpPr/>
          <p:nvPr/>
        </p:nvSpPr>
        <p:spPr>
          <a:xfrm flipH="1"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9" name="Google Shape;3069;p38"/>
          <p:cNvSpPr/>
          <p:nvPr/>
        </p:nvSpPr>
        <p:spPr>
          <a:xfrm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38"/>
          <p:cNvSpPr/>
          <p:nvPr/>
        </p:nvSpPr>
        <p:spPr>
          <a:xfrm rot="10800000"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1" name="Google Shape;3071;p38"/>
          <p:cNvSpPr/>
          <p:nvPr/>
        </p:nvSpPr>
        <p:spPr>
          <a:xfrm flipH="1"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2" name="Google Shape;3072;p38"/>
          <p:cNvSpPr/>
          <p:nvPr/>
        </p:nvSpPr>
        <p:spPr>
          <a:xfrm rot="10800000"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38"/>
          <p:cNvSpPr/>
          <p:nvPr/>
        </p:nvSpPr>
        <p:spPr>
          <a:xfrm flipH="1"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38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5" name="Google Shape;3075;p38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076" name="Google Shape;3076;p38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077" name="Google Shape;3077;p38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078" name="Google Shape;3078;p38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079" name="Google Shape;3079;p38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80" name="Google Shape;3080;p38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1" name="Google Shape;3081;p38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2" name="Google Shape;3082;p38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3" name="Google Shape;3083;p38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4" name="Google Shape;3084;p38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5" name="Google Shape;3085;p38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6" name="Google Shape;3086;p38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7" name="Google Shape;3087;p38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8" name="Google Shape;3088;p38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89" name="Google Shape;3089;p38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0" name="Google Shape;3090;p38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091" name="Google Shape;3091;p38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092" name="Google Shape;3092;p38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093" name="Google Shape;3093;p38"/>
              <p:cNvCxnSpPr/>
              <p:nvPr/>
            </p:nvCxnSpPr>
            <p:spPr>
              <a:xfrm flipH="1">
                <a:off x="10365498" y="3656685"/>
                <a:ext cx="240612" cy="121026"/>
              </a:xfrm>
              <a:prstGeom prst="straightConnector1">
                <a:avLst/>
              </a:prstGeom>
              <a:noFill/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8" name="Shape 3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9" name="Google Shape;3099;p39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4400"/>
              <a:buFont typeface="Calibri"/>
              <a:buNone/>
            </a:pPr>
            <a:r>
              <a:rPr lang="en-US">
                <a:solidFill>
                  <a:srgbClr val="0000A8"/>
                </a:solidFill>
              </a:rPr>
              <a:t>Distance vector example: iteration</a:t>
            </a:r>
            <a:endParaRPr/>
          </a:p>
        </p:txBody>
      </p:sp>
      <p:sp>
        <p:nvSpPr>
          <p:cNvPr id="3100" name="Google Shape;3100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101" name="Google Shape;3101;p39"/>
          <p:cNvCxnSpPr>
            <a:stCxn id="3102" idx="2"/>
            <a:endCxn id="310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39"/>
          <p:cNvCxnSpPr>
            <a:stCxn id="3102" idx="1"/>
            <a:endCxn id="310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02" name="Google Shape;3102;p39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4" name="Google Shape;3104;p39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5" name="Google Shape;3105;p39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106" name="Google Shape;3106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07" name="Google Shape;310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08" name="Google Shape;310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09" name="Google Shape;310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10" name="Google Shape;311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11" name="Google Shape;311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2" name="Google Shape;311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13" name="Google Shape;3113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14" name="Google Shape;311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15" name="Google Shape;3115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16" name="Google Shape;3116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17" name="Google Shape;311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18" name="Google Shape;311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19" name="Google Shape;311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20" name="Google Shape;312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21" name="Google Shape;312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2" name="Google Shape;312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23" name="Google Shape;3123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24" name="Google Shape;312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25" name="Google Shape;3125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26" name="Google Shape;3126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27" name="Google Shape;3127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28" name="Google Shape;3128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29" name="Google Shape;3129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30" name="Google Shape;3130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31" name="Google Shape;3131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2" name="Google Shape;3132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33" name="Google Shape;3133;p39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134" name="Google Shape;3134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35" name="Google Shape;3135;p39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136" name="Google Shape;3136;p39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7" name="Google Shape;3137;p39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8" name="Google Shape;3138;p39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39" name="Google Shape;3139;p39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0" name="Google Shape;3140;p39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1" name="Google Shape;3141;p39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2" name="Google Shape;3142;p39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3" name="Google Shape;3143;p39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144" name="Google Shape;3144;p39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145" name="Google Shape;3145;p39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146" name="Google Shape;3146;p39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147" name="Google Shape;3147;p39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148" name="Google Shape;3148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49" name="Google Shape;314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50" name="Google Shape;315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51" name="Google Shape;315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53" name="Google Shape;315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4" name="Google Shape;315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55" name="Google Shape;3155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56" name="Google Shape;315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7" name="Google Shape;3157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58" name="Google Shape;3158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59" name="Google Shape;315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60" name="Google Shape;316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61" name="Google Shape;316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2" name="Google Shape;316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63" name="Google Shape;316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4" name="Google Shape;316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65" name="Google Shape;3165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66" name="Google Shape;316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7" name="Google Shape;3167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68" name="Google Shape;3168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169" name="Google Shape;3169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70" name="Google Shape;3170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71" name="Google Shape;3171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72" name="Google Shape;3172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73" name="Google Shape;3173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4" name="Google Shape;3174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75" name="Google Shape;3175;p39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176" name="Google Shape;3176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7" name="Google Shape;3177;p39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178" name="Google Shape;3178;p39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179" name="Google Shape;3179;p39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180" name="Google Shape;318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81" name="Google Shape;318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82" name="Google Shape;318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83" name="Google Shape;318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84" name="Google Shape;318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5" name="Google Shape;318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86" name="Google Shape;3186;p39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187" name="Google Shape;318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8" name="Google Shape;3188;p39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89" name="Google Shape;3189;p39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190" name="Google Shape;319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191" name="Google Shape;319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192" name="Google Shape;319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93" name="Google Shape;319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194" name="Google Shape;319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5" name="Google Shape;319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196" name="Google Shape;3196;p39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197" name="Google Shape;319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8" name="Google Shape;3198;p39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199" name="Google Shape;3199;p39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00" name="Google Shape;3200;p39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01" name="Google Shape;3201;p39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02" name="Google Shape;3202;p39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03" name="Google Shape;3203;p39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04" name="Google Shape;3204;p39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5" name="Google Shape;3205;p39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06" name="Google Shape;3206;p39"/>
              <p:cNvGrpSpPr/>
              <p:nvPr/>
            </p:nvGrpSpPr>
            <p:grpSpPr>
              <a:xfrm>
                <a:off x="1464202" y="2507397"/>
                <a:ext cx="341084" cy="419100"/>
                <a:chOff x="2949" y="2425"/>
                <a:chExt cx="218" cy="264"/>
              </a:xfrm>
            </p:grpSpPr>
            <p:sp>
              <p:nvSpPr>
                <p:cNvPr id="3207" name="Google Shape;3207;p3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8" name="Google Shape;3208;p39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09" name="Google Shape;3209;p39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210" name="Google Shape;3210;p39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211" name="Google Shape;3211;p39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212" name="Google Shape;3212;p39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213" name="Google Shape;3213;p39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214" name="Google Shape;3214;p39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5" name="Google Shape;3215;p39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6" name="Google Shape;3216;p39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7" name="Google Shape;3217;p39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8" name="Google Shape;3218;p39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19" name="Google Shape;3219;p39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0" name="Google Shape;3220;p39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1" name="Google Shape;3221;p39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2" name="Google Shape;3222;p39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3" name="Google Shape;3223;p39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4" name="Google Shape;3224;p39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225" name="Google Shape;3225;p39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226" name="Google Shape;3226;p39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27" name="Google Shape;3227;p39"/>
          <p:cNvGrpSpPr/>
          <p:nvPr/>
        </p:nvGrpSpPr>
        <p:grpSpPr>
          <a:xfrm>
            <a:off x="4041058" y="1582994"/>
            <a:ext cx="5089626" cy="4955455"/>
            <a:chOff x="3982064" y="1612491"/>
            <a:chExt cx="5089626" cy="4955455"/>
          </a:xfrm>
        </p:grpSpPr>
        <p:grpSp>
          <p:nvGrpSpPr>
            <p:cNvPr id="3228" name="Google Shape;3228;p39"/>
            <p:cNvGrpSpPr/>
            <p:nvPr/>
          </p:nvGrpSpPr>
          <p:grpSpPr>
            <a:xfrm>
              <a:off x="4011560" y="1641985"/>
              <a:ext cx="1196054" cy="1022555"/>
              <a:chOff x="9655277" y="2349909"/>
              <a:chExt cx="1196054" cy="1022555"/>
            </a:xfrm>
          </p:grpSpPr>
          <p:sp>
            <p:nvSpPr>
              <p:cNvPr id="3229" name="Google Shape;3229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0" name="Google Shape;3230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1" name="Google Shape;3231;p39"/>
            <p:cNvGrpSpPr/>
            <p:nvPr/>
          </p:nvGrpSpPr>
          <p:grpSpPr>
            <a:xfrm>
              <a:off x="5943598" y="1627238"/>
              <a:ext cx="1196054" cy="1022555"/>
              <a:chOff x="9655277" y="2349909"/>
              <a:chExt cx="1196054" cy="1022555"/>
            </a:xfrm>
          </p:grpSpPr>
          <p:sp>
            <p:nvSpPr>
              <p:cNvPr id="3232" name="Google Shape;3232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3" name="Google Shape;3233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4" name="Google Shape;3234;p39"/>
            <p:cNvGrpSpPr/>
            <p:nvPr/>
          </p:nvGrpSpPr>
          <p:grpSpPr>
            <a:xfrm>
              <a:off x="7875636" y="1612491"/>
              <a:ext cx="1196054" cy="1022555"/>
              <a:chOff x="9655277" y="2349909"/>
              <a:chExt cx="1196054" cy="1022555"/>
            </a:xfrm>
          </p:grpSpPr>
          <p:sp>
            <p:nvSpPr>
              <p:cNvPr id="3235" name="Google Shape;3235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6" name="Google Shape;3236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37" name="Google Shape;3237;p39"/>
            <p:cNvGrpSpPr/>
            <p:nvPr/>
          </p:nvGrpSpPr>
          <p:grpSpPr>
            <a:xfrm>
              <a:off x="3996812" y="3593688"/>
              <a:ext cx="1196054" cy="1022555"/>
              <a:chOff x="9655277" y="2349909"/>
              <a:chExt cx="1196054" cy="1022555"/>
            </a:xfrm>
          </p:grpSpPr>
          <p:sp>
            <p:nvSpPr>
              <p:cNvPr id="3238" name="Google Shape;3238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9" name="Google Shape;3239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0" name="Google Shape;3240;p39"/>
            <p:cNvGrpSpPr/>
            <p:nvPr/>
          </p:nvGrpSpPr>
          <p:grpSpPr>
            <a:xfrm>
              <a:off x="5928850" y="3578941"/>
              <a:ext cx="1196054" cy="1022555"/>
              <a:chOff x="9655277" y="2349909"/>
              <a:chExt cx="1196054" cy="1022555"/>
            </a:xfrm>
          </p:grpSpPr>
          <p:sp>
            <p:nvSpPr>
              <p:cNvPr id="3241" name="Google Shape;3241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2" name="Google Shape;3242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3" name="Google Shape;3243;p39"/>
            <p:cNvGrpSpPr/>
            <p:nvPr/>
          </p:nvGrpSpPr>
          <p:grpSpPr>
            <a:xfrm>
              <a:off x="7860888" y="3564194"/>
              <a:ext cx="1196054" cy="1022555"/>
              <a:chOff x="9655277" y="2349909"/>
              <a:chExt cx="1196054" cy="1022555"/>
            </a:xfrm>
          </p:grpSpPr>
          <p:sp>
            <p:nvSpPr>
              <p:cNvPr id="3244" name="Google Shape;3244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5" name="Google Shape;3245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6" name="Google Shape;3246;p39"/>
            <p:cNvGrpSpPr/>
            <p:nvPr/>
          </p:nvGrpSpPr>
          <p:grpSpPr>
            <a:xfrm>
              <a:off x="3982064" y="5545391"/>
              <a:ext cx="1196054" cy="1022555"/>
              <a:chOff x="9655277" y="2349909"/>
              <a:chExt cx="1196054" cy="1022555"/>
            </a:xfrm>
          </p:grpSpPr>
          <p:sp>
            <p:nvSpPr>
              <p:cNvPr id="3247" name="Google Shape;3247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8" name="Google Shape;3248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49" name="Google Shape;3249;p39"/>
            <p:cNvGrpSpPr/>
            <p:nvPr/>
          </p:nvGrpSpPr>
          <p:grpSpPr>
            <a:xfrm>
              <a:off x="5914102" y="5530644"/>
              <a:ext cx="1196054" cy="1022555"/>
              <a:chOff x="9655277" y="2349909"/>
              <a:chExt cx="1196054" cy="1022555"/>
            </a:xfrm>
          </p:grpSpPr>
          <p:sp>
            <p:nvSpPr>
              <p:cNvPr id="3250" name="Google Shape;3250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1" name="Google Shape;3251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  <p:grpSp>
          <p:nvGrpSpPr>
            <p:cNvPr id="3252" name="Google Shape;3252;p39"/>
            <p:cNvGrpSpPr/>
            <p:nvPr/>
          </p:nvGrpSpPr>
          <p:grpSpPr>
            <a:xfrm>
              <a:off x="7846140" y="5515897"/>
              <a:ext cx="1196054" cy="1022555"/>
              <a:chOff x="9655277" y="2349909"/>
              <a:chExt cx="1196054" cy="1022555"/>
            </a:xfrm>
          </p:grpSpPr>
          <p:sp>
            <p:nvSpPr>
              <p:cNvPr id="3253" name="Google Shape;3253;p39"/>
              <p:cNvSpPr/>
              <p:nvPr/>
            </p:nvSpPr>
            <p:spPr>
              <a:xfrm>
                <a:off x="9655277" y="2349909"/>
                <a:ext cx="1196054" cy="1022555"/>
              </a:xfrm>
              <a:custGeom>
                <a:rect b="b" l="l" r="r" t="t"/>
                <a:pathLst>
                  <a:path extrusionOk="0" h="2290046" w="2820074">
                    <a:moveTo>
                      <a:pt x="1416106" y="606903"/>
                    </a:moveTo>
                    <a:lnTo>
                      <a:pt x="1096471" y="222531"/>
                    </a:lnTo>
                    <a:lnTo>
                      <a:pt x="954860" y="667593"/>
                    </a:lnTo>
                    <a:lnTo>
                      <a:pt x="89012" y="242761"/>
                    </a:lnTo>
                    <a:lnTo>
                      <a:pt x="610948" y="797066"/>
                    </a:lnTo>
                    <a:lnTo>
                      <a:pt x="0" y="902262"/>
                    </a:lnTo>
                    <a:lnTo>
                      <a:pt x="481476" y="1246174"/>
                    </a:lnTo>
                    <a:lnTo>
                      <a:pt x="36414" y="1533441"/>
                    </a:lnTo>
                    <a:lnTo>
                      <a:pt x="760651" y="1476797"/>
                    </a:lnTo>
                    <a:lnTo>
                      <a:pt x="623086" y="1869260"/>
                    </a:lnTo>
                    <a:lnTo>
                      <a:pt x="1003412" y="1658867"/>
                    </a:lnTo>
                    <a:lnTo>
                      <a:pt x="1104563" y="2290046"/>
                    </a:lnTo>
                    <a:lnTo>
                      <a:pt x="1383738" y="1569855"/>
                    </a:lnTo>
                    <a:lnTo>
                      <a:pt x="1743833" y="2091791"/>
                    </a:lnTo>
                    <a:lnTo>
                      <a:pt x="1836892" y="1529395"/>
                    </a:lnTo>
                    <a:lnTo>
                      <a:pt x="2375012" y="1889491"/>
                    </a:lnTo>
                    <a:lnTo>
                      <a:pt x="2209125" y="1351370"/>
                    </a:lnTo>
                    <a:lnTo>
                      <a:pt x="2820074" y="1399922"/>
                    </a:lnTo>
                    <a:lnTo>
                      <a:pt x="2310276" y="1092425"/>
                    </a:lnTo>
                    <a:lnTo>
                      <a:pt x="2775568" y="837526"/>
                    </a:lnTo>
                    <a:lnTo>
                      <a:pt x="2196987" y="768744"/>
                    </a:lnTo>
                    <a:lnTo>
                      <a:pt x="2427610" y="441016"/>
                    </a:lnTo>
                    <a:lnTo>
                      <a:pt x="1844984" y="546213"/>
                    </a:lnTo>
                    <a:lnTo>
                      <a:pt x="1901628" y="0"/>
                    </a:lnTo>
                    <a:lnTo>
                      <a:pt x="1416106" y="606903"/>
                    </a:lnTo>
                    <a:close/>
                  </a:path>
                </a:pathLst>
              </a:custGeom>
              <a:solidFill>
                <a:srgbClr val="FFFF00">
                  <a:alpha val="7294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4" name="Google Shape;3254;p39"/>
              <p:cNvSpPr txBox="1"/>
              <p:nvPr/>
            </p:nvSpPr>
            <p:spPr>
              <a:xfrm>
                <a:off x="9753600" y="2635045"/>
                <a:ext cx="102021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</a:t>
                </a:r>
                <a:endParaRPr/>
              </a:p>
            </p:txBody>
          </p:sp>
        </p:grpSp>
      </p:grpSp>
      <p:cxnSp>
        <p:nvCxnSpPr>
          <p:cNvPr id="3255" name="Google Shape;3255;p39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0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p40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262" name="Google Shape;3262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63" name="Google Shape;3263;p40"/>
          <p:cNvCxnSpPr>
            <a:stCxn id="3264" idx="2"/>
            <a:endCxn id="3264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65" name="Google Shape;3265;p40"/>
          <p:cNvCxnSpPr>
            <a:stCxn id="3264" idx="1"/>
            <a:endCxn id="3264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64" name="Google Shape;3264;p40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40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7" name="Google Shape;3267;p40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268" name="Google Shape;3268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269" name="Google Shape;326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70" name="Google Shape;327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71" name="Google Shape;327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73" name="Google Shape;327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4" name="Google Shape;327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75" name="Google Shape;3275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276" name="Google Shape;327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77" name="Google Shape;3277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78" name="Google Shape;3278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279" name="Google Shape;327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80" name="Google Shape;328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81" name="Google Shape;328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82" name="Google Shape;328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83" name="Google Shape;328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4" name="Google Shape;328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85" name="Google Shape;3285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286" name="Google Shape;328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87" name="Google Shape;3287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88" name="Google Shape;3288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289" name="Google Shape;3289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290" name="Google Shape;3290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291" name="Google Shape;3291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92" name="Google Shape;3292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293" name="Google Shape;3293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4" name="Google Shape;3294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295" name="Google Shape;3295;p40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296" name="Google Shape;3296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7" name="Google Shape;3297;p40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298" name="Google Shape;3298;p40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299" name="Google Shape;3299;p40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0" name="Google Shape;3300;p40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1" name="Google Shape;3301;p40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2" name="Google Shape;3302;p40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3" name="Google Shape;3303;p40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4" name="Google Shape;3304;p40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5" name="Google Shape;3305;p40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6" name="Google Shape;3306;p40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7" name="Google Shape;3307;p40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308" name="Google Shape;3308;p40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309" name="Google Shape;3309;p40"/>
          <p:cNvSpPr/>
          <p:nvPr/>
        </p:nvSpPr>
        <p:spPr>
          <a:xfrm rot="5400000">
            <a:off x="4399933" y="256130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0" name="Google Shape;3310;p40"/>
          <p:cNvSpPr/>
          <p:nvPr/>
        </p:nvSpPr>
        <p:spPr>
          <a:xfrm rot="-5400000">
            <a:off x="4395017" y="347078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40"/>
          <p:cNvSpPr/>
          <p:nvPr/>
        </p:nvSpPr>
        <p:spPr>
          <a:xfrm rot="5400000">
            <a:off x="6302474" y="2546557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2" name="Google Shape;3312;p40"/>
          <p:cNvSpPr/>
          <p:nvPr/>
        </p:nvSpPr>
        <p:spPr>
          <a:xfrm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40"/>
          <p:cNvSpPr/>
          <p:nvPr/>
        </p:nvSpPr>
        <p:spPr>
          <a:xfrm rot="5400000">
            <a:off x="4370435" y="445893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4" name="Google Shape;3314;p40"/>
          <p:cNvSpPr/>
          <p:nvPr/>
        </p:nvSpPr>
        <p:spPr>
          <a:xfrm rot="-5400000">
            <a:off x="4365519" y="5368418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40"/>
          <p:cNvSpPr/>
          <p:nvPr/>
        </p:nvSpPr>
        <p:spPr>
          <a:xfrm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6" name="Google Shape;3316;p40"/>
          <p:cNvSpPr/>
          <p:nvPr/>
        </p:nvSpPr>
        <p:spPr>
          <a:xfrm rot="-5400000">
            <a:off x="6307392" y="5363506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40"/>
          <p:cNvSpPr/>
          <p:nvPr/>
        </p:nvSpPr>
        <p:spPr>
          <a:xfrm rot="5400000">
            <a:off x="8254181" y="4449110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8" name="Google Shape;3318;p40"/>
          <p:cNvSpPr/>
          <p:nvPr/>
        </p:nvSpPr>
        <p:spPr>
          <a:xfrm rot="-5400000">
            <a:off x="8249265" y="5358594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40"/>
          <p:cNvSpPr/>
          <p:nvPr/>
        </p:nvSpPr>
        <p:spPr>
          <a:xfrm rot="10800000">
            <a:off x="7582395" y="5829665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0" name="Google Shape;3320;p40"/>
          <p:cNvSpPr/>
          <p:nvPr/>
        </p:nvSpPr>
        <p:spPr>
          <a:xfrm>
            <a:off x="6819704" y="583458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21" name="Google Shape;3321;p40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322" name="Google Shape;3322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23" name="Google Shape;332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24" name="Google Shape;332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25" name="Google Shape;332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26" name="Google Shape;332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27" name="Google Shape;332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8" name="Google Shape;332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29" name="Google Shape;3329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30" name="Google Shape;333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1" name="Google Shape;3331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32" name="Google Shape;3332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33" name="Google Shape;333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34" name="Google Shape;333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35" name="Google Shape;333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36" name="Google Shape;333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37" name="Google Shape;333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8" name="Google Shape;333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39" name="Google Shape;3339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40" name="Google Shape;334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1" name="Google Shape;3341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42" name="Google Shape;3342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43" name="Google Shape;3343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44" name="Google Shape;3344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45" name="Google Shape;3345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46" name="Google Shape;3346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47" name="Google Shape;3347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8" name="Google Shape;3348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49" name="Google Shape;3349;p40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350" name="Google Shape;3350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1" name="Google Shape;3351;p40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352" name="Google Shape;3352;p40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353" name="Google Shape;3353;p40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354" name="Google Shape;335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55" name="Google Shape;335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56" name="Google Shape;335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57" name="Google Shape;335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58" name="Google Shape;335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9" name="Google Shape;335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60" name="Google Shape;3360;p40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361" name="Google Shape;336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2" name="Google Shape;3362;p40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63" name="Google Shape;3363;p40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364" name="Google Shape;336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65" name="Google Shape;336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66" name="Google Shape;336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67" name="Google Shape;336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68" name="Google Shape;336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69" name="Google Shape;336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70" name="Google Shape;3370;p40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371" name="Google Shape;337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2" name="Google Shape;3372;p40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373" name="Google Shape;3373;p40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374" name="Google Shape;3374;p40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375" name="Google Shape;3375;p40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376" name="Google Shape;3376;p40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77" name="Google Shape;3377;p40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378" name="Google Shape;3378;p40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9" name="Google Shape;3379;p40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380" name="Google Shape;3380;p40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381" name="Google Shape;3381;p4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82" name="Google Shape;3382;p40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383" name="Google Shape;3383;p40"/>
          <p:cNvSpPr/>
          <p:nvPr/>
        </p:nvSpPr>
        <p:spPr>
          <a:xfrm rot="10800000">
            <a:off x="5660017" y="584303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40"/>
          <p:cNvSpPr/>
          <p:nvPr/>
        </p:nvSpPr>
        <p:spPr>
          <a:xfrm>
            <a:off x="4897326" y="584795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5" name="Google Shape;3385;p40"/>
          <p:cNvSpPr/>
          <p:nvPr/>
        </p:nvSpPr>
        <p:spPr>
          <a:xfrm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40"/>
          <p:cNvSpPr/>
          <p:nvPr/>
        </p:nvSpPr>
        <p:spPr>
          <a:xfrm>
            <a:off x="4905348" y="3909528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7" name="Google Shape;3387;p40"/>
          <p:cNvSpPr/>
          <p:nvPr/>
        </p:nvSpPr>
        <p:spPr>
          <a:xfrm rot="10800000">
            <a:off x="5660020" y="196618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40"/>
          <p:cNvSpPr/>
          <p:nvPr/>
        </p:nvSpPr>
        <p:spPr>
          <a:xfrm>
            <a:off x="4924064" y="198714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9" name="Google Shape;3389;p40"/>
          <p:cNvSpPr/>
          <p:nvPr/>
        </p:nvSpPr>
        <p:spPr>
          <a:xfrm rot="10800000">
            <a:off x="7582399" y="196886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40"/>
          <p:cNvSpPr/>
          <p:nvPr/>
        </p:nvSpPr>
        <p:spPr>
          <a:xfrm>
            <a:off x="6819708" y="1973779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1" name="Google Shape;3391;p40"/>
          <p:cNvSpPr/>
          <p:nvPr/>
        </p:nvSpPr>
        <p:spPr>
          <a:xfrm rot="10800000">
            <a:off x="7595769" y="3907283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2" name="Google Shape;3392;p40"/>
          <p:cNvSpPr/>
          <p:nvPr/>
        </p:nvSpPr>
        <p:spPr>
          <a:xfrm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3" name="Google Shape;3393;p40"/>
          <p:cNvSpPr txBox="1"/>
          <p:nvPr/>
        </p:nvSpPr>
        <p:spPr>
          <a:xfrm flipH="1">
            <a:off x="476445" y="3078991"/>
            <a:ext cx="219581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nodes: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receive distance vectors from neighbors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compute their new local  distance vector</a:t>
            </a:r>
            <a:endParaRPr/>
          </a:p>
          <a:p>
            <a:pPr indent="-174625" lvl="0" marL="1746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 their new local distance vector to neighbors</a:t>
            </a:r>
            <a:endParaRPr/>
          </a:p>
        </p:txBody>
      </p:sp>
      <p:grpSp>
        <p:nvGrpSpPr>
          <p:cNvPr id="3394" name="Google Shape;3394;p40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395" name="Google Shape;3395;p40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t=2</a:t>
              </a:r>
              <a:endParaRPr/>
            </a:p>
          </p:txBody>
        </p:sp>
        <p:grpSp>
          <p:nvGrpSpPr>
            <p:cNvPr id="3396" name="Google Shape;3396;p40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397" name="Google Shape;3397;p40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398" name="Google Shape;3398;p40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399" name="Google Shape;3399;p40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0" name="Google Shape;3400;p40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1" name="Google Shape;3401;p40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2" name="Google Shape;3402;p40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3" name="Google Shape;3403;p40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4" name="Google Shape;3404;p40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5" name="Google Shape;3405;p40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6" name="Google Shape;3406;p40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7" name="Google Shape;3407;p40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8" name="Google Shape;3408;p40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09" name="Google Shape;3409;p40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10" name="Google Shape;3410;p40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11" name="Google Shape;3411;p40"/>
          <p:cNvCxnSpPr/>
          <p:nvPr/>
        </p:nvCxnSpPr>
        <p:spPr>
          <a:xfrm flipH="1">
            <a:off x="919556" y="2070953"/>
            <a:ext cx="240612" cy="121026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6" name="Shape 3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7" name="Google Shape;3417;p41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</a:t>
            </a:r>
            <a:r>
              <a:rPr lang="en-US">
                <a:solidFill>
                  <a:srgbClr val="0000A8"/>
                </a:solidFill>
              </a:rPr>
              <a:t>iteration</a:t>
            </a:r>
            <a:endParaRPr/>
          </a:p>
        </p:txBody>
      </p:sp>
      <p:sp>
        <p:nvSpPr>
          <p:cNvPr id="3418" name="Google Shape;341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9" name="Google Shape;3419;p41"/>
          <p:cNvSpPr txBox="1"/>
          <p:nvPr/>
        </p:nvSpPr>
        <p:spPr>
          <a:xfrm>
            <a:off x="1280160" y="1859280"/>
            <a:ext cx="886467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…. and so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next take a look at the iterative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 nodes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4" name="Shape 3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Google Shape;3425;p42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426" name="Google Shape;3426;p42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27" name="Google Shape;3427;p42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428" name="Google Shape;3428;p42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29" name="Google Shape;3429;p42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430" name="Google Shape;3430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1" name="Google Shape;3431;p42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432" name="Google Shape;3432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433" name="Google Shape;3433;p42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434" name="Google Shape;3434;p42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435" name="Google Shape;3435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436" name="Google Shape;3436;p42"/>
          <p:cNvCxnSpPr>
            <a:stCxn id="3437" idx="2"/>
            <a:endCxn id="3437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8" name="Google Shape;3438;p42"/>
          <p:cNvCxnSpPr>
            <a:stCxn id="3437" idx="1"/>
            <a:endCxn id="3437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7" name="Google Shape;3437;p42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42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0" name="Google Shape;3440;p42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441" name="Google Shape;3441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442" name="Google Shape;344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43" name="Google Shape;344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44" name="Google Shape;344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45" name="Google Shape;344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46" name="Google Shape;344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47" name="Google Shape;344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48" name="Google Shape;3448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449" name="Google Shape;344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0" name="Google Shape;3450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51" name="Google Shape;3451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452" name="Google Shape;345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53" name="Google Shape;345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54" name="Google Shape;345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55" name="Google Shape;345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56" name="Google Shape;345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57" name="Google Shape;345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58" name="Google Shape;3458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459" name="Google Shape;345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0" name="Google Shape;3460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461" name="Google Shape;3461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462" name="Google Shape;3462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463" name="Google Shape;3463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464" name="Google Shape;3464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465" name="Google Shape;3465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466" name="Google Shape;3466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67" name="Google Shape;3467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68" name="Google Shape;3468;p42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469" name="Google Shape;3469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0" name="Google Shape;3470;p42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471" name="Google Shape;3471;p42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2" name="Google Shape;3472;p42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3" name="Google Shape;3473;p42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4" name="Google Shape;3474;p42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5" name="Google Shape;3475;p42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6" name="Google Shape;3476;p42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7" name="Google Shape;3477;p42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8" name="Google Shape;3478;p42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79" name="Google Shape;3479;p42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480" name="Google Shape;3480;p42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481" name="Google Shape;3481;p42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482" name="Google Shape;3482;p42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483" name="Google Shape;3483;p42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484" name="Google Shape;3484;p42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485" name="Google Shape;3485;p42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486" name="Google Shape;3486;p42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7" name="Google Shape;3487;p42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8" name="Google Shape;3488;p42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89" name="Google Shape;3489;p42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0" name="Google Shape;3490;p42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1" name="Google Shape;3491;p42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2" name="Google Shape;3492;p42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3" name="Google Shape;3493;p42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4" name="Google Shape;3494;p42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5" name="Google Shape;3495;p42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6" name="Google Shape;3496;p42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497" name="Google Shape;3497;p42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498" name="Google Shape;3498;p42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499" name="Google Shape;3499;p42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00" name="Google Shape;3500;p42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1" name="Google Shape;3501;p42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502" name="Google Shape;3502;p42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03" name="Google Shape;3503;p42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504" name="Google Shape;3504;p42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05" name="Google Shape;3505;p42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506" name="Google Shape;3506;p42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07" name="Google Shape;3507;p42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508" name="Google Shape;3508;p42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09" name="Google Shape;3509;p42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0" name="Google Shape;3510;p42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1" name="Google Shape;3511;p42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12" name="Google Shape;3512;p42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</a:t>
            </a:r>
            <a:endParaRPr/>
          </a:p>
        </p:txBody>
      </p:sp>
      <p:sp>
        <p:nvSpPr>
          <p:cNvPr id="3513" name="Google Shape;3513;p42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4" name="Google Shape;3514;p42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42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16" name="Google Shape;3516;p42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517" name="Google Shape;3517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18" name="Google Shape;351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19" name="Google Shape;351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20" name="Google Shape;352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21" name="Google Shape;352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22" name="Google Shape;352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3" name="Google Shape;352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24" name="Google Shape;3524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25" name="Google Shape;352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6" name="Google Shape;3526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27" name="Google Shape;3527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28" name="Google Shape;352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29" name="Google Shape;352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30" name="Google Shape;353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31" name="Google Shape;353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32" name="Google Shape;353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3" name="Google Shape;353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34" name="Google Shape;3534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35" name="Google Shape;353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6" name="Google Shape;3536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37" name="Google Shape;3537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38" name="Google Shape;3538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39" name="Google Shape;3539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40" name="Google Shape;3540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41" name="Google Shape;3541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42" name="Google Shape;3542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3" name="Google Shape;3543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44" name="Google Shape;3544;p42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545" name="Google Shape;3545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6" name="Google Shape;3546;p42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47" name="Google Shape;3547;p42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548" name="Google Shape;3548;p42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549" name="Google Shape;354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50" name="Google Shape;355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51" name="Google Shape;355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52" name="Google Shape;355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53" name="Google Shape;355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4" name="Google Shape;355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55" name="Google Shape;3555;p42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556" name="Google Shape;355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57" name="Google Shape;3557;p42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58" name="Google Shape;3558;p42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559" name="Google Shape;355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60" name="Google Shape;356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61" name="Google Shape;356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62" name="Google Shape;356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63" name="Google Shape;356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4" name="Google Shape;356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65" name="Google Shape;3565;p42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566" name="Google Shape;356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67" name="Google Shape;3567;p42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68" name="Google Shape;3568;p42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569" name="Google Shape;3569;p42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570" name="Google Shape;3570;p42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571" name="Google Shape;3571;p42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72" name="Google Shape;3572;p42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573" name="Google Shape;3573;p42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4" name="Google Shape;3574;p42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575" name="Google Shape;3575;p42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576" name="Google Shape;3576;p42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77" name="Google Shape;3577;p42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578" name="Google Shape;3578;p42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579" name="Google Shape;3579;p42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80" name="Google Shape;3580;p42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581" name="Google Shape;3581;p42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2" name="Google Shape;3582;p42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583" name="Google Shape;3583;p42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4" name="Google Shape;3584;p42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585" name="Google Shape;3585;p42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586" name="Google Shape;3586;p42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87" name="Google Shape;3587;p42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8" name="Google Shape;3588;p42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589" name="Google Shape;3589;p42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0" name="Google Shape;3590;p42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591" name="Google Shape;3591;p42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2" name="Google Shape;3592;p42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593" name="Google Shape;3593;p42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594" name="Google Shape;3594;p42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43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601" name="Google Shape;3601;p43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02" name="Google Shape;3602;p43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603" name="Google Shape;3603;p43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4" name="Google Shape;3604;p43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605" name="Google Shape;3605;p43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06" name="Google Shape;3606;p43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607" name="Google Shape;360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8" name="Google Shape;3608;p43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09" name="Google Shape;360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0" name="Google Shape;3610;p43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11" name="Google Shape;3611;p43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612" name="Google Shape;3612;p43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3" name="Google Shape;3613;p43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614" name="Google Shape;3614;p43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5" name="Google Shape;3615;p43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616" name="Google Shape;3616;p43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17" name="Google Shape;3617;p43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618" name="Google Shape;3618;p43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19" name="Google Shape;3619;p43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0" name="Google Shape;3620;p43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1" name="Google Shape;3621;p43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22" name="Google Shape;3622;p43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623" name="Google Shape;3623;p43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4" name="Google Shape;3624;p43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625" name="Google Shape;3625;p43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26" name="Google Shape;3626;p43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627" name="Google Shape;3627;p43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28" name="Google Shape;3628;p43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629" name="Google Shape;3629;p43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630" name="Google Shape;3630;p43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31" name="Google Shape;3631;p43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632" name="Google Shape;3632;p43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33" name="Google Shape;3633;p43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634" name="Google Shape;3634;p43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5" name="Google Shape;3635;p43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36" name="Google Shape;3636;p43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637" name="Google Shape;3637;p43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38" name="Google Shape;3638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639" name="Google Shape;3639;p43"/>
          <p:cNvCxnSpPr>
            <a:stCxn id="3640" idx="2"/>
            <a:endCxn id="364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41" name="Google Shape;3641;p43"/>
          <p:cNvCxnSpPr>
            <a:stCxn id="3640" idx="1"/>
            <a:endCxn id="364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40" name="Google Shape;3640;p43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2" name="Google Shape;3642;p43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43" name="Google Shape;3643;p43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644" name="Google Shape;3644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645" name="Google Shape;364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46" name="Google Shape;364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47" name="Google Shape;364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8" name="Google Shape;364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49" name="Google Shape;364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0" name="Google Shape;365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51" name="Google Shape;3651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652" name="Google Shape;365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3" name="Google Shape;3653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54" name="Google Shape;3654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655" name="Google Shape;365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56" name="Google Shape;365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57" name="Google Shape;365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58" name="Google Shape;365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59" name="Google Shape;365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0" name="Google Shape;366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61" name="Google Shape;3661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662" name="Google Shape;366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3" name="Google Shape;3663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664" name="Google Shape;3664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665" name="Google Shape;3665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666" name="Google Shape;3666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667" name="Google Shape;3667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68" name="Google Shape;3668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669" name="Google Shape;3669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0" name="Google Shape;3670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71" name="Google Shape;3671;p43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672" name="Google Shape;3672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3" name="Google Shape;3673;p43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674" name="Google Shape;3674;p43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5" name="Google Shape;3675;p43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6" name="Google Shape;3676;p43"/>
          <p:cNvSpPr txBox="1"/>
          <p:nvPr/>
        </p:nvSpPr>
        <p:spPr>
          <a:xfrm>
            <a:off x="3920218" y="485596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7" name="Google Shape;3677;p43"/>
          <p:cNvSpPr txBox="1"/>
          <p:nvPr/>
        </p:nvSpPr>
        <p:spPr>
          <a:xfrm>
            <a:off x="5855120" y="485789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8" name="Google Shape;3678;p43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79" name="Google Shape;3679;p43"/>
          <p:cNvSpPr txBox="1"/>
          <p:nvPr/>
        </p:nvSpPr>
        <p:spPr>
          <a:xfrm>
            <a:off x="5066110" y="399944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0" name="Google Shape;3680;p43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1" name="Google Shape;3681;p43"/>
          <p:cNvSpPr txBox="1"/>
          <p:nvPr/>
        </p:nvSpPr>
        <p:spPr>
          <a:xfrm>
            <a:off x="5068038" y="592276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2" name="Google Shape;3682;p43"/>
          <p:cNvSpPr txBox="1"/>
          <p:nvPr/>
        </p:nvSpPr>
        <p:spPr>
          <a:xfrm>
            <a:off x="7081390" y="590296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683" name="Google Shape;3683;p43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684" name="Google Shape;3684;p43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685" name="Google Shape;3685;p43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686" name="Google Shape;3686;p43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687" name="Google Shape;3687;p43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688" name="Google Shape;3688;p43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689" name="Google Shape;3689;p43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0" name="Google Shape;3690;p43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1" name="Google Shape;3691;p43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2" name="Google Shape;3692;p43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3" name="Google Shape;3693;p43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4" name="Google Shape;3694;p43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5" name="Google Shape;3695;p43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6" name="Google Shape;3696;p43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7" name="Google Shape;3697;p43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8" name="Google Shape;3698;p43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9" name="Google Shape;3699;p43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0" name="Google Shape;3700;p43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01" name="Google Shape;3701;p43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702" name="Google Shape;3702;p43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3" name="Google Shape;3703;p43"/>
          <p:cNvSpPr txBox="1"/>
          <p:nvPr/>
        </p:nvSpPr>
        <p:spPr>
          <a:xfrm flipH="1">
            <a:off x="348626" y="3078991"/>
            <a:ext cx="2195814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receives DVs from a, c, e, computes:</a:t>
            </a:r>
            <a:endParaRPr/>
          </a:p>
        </p:txBody>
      </p:sp>
      <p:sp>
        <p:nvSpPr>
          <p:cNvPr id="3704" name="Google Shape;3704;p43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5" name="Google Shape;3705;p43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06" name="Google Shape;3706;p43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707" name="Google Shape;3707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08" name="Google Shape;370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09" name="Google Shape;370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10" name="Google Shape;371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11" name="Google Shape;371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12" name="Google Shape;371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3" name="Google Shape;371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14" name="Google Shape;3714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15" name="Google Shape;371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16" name="Google Shape;3716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17" name="Google Shape;3717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18" name="Google Shape;371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19" name="Google Shape;371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20" name="Google Shape;372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21" name="Google Shape;372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22" name="Google Shape;372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3" name="Google Shape;372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24" name="Google Shape;3724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25" name="Google Shape;372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6" name="Google Shape;3726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27" name="Google Shape;3727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28" name="Google Shape;3728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29" name="Google Shape;3729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30" name="Google Shape;3730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31" name="Google Shape;3731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32" name="Google Shape;3732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3" name="Google Shape;3733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34" name="Google Shape;3734;p43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735" name="Google Shape;3735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36" name="Google Shape;3736;p43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737" name="Google Shape;3737;p43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738" name="Google Shape;3738;p43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739" name="Google Shape;373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40" name="Google Shape;374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41" name="Google Shape;374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42" name="Google Shape;374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43" name="Google Shape;374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4" name="Google Shape;374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45" name="Google Shape;3745;p43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746" name="Google Shape;374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47" name="Google Shape;3747;p43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48" name="Google Shape;3748;p43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749" name="Google Shape;374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50" name="Google Shape;375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51" name="Google Shape;375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52" name="Google Shape;375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53" name="Google Shape;375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4" name="Google Shape;375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55" name="Google Shape;3755;p43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756" name="Google Shape;375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57" name="Google Shape;3757;p43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58" name="Google Shape;3758;p43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759" name="Google Shape;3759;p43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760" name="Google Shape;3760;p43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761" name="Google Shape;3761;p43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762" name="Google Shape;3762;p43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763" name="Google Shape;3763;p43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4" name="Google Shape;3764;p43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65" name="Google Shape;3765;p43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766" name="Google Shape;3766;p43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7" name="Google Shape;3767;p43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768" name="Google Shape;3768;p43"/>
          <p:cNvSpPr/>
          <p:nvPr/>
        </p:nvSpPr>
        <p:spPr>
          <a:xfrm>
            <a:off x="3078478" y="2885440"/>
            <a:ext cx="5923281" cy="3820160"/>
          </a:xfrm>
          <a:custGeom>
            <a:rect b="b" l="l" r="r" t="t"/>
            <a:pathLst>
              <a:path extrusionOk="0" h="3820160" w="5760999">
                <a:moveTo>
                  <a:pt x="1239799" y="0"/>
                </a:moveTo>
                <a:lnTo>
                  <a:pt x="2987319" y="0"/>
                </a:lnTo>
                <a:lnTo>
                  <a:pt x="2987319" y="955040"/>
                </a:lnTo>
                <a:lnTo>
                  <a:pt x="5730519" y="782320"/>
                </a:lnTo>
                <a:lnTo>
                  <a:pt x="5760999" y="3820160"/>
                </a:lnTo>
                <a:lnTo>
                  <a:pt x="0" y="3810000"/>
                </a:lnTo>
                <a:lnTo>
                  <a:pt x="69172" y="955040"/>
                </a:lnTo>
                <a:lnTo>
                  <a:pt x="917184" y="904240"/>
                </a:lnTo>
                <a:lnTo>
                  <a:pt x="123979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69" name="Google Shape;3769;p43"/>
          <p:cNvGrpSpPr/>
          <p:nvPr/>
        </p:nvGrpSpPr>
        <p:grpSpPr>
          <a:xfrm>
            <a:off x="7010562" y="5133094"/>
            <a:ext cx="2128849" cy="1445342"/>
            <a:chOff x="7344204" y="108155"/>
            <a:chExt cx="2128849" cy="1445342"/>
          </a:xfrm>
        </p:grpSpPr>
        <p:sp>
          <p:nvSpPr>
            <p:cNvPr id="3770" name="Google Shape;3770;p43"/>
            <p:cNvSpPr/>
            <p:nvPr/>
          </p:nvSpPr>
          <p:spPr>
            <a:xfrm>
              <a:off x="7413523" y="108155"/>
              <a:ext cx="1936954" cy="14355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1" name="Google Shape;3771;p43"/>
            <p:cNvGrpSpPr/>
            <p:nvPr/>
          </p:nvGrpSpPr>
          <p:grpSpPr>
            <a:xfrm>
              <a:off x="7344204" y="120836"/>
              <a:ext cx="2128849" cy="1432661"/>
              <a:chOff x="7344204" y="120836"/>
              <a:chExt cx="2128849" cy="1432661"/>
            </a:xfrm>
          </p:grpSpPr>
          <p:sp>
            <p:nvSpPr>
              <p:cNvPr id="3772" name="Google Shape;3772;p43"/>
              <p:cNvSpPr/>
              <p:nvPr/>
            </p:nvSpPr>
            <p:spPr>
              <a:xfrm>
                <a:off x="7409951" y="124866"/>
                <a:ext cx="1940525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3" name="Google Shape;3773;p43"/>
              <p:cNvSpPr txBox="1"/>
              <p:nvPr/>
            </p:nvSpPr>
            <p:spPr>
              <a:xfrm>
                <a:off x="7799764" y="120836"/>
                <a:ext cx="111719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b:</a:t>
                </a:r>
                <a:endParaRPr/>
              </a:p>
            </p:txBody>
          </p:sp>
          <p:cxnSp>
            <p:nvCxnSpPr>
              <p:cNvPr id="3774" name="Google Shape;3774;p43"/>
              <p:cNvCxnSpPr/>
              <p:nvPr/>
            </p:nvCxnSpPr>
            <p:spPr>
              <a:xfrm>
                <a:off x="7401895" y="49525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775" name="Google Shape;3775;p43"/>
              <p:cNvSpPr/>
              <p:nvPr/>
            </p:nvSpPr>
            <p:spPr>
              <a:xfrm>
                <a:off x="7404189" y="124866"/>
                <a:ext cx="1936455" cy="1428631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6" name="Google Shape;3776;p43"/>
              <p:cNvSpPr txBox="1"/>
              <p:nvPr/>
            </p:nvSpPr>
            <p:spPr>
              <a:xfrm>
                <a:off x="8362008" y="560500"/>
                <a:ext cx="1111045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2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7" name="Google Shape;3777;p43"/>
              <p:cNvSpPr txBox="1"/>
              <p:nvPr/>
            </p:nvSpPr>
            <p:spPr>
              <a:xfrm>
                <a:off x="7344204" y="557387"/>
                <a:ext cx="1117197" cy="97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8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78" name="Google Shape;3778;p43"/>
          <p:cNvGrpSpPr/>
          <p:nvPr/>
        </p:nvGrpSpPr>
        <p:grpSpPr>
          <a:xfrm>
            <a:off x="6256790" y="3442384"/>
            <a:ext cx="531821" cy="369069"/>
            <a:chOff x="1348328" y="2507397"/>
            <a:chExt cx="603916" cy="419100"/>
          </a:xfrm>
        </p:grpSpPr>
        <p:grpSp>
          <p:nvGrpSpPr>
            <p:cNvPr id="3779" name="Google Shape;3779;p43"/>
            <p:cNvGrpSpPr/>
            <p:nvPr/>
          </p:nvGrpSpPr>
          <p:grpSpPr>
            <a:xfrm>
              <a:off x="1348328" y="2555748"/>
              <a:ext cx="603916" cy="308999"/>
              <a:chOff x="5278570" y="2983486"/>
              <a:chExt cx="501650" cy="233363"/>
            </a:xfrm>
          </p:grpSpPr>
          <p:sp>
            <p:nvSpPr>
              <p:cNvPr id="3780" name="Google Shape;3780;p43"/>
              <p:cNvSpPr/>
              <p:nvPr/>
            </p:nvSpPr>
            <p:spPr>
              <a:xfrm>
                <a:off x="5283332" y="3088261"/>
                <a:ext cx="496888" cy="128588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81" name="Google Shape;3781;p43"/>
              <p:cNvCxnSpPr/>
              <p:nvPr/>
            </p:nvCxnSpPr>
            <p:spPr>
              <a:xfrm>
                <a:off x="5283332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82" name="Google Shape;3782;p43"/>
              <p:cNvCxnSpPr/>
              <p:nvPr/>
            </p:nvCxnSpPr>
            <p:spPr>
              <a:xfrm>
                <a:off x="5780220" y="3077148"/>
                <a:ext cx="0" cy="793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783" name="Google Shape;3783;p43"/>
              <p:cNvSpPr/>
              <p:nvPr/>
            </p:nvSpPr>
            <p:spPr>
              <a:xfrm>
                <a:off x="5283332" y="3077148"/>
                <a:ext cx="492125" cy="77788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4" name="Google Shape;3784;p43"/>
              <p:cNvSpPr/>
              <p:nvPr/>
            </p:nvSpPr>
            <p:spPr>
              <a:xfrm>
                <a:off x="5278570" y="2983486"/>
                <a:ext cx="496888" cy="150813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85" name="Google Shape;3785;p43"/>
            <p:cNvGrpSpPr/>
            <p:nvPr/>
          </p:nvGrpSpPr>
          <p:grpSpPr>
            <a:xfrm>
              <a:off x="1456374" y="2507397"/>
              <a:ext cx="355165" cy="419100"/>
              <a:chOff x="2944" y="2425"/>
              <a:chExt cx="227" cy="264"/>
            </a:xfrm>
          </p:grpSpPr>
          <p:sp>
            <p:nvSpPr>
              <p:cNvPr id="3786" name="Google Shape;3786;p43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7" name="Google Shape;3787;p43"/>
              <p:cNvSpPr txBox="1"/>
              <p:nvPr/>
            </p:nvSpPr>
            <p:spPr>
              <a:xfrm>
                <a:off x="2944" y="2425"/>
                <a:ext cx="227" cy="2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8" name="Google Shape;3788;p43"/>
          <p:cNvSpPr/>
          <p:nvPr/>
        </p:nvSpPr>
        <p:spPr>
          <a:xfrm rot="-5400000">
            <a:off x="6307392" y="303096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9" name="Google Shape;3789;p43"/>
          <p:cNvSpPr/>
          <p:nvPr/>
        </p:nvSpPr>
        <p:spPr>
          <a:xfrm>
            <a:off x="6784256" y="3016538"/>
            <a:ext cx="2899862" cy="2634390"/>
          </a:xfrm>
          <a:custGeom>
            <a:rect b="b" l="l" r="r" t="t"/>
            <a:pathLst>
              <a:path extrusionOk="0" h="2634390" w="2899862">
                <a:moveTo>
                  <a:pt x="657" y="541101"/>
                </a:moveTo>
                <a:cubicBezTo>
                  <a:pt x="1842566" y="465721"/>
                  <a:pt x="1787505" y="533564"/>
                  <a:pt x="2879541" y="0"/>
                </a:cubicBezTo>
                <a:cubicBezTo>
                  <a:pt x="2879541" y="783303"/>
                  <a:pt x="2899862" y="1851087"/>
                  <a:pt x="2899862" y="2634390"/>
                </a:cubicBezTo>
                <a:cubicBezTo>
                  <a:pt x="2640945" y="598784"/>
                  <a:pt x="2154903" y="642374"/>
                  <a:pt x="0" y="708250"/>
                </a:cubicBezTo>
                <a:lnTo>
                  <a:pt x="657" y="5411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43"/>
          <p:cNvSpPr/>
          <p:nvPr/>
        </p:nvSpPr>
        <p:spPr>
          <a:xfrm rot="-5400000">
            <a:off x="661290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91" name="Google Shape;3791;p43"/>
          <p:cNvGrpSpPr/>
          <p:nvPr/>
        </p:nvGrpSpPr>
        <p:grpSpPr>
          <a:xfrm>
            <a:off x="751840" y="2113280"/>
            <a:ext cx="6014720" cy="4541520"/>
            <a:chOff x="751840" y="2113280"/>
            <a:chExt cx="6014720" cy="4541520"/>
          </a:xfrm>
        </p:grpSpPr>
        <p:sp>
          <p:nvSpPr>
            <p:cNvPr id="3792" name="Google Shape;3792;p43"/>
            <p:cNvSpPr/>
            <p:nvPr/>
          </p:nvSpPr>
          <p:spPr>
            <a:xfrm>
              <a:off x="782320" y="3942080"/>
              <a:ext cx="5659120" cy="2712720"/>
            </a:xfrm>
            <a:prstGeom prst="rect">
              <a:avLst/>
            </a:prstGeom>
            <a:solidFill>
              <a:srgbClr val="DDEAF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3"/>
            <p:cNvSpPr/>
            <p:nvPr/>
          </p:nvSpPr>
          <p:spPr>
            <a:xfrm>
              <a:off x="751840" y="2113280"/>
              <a:ext cx="6014720" cy="1838960"/>
            </a:xfrm>
            <a:custGeom>
              <a:rect b="b" l="l" r="r" t="t"/>
              <a:pathLst>
                <a:path extrusionOk="0" h="1838960" w="6014720">
                  <a:moveTo>
                    <a:pt x="6014720" y="0"/>
                  </a:moveTo>
                  <a:cubicBezTo>
                    <a:pt x="4937760" y="795867"/>
                    <a:pt x="5008880" y="1479973"/>
                    <a:pt x="5659120" y="1838960"/>
                  </a:cubicBezTo>
                  <a:lnTo>
                    <a:pt x="0" y="1838960"/>
                  </a:lnTo>
                  <a:cubicBezTo>
                    <a:pt x="3772747" y="1642533"/>
                    <a:pt x="3776133" y="1578187"/>
                    <a:pt x="5496560" y="0"/>
                  </a:cubicBezTo>
                  <a:lnTo>
                    <a:pt x="6014720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DDEAF6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4" name="Google Shape;3794;p43"/>
          <p:cNvGrpSpPr/>
          <p:nvPr/>
        </p:nvGrpSpPr>
        <p:grpSpPr>
          <a:xfrm>
            <a:off x="5852446" y="1758989"/>
            <a:ext cx="1196054" cy="1022555"/>
            <a:chOff x="9655277" y="2349909"/>
            <a:chExt cx="1196054" cy="1022555"/>
          </a:xfrm>
        </p:grpSpPr>
        <p:sp>
          <p:nvSpPr>
            <p:cNvPr id="3795" name="Google Shape;3795;p43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3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3797" name="Google Shape;3797;p43"/>
          <p:cNvSpPr txBox="1"/>
          <p:nvPr/>
        </p:nvSpPr>
        <p:spPr>
          <a:xfrm>
            <a:off x="6355429" y="1927737"/>
            <a:ext cx="3193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798" name="Google Shape;3798;p43"/>
          <p:cNvSpPr txBox="1"/>
          <p:nvPr/>
        </p:nvSpPr>
        <p:spPr>
          <a:xfrm>
            <a:off x="894080" y="4021574"/>
            <a:ext cx="55676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(a)}  = min{8,∞,∞} = 8 </a:t>
            </a:r>
            <a:endParaRPr/>
          </a:p>
        </p:txBody>
      </p:sp>
      <p:sp>
        <p:nvSpPr>
          <p:cNvPr id="3799" name="Google Shape;3799;p43"/>
          <p:cNvSpPr txBox="1"/>
          <p:nvPr/>
        </p:nvSpPr>
        <p:spPr>
          <a:xfrm>
            <a:off x="894080" y="4346694"/>
            <a:ext cx="55372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(c)}  = min{∞,1,∞}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43"/>
          <p:cNvSpPr txBox="1"/>
          <p:nvPr/>
        </p:nvSpPr>
        <p:spPr>
          <a:xfrm>
            <a:off x="883920" y="4671814"/>
            <a:ext cx="5527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 = min{9,2,∞}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1" name="Google Shape;3801;p43"/>
          <p:cNvSpPr txBox="1"/>
          <p:nvPr/>
        </p:nvSpPr>
        <p:spPr>
          <a:xfrm>
            <a:off x="883920" y="5301734"/>
            <a:ext cx="54965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 = min{∞,∞,2}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43"/>
          <p:cNvSpPr txBox="1"/>
          <p:nvPr/>
        </p:nvSpPr>
        <p:spPr>
          <a:xfrm>
            <a:off x="894080" y="6244828"/>
            <a:ext cx="5466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3" name="Google Shape;3803;p43"/>
          <p:cNvSpPr txBox="1"/>
          <p:nvPr/>
        </p:nvSpPr>
        <p:spPr>
          <a:xfrm>
            <a:off x="883920" y="5940028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2} = 2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43"/>
          <p:cNvSpPr txBox="1"/>
          <p:nvPr/>
        </p:nvSpPr>
        <p:spPr>
          <a:xfrm>
            <a:off x="894080" y="4976614"/>
            <a:ext cx="54457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 = min{∞,∞,1} = 1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5" name="Google Shape;3805;p43"/>
          <p:cNvSpPr txBox="1"/>
          <p:nvPr/>
        </p:nvSpPr>
        <p:spPr>
          <a:xfrm>
            <a:off x="894080" y="5616694"/>
            <a:ext cx="55473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b,c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(g), 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b,e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 = min{∞,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∞, ∞}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0" name="Shape 3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1" name="Google Shape;3811;p44"/>
          <p:cNvGrpSpPr/>
          <p:nvPr/>
        </p:nvGrpSpPr>
        <p:grpSpPr>
          <a:xfrm>
            <a:off x="2827965" y="1130710"/>
            <a:ext cx="1547391" cy="2620631"/>
            <a:chOff x="3221255" y="1012723"/>
            <a:chExt cx="1547391" cy="2620631"/>
          </a:xfrm>
        </p:grpSpPr>
        <p:sp>
          <p:nvSpPr>
            <p:cNvPr id="3812" name="Google Shape;3812;p44"/>
            <p:cNvSpPr/>
            <p:nvPr/>
          </p:nvSpPr>
          <p:spPr>
            <a:xfrm>
              <a:off x="4316362" y="1042219"/>
              <a:ext cx="452284" cy="2389239"/>
            </a:xfrm>
            <a:custGeom>
              <a:rect b="b" l="l" r="r" t="t"/>
              <a:pathLst>
                <a:path extrusionOk="0" h="2389239" w="452284">
                  <a:moveTo>
                    <a:pt x="0" y="0"/>
                  </a:moveTo>
                  <a:cubicBezTo>
                    <a:pt x="170425" y="625988"/>
                    <a:pt x="242530" y="681703"/>
                    <a:pt x="452284" y="904568"/>
                  </a:cubicBezTo>
                  <a:lnTo>
                    <a:pt x="452284" y="1052052"/>
                  </a:lnTo>
                  <a:cubicBezTo>
                    <a:pt x="206477" y="1507613"/>
                    <a:pt x="137653" y="1825523"/>
                    <a:pt x="9833" y="2389239"/>
                  </a:cubicBezTo>
                  <a:cubicBezTo>
                    <a:pt x="6555" y="1592826"/>
                    <a:pt x="3278" y="796413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13" name="Google Shape;3813;p44"/>
            <p:cNvGrpSpPr/>
            <p:nvPr/>
          </p:nvGrpSpPr>
          <p:grpSpPr>
            <a:xfrm>
              <a:off x="3221255" y="1012723"/>
              <a:ext cx="1172904" cy="2620631"/>
              <a:chOff x="3221255" y="1012723"/>
              <a:chExt cx="1172904" cy="2620631"/>
            </a:xfrm>
          </p:grpSpPr>
          <p:sp>
            <p:nvSpPr>
              <p:cNvPr id="3814" name="Google Shape;3814;p44"/>
              <p:cNvSpPr/>
              <p:nvPr/>
            </p:nvSpPr>
            <p:spPr>
              <a:xfrm>
                <a:off x="3224981" y="1012723"/>
                <a:ext cx="1111045" cy="241873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15" name="Google Shape;3815;p44"/>
              <p:cNvGrpSpPr/>
              <p:nvPr/>
            </p:nvGrpSpPr>
            <p:grpSpPr>
              <a:xfrm>
                <a:off x="3221255" y="1017253"/>
                <a:ext cx="1172904" cy="2616101"/>
                <a:chOff x="9477371" y="702026"/>
                <a:chExt cx="1172904" cy="2616101"/>
              </a:xfrm>
            </p:grpSpPr>
            <p:sp>
              <p:nvSpPr>
                <p:cNvPr id="3816" name="Google Shape;3816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7" name="Google Shape;3817;p44"/>
                <p:cNvSpPr txBox="1"/>
                <p:nvPr/>
              </p:nvSpPr>
              <p:spPr>
                <a:xfrm>
                  <a:off x="9533078" y="702026"/>
                  <a:ext cx="1117197" cy="261610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a: 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(a)=0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8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1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818" name="Google Shape;3818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19" name="Google Shape;3819;p44"/>
                <p:cNvSpPr/>
                <p:nvPr/>
              </p:nvSpPr>
              <p:spPr>
                <a:xfrm>
                  <a:off x="9479666" y="706056"/>
                  <a:ext cx="1122744" cy="2589450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20" name="Google Shape;3820;p44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821" name="Google Shape;3821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22" name="Google Shape;3822;p44"/>
          <p:cNvCxnSpPr>
            <a:stCxn id="3823" idx="2"/>
            <a:endCxn id="3823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824" name="Google Shape;3824;p44"/>
          <p:cNvCxnSpPr>
            <a:stCxn id="3823" idx="1"/>
            <a:endCxn id="3823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23" name="Google Shape;3823;p44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5" name="Google Shape;3825;p44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6" name="Google Shape;3826;p44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827" name="Google Shape;3827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828" name="Google Shape;382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29" name="Google Shape;382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30" name="Google Shape;383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31" name="Google Shape;383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32" name="Google Shape;383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3" name="Google Shape;383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34" name="Google Shape;3834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835" name="Google Shape;383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36" name="Google Shape;3836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37" name="Google Shape;3837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838" name="Google Shape;383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39" name="Google Shape;383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40" name="Google Shape;384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41" name="Google Shape;384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42" name="Google Shape;384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3" name="Google Shape;384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44" name="Google Shape;3844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845" name="Google Shape;384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6" name="Google Shape;3846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847" name="Google Shape;3847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848" name="Google Shape;3848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849" name="Google Shape;3849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850" name="Google Shape;3850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851" name="Google Shape;3851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852" name="Google Shape;3852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3" name="Google Shape;3853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4" name="Google Shape;3854;p44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3855" name="Google Shape;3855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56" name="Google Shape;3856;p44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857" name="Google Shape;3857;p44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8" name="Google Shape;3858;p44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59" name="Google Shape;3859;p44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0" name="Google Shape;3860;p44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1" name="Google Shape;3861;p44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2" name="Google Shape;3862;p44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3" name="Google Shape;3863;p44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4" name="Google Shape;3864;p44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5" name="Google Shape;3865;p44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866" name="Google Shape;3866;p44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867" name="Google Shape;3867;p44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3868" name="Google Shape;3868;p44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3869" name="Google Shape;3869;p44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3870" name="Google Shape;3870;p44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3871" name="Google Shape;3871;p44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72" name="Google Shape;3872;p44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3" name="Google Shape;3873;p44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4" name="Google Shape;3874;p44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5" name="Google Shape;3875;p44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6" name="Google Shape;3876;p44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7" name="Google Shape;3877;p44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8" name="Google Shape;3878;p44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9" name="Google Shape;3879;p44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0" name="Google Shape;3880;p44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1" name="Google Shape;3881;p44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2" name="Google Shape;3882;p44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83" name="Google Shape;3883;p44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84" name="Google Shape;3884;p44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3885" name="Google Shape;3885;p44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86" name="Google Shape;3886;p44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7" name="Google Shape;3887;p44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3888" name="Google Shape;3888;p44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89" name="Google Shape;3889;p44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3890" name="Google Shape;3890;p44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1" name="Google Shape;3891;p44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3892" name="Google Shape;3892;p44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3" name="Google Shape;3893;p44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3894" name="Google Shape;3894;p44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895" name="Google Shape;3895;p44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6" name="Google Shape;3896;p44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7" name="Google Shape;3897;p44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898" name="Google Shape;3898;p44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</a:t>
            </a:r>
            <a:endParaRPr/>
          </a:p>
        </p:txBody>
      </p:sp>
      <p:sp>
        <p:nvSpPr>
          <p:cNvPr id="3899" name="Google Shape;3899;p44"/>
          <p:cNvSpPr/>
          <p:nvPr/>
        </p:nvSpPr>
        <p:spPr>
          <a:xfrm rot="-5400000">
            <a:off x="6346718" y="340688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0" name="Google Shape;3900;p44"/>
          <p:cNvSpPr/>
          <p:nvPr/>
        </p:nvSpPr>
        <p:spPr>
          <a:xfrm>
            <a:off x="4973224" y="193798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1" name="Google Shape;3901;p44"/>
          <p:cNvSpPr/>
          <p:nvPr/>
        </p:nvSpPr>
        <p:spPr>
          <a:xfrm rot="10800000">
            <a:off x="7631559" y="1919702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2" name="Google Shape;3902;p44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3903" name="Google Shape;3903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04" name="Google Shape;390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05" name="Google Shape;390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06" name="Google Shape;390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07" name="Google Shape;390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08" name="Google Shape;390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9" name="Google Shape;390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10" name="Google Shape;3910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11" name="Google Shape;391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2" name="Google Shape;3912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13" name="Google Shape;3913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14" name="Google Shape;391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15" name="Google Shape;391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16" name="Google Shape;391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17" name="Google Shape;391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18" name="Google Shape;391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9" name="Google Shape;391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0" name="Google Shape;3920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21" name="Google Shape;392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2" name="Google Shape;3922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23" name="Google Shape;3923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24" name="Google Shape;3924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25" name="Google Shape;3925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26" name="Google Shape;3926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27" name="Google Shape;3927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28" name="Google Shape;3928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29" name="Google Shape;3929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30" name="Google Shape;3930;p44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3931" name="Google Shape;3931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32" name="Google Shape;3932;p44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33" name="Google Shape;3933;p44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3934" name="Google Shape;3934;p44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35" name="Google Shape;393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36" name="Google Shape;393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37" name="Google Shape;393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38" name="Google Shape;393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39" name="Google Shape;393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0" name="Google Shape;394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41" name="Google Shape;3941;p44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3942" name="Google Shape;394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3" name="Google Shape;3943;p44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44" name="Google Shape;3944;p44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3945" name="Google Shape;394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46" name="Google Shape;394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47" name="Google Shape;394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48" name="Google Shape;394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49" name="Google Shape;394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0" name="Google Shape;395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51" name="Google Shape;3951;p44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3952" name="Google Shape;395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3" name="Google Shape;3953;p44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54" name="Google Shape;3954;p44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3955" name="Google Shape;3955;p44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56" name="Google Shape;3956;p44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57" name="Google Shape;3957;p44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58" name="Google Shape;3958;p44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59" name="Google Shape;3959;p44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0" name="Google Shape;3960;p44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61" name="Google Shape;3961;p44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3962" name="Google Shape;3962;p44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3" name="Google Shape;3963;p44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3964" name="Google Shape;3964;p44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3965" name="Google Shape;3965;p44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66" name="Google Shape;3966;p44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3967" name="Google Shape;3967;p44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68" name="Google Shape;3968;p44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3969" name="Google Shape;3969;p44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0" name="Google Shape;3970;p44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3971" name="Google Shape;3971;p44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3972" name="Google Shape;3972;p44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973" name="Google Shape;3973;p44"/>
          <p:cNvSpPr/>
          <p:nvPr/>
        </p:nvSpPr>
        <p:spPr>
          <a:xfrm>
            <a:off x="6794417" y="3016538"/>
            <a:ext cx="2889702" cy="2634390"/>
          </a:xfrm>
          <a:custGeom>
            <a:rect b="b" l="l" r="r" t="t"/>
            <a:pathLst>
              <a:path extrusionOk="0" h="2634390" w="2889702">
                <a:moveTo>
                  <a:pt x="10817" y="896701"/>
                </a:moveTo>
                <a:cubicBezTo>
                  <a:pt x="1751126" y="516521"/>
                  <a:pt x="1777345" y="533564"/>
                  <a:pt x="2869381" y="0"/>
                </a:cubicBezTo>
                <a:cubicBezTo>
                  <a:pt x="2869381" y="783303"/>
                  <a:pt x="2889702" y="1851087"/>
                  <a:pt x="2889702" y="2634390"/>
                </a:cubicBezTo>
                <a:cubicBezTo>
                  <a:pt x="2630785" y="598784"/>
                  <a:pt x="2043143" y="642374"/>
                  <a:pt x="0" y="1094330"/>
                </a:cubicBezTo>
                <a:lnTo>
                  <a:pt x="10817" y="8967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4" name="Google Shape;3974;p44"/>
          <p:cNvGrpSpPr/>
          <p:nvPr/>
        </p:nvGrpSpPr>
        <p:grpSpPr>
          <a:xfrm>
            <a:off x="9654637" y="3018176"/>
            <a:ext cx="1131350" cy="2675039"/>
            <a:chOff x="9762792" y="4031226"/>
            <a:chExt cx="1131350" cy="2675039"/>
          </a:xfrm>
        </p:grpSpPr>
        <p:sp>
          <p:nvSpPr>
            <p:cNvPr id="3975" name="Google Shape;3975;p44"/>
            <p:cNvSpPr/>
            <p:nvPr/>
          </p:nvSpPr>
          <p:spPr>
            <a:xfrm>
              <a:off x="9792929" y="4031226"/>
              <a:ext cx="1101213" cy="238923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6" name="Google Shape;3976;p44"/>
            <p:cNvGrpSpPr/>
            <p:nvPr/>
          </p:nvGrpSpPr>
          <p:grpSpPr>
            <a:xfrm>
              <a:off x="9762792" y="4038868"/>
              <a:ext cx="1130292" cy="2667397"/>
              <a:chOff x="9472118" y="702026"/>
              <a:chExt cx="1130292" cy="2667397"/>
            </a:xfrm>
          </p:grpSpPr>
          <p:sp>
            <p:nvSpPr>
              <p:cNvPr id="3977" name="Google Shape;3977;p44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8" name="Google Shape;3978;p44"/>
              <p:cNvSpPr txBox="1"/>
              <p:nvPr/>
            </p:nvSpPr>
            <p:spPr>
              <a:xfrm>
                <a:off x="9472118" y="702026"/>
                <a:ext cx="1117197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e: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979" name="Google Shape;3979;p44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980" name="Google Shape;3980;p44"/>
              <p:cNvSpPr/>
              <p:nvPr/>
            </p:nvSpPr>
            <p:spPr>
              <a:xfrm>
                <a:off x="9479666" y="706055"/>
                <a:ext cx="1122744" cy="261911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81" name="Google Shape;3981;p44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6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7" name="Google Shape;3987;p45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3988" name="Google Shape;3988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89" name="Google Shape;3989;p45"/>
          <p:cNvCxnSpPr>
            <a:stCxn id="3990" idx="2"/>
            <a:endCxn id="3990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991" name="Google Shape;3991;p45"/>
          <p:cNvCxnSpPr>
            <a:stCxn id="3990" idx="1"/>
            <a:endCxn id="3990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0" name="Google Shape;3990;p45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2" name="Google Shape;3992;p45"/>
          <p:cNvSpPr/>
          <p:nvPr/>
        </p:nvSpPr>
        <p:spPr>
          <a:xfrm>
            <a:off x="8380337" y="222079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93" name="Google Shape;3993;p45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3994" name="Google Shape;3994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3995" name="Google Shape;399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3996" name="Google Shape;399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3997" name="Google Shape;399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998" name="Google Shape;399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3999" name="Google Shape;399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0" name="Google Shape;400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01" name="Google Shape;4001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02" name="Google Shape;400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3" name="Google Shape;4003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04" name="Google Shape;4004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05" name="Google Shape;400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06" name="Google Shape;400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07" name="Google Shape;400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08" name="Google Shape;400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09" name="Google Shape;400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0" name="Google Shape;401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11" name="Google Shape;4011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12" name="Google Shape;401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13" name="Google Shape;4013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14" name="Google Shape;4014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15" name="Google Shape;4015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16" name="Google Shape;4016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17" name="Google Shape;4017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18" name="Google Shape;4018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19" name="Google Shape;4019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0" name="Google Shape;4020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21" name="Google Shape;4021;p45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022" name="Google Shape;4022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3" name="Google Shape;4023;p45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024" name="Google Shape;4024;p45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5" name="Google Shape;4025;p45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026" name="Google Shape;4026;p45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027" name="Google Shape;4027;p45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028" name="Google Shape;4028;p45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029" name="Google Shape;4029;p45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030" name="Google Shape;4030;p45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031" name="Google Shape;4031;p45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032" name="Google Shape;4032;p45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3" name="Google Shape;4033;p45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4" name="Google Shape;4034;p45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5" name="Google Shape;4035;p45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6" name="Google Shape;4036;p45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7" name="Google Shape;4037;p45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8" name="Google Shape;4038;p45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39" name="Google Shape;4039;p45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0" name="Google Shape;4040;p45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1" name="Google Shape;4041;p45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2" name="Google Shape;4042;p45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043" name="Google Shape;4043;p45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044" name="Google Shape;4044;p45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045" name="Google Shape;4045;p45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46" name="Google Shape;4046;p45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47" name="Google Shape;4047;p45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048" name="Google Shape;4048;p45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049" name="Google Shape;4049;p45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050" name="Google Shape;4050;p45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51" name="Google Shape;4051;p45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052" name="Google Shape;4052;p45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45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054" name="Google Shape;4054;p45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055" name="Google Shape;4055;p45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6" name="Google Shape;4056;p45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7" name="Google Shape;4057;p45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058" name="Google Shape;4058;p45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receives DVs from b computes:</a:t>
            </a:r>
            <a:endParaRPr/>
          </a:p>
        </p:txBody>
      </p:sp>
      <p:grpSp>
        <p:nvGrpSpPr>
          <p:cNvPr id="4059" name="Google Shape;4059;p45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060" name="Google Shape;4060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61" name="Google Shape;406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62" name="Google Shape;406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63" name="Google Shape;406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64" name="Google Shape;406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65" name="Google Shape;406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6" name="Google Shape;406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67" name="Google Shape;4067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68" name="Google Shape;406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69" name="Google Shape;4069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70" name="Google Shape;4070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071" name="Google Shape;407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72" name="Google Shape;407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73" name="Google Shape;407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74" name="Google Shape;407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75" name="Google Shape;407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6" name="Google Shape;407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7" name="Google Shape;4077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078" name="Google Shape;407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9" name="Google Shape;4079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080" name="Google Shape;4080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081" name="Google Shape;4081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82" name="Google Shape;4082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83" name="Google Shape;4083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84" name="Google Shape;4084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85" name="Google Shape;4085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6" name="Google Shape;4086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87" name="Google Shape;4087;p45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088" name="Google Shape;4088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9" name="Google Shape;4089;p45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090" name="Google Shape;4090;p45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091" name="Google Shape;4091;p45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092" name="Google Shape;409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093" name="Google Shape;409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094" name="Google Shape;409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095" name="Google Shape;409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096" name="Google Shape;409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7" name="Google Shape;409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98" name="Google Shape;4098;p45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099" name="Google Shape;409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0" name="Google Shape;4100;p45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01" name="Google Shape;4101;p45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102" name="Google Shape;410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03" name="Google Shape;410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04" name="Google Shape;410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05" name="Google Shape;410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06" name="Google Shape;410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07" name="Google Shape;410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08" name="Google Shape;4108;p45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109" name="Google Shape;410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0" name="Google Shape;4110;p45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111" name="Google Shape;4111;p45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112" name="Google Shape;4112;p45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113" name="Google Shape;4113;p45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114" name="Google Shape;4114;p45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115" name="Google Shape;4115;p45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116" name="Google Shape;4116;p45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17" name="Google Shape;4117;p45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18" name="Google Shape;4118;p45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119" name="Google Shape;4119;p45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20" name="Google Shape;4120;p45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4121" name="Google Shape;4121;p45"/>
          <p:cNvGrpSpPr/>
          <p:nvPr/>
        </p:nvGrpSpPr>
        <p:grpSpPr>
          <a:xfrm>
            <a:off x="8740877" y="219997"/>
            <a:ext cx="2045109" cy="2667397"/>
            <a:chOff x="8740877" y="219997"/>
            <a:chExt cx="2045109" cy="2667397"/>
          </a:xfrm>
        </p:grpSpPr>
        <p:sp>
          <p:nvSpPr>
            <p:cNvPr id="4122" name="Google Shape;4122;p45"/>
            <p:cNvSpPr/>
            <p:nvPr/>
          </p:nvSpPr>
          <p:spPr>
            <a:xfrm>
              <a:off x="8740877" y="247036"/>
              <a:ext cx="924232" cy="2428567"/>
            </a:xfrm>
            <a:custGeom>
              <a:rect b="b" l="l" r="r" t="t"/>
              <a:pathLst>
                <a:path extrusionOk="0" h="2428567" w="1170039">
                  <a:moveTo>
                    <a:pt x="1" y="1809135"/>
                  </a:moveTo>
                  <a:cubicBezTo>
                    <a:pt x="353962" y="1681316"/>
                    <a:pt x="875071" y="865238"/>
                    <a:pt x="1160207" y="0"/>
                  </a:cubicBezTo>
                  <a:cubicBezTo>
                    <a:pt x="1163484" y="809522"/>
                    <a:pt x="1166762" y="1619045"/>
                    <a:pt x="1170039" y="2428567"/>
                  </a:cubicBezTo>
                  <a:cubicBezTo>
                    <a:pt x="819356" y="2058219"/>
                    <a:pt x="714478" y="2090992"/>
                    <a:pt x="0" y="1946786"/>
                  </a:cubicBezTo>
                  <a:cubicBezTo>
                    <a:pt x="0" y="1900902"/>
                    <a:pt x="1" y="1855019"/>
                    <a:pt x="1" y="180913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3" name="Google Shape;4123;p45"/>
            <p:cNvGrpSpPr/>
            <p:nvPr/>
          </p:nvGrpSpPr>
          <p:grpSpPr>
            <a:xfrm>
              <a:off x="9636528" y="219997"/>
              <a:ext cx="1149458" cy="2667397"/>
              <a:chOff x="9764348" y="1447800"/>
              <a:chExt cx="1149458" cy="2667397"/>
            </a:xfrm>
          </p:grpSpPr>
          <p:sp>
            <p:nvSpPr>
              <p:cNvPr id="4124" name="Google Shape;4124;p45"/>
              <p:cNvSpPr/>
              <p:nvPr/>
            </p:nvSpPr>
            <p:spPr>
              <a:xfrm>
                <a:off x="9783097" y="1447800"/>
                <a:ext cx="1130709" cy="24261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25" name="Google Shape;4125;p45"/>
              <p:cNvGrpSpPr/>
              <p:nvPr/>
            </p:nvGrpSpPr>
            <p:grpSpPr>
              <a:xfrm>
                <a:off x="9764348" y="1447800"/>
                <a:ext cx="1130291" cy="2667397"/>
                <a:chOff x="9472119" y="702026"/>
                <a:chExt cx="1130291" cy="2667397"/>
              </a:xfrm>
            </p:grpSpPr>
            <p:sp>
              <p:nvSpPr>
                <p:cNvPr id="4126" name="Google Shape;4126;p45"/>
                <p:cNvSpPr/>
                <p:nvPr/>
              </p:nvSpPr>
              <p:spPr>
                <a:xfrm>
                  <a:off x="9485428" y="706056"/>
                  <a:ext cx="1116982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7" name="Google Shape;4127;p45"/>
                <p:cNvSpPr txBox="1"/>
                <p:nvPr/>
              </p:nvSpPr>
              <p:spPr>
                <a:xfrm>
                  <a:off x="9472119" y="702026"/>
                  <a:ext cx="1088020" cy="26673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c:</a:t>
                  </a:r>
                  <a:endParaRPr/>
                </a:p>
                <a:p>
                  <a:pPr indent="0" lvl="1" marL="114300" marR="0" rtl="0" algn="l">
                    <a:spcBef>
                      <a:spcPts val="40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∞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(b) = 1</a:t>
                  </a:r>
                  <a:endParaRPr/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0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11430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128" name="Google Shape;4128;p45"/>
                <p:cNvCxnSpPr/>
                <p:nvPr/>
              </p:nvCxnSpPr>
              <p:spPr>
                <a:xfrm>
                  <a:off x="9477371" y="107644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129" name="Google Shape;4129;p45"/>
                <p:cNvSpPr/>
                <p:nvPr/>
              </p:nvSpPr>
              <p:spPr>
                <a:xfrm>
                  <a:off x="9479666" y="706055"/>
                  <a:ext cx="1122744" cy="2620773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130" name="Google Shape;4130;p45"/>
          <p:cNvSpPr/>
          <p:nvPr/>
        </p:nvSpPr>
        <p:spPr>
          <a:xfrm>
            <a:off x="6977380" y="1927827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1" name="Google Shape;4131;p45"/>
          <p:cNvSpPr/>
          <p:nvPr/>
        </p:nvSpPr>
        <p:spPr>
          <a:xfrm>
            <a:off x="3281678" y="1747520"/>
            <a:ext cx="5923281" cy="4988560"/>
          </a:xfrm>
          <a:custGeom>
            <a:rect b="b" l="l" r="r" t="t"/>
            <a:pathLst>
              <a:path extrusionOk="0" h="4988560" w="5760999">
                <a:moveTo>
                  <a:pt x="2524413" y="30480"/>
                </a:moveTo>
                <a:lnTo>
                  <a:pt x="2829213" y="568960"/>
                </a:lnTo>
                <a:lnTo>
                  <a:pt x="3570336" y="782320"/>
                </a:lnTo>
                <a:lnTo>
                  <a:pt x="5730519" y="1950720"/>
                </a:lnTo>
                <a:lnTo>
                  <a:pt x="5760999" y="4988560"/>
                </a:lnTo>
                <a:lnTo>
                  <a:pt x="0" y="4978400"/>
                </a:lnTo>
                <a:lnTo>
                  <a:pt x="138344" y="20320"/>
                </a:lnTo>
                <a:lnTo>
                  <a:pt x="936947" y="0"/>
                </a:lnTo>
                <a:lnTo>
                  <a:pt x="2524413" y="3048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2" name="Google Shape;4132;p45"/>
          <p:cNvSpPr/>
          <p:nvPr/>
        </p:nvSpPr>
        <p:spPr>
          <a:xfrm>
            <a:off x="3068320" y="3810000"/>
            <a:ext cx="3535680" cy="271272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3" name="Google Shape;4133;p45"/>
          <p:cNvSpPr txBox="1"/>
          <p:nvPr/>
        </p:nvSpPr>
        <p:spPr>
          <a:xfrm>
            <a:off x="3180080" y="388949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(a}} = 1 + 8 = 9 </a:t>
            </a:r>
            <a:endParaRPr/>
          </a:p>
        </p:txBody>
      </p:sp>
      <p:sp>
        <p:nvSpPr>
          <p:cNvPr id="4134" name="Google Shape;4134;p45"/>
          <p:cNvSpPr txBox="1"/>
          <p:nvPr/>
        </p:nvSpPr>
        <p:spPr>
          <a:xfrm>
            <a:off x="3180080" y="4214614"/>
            <a:ext cx="3352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(b)} = 1 + 0 = 1</a:t>
            </a:r>
            <a:endParaRPr/>
          </a:p>
        </p:txBody>
      </p:sp>
      <p:sp>
        <p:nvSpPr>
          <p:cNvPr id="4135" name="Google Shape;4135;p45"/>
          <p:cNvSpPr txBox="1"/>
          <p:nvPr/>
        </p:nvSpPr>
        <p:spPr>
          <a:xfrm>
            <a:off x="3169920" y="4539734"/>
            <a:ext cx="34442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6" name="Google Shape;4136;p45"/>
          <p:cNvSpPr txBox="1"/>
          <p:nvPr/>
        </p:nvSpPr>
        <p:spPr>
          <a:xfrm>
            <a:off x="3180080" y="4844534"/>
            <a:ext cx="32715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(e)} = 1 + 1 = 2</a:t>
            </a:r>
            <a:endParaRPr/>
          </a:p>
        </p:txBody>
      </p:sp>
      <p:sp>
        <p:nvSpPr>
          <p:cNvPr id="4137" name="Google Shape;4137;p45"/>
          <p:cNvSpPr txBox="1"/>
          <p:nvPr/>
        </p:nvSpPr>
        <p:spPr>
          <a:xfrm>
            <a:off x="3169920" y="5169654"/>
            <a:ext cx="336296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8" name="Google Shape;4138;p45"/>
          <p:cNvSpPr txBox="1"/>
          <p:nvPr/>
        </p:nvSpPr>
        <p:spPr>
          <a:xfrm>
            <a:off x="3180080" y="5484614"/>
            <a:ext cx="32207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9" name="Google Shape;4139;p45"/>
          <p:cNvSpPr txBox="1"/>
          <p:nvPr/>
        </p:nvSpPr>
        <p:spPr>
          <a:xfrm>
            <a:off x="3180080" y="6112748"/>
            <a:ext cx="337312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0" name="Google Shape;4140;p45"/>
          <p:cNvSpPr txBox="1"/>
          <p:nvPr/>
        </p:nvSpPr>
        <p:spPr>
          <a:xfrm>
            <a:off x="3169920" y="5807948"/>
            <a:ext cx="33832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 = min{c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bc,b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(h)} = 1+ ∞ = ∞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1" name="Google Shape;4141;p45"/>
          <p:cNvSpPr/>
          <p:nvPr/>
        </p:nvSpPr>
        <p:spPr>
          <a:xfrm rot="-5400000">
            <a:off x="6704347" y="5410623"/>
            <a:ext cx="339615" cy="560629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BBD6EE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42" name="Google Shape;4142;p45"/>
          <p:cNvGrpSpPr/>
          <p:nvPr/>
        </p:nvGrpSpPr>
        <p:grpSpPr>
          <a:xfrm>
            <a:off x="7147328" y="3969037"/>
            <a:ext cx="1149458" cy="2667397"/>
            <a:chOff x="9764348" y="1447800"/>
            <a:chExt cx="1149458" cy="2667397"/>
          </a:xfrm>
        </p:grpSpPr>
        <p:sp>
          <p:nvSpPr>
            <p:cNvPr id="4143" name="Google Shape;4143;p45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44" name="Google Shape;4144;p45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145" name="Google Shape;4145;p45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6" name="Google Shape;4146;p45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c: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9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2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7" name="Google Shape;4147;p45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48" name="Google Shape;4148;p45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49" name="Google Shape;4149;p45"/>
          <p:cNvSpPr/>
          <p:nvPr/>
        </p:nvSpPr>
        <p:spPr>
          <a:xfrm>
            <a:off x="3068320" y="2194560"/>
            <a:ext cx="5598160" cy="1625600"/>
          </a:xfrm>
          <a:custGeom>
            <a:rect b="b" l="l" r="r" t="t"/>
            <a:pathLst>
              <a:path extrusionOk="0" h="1625600" w="5598160">
                <a:moveTo>
                  <a:pt x="5120640" y="0"/>
                </a:moveTo>
                <a:cubicBezTo>
                  <a:pt x="3495040" y="812800"/>
                  <a:pt x="2540000" y="1127760"/>
                  <a:pt x="0" y="1615440"/>
                </a:cubicBezTo>
                <a:lnTo>
                  <a:pt x="3535680" y="1625600"/>
                </a:lnTo>
                <a:cubicBezTo>
                  <a:pt x="4087707" y="988907"/>
                  <a:pt x="4243493" y="890693"/>
                  <a:pt x="5598160" y="50800"/>
                </a:cubicBezTo>
                <a:cubicBezTo>
                  <a:pt x="5317067" y="98213"/>
                  <a:pt x="5259493" y="115147"/>
                  <a:pt x="5120640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DDEAF6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0" name="Google Shape;4150;p45"/>
          <p:cNvGrpSpPr/>
          <p:nvPr/>
        </p:nvGrpSpPr>
        <p:grpSpPr>
          <a:xfrm>
            <a:off x="7868428" y="1698029"/>
            <a:ext cx="1196054" cy="1022555"/>
            <a:chOff x="9655277" y="2349909"/>
            <a:chExt cx="1196054" cy="1022555"/>
          </a:xfrm>
        </p:grpSpPr>
        <p:sp>
          <p:nvSpPr>
            <p:cNvPr id="4151" name="Google Shape;4151;p45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5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  <p:sp>
        <p:nvSpPr>
          <p:cNvPr id="4153" name="Google Shape;4153;p45"/>
          <p:cNvSpPr txBox="1"/>
          <p:nvPr/>
        </p:nvSpPr>
        <p:spPr>
          <a:xfrm>
            <a:off x="8542751" y="5433536"/>
            <a:ext cx="3544284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8" name="Shape 4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9" name="Google Shape;4159;p46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 example: computation</a:t>
            </a:r>
            <a:endParaRPr/>
          </a:p>
        </p:txBody>
      </p:sp>
      <p:sp>
        <p:nvSpPr>
          <p:cNvPr id="4160" name="Google Shape;4160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61" name="Google Shape;4161;p46"/>
          <p:cNvCxnSpPr>
            <a:stCxn id="4162" idx="2"/>
            <a:endCxn id="4162" idx="0"/>
          </p:cNvCxnSpPr>
          <p:nvPr/>
        </p:nvCxnSpPr>
        <p:spPr>
          <a:xfrm rot="10800000">
            <a:off x="6530326" y="2129131"/>
            <a:ext cx="0" cy="3863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63" name="Google Shape;4163;p46"/>
          <p:cNvCxnSpPr>
            <a:stCxn id="4162" idx="1"/>
            <a:endCxn id="4162" idx="3"/>
          </p:cNvCxnSpPr>
          <p:nvPr/>
        </p:nvCxnSpPr>
        <p:spPr>
          <a:xfrm>
            <a:off x="4598770" y="4060676"/>
            <a:ext cx="38631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2" name="Google Shape;4162;p46"/>
          <p:cNvSpPr/>
          <p:nvPr/>
        </p:nvSpPr>
        <p:spPr>
          <a:xfrm>
            <a:off x="4598770" y="2129120"/>
            <a:ext cx="3863111" cy="38631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4" name="Google Shape;4164;p46"/>
          <p:cNvSpPr/>
          <p:nvPr/>
        </p:nvSpPr>
        <p:spPr>
          <a:xfrm>
            <a:off x="8380337" y="2200470"/>
            <a:ext cx="132508" cy="18551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5" name="Google Shape;4165;p46"/>
          <p:cNvSpPr txBox="1"/>
          <p:nvPr/>
        </p:nvSpPr>
        <p:spPr>
          <a:xfrm>
            <a:off x="4305782" y="2870522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6" name="Google Shape;4166;p46"/>
          <p:cNvSpPr txBox="1"/>
          <p:nvPr/>
        </p:nvSpPr>
        <p:spPr>
          <a:xfrm>
            <a:off x="6217534" y="2860877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7" name="Google Shape;4167;p46"/>
          <p:cNvSpPr txBox="1"/>
          <p:nvPr/>
        </p:nvSpPr>
        <p:spPr>
          <a:xfrm>
            <a:off x="4296138" y="488644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8" name="Google Shape;4168;p46"/>
          <p:cNvSpPr txBox="1"/>
          <p:nvPr/>
        </p:nvSpPr>
        <p:spPr>
          <a:xfrm>
            <a:off x="6231040" y="488837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69" name="Google Shape;4169;p46"/>
          <p:cNvSpPr txBox="1"/>
          <p:nvPr/>
        </p:nvSpPr>
        <p:spPr>
          <a:xfrm>
            <a:off x="8154365" y="4890306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0" name="Google Shape;4170;p46"/>
          <p:cNvSpPr txBox="1"/>
          <p:nvPr/>
        </p:nvSpPr>
        <p:spPr>
          <a:xfrm>
            <a:off x="5442030" y="4029920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1" name="Google Shape;4171;p46"/>
          <p:cNvSpPr txBox="1"/>
          <p:nvPr/>
        </p:nvSpPr>
        <p:spPr>
          <a:xfrm>
            <a:off x="7353782" y="4020275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2" name="Google Shape;4172;p46"/>
          <p:cNvSpPr txBox="1"/>
          <p:nvPr/>
        </p:nvSpPr>
        <p:spPr>
          <a:xfrm>
            <a:off x="5443958" y="5953247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3" name="Google Shape;4173;p46"/>
          <p:cNvSpPr txBox="1"/>
          <p:nvPr/>
        </p:nvSpPr>
        <p:spPr>
          <a:xfrm>
            <a:off x="7355710" y="5943602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74" name="Google Shape;4174;p46"/>
          <p:cNvSpPr txBox="1"/>
          <p:nvPr/>
        </p:nvSpPr>
        <p:spPr>
          <a:xfrm>
            <a:off x="5445886" y="2123956"/>
            <a:ext cx="3016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75" name="Google Shape;4175;p46"/>
          <p:cNvSpPr txBox="1"/>
          <p:nvPr/>
        </p:nvSpPr>
        <p:spPr>
          <a:xfrm>
            <a:off x="7357638" y="2114311"/>
            <a:ext cx="28886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grpSp>
        <p:nvGrpSpPr>
          <p:cNvPr id="4176" name="Google Shape;4176;p46"/>
          <p:cNvGrpSpPr/>
          <p:nvPr/>
        </p:nvGrpSpPr>
        <p:grpSpPr>
          <a:xfrm>
            <a:off x="584365" y="1859143"/>
            <a:ext cx="736099" cy="1229581"/>
            <a:chOff x="10030307" y="3444875"/>
            <a:chExt cx="736099" cy="1229581"/>
          </a:xfrm>
        </p:grpSpPr>
        <p:sp>
          <p:nvSpPr>
            <p:cNvPr id="4177" name="Google Shape;4177;p46"/>
            <p:cNvSpPr txBox="1"/>
            <p:nvPr/>
          </p:nvSpPr>
          <p:spPr>
            <a:xfrm>
              <a:off x="10030307" y="4089681"/>
              <a:ext cx="73609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t=1</a:t>
              </a:r>
              <a:endParaRPr/>
            </a:p>
          </p:txBody>
        </p:sp>
        <p:grpSp>
          <p:nvGrpSpPr>
            <p:cNvPr id="4178" name="Google Shape;4178;p46"/>
            <p:cNvGrpSpPr/>
            <p:nvPr/>
          </p:nvGrpSpPr>
          <p:grpSpPr>
            <a:xfrm>
              <a:off x="10034588" y="3444875"/>
              <a:ext cx="682627" cy="682625"/>
              <a:chOff x="10034589" y="3444875"/>
              <a:chExt cx="682627" cy="682625"/>
            </a:xfrm>
          </p:grpSpPr>
          <p:sp>
            <p:nvSpPr>
              <p:cNvPr id="4179" name="Google Shape;4179;p46"/>
              <p:cNvSpPr/>
              <p:nvPr/>
            </p:nvSpPr>
            <p:spPr>
              <a:xfrm>
                <a:off x="10039551" y="3449256"/>
                <a:ext cx="671332" cy="671332"/>
              </a:xfrm>
              <a:prstGeom prst="ellipse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80" name="Google Shape;4180;p46"/>
              <p:cNvCxnSpPr/>
              <p:nvPr/>
            </p:nvCxnSpPr>
            <p:spPr>
              <a:xfrm>
                <a:off x="10372725" y="34448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1" name="Google Shape;4181;p46"/>
              <p:cNvCxnSpPr/>
              <p:nvPr/>
            </p:nvCxnSpPr>
            <p:spPr>
              <a:xfrm>
                <a:off x="10372725" y="406717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2" name="Google Shape;4182;p46"/>
              <p:cNvCxnSpPr/>
              <p:nvPr/>
            </p:nvCxnSpPr>
            <p:spPr>
              <a:xfrm rot="10800000">
                <a:off x="10064751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3" name="Google Shape;4183;p46"/>
              <p:cNvCxnSpPr/>
              <p:nvPr/>
            </p:nvCxnSpPr>
            <p:spPr>
              <a:xfrm rot="10800000">
                <a:off x="10687053" y="3756025"/>
                <a:ext cx="0" cy="6032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4" name="Google Shape;4184;p46"/>
              <p:cNvCxnSpPr/>
              <p:nvPr/>
            </p:nvCxnSpPr>
            <p:spPr>
              <a:xfrm>
                <a:off x="10523542" y="40370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5" name="Google Shape;4185;p46"/>
              <p:cNvCxnSpPr/>
              <p:nvPr/>
            </p:nvCxnSpPr>
            <p:spPr>
              <a:xfrm>
                <a:off x="10202867" y="3490913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6" name="Google Shape;4186;p46"/>
              <p:cNvCxnSpPr/>
              <p:nvPr/>
            </p:nvCxnSpPr>
            <p:spPr>
              <a:xfrm flipH="1">
                <a:off x="10196517" y="40338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7" name="Google Shape;4187;p46"/>
              <p:cNvCxnSpPr/>
              <p:nvPr/>
            </p:nvCxnSpPr>
            <p:spPr>
              <a:xfrm flipH="1">
                <a:off x="10517192" y="3487738"/>
                <a:ext cx="26983" cy="42862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8" name="Google Shape;4188;p46"/>
              <p:cNvCxnSpPr/>
              <p:nvPr/>
            </p:nvCxnSpPr>
            <p:spPr>
              <a:xfrm flipH="1">
                <a:off x="10631493" y="36115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89" name="Google Shape;4189;p46"/>
              <p:cNvCxnSpPr/>
              <p:nvPr/>
            </p:nvCxnSpPr>
            <p:spPr>
              <a:xfrm flipH="1">
                <a:off x="10085393" y="3929065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0" name="Google Shape;4190;p46"/>
              <p:cNvCxnSpPr/>
              <p:nvPr/>
            </p:nvCxnSpPr>
            <p:spPr>
              <a:xfrm rot="10800000">
                <a:off x="10094918" y="36147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4191" name="Google Shape;4191;p46"/>
              <p:cNvCxnSpPr/>
              <p:nvPr/>
            </p:nvCxnSpPr>
            <p:spPr>
              <a:xfrm rot="10800000">
                <a:off x="10631493" y="3932240"/>
                <a:ext cx="36507" cy="26985"/>
              </a:xfrm>
              <a:prstGeom prst="straightConnector1">
                <a:avLst/>
              </a:prstGeom>
              <a:noFill/>
              <a:ln cap="rnd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192" name="Google Shape;4192;p46"/>
              <p:cNvSpPr/>
              <p:nvPr/>
            </p:nvSpPr>
            <p:spPr>
              <a:xfrm>
                <a:off x="10331450" y="3743325"/>
                <a:ext cx="82550" cy="87136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4193" name="Google Shape;4193;p46"/>
          <p:cNvCxnSpPr/>
          <p:nvPr/>
        </p:nvCxnSpPr>
        <p:spPr>
          <a:xfrm>
            <a:off x="919556" y="1995948"/>
            <a:ext cx="0" cy="196031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94" name="Google Shape;4194;p46"/>
          <p:cNvSpPr/>
          <p:nvPr/>
        </p:nvSpPr>
        <p:spPr>
          <a:xfrm>
            <a:off x="6626942" y="275303"/>
            <a:ext cx="3038168" cy="6292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95" name="Google Shape;4195;p46"/>
          <p:cNvGrpSpPr/>
          <p:nvPr/>
        </p:nvGrpSpPr>
        <p:grpSpPr>
          <a:xfrm>
            <a:off x="6656438" y="235974"/>
            <a:ext cx="2493133" cy="1917291"/>
            <a:chOff x="7010400" y="108155"/>
            <a:chExt cx="2493133" cy="1917291"/>
          </a:xfrm>
        </p:grpSpPr>
        <p:sp>
          <p:nvSpPr>
            <p:cNvPr id="4196" name="Google Shape;4196;p46"/>
            <p:cNvSpPr/>
            <p:nvPr/>
          </p:nvSpPr>
          <p:spPr>
            <a:xfrm>
              <a:off x="7010400" y="176982"/>
              <a:ext cx="2340077" cy="1848464"/>
            </a:xfrm>
            <a:custGeom>
              <a:rect b="b" l="l" r="r" t="t"/>
              <a:pathLst>
                <a:path extrusionOk="0" h="1848464" w="2340077">
                  <a:moveTo>
                    <a:pt x="0" y="1691148"/>
                  </a:moveTo>
                  <a:cubicBezTo>
                    <a:pt x="167148" y="1304412"/>
                    <a:pt x="285136" y="770193"/>
                    <a:pt x="383458" y="0"/>
                  </a:cubicBezTo>
                  <a:lnTo>
                    <a:pt x="2340077" y="1386348"/>
                  </a:lnTo>
                  <a:cubicBezTo>
                    <a:pt x="871794" y="1579716"/>
                    <a:pt x="740695" y="1645264"/>
                    <a:pt x="137651" y="1848464"/>
                  </a:cubicBezTo>
                  <a:lnTo>
                    <a:pt x="0" y="1691148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7" name="Google Shape;4197;p46"/>
            <p:cNvGrpSpPr/>
            <p:nvPr/>
          </p:nvGrpSpPr>
          <p:grpSpPr>
            <a:xfrm>
              <a:off x="7323884" y="108155"/>
              <a:ext cx="2179649" cy="1445342"/>
              <a:chOff x="7323884" y="108155"/>
              <a:chExt cx="2179649" cy="1445342"/>
            </a:xfrm>
          </p:grpSpPr>
          <p:sp>
            <p:nvSpPr>
              <p:cNvPr id="4198" name="Google Shape;4198;p46"/>
              <p:cNvSpPr/>
              <p:nvPr/>
            </p:nvSpPr>
            <p:spPr>
              <a:xfrm>
                <a:off x="7413523" y="108155"/>
                <a:ext cx="1936954" cy="143551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99" name="Google Shape;4199;p46"/>
              <p:cNvGrpSpPr/>
              <p:nvPr/>
            </p:nvGrpSpPr>
            <p:grpSpPr>
              <a:xfrm>
                <a:off x="7323884" y="120836"/>
                <a:ext cx="2179649" cy="1432661"/>
                <a:chOff x="7323884" y="120836"/>
                <a:chExt cx="2179649" cy="1432661"/>
              </a:xfrm>
            </p:grpSpPr>
            <p:sp>
              <p:nvSpPr>
                <p:cNvPr id="4200" name="Google Shape;4200;p46"/>
                <p:cNvSpPr/>
                <p:nvPr/>
              </p:nvSpPr>
              <p:spPr>
                <a:xfrm>
                  <a:off x="7409951" y="124866"/>
                  <a:ext cx="1940525" cy="370390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12700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1" name="Google Shape;4201;p46"/>
                <p:cNvSpPr txBox="1"/>
                <p:nvPr/>
              </p:nvSpPr>
              <p:spPr>
                <a:xfrm>
                  <a:off x="7799764" y="120836"/>
                  <a:ext cx="111719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DV in b:</a:t>
                  </a:r>
                  <a:endParaRPr/>
                </a:p>
              </p:txBody>
            </p:sp>
            <p:cxnSp>
              <p:nvCxnSpPr>
                <p:cNvPr id="4202" name="Google Shape;4202;p46"/>
                <p:cNvCxnSpPr/>
                <p:nvPr/>
              </p:nvCxnSpPr>
              <p:spPr>
                <a:xfrm>
                  <a:off x="7401895" y="495254"/>
                  <a:ext cx="1123866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203" name="Google Shape;4203;p46"/>
                <p:cNvSpPr/>
                <p:nvPr/>
              </p:nvSpPr>
              <p:spPr>
                <a:xfrm>
                  <a:off x="7404189" y="124866"/>
                  <a:ext cx="1936455" cy="1428631"/>
                </a:xfrm>
                <a:prstGeom prst="rect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4" name="Google Shape;4204;p46"/>
                <p:cNvSpPr txBox="1"/>
                <p:nvPr/>
              </p:nvSpPr>
              <p:spPr>
                <a:xfrm>
                  <a:off x="8392488" y="560500"/>
                  <a:ext cx="1111045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(f)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(g)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(h) = ∞</a:t>
                  </a:r>
                  <a:endParaRPr/>
                </a:p>
                <a:p>
                  <a:pPr indent="0" lvl="0" marL="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aseline="-25000"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(i) = ∞</a:t>
                  </a:r>
                  <a:endParaRPr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5" name="Google Shape;4205;p46"/>
                <p:cNvSpPr txBox="1"/>
                <p:nvPr/>
              </p:nvSpPr>
              <p:spPr>
                <a:xfrm>
                  <a:off x="7323884" y="557387"/>
                  <a:ext cx="1117197" cy="97872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(a) = 8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(c)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(d) = ∞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1" marL="114300" marR="0" rtl="0" algn="l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r>
                    <a:rPr b="0" baseline="-2500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r>
                    <a:rPr b="0" i="0" lang="en-US" sz="16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(e) = 1</a:t>
                  </a:r>
                  <a:endParaRPr b="0" i="0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206" name="Google Shape;4206;p46"/>
          <p:cNvSpPr txBox="1"/>
          <p:nvPr/>
        </p:nvSpPr>
        <p:spPr>
          <a:xfrm flipH="1">
            <a:off x="348626" y="3078991"/>
            <a:ext cx="2195814" cy="590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receives DVs from b, d, f, h</a:t>
            </a:r>
            <a:endParaRPr/>
          </a:p>
        </p:txBody>
      </p:sp>
      <p:grpSp>
        <p:nvGrpSpPr>
          <p:cNvPr id="4207" name="Google Shape;4207;p46"/>
          <p:cNvGrpSpPr/>
          <p:nvPr/>
        </p:nvGrpSpPr>
        <p:grpSpPr>
          <a:xfrm>
            <a:off x="4333785" y="1906063"/>
            <a:ext cx="4395351" cy="404576"/>
            <a:chOff x="4333785" y="5772213"/>
            <a:chExt cx="4395351" cy="404576"/>
          </a:xfrm>
        </p:grpSpPr>
        <p:grpSp>
          <p:nvGrpSpPr>
            <p:cNvPr id="4208" name="Google Shape;4208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09" name="Google Shape;420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10" name="Google Shape;421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11" name="Google Shape;421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12" name="Google Shape;421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13" name="Google Shape;421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4" name="Google Shape;421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15" name="Google Shape;4215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16" name="Google Shape;421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17" name="Google Shape;4217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18" name="Google Shape;4218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19" name="Google Shape;421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20" name="Google Shape;422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21" name="Google Shape;422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22" name="Google Shape;422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23" name="Google Shape;422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4" name="Google Shape;422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25" name="Google Shape;4225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26" name="Google Shape;422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7" name="Google Shape;4227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28" name="Google Shape;4228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29" name="Google Shape;4229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30" name="Google Shape;4230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31" name="Google Shape;4231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32" name="Google Shape;4232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33" name="Google Shape;4233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4" name="Google Shape;4234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35" name="Google Shape;4235;p46"/>
              <p:cNvGrpSpPr/>
              <p:nvPr/>
            </p:nvGrpSpPr>
            <p:grpSpPr>
              <a:xfrm>
                <a:off x="1464216" y="2507397"/>
                <a:ext cx="341085" cy="419100"/>
                <a:chOff x="2949" y="2425"/>
                <a:chExt cx="218" cy="264"/>
              </a:xfrm>
            </p:grpSpPr>
            <p:sp>
              <p:nvSpPr>
                <p:cNvPr id="4236" name="Google Shape;4236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7" name="Google Shape;4237;p46"/>
                <p:cNvSpPr txBox="1"/>
                <p:nvPr/>
              </p:nvSpPr>
              <p:spPr>
                <a:xfrm>
                  <a:off x="2949" y="2425"/>
                  <a:ext cx="218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38" name="Google Shape;4238;p46"/>
          <p:cNvSpPr/>
          <p:nvPr/>
        </p:nvSpPr>
        <p:spPr>
          <a:xfrm>
            <a:off x="6774755" y="1106458"/>
            <a:ext cx="2967758" cy="3014570"/>
          </a:xfrm>
          <a:custGeom>
            <a:rect b="b" l="l" r="r" t="t"/>
            <a:pathLst>
              <a:path extrusionOk="0" h="3014570" w="2967758">
                <a:moveTo>
                  <a:pt x="0" y="2877901"/>
                </a:moveTo>
                <a:cubicBezTo>
                  <a:pt x="1740309" y="2497721"/>
                  <a:pt x="2305008" y="1488604"/>
                  <a:pt x="2919524" y="0"/>
                </a:cubicBezTo>
                <a:cubicBezTo>
                  <a:pt x="2919524" y="783303"/>
                  <a:pt x="2990645" y="1719007"/>
                  <a:pt x="2960165" y="2583590"/>
                </a:cubicBezTo>
                <a:cubicBezTo>
                  <a:pt x="2152608" y="2386944"/>
                  <a:pt x="1676726" y="2623574"/>
                  <a:pt x="50143" y="3014570"/>
                </a:cubicBezTo>
                <a:lnTo>
                  <a:pt x="0" y="2877901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9" name="Google Shape;4239;p46"/>
          <p:cNvSpPr/>
          <p:nvPr/>
        </p:nvSpPr>
        <p:spPr>
          <a:xfrm>
            <a:off x="8446236" y="3874156"/>
            <a:ext cx="1239192" cy="2428567"/>
          </a:xfrm>
          <a:custGeom>
            <a:rect b="b" l="l" r="r" t="t"/>
            <a:pathLst>
              <a:path extrusionOk="0" h="2428567" w="1568765">
                <a:moveTo>
                  <a:pt x="360141" y="224175"/>
                </a:moveTo>
                <a:cubicBezTo>
                  <a:pt x="978394" y="281530"/>
                  <a:pt x="1236509" y="288085"/>
                  <a:pt x="1558933" y="0"/>
                </a:cubicBezTo>
                <a:cubicBezTo>
                  <a:pt x="1562210" y="809522"/>
                  <a:pt x="1565488" y="1619045"/>
                  <a:pt x="1568765" y="2428567"/>
                </a:cubicBezTo>
                <a:cubicBezTo>
                  <a:pt x="1218082" y="2058219"/>
                  <a:pt x="714478" y="485712"/>
                  <a:pt x="0" y="341506"/>
                </a:cubicBezTo>
                <a:cubicBezTo>
                  <a:pt x="0" y="295622"/>
                  <a:pt x="360141" y="270059"/>
                  <a:pt x="360141" y="224175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0" name="Google Shape;4240;p46"/>
          <p:cNvGrpSpPr/>
          <p:nvPr/>
        </p:nvGrpSpPr>
        <p:grpSpPr>
          <a:xfrm>
            <a:off x="9656848" y="3847117"/>
            <a:ext cx="1149458" cy="2667397"/>
            <a:chOff x="9764348" y="1447800"/>
            <a:chExt cx="1149458" cy="2667397"/>
          </a:xfrm>
        </p:grpSpPr>
        <p:sp>
          <p:nvSpPr>
            <p:cNvPr id="4241" name="Google Shape;424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42" name="Google Shape;424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43" name="Google Shape;424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4" name="Google Shape;424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f: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45" name="Google Shape;424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46" name="Google Shape;424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47" name="Google Shape;4247;p46"/>
          <p:cNvGrpSpPr/>
          <p:nvPr/>
        </p:nvGrpSpPr>
        <p:grpSpPr>
          <a:xfrm>
            <a:off x="9685117" y="1067456"/>
            <a:ext cx="1155603" cy="2672477"/>
            <a:chOff x="10325197" y="813456"/>
            <a:chExt cx="1155603" cy="2672477"/>
          </a:xfrm>
        </p:grpSpPr>
        <p:sp>
          <p:nvSpPr>
            <p:cNvPr id="4248" name="Google Shape;4248;p46"/>
            <p:cNvSpPr/>
            <p:nvPr/>
          </p:nvSpPr>
          <p:spPr>
            <a:xfrm>
              <a:off x="10355334" y="813456"/>
              <a:ext cx="1125466" cy="2630783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6"/>
            <p:cNvSpPr/>
            <p:nvPr/>
          </p:nvSpPr>
          <p:spPr>
            <a:xfrm>
              <a:off x="10338507" y="825123"/>
              <a:ext cx="1141582" cy="407835"/>
            </a:xfrm>
            <a:prstGeom prst="rect">
              <a:avLst/>
            </a:prstGeom>
            <a:solidFill>
              <a:schemeClr val="accen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6"/>
            <p:cNvSpPr txBox="1"/>
            <p:nvPr/>
          </p:nvSpPr>
          <p:spPr>
            <a:xfrm>
              <a:off x="10325197" y="821098"/>
              <a:ext cx="1117197" cy="2664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DV in e:</a:t>
              </a:r>
              <a:endParaRPr/>
            </a:p>
            <a:p>
              <a:pPr indent="0" lvl="1" marL="114300" marR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(a) = ∞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(c)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(d) = 1</a:t>
              </a:r>
              <a:endParaRPr/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(e) = 0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(f)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(g) = ∞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1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="0" baseline="-2500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(h) = 1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(i) = ∞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251" name="Google Shape;4251;p46"/>
            <p:cNvCxnSpPr/>
            <p:nvPr/>
          </p:nvCxnSpPr>
          <p:spPr>
            <a:xfrm>
              <a:off x="10330450" y="1225636"/>
              <a:ext cx="114861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252" name="Google Shape;4252;p46"/>
            <p:cNvSpPr/>
            <p:nvPr/>
          </p:nvSpPr>
          <p:spPr>
            <a:xfrm>
              <a:off x="10332745" y="825123"/>
              <a:ext cx="1122744" cy="2616597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3" name="Google Shape;4253;p46"/>
          <p:cNvGrpSpPr/>
          <p:nvPr/>
        </p:nvGrpSpPr>
        <p:grpSpPr>
          <a:xfrm>
            <a:off x="1942201" y="4070637"/>
            <a:ext cx="1802905" cy="3159839"/>
            <a:chOff x="9764348" y="1447800"/>
            <a:chExt cx="1149458" cy="3159839"/>
          </a:xfrm>
        </p:grpSpPr>
        <p:sp>
          <p:nvSpPr>
            <p:cNvPr id="4254" name="Google Shape;4254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5" name="Google Shape;4255;p46"/>
            <p:cNvGrpSpPr/>
            <p:nvPr/>
          </p:nvGrpSpPr>
          <p:grpSpPr>
            <a:xfrm>
              <a:off x="9764348" y="1447800"/>
              <a:ext cx="1130291" cy="3159839"/>
              <a:chOff x="9472119" y="702026"/>
              <a:chExt cx="1130291" cy="3159839"/>
            </a:xfrm>
          </p:grpSpPr>
          <p:sp>
            <p:nvSpPr>
              <p:cNvPr id="4256" name="Google Shape;4256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46"/>
              <p:cNvSpPr txBox="1"/>
              <p:nvPr/>
            </p:nvSpPr>
            <p:spPr>
              <a:xfrm>
                <a:off x="9472119" y="702026"/>
                <a:ext cx="1088020" cy="31598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h: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∞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1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58" name="Google Shape;4258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59" name="Google Shape;4259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60" name="Google Shape;4260;p46"/>
          <p:cNvGrpSpPr/>
          <p:nvPr/>
        </p:nvGrpSpPr>
        <p:grpSpPr>
          <a:xfrm>
            <a:off x="2063365" y="1246157"/>
            <a:ext cx="1630941" cy="2667397"/>
            <a:chOff x="9764348" y="1447800"/>
            <a:chExt cx="1149458" cy="2667397"/>
          </a:xfrm>
        </p:grpSpPr>
        <p:sp>
          <p:nvSpPr>
            <p:cNvPr id="4261" name="Google Shape;4261;p46"/>
            <p:cNvSpPr/>
            <p:nvPr/>
          </p:nvSpPr>
          <p:spPr>
            <a:xfrm>
              <a:off x="9783097" y="1447800"/>
              <a:ext cx="1130709" cy="2426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2" name="Google Shape;4262;p46"/>
            <p:cNvGrpSpPr/>
            <p:nvPr/>
          </p:nvGrpSpPr>
          <p:grpSpPr>
            <a:xfrm>
              <a:off x="9764348" y="1447800"/>
              <a:ext cx="1130291" cy="2667397"/>
              <a:chOff x="9472119" y="702026"/>
              <a:chExt cx="1130291" cy="2667397"/>
            </a:xfrm>
          </p:grpSpPr>
          <p:sp>
            <p:nvSpPr>
              <p:cNvPr id="4263" name="Google Shape;4263;p46"/>
              <p:cNvSpPr/>
              <p:nvPr/>
            </p:nvSpPr>
            <p:spPr>
              <a:xfrm>
                <a:off x="9485428" y="706056"/>
                <a:ext cx="1116982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4" name="Google Shape;4264;p46"/>
              <p:cNvSpPr txBox="1"/>
              <p:nvPr/>
            </p:nvSpPr>
            <p:spPr>
              <a:xfrm>
                <a:off x="9472119" y="702026"/>
                <a:ext cx="1088020" cy="2667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DV in d:</a:t>
                </a:r>
                <a:endParaRPr/>
              </a:p>
              <a:p>
                <a:pPr indent="0" lvl="1" marL="114300" marR="0" rtl="0" algn="l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(a)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(b)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(c)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(d) = 0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(e)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(f) = ∞ 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(g) = 1</a:t>
                </a:r>
                <a:endParaRPr/>
              </a:p>
              <a:p>
                <a:pPr indent="0" lvl="1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(h) = ∞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143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(i) = ∞</a:t>
                </a: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265" name="Google Shape;4265;p46"/>
              <p:cNvCxnSpPr/>
              <p:nvPr/>
            </p:nvCxnSpPr>
            <p:spPr>
              <a:xfrm>
                <a:off x="9477371" y="1076444"/>
                <a:ext cx="1123866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4266" name="Google Shape;4266;p46"/>
              <p:cNvSpPr/>
              <p:nvPr/>
            </p:nvSpPr>
            <p:spPr>
              <a:xfrm>
                <a:off x="9479666" y="706055"/>
                <a:ext cx="1122744" cy="2620773"/>
              </a:xfrm>
              <a:prstGeom prst="rect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7" name="Google Shape;4267;p46"/>
          <p:cNvSpPr/>
          <p:nvPr/>
        </p:nvSpPr>
        <p:spPr>
          <a:xfrm>
            <a:off x="3677920" y="1280160"/>
            <a:ext cx="853440" cy="2824480"/>
          </a:xfrm>
          <a:custGeom>
            <a:rect b="b" l="l" r="r" t="t"/>
            <a:pathLst>
              <a:path extrusionOk="0" h="2824480" w="853440">
                <a:moveTo>
                  <a:pt x="680720" y="2824480"/>
                </a:moveTo>
                <a:cubicBezTo>
                  <a:pt x="443653" y="2705947"/>
                  <a:pt x="328507" y="2658533"/>
                  <a:pt x="0" y="2590800"/>
                </a:cubicBezTo>
                <a:lnTo>
                  <a:pt x="0" y="0"/>
                </a:lnTo>
                <a:cubicBezTo>
                  <a:pt x="254000" y="1222587"/>
                  <a:pt x="447040" y="1835573"/>
                  <a:pt x="853440" y="2631440"/>
                </a:cubicBezTo>
                <a:lnTo>
                  <a:pt x="680720" y="282448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68" name="Google Shape;4268;p46"/>
          <p:cNvGrpSpPr/>
          <p:nvPr/>
        </p:nvGrpSpPr>
        <p:grpSpPr>
          <a:xfrm>
            <a:off x="4336458" y="3833790"/>
            <a:ext cx="4395351" cy="404576"/>
            <a:chOff x="4333785" y="5772213"/>
            <a:chExt cx="4395351" cy="404576"/>
          </a:xfrm>
        </p:grpSpPr>
        <p:grpSp>
          <p:nvGrpSpPr>
            <p:cNvPr id="4269" name="Google Shape;4269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270" name="Google Shape;427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71" name="Google Shape;427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72" name="Google Shape;427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73" name="Google Shape;427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74" name="Google Shape;427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5" name="Google Shape;427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76" name="Google Shape;4276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277" name="Google Shape;427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8" name="Google Shape;4278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79" name="Google Shape;4279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280" name="Google Shape;428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81" name="Google Shape;428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82" name="Google Shape;428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83" name="Google Shape;428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84" name="Google Shape;428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5" name="Google Shape;428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86" name="Google Shape;4286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287" name="Google Shape;428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8" name="Google Shape;4288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289" name="Google Shape;4289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290" name="Google Shape;4290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291" name="Google Shape;4291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292" name="Google Shape;4292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293" name="Google Shape;4293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294" name="Google Shape;4294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5" name="Google Shape;4295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96" name="Google Shape;4296;p46"/>
              <p:cNvGrpSpPr/>
              <p:nvPr/>
            </p:nvGrpSpPr>
            <p:grpSpPr>
              <a:xfrm>
                <a:off x="1492372" y="2507397"/>
                <a:ext cx="283194" cy="419100"/>
                <a:chOff x="2967" y="2425"/>
                <a:chExt cx="181" cy="264"/>
              </a:xfrm>
            </p:grpSpPr>
            <p:sp>
              <p:nvSpPr>
                <p:cNvPr id="4297" name="Google Shape;4297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8" name="Google Shape;4298;p46"/>
                <p:cNvSpPr txBox="1"/>
                <p:nvPr/>
              </p:nvSpPr>
              <p:spPr>
                <a:xfrm>
                  <a:off x="2967" y="2425"/>
                  <a:ext cx="18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f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299" name="Google Shape;4299;p46"/>
          <p:cNvSpPr/>
          <p:nvPr/>
        </p:nvSpPr>
        <p:spPr>
          <a:xfrm>
            <a:off x="3728720" y="4114800"/>
            <a:ext cx="2722880" cy="2560320"/>
          </a:xfrm>
          <a:custGeom>
            <a:rect b="b" l="l" r="r" t="t"/>
            <a:pathLst>
              <a:path extrusionOk="0" h="2560320" w="2722880">
                <a:moveTo>
                  <a:pt x="2550160" y="1950720"/>
                </a:moveTo>
                <a:cubicBezTo>
                  <a:pt x="931333" y="1507067"/>
                  <a:pt x="399627" y="1347893"/>
                  <a:pt x="20320" y="2560320"/>
                </a:cubicBezTo>
                <a:lnTo>
                  <a:pt x="0" y="0"/>
                </a:lnTo>
                <a:cubicBezTo>
                  <a:pt x="1148080" y="887307"/>
                  <a:pt x="1513840" y="1297093"/>
                  <a:pt x="2722880" y="1757680"/>
                </a:cubicBezTo>
                <a:lnTo>
                  <a:pt x="2550160" y="1950720"/>
                </a:ln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BFBFB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0" name="Google Shape;4300;p46"/>
          <p:cNvGrpSpPr/>
          <p:nvPr/>
        </p:nvGrpSpPr>
        <p:grpSpPr>
          <a:xfrm>
            <a:off x="4333785" y="5772213"/>
            <a:ext cx="4395351" cy="404576"/>
            <a:chOff x="4333785" y="5772213"/>
            <a:chExt cx="4395351" cy="404576"/>
          </a:xfrm>
        </p:grpSpPr>
        <p:grpSp>
          <p:nvGrpSpPr>
            <p:cNvPr id="4301" name="Google Shape;4301;p46"/>
            <p:cNvGrpSpPr/>
            <p:nvPr/>
          </p:nvGrpSpPr>
          <p:grpSpPr>
            <a:xfrm>
              <a:off x="4333785" y="5772213"/>
              <a:ext cx="531821" cy="369069"/>
              <a:chOff x="1348328" y="2475647"/>
              <a:chExt cx="603916" cy="419100"/>
            </a:xfrm>
          </p:grpSpPr>
          <p:grpSp>
            <p:nvGrpSpPr>
              <p:cNvPr id="4302" name="Google Shape;430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03" name="Google Shape;430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04" name="Google Shape;430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05" name="Google Shape;430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06" name="Google Shape;430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7" name="Google Shape;430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08" name="Google Shape;4308;p46"/>
              <p:cNvGrpSpPr/>
              <p:nvPr/>
            </p:nvGrpSpPr>
            <p:grpSpPr>
              <a:xfrm>
                <a:off x="1456374" y="2475647"/>
                <a:ext cx="355165" cy="419100"/>
                <a:chOff x="2944" y="2405"/>
                <a:chExt cx="227" cy="264"/>
              </a:xfrm>
            </p:grpSpPr>
            <p:sp>
              <p:nvSpPr>
                <p:cNvPr id="4309" name="Google Shape;430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0" name="Google Shape;4310;p46"/>
                <p:cNvSpPr txBox="1"/>
                <p:nvPr/>
              </p:nvSpPr>
              <p:spPr>
                <a:xfrm>
                  <a:off x="2944" y="240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g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11" name="Google Shape;4311;p46"/>
            <p:cNvGrpSpPr/>
            <p:nvPr/>
          </p:nvGrpSpPr>
          <p:grpSpPr>
            <a:xfrm>
              <a:off x="6263949" y="5807720"/>
              <a:ext cx="531821" cy="369069"/>
              <a:chOff x="1348328" y="2507397"/>
              <a:chExt cx="603916" cy="419100"/>
            </a:xfrm>
          </p:grpSpPr>
          <p:grpSp>
            <p:nvGrpSpPr>
              <p:cNvPr id="4312" name="Google Shape;431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13" name="Google Shape;431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14" name="Google Shape;431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15" name="Google Shape;431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16" name="Google Shape;431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17" name="Google Shape;431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18" name="Google Shape;4318;p46"/>
              <p:cNvGrpSpPr/>
              <p:nvPr/>
            </p:nvGrpSpPr>
            <p:grpSpPr>
              <a:xfrm>
                <a:off x="1456374" y="2507397"/>
                <a:ext cx="355165" cy="419100"/>
                <a:chOff x="2944" y="2425"/>
                <a:chExt cx="227" cy="264"/>
              </a:xfrm>
            </p:grpSpPr>
            <p:sp>
              <p:nvSpPr>
                <p:cNvPr id="4319" name="Google Shape;431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0" name="Google Shape;4320;p46"/>
                <p:cNvSpPr txBox="1"/>
                <p:nvPr/>
              </p:nvSpPr>
              <p:spPr>
                <a:xfrm>
                  <a:off x="2944" y="2425"/>
                  <a:ext cx="227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321" name="Google Shape;4321;p46"/>
            <p:cNvGrpSpPr/>
            <p:nvPr/>
          </p:nvGrpSpPr>
          <p:grpSpPr>
            <a:xfrm>
              <a:off x="8197315" y="5805271"/>
              <a:ext cx="531821" cy="369069"/>
              <a:chOff x="1348328" y="2507397"/>
              <a:chExt cx="603916" cy="419100"/>
            </a:xfrm>
          </p:grpSpPr>
          <p:grpSp>
            <p:nvGrpSpPr>
              <p:cNvPr id="4322" name="Google Shape;4322;p46"/>
              <p:cNvGrpSpPr/>
              <p:nvPr/>
            </p:nvGrpSpPr>
            <p:grpSpPr>
              <a:xfrm>
                <a:off x="1348328" y="2555748"/>
                <a:ext cx="603916" cy="308999"/>
                <a:chOff x="5278570" y="2983486"/>
                <a:chExt cx="501650" cy="233363"/>
              </a:xfrm>
            </p:grpSpPr>
            <p:sp>
              <p:nvSpPr>
                <p:cNvPr id="4323" name="Google Shape;4323;p46"/>
                <p:cNvSpPr/>
                <p:nvPr/>
              </p:nvSpPr>
              <p:spPr>
                <a:xfrm>
                  <a:off x="5283332" y="3088261"/>
                  <a:ext cx="496888" cy="128588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324" name="Google Shape;4324;p46"/>
                <p:cNvCxnSpPr/>
                <p:nvPr/>
              </p:nvCxnSpPr>
              <p:spPr>
                <a:xfrm>
                  <a:off x="5283332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325" name="Google Shape;4325;p46"/>
                <p:cNvCxnSpPr/>
                <p:nvPr/>
              </p:nvCxnSpPr>
              <p:spPr>
                <a:xfrm>
                  <a:off x="5780220" y="3077148"/>
                  <a:ext cx="0" cy="79375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326" name="Google Shape;4326;p46"/>
                <p:cNvSpPr/>
                <p:nvPr/>
              </p:nvSpPr>
              <p:spPr>
                <a:xfrm>
                  <a:off x="5283332" y="3077148"/>
                  <a:ext cx="492125" cy="77788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Calibri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27" name="Google Shape;4327;p46"/>
                <p:cNvSpPr/>
                <p:nvPr/>
              </p:nvSpPr>
              <p:spPr>
                <a:xfrm>
                  <a:off x="5278570" y="2983486"/>
                  <a:ext cx="496888" cy="150813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328" name="Google Shape;4328;p46"/>
              <p:cNvGrpSpPr/>
              <p:nvPr/>
            </p:nvGrpSpPr>
            <p:grpSpPr>
              <a:xfrm>
                <a:off x="1500196" y="2507397"/>
                <a:ext cx="267548" cy="419100"/>
                <a:chOff x="2972" y="2425"/>
                <a:chExt cx="171" cy="264"/>
              </a:xfrm>
            </p:grpSpPr>
            <p:sp>
              <p:nvSpPr>
                <p:cNvPr id="4329" name="Google Shape;4329;p46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30" name="Google Shape;4330;p46"/>
                <p:cNvSpPr txBox="1"/>
                <p:nvPr/>
              </p:nvSpPr>
              <p:spPr>
                <a:xfrm>
                  <a:off x="2972" y="2425"/>
                  <a:ext cx="171" cy="2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i</a:t>
                  </a:r>
                  <a:endParaRPr b="0" i="0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4331" name="Google Shape;4331;p46"/>
          <p:cNvSpPr/>
          <p:nvPr/>
        </p:nvSpPr>
        <p:spPr>
          <a:xfrm>
            <a:off x="4765040" y="2611120"/>
            <a:ext cx="3535680" cy="64008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what is new DV computed in e at </a:t>
            </a:r>
            <a:r>
              <a:rPr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t=1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</p:txBody>
      </p:sp>
      <p:sp>
        <p:nvSpPr>
          <p:cNvPr id="4332" name="Google Shape;4332;p46"/>
          <p:cNvSpPr/>
          <p:nvPr/>
        </p:nvSpPr>
        <p:spPr>
          <a:xfrm flipH="1" rot="-5400000">
            <a:off x="6297558" y="3456041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3" name="Google Shape;4333;p46"/>
          <p:cNvSpPr/>
          <p:nvPr/>
        </p:nvSpPr>
        <p:spPr>
          <a:xfrm flipH="1" rot="5400000">
            <a:off x="6312308" y="4454022"/>
            <a:ext cx="639100" cy="15731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4" name="Google Shape;4334;p46"/>
          <p:cNvSpPr/>
          <p:nvPr/>
        </p:nvSpPr>
        <p:spPr>
          <a:xfrm flipH="1" rot="10800000">
            <a:off x="5651998" y="3904611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5" name="Google Shape;4335;p46"/>
          <p:cNvSpPr/>
          <p:nvPr/>
        </p:nvSpPr>
        <p:spPr>
          <a:xfrm flipH="1">
            <a:off x="6833078" y="3912200"/>
            <a:ext cx="575190" cy="152414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2F2F2"/>
              </a:gs>
              <a:gs pos="100000">
                <a:srgbClr val="C0000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36" name="Google Shape;4336;p46"/>
          <p:cNvGrpSpPr/>
          <p:nvPr/>
        </p:nvGrpSpPr>
        <p:grpSpPr>
          <a:xfrm>
            <a:off x="6039628" y="3567469"/>
            <a:ext cx="1196054" cy="1022555"/>
            <a:chOff x="9655277" y="2349909"/>
            <a:chExt cx="1196054" cy="1022555"/>
          </a:xfrm>
        </p:grpSpPr>
        <p:sp>
          <p:nvSpPr>
            <p:cNvPr id="4337" name="Google Shape;4337;p46"/>
            <p:cNvSpPr/>
            <p:nvPr/>
          </p:nvSpPr>
          <p:spPr>
            <a:xfrm>
              <a:off x="9655277" y="2349909"/>
              <a:ext cx="1196054" cy="1022555"/>
            </a:xfrm>
            <a:custGeom>
              <a:rect b="b" l="l" r="r" t="t"/>
              <a:pathLst>
                <a:path extrusionOk="0" h="2290046" w="2820074">
                  <a:moveTo>
                    <a:pt x="1416106" y="606903"/>
                  </a:moveTo>
                  <a:lnTo>
                    <a:pt x="1096471" y="222531"/>
                  </a:lnTo>
                  <a:lnTo>
                    <a:pt x="954860" y="667593"/>
                  </a:lnTo>
                  <a:lnTo>
                    <a:pt x="89012" y="242761"/>
                  </a:lnTo>
                  <a:lnTo>
                    <a:pt x="610948" y="797066"/>
                  </a:lnTo>
                  <a:lnTo>
                    <a:pt x="0" y="902262"/>
                  </a:lnTo>
                  <a:lnTo>
                    <a:pt x="481476" y="1246174"/>
                  </a:lnTo>
                  <a:lnTo>
                    <a:pt x="36414" y="1533441"/>
                  </a:lnTo>
                  <a:lnTo>
                    <a:pt x="760651" y="1476797"/>
                  </a:lnTo>
                  <a:lnTo>
                    <a:pt x="623086" y="1869260"/>
                  </a:lnTo>
                  <a:lnTo>
                    <a:pt x="1003412" y="1658867"/>
                  </a:lnTo>
                  <a:lnTo>
                    <a:pt x="1104563" y="2290046"/>
                  </a:lnTo>
                  <a:lnTo>
                    <a:pt x="1383738" y="1569855"/>
                  </a:lnTo>
                  <a:lnTo>
                    <a:pt x="1743833" y="2091791"/>
                  </a:lnTo>
                  <a:lnTo>
                    <a:pt x="1836892" y="1529395"/>
                  </a:lnTo>
                  <a:lnTo>
                    <a:pt x="2375012" y="1889491"/>
                  </a:lnTo>
                  <a:lnTo>
                    <a:pt x="2209125" y="1351370"/>
                  </a:lnTo>
                  <a:lnTo>
                    <a:pt x="2820074" y="1399922"/>
                  </a:lnTo>
                  <a:lnTo>
                    <a:pt x="2310276" y="1092425"/>
                  </a:lnTo>
                  <a:lnTo>
                    <a:pt x="2775568" y="837526"/>
                  </a:lnTo>
                  <a:lnTo>
                    <a:pt x="2196987" y="768744"/>
                  </a:lnTo>
                  <a:lnTo>
                    <a:pt x="2427610" y="441016"/>
                  </a:lnTo>
                  <a:lnTo>
                    <a:pt x="1844984" y="546213"/>
                  </a:lnTo>
                  <a:lnTo>
                    <a:pt x="1901628" y="0"/>
                  </a:lnTo>
                  <a:lnTo>
                    <a:pt x="1416106" y="606903"/>
                  </a:lnTo>
                  <a:close/>
                </a:path>
              </a:pathLst>
            </a:custGeom>
            <a:solidFill>
              <a:srgbClr val="FFFF00">
                <a:alpha val="7294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6"/>
            <p:cNvSpPr txBox="1"/>
            <p:nvPr/>
          </p:nvSpPr>
          <p:spPr>
            <a:xfrm>
              <a:off x="9753600" y="2635045"/>
              <a:ext cx="10202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compute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3" name="Shape 4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4" name="Google Shape;4344;p47"/>
          <p:cNvSpPr txBox="1"/>
          <p:nvPr>
            <p:ph type="title"/>
          </p:nvPr>
        </p:nvSpPr>
        <p:spPr>
          <a:xfrm>
            <a:off x="826625" y="174028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state information diffusion</a:t>
            </a:r>
            <a:endParaRPr/>
          </a:p>
        </p:txBody>
      </p:sp>
      <p:grpSp>
        <p:nvGrpSpPr>
          <p:cNvPr id="4345" name="Google Shape;4345;p47"/>
          <p:cNvGrpSpPr/>
          <p:nvPr/>
        </p:nvGrpSpPr>
        <p:grpSpPr>
          <a:xfrm>
            <a:off x="661263" y="1850804"/>
            <a:ext cx="4436326" cy="371277"/>
            <a:chOff x="661263" y="1925960"/>
            <a:chExt cx="4436326" cy="371277"/>
          </a:xfrm>
        </p:grpSpPr>
        <p:grpSp>
          <p:nvGrpSpPr>
            <p:cNvPr id="4346" name="Google Shape;4346;p47"/>
            <p:cNvGrpSpPr/>
            <p:nvPr/>
          </p:nvGrpSpPr>
          <p:grpSpPr>
            <a:xfrm>
              <a:off x="661263" y="1927187"/>
              <a:ext cx="918242" cy="370050"/>
              <a:chOff x="1097284" y="2174236"/>
              <a:chExt cx="918242" cy="370050"/>
            </a:xfrm>
          </p:grpSpPr>
          <p:sp>
            <p:nvSpPr>
              <p:cNvPr id="4347" name="Google Shape;4347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t=0</a:t>
                </a:r>
                <a:endParaRPr/>
              </a:p>
            </p:txBody>
          </p:sp>
          <p:grpSp>
            <p:nvGrpSpPr>
              <p:cNvPr id="4348" name="Google Shape;4348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349" name="Google Shape;4349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50" name="Google Shape;4350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1" name="Google Shape;4351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2" name="Google Shape;4352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3" name="Google Shape;4353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4" name="Google Shape;4354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5" name="Google Shape;4355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6" name="Google Shape;4356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7" name="Google Shape;4357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8" name="Google Shape;4358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59" name="Google Shape;4359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0" name="Google Shape;4360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361" name="Google Shape;4361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362" name="Google Shape;4362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63" name="Google Shape;4363;p47"/>
                <p:cNvCxnSpPr/>
                <p:nvPr/>
              </p:nvCxnSpPr>
              <p:spPr>
                <a:xfrm>
                  <a:off x="1314533" y="2230033"/>
                  <a:ext cx="0" cy="111727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4364" name="Google Shape;4364;p47"/>
            <p:cNvSpPr txBox="1"/>
            <p:nvPr/>
          </p:nvSpPr>
          <p:spPr>
            <a:xfrm flipH="1">
              <a:off x="1653913" y="1925960"/>
              <a:ext cx="34436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is at c only</a:t>
              </a:r>
              <a:endParaRPr/>
            </a:p>
          </p:txBody>
        </p:sp>
      </p:grpSp>
      <p:grpSp>
        <p:nvGrpSpPr>
          <p:cNvPr id="4365" name="Google Shape;4365;p47"/>
          <p:cNvGrpSpPr/>
          <p:nvPr/>
        </p:nvGrpSpPr>
        <p:grpSpPr>
          <a:xfrm>
            <a:off x="7171418" y="2007663"/>
            <a:ext cx="4435671" cy="4385738"/>
            <a:chOff x="6907258" y="1814623"/>
            <a:chExt cx="4435671" cy="4385738"/>
          </a:xfrm>
        </p:grpSpPr>
        <p:cxnSp>
          <p:nvCxnSpPr>
            <p:cNvPr id="4366" name="Google Shape;4366;p47"/>
            <p:cNvCxnSpPr>
              <a:stCxn id="4367" idx="2"/>
              <a:endCxn id="4367" idx="0"/>
            </p:cNvCxnSpPr>
            <p:nvPr/>
          </p:nvCxnSpPr>
          <p:spPr>
            <a:xfrm rot="10800000">
              <a:off x="9141446" y="2037691"/>
              <a:ext cx="0" cy="38631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368" name="Google Shape;4368;p47"/>
            <p:cNvCxnSpPr>
              <a:stCxn id="4367" idx="1"/>
              <a:endCxn id="4367" idx="3"/>
            </p:cNvCxnSpPr>
            <p:nvPr/>
          </p:nvCxnSpPr>
          <p:spPr>
            <a:xfrm>
              <a:off x="7209890" y="3969236"/>
              <a:ext cx="38631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367" name="Google Shape;4367;p47"/>
            <p:cNvSpPr/>
            <p:nvPr/>
          </p:nvSpPr>
          <p:spPr>
            <a:xfrm>
              <a:off x="7209890" y="2037680"/>
              <a:ext cx="3863111" cy="3863111"/>
            </a:xfrm>
            <a:prstGeom prst="rect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7"/>
            <p:cNvSpPr/>
            <p:nvPr/>
          </p:nvSpPr>
          <p:spPr>
            <a:xfrm>
              <a:off x="10991457" y="2109030"/>
              <a:ext cx="132508" cy="185510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70" name="Google Shape;4370;p47"/>
            <p:cNvGrpSpPr/>
            <p:nvPr/>
          </p:nvGrpSpPr>
          <p:grpSpPr>
            <a:xfrm>
              <a:off x="6944905" y="5680773"/>
              <a:ext cx="4395351" cy="404576"/>
              <a:chOff x="4333785" y="5772213"/>
              <a:chExt cx="4395351" cy="404576"/>
            </a:xfrm>
          </p:grpSpPr>
          <p:grpSp>
            <p:nvGrpSpPr>
              <p:cNvPr id="4371" name="Google Shape;4371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372" name="Google Shape;437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73" name="Google Shape;437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74" name="Google Shape;437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75" name="Google Shape;437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76" name="Google Shape;437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77" name="Google Shape;437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78" name="Google Shape;4378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379" name="Google Shape;437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0" name="Google Shape;4380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g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81" name="Google Shape;4381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82" name="Google Shape;438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83" name="Google Shape;438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84" name="Google Shape;438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85" name="Google Shape;438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86" name="Google Shape;438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87" name="Google Shape;438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88" name="Google Shape;4388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389" name="Google Shape;438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0" name="Google Shape;4390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h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391" name="Google Shape;4391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392" name="Google Shape;4392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393" name="Google Shape;4393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394" name="Google Shape;4394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395" name="Google Shape;4395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396" name="Google Shape;4396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397" name="Google Shape;4397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398" name="Google Shape;4398;p47"/>
                <p:cNvGrpSpPr/>
                <p:nvPr/>
              </p:nvGrpSpPr>
              <p:grpSpPr>
                <a:xfrm>
                  <a:off x="1500196" y="2507397"/>
                  <a:ext cx="267548" cy="419100"/>
                  <a:chOff x="2972" y="2425"/>
                  <a:chExt cx="171" cy="264"/>
                </a:xfrm>
              </p:grpSpPr>
              <p:sp>
                <p:nvSpPr>
                  <p:cNvPr id="4399" name="Google Shape;4399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00" name="Google Shape;4400;p47"/>
                  <p:cNvSpPr txBox="1"/>
                  <p:nvPr/>
                </p:nvSpPr>
                <p:spPr>
                  <a:xfrm>
                    <a:off x="2972" y="2425"/>
                    <a:ext cx="17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i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01" name="Google Shape;4401;p47"/>
            <p:cNvSpPr txBox="1"/>
            <p:nvPr/>
          </p:nvSpPr>
          <p:spPr>
            <a:xfrm>
              <a:off x="6916902" y="2779082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2" name="Google Shape;4402;p47"/>
            <p:cNvSpPr txBox="1"/>
            <p:nvPr/>
          </p:nvSpPr>
          <p:spPr>
            <a:xfrm>
              <a:off x="8828654" y="2769437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3" name="Google Shape;4403;p47"/>
            <p:cNvSpPr txBox="1"/>
            <p:nvPr/>
          </p:nvSpPr>
          <p:spPr>
            <a:xfrm>
              <a:off x="6907258" y="479500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4" name="Google Shape;4404;p47"/>
            <p:cNvSpPr txBox="1"/>
            <p:nvPr/>
          </p:nvSpPr>
          <p:spPr>
            <a:xfrm>
              <a:off x="8842160" y="479693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5" name="Google Shape;4405;p47"/>
            <p:cNvSpPr txBox="1"/>
            <p:nvPr/>
          </p:nvSpPr>
          <p:spPr>
            <a:xfrm>
              <a:off x="10765485" y="4798866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6" name="Google Shape;4406;p47"/>
            <p:cNvSpPr txBox="1"/>
            <p:nvPr/>
          </p:nvSpPr>
          <p:spPr>
            <a:xfrm>
              <a:off x="8053150" y="3938480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7" name="Google Shape;4407;p47"/>
            <p:cNvSpPr txBox="1"/>
            <p:nvPr/>
          </p:nvSpPr>
          <p:spPr>
            <a:xfrm>
              <a:off x="9964902" y="3928835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8" name="Google Shape;4408;p47"/>
            <p:cNvSpPr txBox="1"/>
            <p:nvPr/>
          </p:nvSpPr>
          <p:spPr>
            <a:xfrm>
              <a:off x="8055078" y="5861807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09" name="Google Shape;4409;p47"/>
            <p:cNvSpPr txBox="1"/>
            <p:nvPr/>
          </p:nvSpPr>
          <p:spPr>
            <a:xfrm>
              <a:off x="9966830" y="5852162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0" name="Google Shape;4410;p47"/>
            <p:cNvSpPr txBox="1"/>
            <p:nvPr/>
          </p:nvSpPr>
          <p:spPr>
            <a:xfrm>
              <a:off x="8057006" y="2032516"/>
              <a:ext cx="30168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4411" name="Google Shape;4411;p47"/>
            <p:cNvSpPr txBox="1"/>
            <p:nvPr/>
          </p:nvSpPr>
          <p:spPr>
            <a:xfrm>
              <a:off x="9968758" y="2022871"/>
              <a:ext cx="2888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4412" name="Google Shape;4412;p47"/>
            <p:cNvSpPr/>
            <p:nvPr/>
          </p:nvSpPr>
          <p:spPr>
            <a:xfrm rot="5400000">
              <a:off x="7011053" y="246986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7"/>
            <p:cNvSpPr/>
            <p:nvPr/>
          </p:nvSpPr>
          <p:spPr>
            <a:xfrm rot="-5400000">
              <a:off x="7006137" y="337934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7"/>
            <p:cNvSpPr/>
            <p:nvPr/>
          </p:nvSpPr>
          <p:spPr>
            <a:xfrm rot="5400000">
              <a:off x="8913594" y="2455117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7"/>
            <p:cNvSpPr/>
            <p:nvPr/>
          </p:nvSpPr>
          <p:spPr>
            <a:xfrm rot="-5400000">
              <a:off x="8908678" y="3364601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7"/>
            <p:cNvSpPr/>
            <p:nvPr/>
          </p:nvSpPr>
          <p:spPr>
            <a:xfrm rot="5400000">
              <a:off x="6981555" y="436749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7"/>
            <p:cNvSpPr/>
            <p:nvPr/>
          </p:nvSpPr>
          <p:spPr>
            <a:xfrm rot="-5400000">
              <a:off x="6976639" y="5276978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7"/>
            <p:cNvSpPr/>
            <p:nvPr/>
          </p:nvSpPr>
          <p:spPr>
            <a:xfrm rot="5400000">
              <a:off x="8923428" y="4362582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7"/>
            <p:cNvSpPr/>
            <p:nvPr/>
          </p:nvSpPr>
          <p:spPr>
            <a:xfrm rot="-5400000">
              <a:off x="8918512" y="5272066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7"/>
            <p:cNvSpPr/>
            <p:nvPr/>
          </p:nvSpPr>
          <p:spPr>
            <a:xfrm rot="5400000">
              <a:off x="10865301" y="4357670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7"/>
            <p:cNvSpPr/>
            <p:nvPr/>
          </p:nvSpPr>
          <p:spPr>
            <a:xfrm rot="-5400000">
              <a:off x="10860385" y="5267154"/>
              <a:ext cx="639100" cy="15731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7"/>
            <p:cNvSpPr/>
            <p:nvPr/>
          </p:nvSpPr>
          <p:spPr>
            <a:xfrm rot="10800000">
              <a:off x="10193515" y="5738225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7"/>
            <p:cNvSpPr/>
            <p:nvPr/>
          </p:nvSpPr>
          <p:spPr>
            <a:xfrm>
              <a:off x="9430824" y="574314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4" name="Google Shape;4424;p47"/>
            <p:cNvGrpSpPr/>
            <p:nvPr/>
          </p:nvGrpSpPr>
          <p:grpSpPr>
            <a:xfrm>
              <a:off x="6947578" y="3742350"/>
              <a:ext cx="4395351" cy="404576"/>
              <a:chOff x="4333785" y="5772213"/>
              <a:chExt cx="4395351" cy="404576"/>
            </a:xfrm>
          </p:grpSpPr>
          <p:grpSp>
            <p:nvGrpSpPr>
              <p:cNvPr id="4425" name="Google Shape;4425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26" name="Google Shape;442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27" name="Google Shape;442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28" name="Google Shape;442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29" name="Google Shape;442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30" name="Google Shape;443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1" name="Google Shape;443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32" name="Google Shape;4432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33" name="Google Shape;443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4" name="Google Shape;4434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35" name="Google Shape;4435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36" name="Google Shape;443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37" name="Google Shape;443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38" name="Google Shape;443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39" name="Google Shape;443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40" name="Google Shape;444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1" name="Google Shape;444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42" name="Google Shape;4442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43" name="Google Shape;444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4" name="Google Shape;4444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e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45" name="Google Shape;4445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46" name="Google Shape;4446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47" name="Google Shape;4447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48" name="Google Shape;4448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49" name="Google Shape;4449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50" name="Google Shape;4450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1" name="Google Shape;4451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52" name="Google Shape;4452;p47"/>
                <p:cNvGrpSpPr/>
                <p:nvPr/>
              </p:nvGrpSpPr>
              <p:grpSpPr>
                <a:xfrm>
                  <a:off x="1492372" y="2507397"/>
                  <a:ext cx="283194" cy="419100"/>
                  <a:chOff x="2967" y="2425"/>
                  <a:chExt cx="181" cy="264"/>
                </a:xfrm>
              </p:grpSpPr>
              <p:sp>
                <p:nvSpPr>
                  <p:cNvPr id="4453" name="Google Shape;4453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4" name="Google Shape;4454;p47"/>
                  <p:cNvSpPr txBox="1"/>
                  <p:nvPr/>
                </p:nvSpPr>
                <p:spPr>
                  <a:xfrm>
                    <a:off x="2967" y="2425"/>
                    <a:ext cx="181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4455" name="Google Shape;4455;p47"/>
            <p:cNvGrpSpPr/>
            <p:nvPr/>
          </p:nvGrpSpPr>
          <p:grpSpPr>
            <a:xfrm>
              <a:off x="6944905" y="1814623"/>
              <a:ext cx="4395351" cy="404576"/>
              <a:chOff x="4333785" y="5772213"/>
              <a:chExt cx="4395351" cy="404576"/>
            </a:xfrm>
          </p:grpSpPr>
          <p:grpSp>
            <p:nvGrpSpPr>
              <p:cNvPr id="4456" name="Google Shape;4456;p47"/>
              <p:cNvGrpSpPr/>
              <p:nvPr/>
            </p:nvGrpSpPr>
            <p:grpSpPr>
              <a:xfrm>
                <a:off x="4333785" y="5772213"/>
                <a:ext cx="531821" cy="369069"/>
                <a:chOff x="1348328" y="2475647"/>
                <a:chExt cx="603916" cy="419100"/>
              </a:xfrm>
            </p:grpSpPr>
            <p:grpSp>
              <p:nvGrpSpPr>
                <p:cNvPr id="4457" name="Google Shape;445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58" name="Google Shape;445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59" name="Google Shape;445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60" name="Google Shape;446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61" name="Google Shape;446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2" name="Google Shape;446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63" name="Google Shape;4463;p47"/>
                <p:cNvGrpSpPr/>
                <p:nvPr/>
              </p:nvGrpSpPr>
              <p:grpSpPr>
                <a:xfrm>
                  <a:off x="1456374" y="2475647"/>
                  <a:ext cx="355165" cy="419100"/>
                  <a:chOff x="2944" y="2405"/>
                  <a:chExt cx="227" cy="264"/>
                </a:xfrm>
              </p:grpSpPr>
              <p:sp>
                <p:nvSpPr>
                  <p:cNvPr id="4464" name="Google Shape;446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5" name="Google Shape;4465;p47"/>
                  <p:cNvSpPr txBox="1"/>
                  <p:nvPr/>
                </p:nvSpPr>
                <p:spPr>
                  <a:xfrm>
                    <a:off x="2944" y="240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66" name="Google Shape;4466;p47"/>
              <p:cNvGrpSpPr/>
              <p:nvPr/>
            </p:nvGrpSpPr>
            <p:grpSpPr>
              <a:xfrm>
                <a:off x="6263949" y="5807720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67" name="Google Shape;446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68" name="Google Shape;446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69" name="Google Shape;446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70" name="Google Shape;447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71" name="Google Shape;447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2" name="Google Shape;447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73" name="Google Shape;4473;p47"/>
                <p:cNvGrpSpPr/>
                <p:nvPr/>
              </p:nvGrpSpPr>
              <p:grpSpPr>
                <a:xfrm>
                  <a:off x="1456374" y="2507397"/>
                  <a:ext cx="355165" cy="419100"/>
                  <a:chOff x="2944" y="2425"/>
                  <a:chExt cx="227" cy="264"/>
                </a:xfrm>
              </p:grpSpPr>
              <p:sp>
                <p:nvSpPr>
                  <p:cNvPr id="4474" name="Google Shape;447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75" name="Google Shape;4475;p47"/>
                  <p:cNvSpPr txBox="1"/>
                  <p:nvPr/>
                </p:nvSpPr>
                <p:spPr>
                  <a:xfrm>
                    <a:off x="2944" y="2425"/>
                    <a:ext cx="227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476" name="Google Shape;4476;p47"/>
              <p:cNvGrpSpPr/>
              <p:nvPr/>
            </p:nvGrpSpPr>
            <p:grpSpPr>
              <a:xfrm>
                <a:off x="8197315" y="5805271"/>
                <a:ext cx="531821" cy="369069"/>
                <a:chOff x="1348328" y="2507397"/>
                <a:chExt cx="603916" cy="419100"/>
              </a:xfrm>
            </p:grpSpPr>
            <p:grpSp>
              <p:nvGrpSpPr>
                <p:cNvPr id="4477" name="Google Shape;4477;p47"/>
                <p:cNvGrpSpPr/>
                <p:nvPr/>
              </p:nvGrpSpPr>
              <p:grpSpPr>
                <a:xfrm>
                  <a:off x="1348328" y="2555748"/>
                  <a:ext cx="603916" cy="308999"/>
                  <a:chOff x="5278570" y="2983486"/>
                  <a:chExt cx="501650" cy="233363"/>
                </a:xfrm>
              </p:grpSpPr>
              <p:sp>
                <p:nvSpPr>
                  <p:cNvPr id="4478" name="Google Shape;4478;p47"/>
                  <p:cNvSpPr/>
                  <p:nvPr/>
                </p:nvSpPr>
                <p:spPr>
                  <a:xfrm>
                    <a:off x="5283332" y="3088261"/>
                    <a:ext cx="496888" cy="128588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4479" name="Google Shape;4479;p47"/>
                  <p:cNvCxnSpPr/>
                  <p:nvPr/>
                </p:nvCxnSpPr>
                <p:spPr>
                  <a:xfrm>
                    <a:off x="5283332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4480" name="Google Shape;4480;p47"/>
                  <p:cNvCxnSpPr/>
                  <p:nvPr/>
                </p:nvCxnSpPr>
                <p:spPr>
                  <a:xfrm>
                    <a:off x="5780220" y="3077148"/>
                    <a:ext cx="0" cy="79375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4481" name="Google Shape;4481;p47"/>
                  <p:cNvSpPr/>
                  <p:nvPr/>
                </p:nvSpPr>
                <p:spPr>
                  <a:xfrm>
                    <a:off x="5283332" y="3077148"/>
                    <a:ext cx="492125" cy="77788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2000"/>
                      <a:buFont typeface="Calibri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2" name="Google Shape;4482;p47"/>
                  <p:cNvSpPr/>
                  <p:nvPr/>
                </p:nvSpPr>
                <p:spPr>
                  <a:xfrm>
                    <a:off x="5278570" y="2983486"/>
                    <a:ext cx="496888" cy="150813"/>
                  </a:xfrm>
                  <a:prstGeom prst="ellipse">
                    <a:avLst/>
                  </a:prstGeom>
                  <a:solidFill>
                    <a:srgbClr val="CCCCFF"/>
                  </a:solidFill>
                  <a:ln cap="flat" cmpd="sng" w="12700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483" name="Google Shape;4483;p47"/>
                <p:cNvGrpSpPr/>
                <p:nvPr/>
              </p:nvGrpSpPr>
              <p:grpSpPr>
                <a:xfrm>
                  <a:off x="1464202" y="2507397"/>
                  <a:ext cx="341084" cy="419100"/>
                  <a:chOff x="2949" y="2425"/>
                  <a:chExt cx="218" cy="264"/>
                </a:xfrm>
              </p:grpSpPr>
              <p:sp>
                <p:nvSpPr>
                  <p:cNvPr id="4484" name="Google Shape;4484;p47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85" name="Google Shape;4485;p47"/>
                  <p:cNvSpPr txBox="1"/>
                  <p:nvPr/>
                </p:nvSpPr>
                <p:spPr>
                  <a:xfrm>
                    <a:off x="2949" y="2425"/>
                    <a:ext cx="218" cy="26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4486" name="Google Shape;4486;p47"/>
            <p:cNvSpPr/>
            <p:nvPr/>
          </p:nvSpPr>
          <p:spPr>
            <a:xfrm rot="10800000">
              <a:off x="8271137" y="575159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7"/>
            <p:cNvSpPr/>
            <p:nvPr/>
          </p:nvSpPr>
          <p:spPr>
            <a:xfrm>
              <a:off x="7508446" y="575651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7"/>
            <p:cNvSpPr/>
            <p:nvPr/>
          </p:nvSpPr>
          <p:spPr>
            <a:xfrm rot="10800000">
              <a:off x="8263118" y="3813171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7"/>
            <p:cNvSpPr/>
            <p:nvPr/>
          </p:nvSpPr>
          <p:spPr>
            <a:xfrm>
              <a:off x="7516468" y="3818088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7"/>
            <p:cNvSpPr/>
            <p:nvPr/>
          </p:nvSpPr>
          <p:spPr>
            <a:xfrm rot="10800000">
              <a:off x="8271140" y="187474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7"/>
            <p:cNvSpPr/>
            <p:nvPr/>
          </p:nvSpPr>
          <p:spPr>
            <a:xfrm>
              <a:off x="7535184" y="1895707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7"/>
            <p:cNvSpPr/>
            <p:nvPr/>
          </p:nvSpPr>
          <p:spPr>
            <a:xfrm rot="10800000">
              <a:off x="10193519" y="1877422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7"/>
            <p:cNvSpPr/>
            <p:nvPr/>
          </p:nvSpPr>
          <p:spPr>
            <a:xfrm>
              <a:off x="9430828" y="1882339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7"/>
            <p:cNvSpPr/>
            <p:nvPr/>
          </p:nvSpPr>
          <p:spPr>
            <a:xfrm rot="10800000">
              <a:off x="10206889" y="3815843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7"/>
            <p:cNvSpPr/>
            <p:nvPr/>
          </p:nvSpPr>
          <p:spPr>
            <a:xfrm>
              <a:off x="9444198" y="3820760"/>
              <a:ext cx="575190" cy="152414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2F2F2"/>
                </a:gs>
                <a:gs pos="100000">
                  <a:srgbClr val="C00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6" name="Google Shape;4496;p47"/>
          <p:cNvGrpSpPr/>
          <p:nvPr/>
        </p:nvGrpSpPr>
        <p:grpSpPr>
          <a:xfrm>
            <a:off x="657860" y="2400132"/>
            <a:ext cx="5733486" cy="978729"/>
            <a:chOff x="657860" y="2475288"/>
            <a:chExt cx="5733486" cy="978729"/>
          </a:xfrm>
        </p:grpSpPr>
        <p:sp>
          <p:nvSpPr>
            <p:cNvPr id="4497" name="Google Shape;4497;p47"/>
            <p:cNvSpPr txBox="1"/>
            <p:nvPr/>
          </p:nvSpPr>
          <p:spPr>
            <a:xfrm flipH="1">
              <a:off x="1644363" y="2475288"/>
              <a:ext cx="4746983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has propagated to b, and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 away, i.e., at b</a:t>
              </a:r>
              <a:endParaRPr/>
            </a:p>
          </p:txBody>
        </p:sp>
        <p:grpSp>
          <p:nvGrpSpPr>
            <p:cNvPr id="4498" name="Google Shape;4498;p47"/>
            <p:cNvGrpSpPr/>
            <p:nvPr/>
          </p:nvGrpSpPr>
          <p:grpSpPr>
            <a:xfrm>
              <a:off x="657860" y="2750299"/>
              <a:ext cx="918242" cy="370050"/>
              <a:chOff x="1097284" y="2174236"/>
              <a:chExt cx="918242" cy="370050"/>
            </a:xfrm>
          </p:grpSpPr>
          <p:sp>
            <p:nvSpPr>
              <p:cNvPr id="4499" name="Google Shape;449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t=1</a:t>
                </a:r>
                <a:endParaRPr/>
              </a:p>
            </p:txBody>
          </p:sp>
          <p:grpSp>
            <p:nvGrpSpPr>
              <p:cNvPr id="4500" name="Google Shape;450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01" name="Google Shape;450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02" name="Google Shape;450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3" name="Google Shape;450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4" name="Google Shape;450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5" name="Google Shape;450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6" name="Google Shape;450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7" name="Google Shape;450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8" name="Google Shape;450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09" name="Google Shape;450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0" name="Google Shape;451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1" name="Google Shape;451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2" name="Google Shape;451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13" name="Google Shape;451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14" name="Google Shape;451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15" name="Google Shape;4515;p47"/>
                <p:cNvCxnSpPr/>
                <p:nvPr/>
              </p:nvCxnSpPr>
              <p:spPr>
                <a:xfrm flipH="1">
                  <a:off x="1318079" y="2243337"/>
                  <a:ext cx="79786" cy="111123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16" name="Google Shape;4516;p47"/>
          <p:cNvGrpSpPr/>
          <p:nvPr/>
        </p:nvGrpSpPr>
        <p:grpSpPr>
          <a:xfrm>
            <a:off x="644525" y="3464640"/>
            <a:ext cx="5840095" cy="978729"/>
            <a:chOff x="644525" y="3539796"/>
            <a:chExt cx="5840095" cy="978729"/>
          </a:xfrm>
        </p:grpSpPr>
        <p:sp>
          <p:nvSpPr>
            <p:cNvPr id="4517" name="Google Shape;4517;p47"/>
            <p:cNvSpPr txBox="1"/>
            <p:nvPr/>
          </p:nvSpPr>
          <p:spPr>
            <a:xfrm flipH="1">
              <a:off x="1638864" y="3539796"/>
              <a:ext cx="48457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now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hops away, i.e., at b and now at a, e as well</a:t>
              </a:r>
              <a:endParaRPr/>
            </a:p>
          </p:txBody>
        </p:sp>
        <p:grpSp>
          <p:nvGrpSpPr>
            <p:cNvPr id="4518" name="Google Shape;4518;p47"/>
            <p:cNvGrpSpPr/>
            <p:nvPr/>
          </p:nvGrpSpPr>
          <p:grpSpPr>
            <a:xfrm>
              <a:off x="644525" y="3789159"/>
              <a:ext cx="918242" cy="370050"/>
              <a:chOff x="1097284" y="2174236"/>
              <a:chExt cx="918242" cy="370050"/>
            </a:xfrm>
          </p:grpSpPr>
          <p:sp>
            <p:nvSpPr>
              <p:cNvPr id="4519" name="Google Shape;451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t=2</a:t>
                </a:r>
                <a:endParaRPr/>
              </a:p>
            </p:txBody>
          </p:sp>
          <p:grpSp>
            <p:nvGrpSpPr>
              <p:cNvPr id="4520" name="Google Shape;452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21" name="Google Shape;452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22" name="Google Shape;452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3" name="Google Shape;452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4" name="Google Shape;452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5" name="Google Shape;452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6" name="Google Shape;452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7" name="Google Shape;452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8" name="Google Shape;452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29" name="Google Shape;452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0" name="Google Shape;453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1" name="Google Shape;453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2" name="Google Shape;453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33" name="Google Shape;453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34" name="Google Shape;453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35" name="Google Shape;4535;p47"/>
                <p:cNvCxnSpPr/>
                <p:nvPr/>
              </p:nvCxnSpPr>
              <p:spPr>
                <a:xfrm flipH="1">
                  <a:off x="1310990" y="2293502"/>
                  <a:ext cx="151387" cy="67308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36" name="Google Shape;4536;p47"/>
          <p:cNvGrpSpPr/>
          <p:nvPr/>
        </p:nvGrpSpPr>
        <p:grpSpPr>
          <a:xfrm>
            <a:off x="657860" y="4484676"/>
            <a:ext cx="5999480" cy="978729"/>
            <a:chOff x="657860" y="4484676"/>
            <a:chExt cx="5999480" cy="978729"/>
          </a:xfrm>
        </p:grpSpPr>
        <p:sp>
          <p:nvSpPr>
            <p:cNvPr id="4537" name="Google Shape;4537;p47"/>
            <p:cNvSpPr txBox="1"/>
            <p:nvPr/>
          </p:nvSpPr>
          <p:spPr>
            <a:xfrm flipH="1">
              <a:off x="1659184" y="4484676"/>
              <a:ext cx="4998156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 and now at c,f,h as well</a:t>
              </a:r>
              <a:endParaRPr/>
            </a:p>
          </p:txBody>
        </p:sp>
        <p:grpSp>
          <p:nvGrpSpPr>
            <p:cNvPr id="4538" name="Google Shape;4538;p47"/>
            <p:cNvGrpSpPr/>
            <p:nvPr/>
          </p:nvGrpSpPr>
          <p:grpSpPr>
            <a:xfrm>
              <a:off x="657860" y="4761979"/>
              <a:ext cx="918242" cy="370050"/>
              <a:chOff x="1097284" y="2174236"/>
              <a:chExt cx="918242" cy="370050"/>
            </a:xfrm>
          </p:grpSpPr>
          <p:sp>
            <p:nvSpPr>
              <p:cNvPr id="4539" name="Google Shape;453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t=3</a:t>
                </a:r>
                <a:endParaRPr/>
              </a:p>
            </p:txBody>
          </p:sp>
          <p:grpSp>
            <p:nvGrpSpPr>
              <p:cNvPr id="4540" name="Google Shape;454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41" name="Google Shape;454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42" name="Google Shape;454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3" name="Google Shape;454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4" name="Google Shape;454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5" name="Google Shape;454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6" name="Google Shape;454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7" name="Google Shape;454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8" name="Google Shape;454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49" name="Google Shape;454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0" name="Google Shape;455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1" name="Google Shape;455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2" name="Google Shape;455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53" name="Google Shape;455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54" name="Google Shape;455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55" name="Google Shape;4555;p47"/>
                <p:cNvCxnSpPr/>
                <p:nvPr/>
              </p:nvCxnSpPr>
              <p:spPr>
                <a:xfrm rot="10800000">
                  <a:off x="1314533" y="2354460"/>
                  <a:ext cx="154224" cy="0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56" name="Google Shape;4556;p47"/>
          <p:cNvGrpSpPr/>
          <p:nvPr/>
        </p:nvGrpSpPr>
        <p:grpSpPr>
          <a:xfrm>
            <a:off x="657860" y="5524662"/>
            <a:ext cx="5918200" cy="978729"/>
            <a:chOff x="657860" y="5499610"/>
            <a:chExt cx="5918200" cy="978729"/>
          </a:xfrm>
        </p:grpSpPr>
        <p:sp>
          <p:nvSpPr>
            <p:cNvPr id="4557" name="Google Shape;4557;p47"/>
            <p:cNvSpPr/>
            <p:nvPr/>
          </p:nvSpPr>
          <p:spPr>
            <a:xfrm>
              <a:off x="1638300" y="5499610"/>
              <a:ext cx="4937760" cy="9787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c’s state at t=0 may influence distance vector computations up to </a:t>
              </a:r>
              <a:r>
                <a:rPr b="1" lang="en-US" sz="24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hops away, i.e., at b,a,e, c, f, h and now at g,i as well</a:t>
              </a:r>
              <a:endParaRPr/>
            </a:p>
          </p:txBody>
        </p:sp>
        <p:grpSp>
          <p:nvGrpSpPr>
            <p:cNvPr id="4558" name="Google Shape;4558;p47"/>
            <p:cNvGrpSpPr/>
            <p:nvPr/>
          </p:nvGrpSpPr>
          <p:grpSpPr>
            <a:xfrm>
              <a:off x="657860" y="5777979"/>
              <a:ext cx="918242" cy="370050"/>
              <a:chOff x="1097284" y="2174236"/>
              <a:chExt cx="918242" cy="370050"/>
            </a:xfrm>
          </p:grpSpPr>
          <p:sp>
            <p:nvSpPr>
              <p:cNvPr id="4559" name="Google Shape;4559;p47"/>
              <p:cNvSpPr txBox="1"/>
              <p:nvPr/>
            </p:nvSpPr>
            <p:spPr>
              <a:xfrm>
                <a:off x="1521480" y="2174954"/>
                <a:ext cx="49404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t=4</a:t>
                </a:r>
                <a:endParaRPr/>
              </a:p>
            </p:txBody>
          </p:sp>
          <p:grpSp>
            <p:nvGrpSpPr>
              <p:cNvPr id="4560" name="Google Shape;4560;p47"/>
              <p:cNvGrpSpPr/>
              <p:nvPr/>
            </p:nvGrpSpPr>
            <p:grpSpPr>
              <a:xfrm>
                <a:off x="1097284" y="2174236"/>
                <a:ext cx="392849" cy="364140"/>
                <a:chOff x="1097284" y="2174236"/>
                <a:chExt cx="438579" cy="364140"/>
              </a:xfrm>
            </p:grpSpPr>
            <p:sp>
              <p:nvSpPr>
                <p:cNvPr id="4561" name="Google Shape;4561;p47"/>
                <p:cNvSpPr/>
                <p:nvPr/>
              </p:nvSpPr>
              <p:spPr>
                <a:xfrm>
                  <a:off x="1100473" y="2176595"/>
                  <a:ext cx="431322" cy="361447"/>
                </a:xfrm>
                <a:prstGeom prst="ellipse">
                  <a:avLst/>
                </a:prstGeom>
                <a:noFill/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62" name="Google Shape;4562;p47"/>
                <p:cNvCxnSpPr/>
                <p:nvPr/>
              </p:nvCxnSpPr>
              <p:spPr>
                <a:xfrm>
                  <a:off x="1314533" y="2174236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3" name="Google Shape;4563;p47"/>
                <p:cNvCxnSpPr/>
                <p:nvPr/>
              </p:nvCxnSpPr>
              <p:spPr>
                <a:xfrm>
                  <a:off x="1314533" y="2505897"/>
                  <a:ext cx="0" cy="3247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4" name="Google Shape;4564;p47"/>
                <p:cNvCxnSpPr/>
                <p:nvPr/>
              </p:nvCxnSpPr>
              <p:spPr>
                <a:xfrm rot="10800000">
                  <a:off x="1116663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5" name="Google Shape;4565;p47"/>
                <p:cNvCxnSpPr/>
                <p:nvPr/>
              </p:nvCxnSpPr>
              <p:spPr>
                <a:xfrm rot="10800000">
                  <a:off x="1516484" y="2338620"/>
                  <a:ext cx="0" cy="38758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6" name="Google Shape;4566;p47"/>
                <p:cNvCxnSpPr/>
                <p:nvPr/>
              </p:nvCxnSpPr>
              <p:spPr>
                <a:xfrm>
                  <a:off x="1411431" y="249304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7" name="Google Shape;4567;p47"/>
                <p:cNvCxnSpPr/>
                <p:nvPr/>
              </p:nvCxnSpPr>
              <p:spPr>
                <a:xfrm>
                  <a:off x="1205401" y="2199023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8" name="Google Shape;4568;p47"/>
                <p:cNvCxnSpPr/>
                <p:nvPr/>
              </p:nvCxnSpPr>
              <p:spPr>
                <a:xfrm flipH="1">
                  <a:off x="1201321" y="2491335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69" name="Google Shape;4569;p47"/>
                <p:cNvCxnSpPr/>
                <p:nvPr/>
              </p:nvCxnSpPr>
              <p:spPr>
                <a:xfrm flipH="1">
                  <a:off x="1407351" y="2197314"/>
                  <a:ext cx="17336" cy="23077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0" name="Google Shape;4570;p47"/>
                <p:cNvCxnSpPr/>
                <p:nvPr/>
              </p:nvCxnSpPr>
              <p:spPr>
                <a:xfrm flipH="1">
                  <a:off x="1480788" y="226398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1" name="Google Shape;4571;p47"/>
                <p:cNvCxnSpPr/>
                <p:nvPr/>
              </p:nvCxnSpPr>
              <p:spPr>
                <a:xfrm flipH="1">
                  <a:off x="1129926" y="243492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2" name="Google Shape;4572;p47"/>
                <p:cNvCxnSpPr/>
                <p:nvPr/>
              </p:nvCxnSpPr>
              <p:spPr>
                <a:xfrm rot="10800000">
                  <a:off x="1136045" y="2265692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4573" name="Google Shape;4573;p47"/>
                <p:cNvCxnSpPr/>
                <p:nvPr/>
              </p:nvCxnSpPr>
              <p:spPr>
                <a:xfrm rot="10800000">
                  <a:off x="1480788" y="2436635"/>
                  <a:ext cx="23455" cy="14529"/>
                </a:xfrm>
                <a:prstGeom prst="straightConnector1">
                  <a:avLst/>
                </a:prstGeom>
                <a:noFill/>
                <a:ln cap="rnd" cmpd="sng" w="127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4574" name="Google Shape;4574;p47"/>
                <p:cNvSpPr/>
                <p:nvPr/>
              </p:nvSpPr>
              <p:spPr>
                <a:xfrm>
                  <a:off x="1288014" y="2334922"/>
                  <a:ext cx="53037" cy="46914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575" name="Google Shape;4575;p47"/>
                <p:cNvCxnSpPr/>
                <p:nvPr/>
              </p:nvCxnSpPr>
              <p:spPr>
                <a:xfrm rot="10800000">
                  <a:off x="1310989" y="2351285"/>
                  <a:ext cx="140045" cy="71122"/>
                </a:xfrm>
                <a:prstGeom prst="straightConnector1">
                  <a:avLst/>
                </a:prstGeom>
                <a:noFill/>
                <a:ln cap="flat" cmpd="sng" w="2540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</p:grpSp>
        </p:grpSp>
      </p:grpSp>
      <p:sp>
        <p:nvSpPr>
          <p:cNvPr id="4576" name="Google Shape;4576;p47"/>
          <p:cNvSpPr txBox="1"/>
          <p:nvPr/>
        </p:nvSpPr>
        <p:spPr>
          <a:xfrm>
            <a:off x="802640" y="1188720"/>
            <a:ext cx="106197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Iterative communication, computation steps diffuses information through network: </a:t>
            </a:r>
            <a:endParaRPr/>
          </a:p>
        </p:txBody>
      </p:sp>
      <p:grpSp>
        <p:nvGrpSpPr>
          <p:cNvPr id="4577" name="Google Shape;4577;p47"/>
          <p:cNvGrpSpPr/>
          <p:nvPr/>
        </p:nvGrpSpPr>
        <p:grpSpPr>
          <a:xfrm>
            <a:off x="8879399" y="1803748"/>
            <a:ext cx="2857489" cy="1596883"/>
            <a:chOff x="8879399" y="1803748"/>
            <a:chExt cx="2857489" cy="1596883"/>
          </a:xfrm>
        </p:grpSpPr>
        <p:sp>
          <p:nvSpPr>
            <p:cNvPr id="4578" name="Google Shape;4578;p47"/>
            <p:cNvSpPr/>
            <p:nvPr/>
          </p:nvSpPr>
          <p:spPr>
            <a:xfrm>
              <a:off x="8879399" y="1803748"/>
              <a:ext cx="2857489" cy="1536065"/>
            </a:xfrm>
            <a:custGeom>
              <a:rect b="b" l="l" r="r" t="t"/>
              <a:pathLst>
                <a:path extrusionOk="0" h="1536065" w="2857489">
                  <a:moveTo>
                    <a:pt x="1555" y="0"/>
                  </a:moveTo>
                  <a:cubicBezTo>
                    <a:pt x="-6794" y="271398"/>
                    <a:pt x="1555" y="1075152"/>
                    <a:pt x="477544" y="1327760"/>
                  </a:cubicBezTo>
                  <a:cubicBezTo>
                    <a:pt x="953533" y="1580368"/>
                    <a:pt x="1968141" y="1544876"/>
                    <a:pt x="2857489" y="151564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79" name="Google Shape;4579;p47"/>
            <p:cNvSpPr txBox="1"/>
            <p:nvPr/>
          </p:nvSpPr>
          <p:spPr>
            <a:xfrm>
              <a:off x="11185743" y="3031299"/>
              <a:ext cx="54694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t=1 </a:t>
              </a:r>
              <a:endParaRPr/>
            </a:p>
          </p:txBody>
        </p:sp>
      </p:grpSp>
      <p:grpSp>
        <p:nvGrpSpPr>
          <p:cNvPr id="4580" name="Google Shape;4580;p47"/>
          <p:cNvGrpSpPr/>
          <p:nvPr/>
        </p:nvGrpSpPr>
        <p:grpSpPr>
          <a:xfrm>
            <a:off x="7149715" y="1929521"/>
            <a:ext cx="4586651" cy="2599426"/>
            <a:chOff x="8907795" y="1814699"/>
            <a:chExt cx="2775713" cy="2599426"/>
          </a:xfrm>
        </p:grpSpPr>
        <p:sp>
          <p:nvSpPr>
            <p:cNvPr id="4581" name="Google Shape;4581;p47"/>
            <p:cNvSpPr/>
            <p:nvPr/>
          </p:nvSpPr>
          <p:spPr>
            <a:xfrm>
              <a:off x="8907795" y="1814699"/>
              <a:ext cx="2745708" cy="2599426"/>
            </a:xfrm>
            <a:custGeom>
              <a:rect b="b" l="l" r="r" t="t"/>
              <a:pathLst>
                <a:path extrusionOk="0" h="2364158" w="2785999">
                  <a:moveTo>
                    <a:pt x="0" y="0"/>
                  </a:moveTo>
                  <a:cubicBezTo>
                    <a:pt x="943" y="1381432"/>
                    <a:pt x="550939" y="1118129"/>
                    <a:pt x="780300" y="1512155"/>
                  </a:cubicBezTo>
                  <a:cubicBezTo>
                    <a:pt x="1009661" y="1906181"/>
                    <a:pt x="979509" y="2332843"/>
                    <a:pt x="1376166" y="2364158"/>
                  </a:cubicBezTo>
                  <a:cubicBezTo>
                    <a:pt x="1818305" y="2338511"/>
                    <a:pt x="1761382" y="1586941"/>
                    <a:pt x="2785999" y="153986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2" name="Google Shape;4582;p47"/>
            <p:cNvSpPr txBox="1"/>
            <p:nvPr/>
          </p:nvSpPr>
          <p:spPr>
            <a:xfrm>
              <a:off x="11352512" y="3203511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t=2 </a:t>
              </a:r>
              <a:endParaRPr/>
            </a:p>
          </p:txBody>
        </p:sp>
      </p:grpSp>
      <p:grpSp>
        <p:nvGrpSpPr>
          <p:cNvPr id="4583" name="Google Shape;4583;p47"/>
          <p:cNvGrpSpPr/>
          <p:nvPr/>
        </p:nvGrpSpPr>
        <p:grpSpPr>
          <a:xfrm>
            <a:off x="7026541" y="1994238"/>
            <a:ext cx="4824649" cy="4365597"/>
            <a:chOff x="8907795" y="1814698"/>
            <a:chExt cx="2919743" cy="4365597"/>
          </a:xfrm>
        </p:grpSpPr>
        <p:sp>
          <p:nvSpPr>
            <p:cNvPr id="4584" name="Google Shape;4584;p47"/>
            <p:cNvSpPr/>
            <p:nvPr/>
          </p:nvSpPr>
          <p:spPr>
            <a:xfrm>
              <a:off x="8907795" y="1814698"/>
              <a:ext cx="2806352" cy="4365597"/>
            </a:xfrm>
            <a:custGeom>
              <a:rect b="b" l="l" r="r" t="t"/>
              <a:pathLst>
                <a:path extrusionOk="0" h="3970477" w="2847532">
                  <a:moveTo>
                    <a:pt x="0" y="0"/>
                  </a:moveTo>
                  <a:cubicBezTo>
                    <a:pt x="943" y="1381432"/>
                    <a:pt x="7986" y="1928780"/>
                    <a:pt x="6598" y="2237364"/>
                  </a:cubicBezTo>
                  <a:cubicBezTo>
                    <a:pt x="5210" y="2545948"/>
                    <a:pt x="941136" y="3970903"/>
                    <a:pt x="1422317" y="3970477"/>
                  </a:cubicBezTo>
                  <a:cubicBezTo>
                    <a:pt x="1903498" y="3970051"/>
                    <a:pt x="2053664" y="2919844"/>
                    <a:pt x="2847532" y="2918339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5" name="Google Shape;4585;p47"/>
            <p:cNvSpPr txBox="1"/>
            <p:nvPr/>
          </p:nvSpPr>
          <p:spPr>
            <a:xfrm>
              <a:off x="11496542" y="4706635"/>
              <a:ext cx="3309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t=3 </a:t>
              </a:r>
              <a:endParaRPr/>
            </a:p>
          </p:txBody>
        </p:sp>
      </p:grpSp>
      <p:grpSp>
        <p:nvGrpSpPr>
          <p:cNvPr id="4586" name="Google Shape;4586;p47"/>
          <p:cNvGrpSpPr/>
          <p:nvPr/>
        </p:nvGrpSpPr>
        <p:grpSpPr>
          <a:xfrm>
            <a:off x="6828212" y="2004167"/>
            <a:ext cx="5205658" cy="4487257"/>
            <a:chOff x="8907795" y="1823741"/>
            <a:chExt cx="2917701" cy="3238676"/>
          </a:xfrm>
        </p:grpSpPr>
        <p:sp>
          <p:nvSpPr>
            <p:cNvPr id="4587" name="Google Shape;4587;p47"/>
            <p:cNvSpPr/>
            <p:nvPr/>
          </p:nvSpPr>
          <p:spPr>
            <a:xfrm>
              <a:off x="8907795" y="1823741"/>
              <a:ext cx="2806351" cy="3234534"/>
            </a:xfrm>
            <a:custGeom>
              <a:rect b="b" l="l" r="r" t="t"/>
              <a:pathLst>
                <a:path extrusionOk="0" h="2941785" w="2847532">
                  <a:moveTo>
                    <a:pt x="0" y="0"/>
                  </a:moveTo>
                  <a:cubicBezTo>
                    <a:pt x="15191" y="1611659"/>
                    <a:pt x="-19201" y="2632144"/>
                    <a:pt x="92081" y="2812934"/>
                  </a:cubicBezTo>
                  <a:cubicBezTo>
                    <a:pt x="203363" y="2993724"/>
                    <a:pt x="2234300" y="2940917"/>
                    <a:pt x="2847532" y="2910117"/>
                  </a:cubicBezTo>
                </a:path>
              </a:pathLst>
            </a:custGeom>
            <a:noFill/>
            <a:ln cap="flat" cmpd="sng" w="412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</a:t>
              </a:r>
              <a:endParaRPr/>
            </a:p>
          </p:txBody>
        </p:sp>
        <p:sp>
          <p:nvSpPr>
            <p:cNvPr id="4588" name="Google Shape;4588;p47"/>
            <p:cNvSpPr txBox="1"/>
            <p:nvPr/>
          </p:nvSpPr>
          <p:spPr>
            <a:xfrm>
              <a:off x="11518941" y="4795852"/>
              <a:ext cx="306555" cy="266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t=4 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45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2" name="Shape 4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3" name="Google Shape;4593;p4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594" name="Google Shape;4594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5" name="Google Shape;4595;p48"/>
          <p:cNvSpPr txBox="1"/>
          <p:nvPr/>
        </p:nvSpPr>
        <p:spPr>
          <a:xfrm>
            <a:off x="488515" y="4245258"/>
            <a:ext cx="184132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“good news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travels fast”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6" name="Google Shape;4596;p48"/>
          <p:cNvSpPr/>
          <p:nvPr/>
        </p:nvSpPr>
        <p:spPr>
          <a:xfrm>
            <a:off x="2337453" y="3722449"/>
            <a:ext cx="9111337" cy="738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detects link-cost change, updates its DV, informs its neighbors.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7" name="Google Shape;4597;p48"/>
          <p:cNvSpPr/>
          <p:nvPr/>
        </p:nvSpPr>
        <p:spPr>
          <a:xfrm>
            <a:off x="2350153" y="4231521"/>
            <a:ext cx="871033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update from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updates its table, computes new least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sends its neighbors its DV.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8" name="Google Shape;4598;p48"/>
          <p:cNvSpPr/>
          <p:nvPr/>
        </p:nvSpPr>
        <p:spPr>
          <a:xfrm>
            <a:off x="2322274" y="5064204"/>
            <a:ext cx="845011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09575" lvl="0" marL="409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’s update, updates its distance table. 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y’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least costs do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change,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does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send a message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9" name="Google Shape;4599;p48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 routing info, recalculates local DV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DV changes, notify neighbors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4600" name="Google Shape;4600;p48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01" name="Google Shape;4601;p48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4" name="Google Shape;4604;p48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5" name="Google Shape;4605;p48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06" name="Google Shape;4606;p48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0" name="Google Shape;4610;p48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11" name="Google Shape;4611;p48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2" name="Google Shape;4612;p48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13" name="Google Shape;4613;p48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14" name="Google Shape;4614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15" name="Google Shape;4615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16" name="Google Shape;4616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17" name="Google Shape;4617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18" name="Google Shape;4618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19" name="Google Shape;4619;p48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20" name="Google Shape;4620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21" name="Google Shape;4621;p48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22" name="Google Shape;4622;p48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3" name="Google Shape;4623;p48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4" name="Google Shape;4624;p48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25" name="Google Shape;4625;p48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26" name="Google Shape;4626;p48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27" name="Google Shape;4627;p48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28" name="Google Shape;4628;p48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29" name="Google Shape;4629;p48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30" name="Google Shape;4630;p48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31" name="Google Shape;4631;p48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32" name="Google Shape;4632;p48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33" name="Google Shape;4633;p48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34" name="Google Shape;4634;p48"/>
            <p:cNvSpPr txBox="1"/>
            <p:nvPr/>
          </p:nvSpPr>
          <p:spPr>
            <a:xfrm>
              <a:off x="3837" y="1076"/>
              <a:ext cx="18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35" name="Google Shape;4635;p48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9" name="Shape 4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0" name="Google Shape;4640;p4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link cost changes</a:t>
            </a:r>
            <a:endParaRPr/>
          </a:p>
        </p:txBody>
      </p:sp>
      <p:sp>
        <p:nvSpPr>
          <p:cNvPr id="4641" name="Google Shape;4641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2" name="Google Shape;4642;p49"/>
          <p:cNvSpPr/>
          <p:nvPr/>
        </p:nvSpPr>
        <p:spPr>
          <a:xfrm>
            <a:off x="839244" y="1512909"/>
            <a:ext cx="8066762" cy="2006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link cost changes: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detects local link cost change 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“bad news travels slow”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count-to-infinity problem:</a:t>
            </a:r>
            <a:endParaRPr/>
          </a:p>
        </p:txBody>
      </p:sp>
      <p:grpSp>
        <p:nvGrpSpPr>
          <p:cNvPr id="4643" name="Google Shape;4643;p49"/>
          <p:cNvGrpSpPr/>
          <p:nvPr/>
        </p:nvGrpSpPr>
        <p:grpSpPr>
          <a:xfrm>
            <a:off x="9120644" y="1471939"/>
            <a:ext cx="2184400" cy="1314450"/>
            <a:chOff x="3625" y="1076"/>
            <a:chExt cx="1376" cy="828"/>
          </a:xfrm>
        </p:grpSpPr>
        <p:sp>
          <p:nvSpPr>
            <p:cNvPr id="4644" name="Google Shape;4644;p49"/>
            <p:cNvSpPr/>
            <p:nvPr/>
          </p:nvSpPr>
          <p:spPr>
            <a:xfrm>
              <a:off x="3625" y="114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5" name="Google Shape;4645;p49"/>
            <p:cNvSpPr/>
            <p:nvPr/>
          </p:nvSpPr>
          <p:spPr>
            <a:xfrm>
              <a:off x="3984" y="1404"/>
              <a:ext cx="222" cy="180"/>
            </a:xfrm>
            <a:custGeom>
              <a:rect b="b" l="l" r="r" t="t"/>
              <a:pathLst>
                <a:path extrusionOk="0" h="180" w="222">
                  <a:moveTo>
                    <a:pt x="0" y="180"/>
                  </a:moveTo>
                  <a:lnTo>
                    <a:pt x="22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6" name="Google Shape;4646;p49"/>
            <p:cNvSpPr/>
            <p:nvPr/>
          </p:nvSpPr>
          <p:spPr>
            <a:xfrm>
              <a:off x="3724" y="1640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47" name="Google Shape;4647;p49"/>
            <p:cNvCxnSpPr/>
            <p:nvPr/>
          </p:nvCxnSpPr>
          <p:spPr>
            <a:xfrm>
              <a:off x="3724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48" name="Google Shape;4648;p49"/>
            <p:cNvCxnSpPr/>
            <p:nvPr/>
          </p:nvCxnSpPr>
          <p:spPr>
            <a:xfrm>
              <a:off x="4037" y="1633"/>
              <a:ext cx="1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649" name="Google Shape;4649;p49"/>
            <p:cNvSpPr/>
            <p:nvPr/>
          </p:nvSpPr>
          <p:spPr>
            <a:xfrm>
              <a:off x="3724" y="1633"/>
              <a:ext cx="310" cy="49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50" name="Google Shape;4650;p49"/>
            <p:cNvSpPr/>
            <p:nvPr/>
          </p:nvSpPr>
          <p:spPr>
            <a:xfrm>
              <a:off x="3721" y="1574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1" name="Google Shape;4651;p49"/>
            <p:cNvSpPr/>
            <p:nvPr/>
          </p:nvSpPr>
          <p:spPr>
            <a:xfrm>
              <a:off x="4389" y="1404"/>
              <a:ext cx="216" cy="189"/>
            </a:xfrm>
            <a:custGeom>
              <a:rect b="b" l="l" r="r" t="t"/>
              <a:pathLst>
                <a:path extrusionOk="0" h="189" w="216">
                  <a:moveTo>
                    <a:pt x="0" y="0"/>
                  </a:moveTo>
                  <a:lnTo>
                    <a:pt x="216" y="189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2" name="Google Shape;4652;p49"/>
            <p:cNvSpPr/>
            <p:nvPr/>
          </p:nvSpPr>
          <p:spPr>
            <a:xfrm>
              <a:off x="4041" y="1668"/>
              <a:ext cx="540" cy="3"/>
            </a:xfrm>
            <a:custGeom>
              <a:rect b="b" l="l" r="r" t="t"/>
              <a:pathLst>
                <a:path extrusionOk="0" h="3" w="540">
                  <a:moveTo>
                    <a:pt x="540" y="3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53" name="Google Shape;4653;p49"/>
            <p:cNvGrpSpPr/>
            <p:nvPr/>
          </p:nvGrpSpPr>
          <p:grpSpPr>
            <a:xfrm>
              <a:off x="3770" y="1526"/>
              <a:ext cx="210" cy="250"/>
              <a:chOff x="2951" y="2429"/>
              <a:chExt cx="213" cy="250"/>
            </a:xfrm>
          </p:grpSpPr>
          <p:sp>
            <p:nvSpPr>
              <p:cNvPr id="4654" name="Google Shape;4654;p49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5" name="Google Shape;4655;p49"/>
              <p:cNvSpPr txBox="1"/>
              <p:nvPr/>
            </p:nvSpPr>
            <p:spPr>
              <a:xfrm>
                <a:off x="2951" y="2429"/>
                <a:ext cx="213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omic Sans MS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x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4656" name="Google Shape;4656;p49"/>
            <p:cNvGrpSpPr/>
            <p:nvPr/>
          </p:nvGrpSpPr>
          <p:grpSpPr>
            <a:xfrm>
              <a:off x="4566" y="1538"/>
              <a:ext cx="316" cy="250"/>
              <a:chOff x="1740" y="2306"/>
              <a:chExt cx="316" cy="250"/>
            </a:xfrm>
          </p:grpSpPr>
          <p:sp>
            <p:nvSpPr>
              <p:cNvPr id="4657" name="Google Shape;4657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58" name="Google Shape;4658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9" name="Google Shape;4659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60" name="Google Shape;4660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61" name="Google Shape;4661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62" name="Google Shape;4662;p49"/>
              <p:cNvGrpSpPr/>
              <p:nvPr/>
            </p:nvGrpSpPr>
            <p:grpSpPr>
              <a:xfrm>
                <a:off x="1800" y="2306"/>
                <a:ext cx="202" cy="250"/>
                <a:chOff x="2955" y="2429"/>
                <a:chExt cx="205" cy="250"/>
              </a:xfrm>
            </p:grpSpPr>
            <p:sp>
              <p:nvSpPr>
                <p:cNvPr id="4663" name="Google Shape;4663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64" name="Google Shape;4664;p49"/>
                <p:cNvSpPr txBox="1"/>
                <p:nvPr/>
              </p:nvSpPr>
              <p:spPr>
                <a:xfrm>
                  <a:off x="2955" y="2429"/>
                  <a:ext cx="205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z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65" name="Google Shape;4665;p49"/>
            <p:cNvSpPr txBox="1"/>
            <p:nvPr/>
          </p:nvSpPr>
          <p:spPr>
            <a:xfrm>
              <a:off x="4469" y="1328"/>
              <a:ext cx="18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6" name="Google Shape;4666;p49"/>
            <p:cNvSpPr txBox="1"/>
            <p:nvPr/>
          </p:nvSpPr>
          <p:spPr>
            <a:xfrm>
              <a:off x="3930" y="1325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4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67" name="Google Shape;4667;p49"/>
            <p:cNvSpPr txBox="1"/>
            <p:nvPr/>
          </p:nvSpPr>
          <p:spPr>
            <a:xfrm>
              <a:off x="4171" y="1658"/>
              <a:ext cx="29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50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68" name="Google Shape;4668;p49"/>
            <p:cNvGrpSpPr/>
            <p:nvPr/>
          </p:nvGrpSpPr>
          <p:grpSpPr>
            <a:xfrm>
              <a:off x="4146" y="1214"/>
              <a:ext cx="316" cy="250"/>
              <a:chOff x="1740" y="2306"/>
              <a:chExt cx="316" cy="250"/>
            </a:xfrm>
          </p:grpSpPr>
          <p:sp>
            <p:nvSpPr>
              <p:cNvPr id="4669" name="Google Shape;4669;p49"/>
              <p:cNvSpPr/>
              <p:nvPr/>
            </p:nvSpPr>
            <p:spPr>
              <a:xfrm>
                <a:off x="1743" y="242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70" name="Google Shape;4670;p49"/>
              <p:cNvCxnSpPr/>
              <p:nvPr/>
            </p:nvCxnSpPr>
            <p:spPr>
              <a:xfrm>
                <a:off x="1743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71" name="Google Shape;4671;p49"/>
              <p:cNvCxnSpPr/>
              <p:nvPr/>
            </p:nvCxnSpPr>
            <p:spPr>
              <a:xfrm>
                <a:off x="2056" y="2413"/>
                <a:ext cx="0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72" name="Google Shape;4672;p49"/>
              <p:cNvSpPr/>
              <p:nvPr/>
            </p:nvSpPr>
            <p:spPr>
              <a:xfrm>
                <a:off x="1743" y="241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3" name="Google Shape;4673;p49"/>
              <p:cNvSpPr/>
              <p:nvPr/>
            </p:nvSpPr>
            <p:spPr>
              <a:xfrm>
                <a:off x="1740" y="235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674" name="Google Shape;4674;p49"/>
              <p:cNvGrpSpPr/>
              <p:nvPr/>
            </p:nvGrpSpPr>
            <p:grpSpPr>
              <a:xfrm>
                <a:off x="1802" y="2306"/>
                <a:ext cx="199" cy="250"/>
                <a:chOff x="2957" y="2429"/>
                <a:chExt cx="202" cy="250"/>
              </a:xfrm>
            </p:grpSpPr>
            <p:sp>
              <p:nvSpPr>
                <p:cNvPr id="4675" name="Google Shape;4675;p49"/>
                <p:cNvSpPr/>
                <p:nvPr/>
              </p:nvSpPr>
              <p:spPr>
                <a:xfrm>
                  <a:off x="2982" y="2490"/>
                  <a:ext cx="143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76" name="Google Shape;4676;p49"/>
                <p:cNvSpPr txBox="1"/>
                <p:nvPr/>
              </p:nvSpPr>
              <p:spPr>
                <a:xfrm>
                  <a:off x="2957" y="2429"/>
                  <a:ext cx="202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y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sp>
          <p:nvSpPr>
            <p:cNvPr id="4677" name="Google Shape;4677;p49"/>
            <p:cNvSpPr txBox="1"/>
            <p:nvPr/>
          </p:nvSpPr>
          <p:spPr>
            <a:xfrm>
              <a:off x="3781" y="1076"/>
              <a:ext cx="29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omic Sans MS"/>
                <a:buNone/>
              </a:pPr>
              <a:r>
                <a:rPr lang="en-US" sz="1800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6</a:t>
              </a:r>
              <a:r>
                <a:rPr b="0" i="0" lang="en-US" sz="1800" u="none" cap="none" strike="noStrike">
                  <a:solidFill>
                    <a:srgbClr val="FF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0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678" name="Google Shape;4678;p49"/>
            <p:cNvCxnSpPr/>
            <p:nvPr/>
          </p:nvCxnSpPr>
          <p:spPr>
            <a:xfrm rot="10800000">
              <a:off x="3948" y="1272"/>
              <a:ext cx="132" cy="228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679" name="Google Shape;4679;p49"/>
          <p:cNvSpPr/>
          <p:nvPr/>
        </p:nvSpPr>
        <p:spPr>
          <a:xfrm>
            <a:off x="1041747" y="2917913"/>
            <a:ext cx="10519776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sees direct link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 new cost 60, but z has said it has a path at cost of 5.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computes “my new cost to x will be 6, via z);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6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0" name="Google Shape;4680;p49"/>
          <p:cNvSpPr/>
          <p:nvPr/>
        </p:nvSpPr>
        <p:spPr>
          <a:xfrm>
            <a:off x="1043836" y="3596406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6,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7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7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1" name="Google Shape;4681;p49"/>
          <p:cNvSpPr/>
          <p:nvPr/>
        </p:nvSpPr>
        <p:spPr>
          <a:xfrm>
            <a:off x="1045923" y="4274900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7,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8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8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2" name="Google Shape;4682;p49"/>
          <p:cNvSpPr/>
          <p:nvPr/>
        </p:nvSpPr>
        <p:spPr>
          <a:xfrm>
            <a:off x="1020871" y="4963831"/>
            <a:ext cx="9931052" cy="752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learns that path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new cost 8, so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computes “my new cost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will be 9 via y), notifies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new cost of 9 to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x.</a:t>
            </a:r>
            <a:endParaRPr/>
          </a:p>
        </p:txBody>
      </p:sp>
      <p:sp>
        <p:nvSpPr>
          <p:cNvPr id="4683" name="Google Shape;4683;p49"/>
          <p:cNvSpPr txBox="1"/>
          <p:nvPr/>
        </p:nvSpPr>
        <p:spPr>
          <a:xfrm>
            <a:off x="1365337" y="5473616"/>
            <a:ext cx="4331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4684" name="Google Shape;4684;p49"/>
          <p:cNvSpPr/>
          <p:nvPr/>
        </p:nvSpPr>
        <p:spPr>
          <a:xfrm>
            <a:off x="847596" y="6018756"/>
            <a:ext cx="9931052" cy="445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3838" lvl="0" marL="34766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see text for solutions. 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algorithms are tricky!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8" name="Shape 4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9" name="Google Shape;4689;p50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</a:t>
            </a:r>
            <a:endParaRPr/>
          </a:p>
        </p:txBody>
      </p:sp>
      <p:sp>
        <p:nvSpPr>
          <p:cNvPr id="4690" name="Google Shape;469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691" name="Google Shape;4691;p50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692" name="Google Shape;4692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693" name="Google Shape;4693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4" name="Google Shape;4694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5" name="Google Shape;4695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96" name="Google Shape;4696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7" name="Google Shape;4697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8" name="Google Shape;4698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9" name="Google Shape;4699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0" name="Google Shape;4700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1" name="Google Shape;4701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02" name="Google Shape;4702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03" name="Google Shape;4703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04" name="Google Shape;4704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05" name="Google Shape;4705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06" name="Google Shape;47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07" name="Google Shape;47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08" name="Google Shape;47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09" name="Google Shape;47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10" name="Google Shape;47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11" name="Google Shape;4711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12" name="Google Shape;47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13" name="Google Shape;4713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14" name="Google Shape;4714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5" name="Google Shape;4715;p50"/>
              <p:cNvSpPr txBox="1"/>
              <p:nvPr/>
            </p:nvSpPr>
            <p:spPr>
              <a:xfrm>
                <a:off x="3930" y="1325"/>
                <a:ext cx="20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4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6" name="Google Shape;4716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17" name="Google Shape;4717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18" name="Google Shape;4718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19" name="Google Shape;4719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20" name="Google Shape;4720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21" name="Google Shape;4721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22" name="Google Shape;4722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23" name="Google Shape;4723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24" name="Google Shape;4724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5" name="Google Shape;4725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26" name="Google Shape;4726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27" name="Google Shape;472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28" name="Google Shape;472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29" name="Google Shape;4729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30" name="Google Shape;4730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31" name="Google Shape;4731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2" name="Google Shape;4732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33" name="Google Shape;4733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34" name="Google Shape;4734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35" name="Google Shape;4735;p50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736" name="Google Shape;473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37" name="Google Shape;473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8" name="Google Shape;473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9" name="Google Shape;473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0" name="Google Shape;474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41" name="Google Shape;474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42" name="Google Shape;474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3" name="Google Shape;474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4" name="Google Shape;474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5" name="Google Shape;474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46" name="Google Shape;474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47" name="Google Shape;474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48" name="Google Shape;474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49" name="Google Shape;474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50" name="Google Shape;475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51" name="Google Shape;475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52" name="Google Shape;475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53" name="Google Shape;475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54" name="Google Shape;475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55" name="Google Shape;475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756" name="Google Shape;475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7" name="Google Shape;475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758" name="Google Shape;475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9" name="Google Shape;475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0" name="Google Shape;476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761" name="Google Shape;476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762" name="Google Shape;476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63" name="Google Shape;476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64" name="Google Shape;476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65" name="Google Shape;476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66" name="Google Shape;476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67" name="Google Shape;476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768" name="Google Shape;476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69" name="Google Shape;476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770" name="Google Shape;477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771" name="Google Shape;477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772" name="Google Shape;477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3" name="Google Shape;477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774" name="Google Shape;477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775" name="Google Shape;477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76" name="Google Shape;477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777" name="Google Shape;477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778" name="Google Shape;477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60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79" name="Google Shape;4779;p50"/>
          <p:cNvGrpSpPr/>
          <p:nvPr/>
        </p:nvGrpSpPr>
        <p:grpSpPr>
          <a:xfrm>
            <a:off x="6384209" y="929060"/>
            <a:ext cx="4207007" cy="2680206"/>
            <a:chOff x="1592980" y="1758589"/>
            <a:chExt cx="4207007" cy="2680206"/>
          </a:xfrm>
        </p:grpSpPr>
        <p:grpSp>
          <p:nvGrpSpPr>
            <p:cNvPr id="4780" name="Google Shape;4780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781" name="Google Shape;4781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2" name="Google Shape;4782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3" name="Google Shape;4783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84" name="Google Shape;4784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85" name="Google Shape;4785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86" name="Google Shape;4786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87" name="Google Shape;4787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8" name="Google Shape;4788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9" name="Google Shape;4789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90" name="Google Shape;4790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791" name="Google Shape;4791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2" name="Google Shape;4792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793" name="Google Shape;4793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794" name="Google Shape;4794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795" name="Google Shape;4795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796" name="Google Shape;4796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797" name="Google Shape;4797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798" name="Google Shape;4798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799" name="Google Shape;4799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00" name="Google Shape;4800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01" name="Google Shape;4801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02" name="Google Shape;4802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3" name="Google Shape;4803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04" name="Google Shape;4804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05" name="Google Shape;4805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06" name="Google Shape;4806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07" name="Google Shape;4807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08" name="Google Shape;4808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09" name="Google Shape;4809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10" name="Google Shape;4810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11" name="Google Shape;4811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12" name="Google Shape;4812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13" name="Google Shape;4813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14" name="Google Shape;4814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15" name="Google Shape;4815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16" name="Google Shape;4816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17" name="Google Shape;4817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18" name="Google Shape;4818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19" name="Google Shape;4819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0" name="Google Shape;4820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21" name="Google Shape;482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22" name="Google Shape;482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=??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823" name="Google Shape;4823;p50"/>
          <p:cNvSpPr txBox="1"/>
          <p:nvPr/>
        </p:nvSpPr>
        <p:spPr>
          <a:xfrm>
            <a:off x="8913263" y="822279"/>
            <a:ext cx="304955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+Dx(X),C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yz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(Z)}</a:t>
            </a:r>
            <a:endParaRPr/>
          </a:p>
        </p:txBody>
      </p:sp>
      <p:sp>
        <p:nvSpPr>
          <p:cNvPr id="4824" name="Google Shape;4824;p50"/>
          <p:cNvSpPr txBox="1"/>
          <p:nvPr/>
        </p:nvSpPr>
        <p:spPr>
          <a:xfrm>
            <a:off x="8954111" y="1193393"/>
            <a:ext cx="2361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(x)=min{60+0,1+5}=6</a:t>
            </a:r>
            <a:endParaRPr/>
          </a:p>
        </p:txBody>
      </p:sp>
      <p:grpSp>
        <p:nvGrpSpPr>
          <p:cNvPr id="4825" name="Google Shape;4825;p50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826" name="Google Shape;4826;p50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27" name="Google Shape;4827;p50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8" name="Google Shape;4828;p50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9" name="Google Shape;4829;p50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30" name="Google Shape;4830;p50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31" name="Google Shape;4831;p50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32" name="Google Shape;4832;p50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3" name="Google Shape;4833;p50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4" name="Google Shape;4834;p50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5" name="Google Shape;4835;p50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36" name="Google Shape;4836;p50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37" name="Google Shape;4837;p5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8" name="Google Shape;4838;p50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39" name="Google Shape;4839;p50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40" name="Google Shape;4840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41" name="Google Shape;4841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42" name="Google Shape;4842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43" name="Google Shape;4843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44" name="Google Shape;4844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45" name="Google Shape;4845;p50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46" name="Google Shape;4846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47" name="Google Shape;4847;p50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48" name="Google Shape;4848;p50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9" name="Google Shape;4849;p50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0" name="Google Shape;4850;p50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851" name="Google Shape;4851;p50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852" name="Google Shape;4852;p5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3" name="Google Shape;4853;p5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54" name="Google Shape;4854;p5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55" name="Google Shape;4855;p5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56" name="Google Shape;4856;p5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57" name="Google Shape;4857;p50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858" name="Google Shape;4858;p50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59" name="Google Shape;4859;p50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860" name="Google Shape;4860;p50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861" name="Google Shape;4861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862" name="Google Shape;4862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3" name="Google Shape;4863;p50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864" name="Google Shape;4864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865" name="Google Shape;4865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66" name="Google Shape;4866;p50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867" name="Google Shape;4867;p50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868" name="Google Shape;4868;p50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2" name="Shape 4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3" name="Google Shape;4873;p51"/>
          <p:cNvSpPr txBox="1"/>
          <p:nvPr>
            <p:ph type="title"/>
          </p:nvPr>
        </p:nvSpPr>
        <p:spPr>
          <a:xfrm>
            <a:off x="822274" y="10311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Count to Infinity (2)</a:t>
            </a:r>
            <a:endParaRPr/>
          </a:p>
        </p:txBody>
      </p:sp>
      <p:sp>
        <p:nvSpPr>
          <p:cNvPr id="4874" name="Google Shape;487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875" name="Google Shape;4875;p51"/>
          <p:cNvGrpSpPr/>
          <p:nvPr/>
        </p:nvGrpSpPr>
        <p:grpSpPr>
          <a:xfrm>
            <a:off x="707034" y="1054473"/>
            <a:ext cx="4207007" cy="2680206"/>
            <a:chOff x="1592980" y="1758589"/>
            <a:chExt cx="4207007" cy="2680206"/>
          </a:xfrm>
        </p:grpSpPr>
        <p:grpSp>
          <p:nvGrpSpPr>
            <p:cNvPr id="4876" name="Google Shape;4876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877" name="Google Shape;4877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8" name="Google Shape;4878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9" name="Google Shape;4879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80" name="Google Shape;4880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81" name="Google Shape;4881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882" name="Google Shape;4882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83" name="Google Shape;4883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4" name="Google Shape;4884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5" name="Google Shape;4885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886" name="Google Shape;4886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887" name="Google Shape;4887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8" name="Google Shape;4888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889" name="Google Shape;4889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890" name="Google Shape;48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91" name="Google Shape;48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892" name="Google Shape;48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893" name="Google Shape;48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894" name="Google Shape;48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895" name="Google Shape;4895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896" name="Google Shape;48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897" name="Google Shape;4897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898" name="Google Shape;4898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99" name="Google Shape;4899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00" name="Google Shape;4900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01" name="Google Shape;4901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02" name="Google Shape;4902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03" name="Google Shape;4903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04" name="Google Shape;4904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05" name="Google Shape;4905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06" name="Google Shape;4906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07" name="Google Shape;4907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08" name="Google Shape;4908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09" name="Google Shape;4909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10" name="Google Shape;4910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11" name="Google Shape;491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12" name="Google Shape;491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4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3" name="Google Shape;4913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14" name="Google Shape;4914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15" name="Google Shape;4915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16" name="Google Shape;4916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17" name="Google Shape;4917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18" name="Google Shape;4918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19" name="Google Shape;4919;p51"/>
          <p:cNvGrpSpPr/>
          <p:nvPr/>
        </p:nvGrpSpPr>
        <p:grpSpPr>
          <a:xfrm>
            <a:off x="425719" y="4032670"/>
            <a:ext cx="4207007" cy="2680206"/>
            <a:chOff x="1592980" y="1758589"/>
            <a:chExt cx="4207007" cy="2680206"/>
          </a:xfrm>
        </p:grpSpPr>
        <p:grpSp>
          <p:nvGrpSpPr>
            <p:cNvPr id="4920" name="Google Shape;4920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21" name="Google Shape;4921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2" name="Google Shape;4922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3" name="Google Shape;4923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24" name="Google Shape;4924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25" name="Google Shape;4925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26" name="Google Shape;4926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27" name="Google Shape;4927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8" name="Google Shape;4928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9" name="Google Shape;4929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30" name="Google Shape;4930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31" name="Google Shape;4931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2" name="Google Shape;4932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33" name="Google Shape;4933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34" name="Google Shape;4934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35" name="Google Shape;4935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36" name="Google Shape;4936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37" name="Google Shape;4937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38" name="Google Shape;4938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39" name="Google Shape;4939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40" name="Google Shape;4940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41" name="Google Shape;4941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42" name="Google Shape;4942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3" name="Google Shape;4943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44" name="Google Shape;4944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45" name="Google Shape;4945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46" name="Google Shape;4946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47" name="Google Shape;4947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48" name="Google Shape;4948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49" name="Google Shape;4949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50" name="Google Shape;4950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51" name="Google Shape;4951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52" name="Google Shape;4952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53" name="Google Shape;4953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54" name="Google Shape;4954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55" name="Google Shape;495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4956" name="Google Shape;495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7" name="Google Shape;4957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4958" name="Google Shape;4958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4959" name="Google Shape;4959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7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60" name="Google Shape;4960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4961" name="Google Shape;4961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4962" name="Google Shape;4962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6</a:t>
                </a:r>
                <a:endParaRPr b="0" i="0" sz="16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63" name="Google Shape;4963;p51"/>
          <p:cNvGrpSpPr/>
          <p:nvPr/>
        </p:nvGrpSpPr>
        <p:grpSpPr>
          <a:xfrm>
            <a:off x="6169569" y="4078623"/>
            <a:ext cx="4207007" cy="2680206"/>
            <a:chOff x="1592980" y="1758589"/>
            <a:chExt cx="4207007" cy="2680206"/>
          </a:xfrm>
        </p:grpSpPr>
        <p:grpSp>
          <p:nvGrpSpPr>
            <p:cNvPr id="4964" name="Google Shape;4964;p51"/>
            <p:cNvGrpSpPr/>
            <p:nvPr/>
          </p:nvGrpSpPr>
          <p:grpSpPr>
            <a:xfrm>
              <a:off x="2669044" y="2458929"/>
              <a:ext cx="2184400" cy="1212850"/>
              <a:chOff x="3625" y="1140"/>
              <a:chExt cx="1376" cy="764"/>
            </a:xfrm>
          </p:grpSpPr>
          <p:sp>
            <p:nvSpPr>
              <p:cNvPr id="4965" name="Google Shape;4965;p51"/>
              <p:cNvSpPr/>
              <p:nvPr/>
            </p:nvSpPr>
            <p:spPr>
              <a:xfrm>
                <a:off x="3625" y="1140"/>
                <a:ext cx="1376" cy="764"/>
              </a:xfrm>
              <a:custGeom>
                <a:rect b="b" l="l" r="r" t="t"/>
                <a:pathLst>
                  <a:path extrusionOk="0" h="764" w="1376">
                    <a:moveTo>
                      <a:pt x="113" y="348"/>
                    </a:moveTo>
                    <a:cubicBezTo>
                      <a:pt x="166" y="270"/>
                      <a:pt x="296" y="218"/>
                      <a:pt x="395" y="162"/>
                    </a:cubicBezTo>
                    <a:cubicBezTo>
                      <a:pt x="494" y="106"/>
                      <a:pt x="583" y="0"/>
                      <a:pt x="710" y="9"/>
                    </a:cubicBezTo>
                    <a:cubicBezTo>
                      <a:pt x="837" y="18"/>
                      <a:pt x="1051" y="136"/>
                      <a:pt x="1160" y="219"/>
                    </a:cubicBezTo>
                    <a:cubicBezTo>
                      <a:pt x="1269" y="302"/>
                      <a:pt x="1376" y="426"/>
                      <a:pt x="1367" y="510"/>
                    </a:cubicBezTo>
                    <a:cubicBezTo>
                      <a:pt x="1358" y="594"/>
                      <a:pt x="1234" y="688"/>
                      <a:pt x="1103" y="726"/>
                    </a:cubicBezTo>
                    <a:cubicBezTo>
                      <a:pt x="972" y="764"/>
                      <a:pt x="749" y="754"/>
                      <a:pt x="578" y="738"/>
                    </a:cubicBezTo>
                    <a:cubicBezTo>
                      <a:pt x="407" y="722"/>
                      <a:pt x="154" y="695"/>
                      <a:pt x="77" y="630"/>
                    </a:cubicBezTo>
                    <a:cubicBezTo>
                      <a:pt x="0" y="565"/>
                      <a:pt x="60" y="426"/>
                      <a:pt x="113" y="348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6" name="Google Shape;4966;p51"/>
              <p:cNvSpPr/>
              <p:nvPr/>
            </p:nvSpPr>
            <p:spPr>
              <a:xfrm>
                <a:off x="3984" y="1404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7" name="Google Shape;4967;p51"/>
              <p:cNvSpPr/>
              <p:nvPr/>
            </p:nvSpPr>
            <p:spPr>
              <a:xfrm>
                <a:off x="3724" y="1640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968" name="Google Shape;4968;p51"/>
              <p:cNvCxnSpPr/>
              <p:nvPr/>
            </p:nvCxnSpPr>
            <p:spPr>
              <a:xfrm>
                <a:off x="3724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969" name="Google Shape;4969;p51"/>
              <p:cNvCxnSpPr/>
              <p:nvPr/>
            </p:nvCxnSpPr>
            <p:spPr>
              <a:xfrm>
                <a:off x="4037" y="1633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970" name="Google Shape;4970;p51"/>
              <p:cNvSpPr/>
              <p:nvPr/>
            </p:nvSpPr>
            <p:spPr>
              <a:xfrm>
                <a:off x="3724" y="1633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71" name="Google Shape;4971;p51"/>
              <p:cNvSpPr/>
              <p:nvPr/>
            </p:nvSpPr>
            <p:spPr>
              <a:xfrm>
                <a:off x="3721" y="1574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2" name="Google Shape;4972;p51"/>
              <p:cNvSpPr/>
              <p:nvPr/>
            </p:nvSpPr>
            <p:spPr>
              <a:xfrm>
                <a:off x="4389" y="1404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3" name="Google Shape;4973;p51"/>
              <p:cNvSpPr/>
              <p:nvPr/>
            </p:nvSpPr>
            <p:spPr>
              <a:xfrm>
                <a:off x="4041" y="1668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974" name="Google Shape;4974;p51"/>
              <p:cNvGrpSpPr/>
              <p:nvPr/>
            </p:nvGrpSpPr>
            <p:grpSpPr>
              <a:xfrm>
                <a:off x="3770" y="1526"/>
                <a:ext cx="210" cy="250"/>
                <a:chOff x="2951" y="2429"/>
                <a:chExt cx="213" cy="250"/>
              </a:xfrm>
            </p:grpSpPr>
            <p:sp>
              <p:nvSpPr>
                <p:cNvPr id="4975" name="Google Shape;4975;p51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6" name="Google Shape;4976;p51"/>
                <p:cNvSpPr txBox="1"/>
                <p:nvPr/>
              </p:nvSpPr>
              <p:spPr>
                <a:xfrm>
                  <a:off x="2951" y="2429"/>
                  <a:ext cx="21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Comic Sans MS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4977" name="Google Shape;4977;p51"/>
              <p:cNvGrpSpPr/>
              <p:nvPr/>
            </p:nvGrpSpPr>
            <p:grpSpPr>
              <a:xfrm>
                <a:off x="4566" y="1538"/>
                <a:ext cx="316" cy="250"/>
                <a:chOff x="1740" y="2306"/>
                <a:chExt cx="316" cy="250"/>
              </a:xfrm>
            </p:grpSpPr>
            <p:sp>
              <p:nvSpPr>
                <p:cNvPr id="4978" name="Google Shape;4978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79" name="Google Shape;4979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80" name="Google Shape;4980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81" name="Google Shape;4981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82" name="Google Shape;4982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83" name="Google Shape;4983;p51"/>
                <p:cNvGrpSpPr/>
                <p:nvPr/>
              </p:nvGrpSpPr>
              <p:grpSpPr>
                <a:xfrm>
                  <a:off x="1800" y="2306"/>
                  <a:ext cx="202" cy="250"/>
                  <a:chOff x="2955" y="2429"/>
                  <a:chExt cx="205" cy="250"/>
                </a:xfrm>
              </p:grpSpPr>
              <p:sp>
                <p:nvSpPr>
                  <p:cNvPr id="4984" name="Google Shape;4984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85" name="Google Shape;4985;p51"/>
                  <p:cNvSpPr txBox="1"/>
                  <p:nvPr/>
                </p:nvSpPr>
                <p:spPr>
                  <a:xfrm>
                    <a:off x="2955" y="2429"/>
                    <a:ext cx="205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z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  <p:sp>
            <p:nvSpPr>
              <p:cNvPr id="4986" name="Google Shape;4986;p51"/>
              <p:cNvSpPr txBox="1"/>
              <p:nvPr/>
            </p:nvSpPr>
            <p:spPr>
              <a:xfrm>
                <a:off x="4469" y="1328"/>
                <a:ext cx="181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7" name="Google Shape;4987;p51"/>
              <p:cNvSpPr txBox="1"/>
              <p:nvPr/>
            </p:nvSpPr>
            <p:spPr>
              <a:xfrm>
                <a:off x="3884" y="1325"/>
                <a:ext cx="2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800"/>
                  <a:buFont typeface="Comic Sans MS"/>
                  <a:buNone/>
                </a:pPr>
                <a:r>
                  <a:rPr lang="en-US" sz="1800">
                    <a:solidFill>
                      <a:srgbClr val="FF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60</a:t>
                </a:r>
                <a:endParaRPr b="0" i="0" sz="24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988" name="Google Shape;4988;p51"/>
              <p:cNvSpPr txBox="1"/>
              <p:nvPr/>
            </p:nvSpPr>
            <p:spPr>
              <a:xfrm>
                <a:off x="4171" y="1658"/>
                <a:ext cx="292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omic Sans MS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50</a:t>
                </a:r>
                <a:endParaRPr b="0" i="0" sz="2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4989" name="Google Shape;4989;p51"/>
              <p:cNvGrpSpPr/>
              <p:nvPr/>
            </p:nvGrpSpPr>
            <p:grpSpPr>
              <a:xfrm>
                <a:off x="4146" y="1214"/>
                <a:ext cx="316" cy="250"/>
                <a:chOff x="1740" y="2306"/>
                <a:chExt cx="316" cy="250"/>
              </a:xfrm>
            </p:grpSpPr>
            <p:sp>
              <p:nvSpPr>
                <p:cNvPr id="4990" name="Google Shape;4990;p51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991" name="Google Shape;4991;p51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4992" name="Google Shape;4992;p51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993" name="Google Shape;4993;p51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4994" name="Google Shape;4994;p51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4995" name="Google Shape;4995;p51"/>
                <p:cNvGrpSpPr/>
                <p:nvPr/>
              </p:nvGrpSpPr>
              <p:grpSpPr>
                <a:xfrm>
                  <a:off x="1802" y="2306"/>
                  <a:ext cx="199" cy="250"/>
                  <a:chOff x="2957" y="2429"/>
                  <a:chExt cx="202" cy="250"/>
                </a:xfrm>
              </p:grpSpPr>
              <p:sp>
                <p:nvSpPr>
                  <p:cNvPr id="4996" name="Google Shape;4996;p51"/>
                  <p:cNvSpPr/>
                  <p:nvPr/>
                </p:nvSpPr>
                <p:spPr>
                  <a:xfrm>
                    <a:off x="2982" y="2490"/>
                    <a:ext cx="143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997" name="Google Shape;4997;p51"/>
                  <p:cNvSpPr txBox="1"/>
                  <p:nvPr/>
                </p:nvSpPr>
                <p:spPr>
                  <a:xfrm>
                    <a:off x="2957" y="2429"/>
                    <a:ext cx="202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Comic Sans MS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Times New Roman"/>
                      <a:ea typeface="Times New Roman"/>
                      <a:cs typeface="Times New Roman"/>
                      <a:sym typeface="Times New Roman"/>
                    </a:endParaRPr>
                  </a:p>
                </p:txBody>
              </p:sp>
            </p:grpSp>
          </p:grpSp>
        </p:grpSp>
        <p:grpSp>
          <p:nvGrpSpPr>
            <p:cNvPr id="4998" name="Google Shape;4998;p51"/>
            <p:cNvGrpSpPr/>
            <p:nvPr/>
          </p:nvGrpSpPr>
          <p:grpSpPr>
            <a:xfrm>
              <a:off x="1592980" y="3270141"/>
              <a:ext cx="1140217" cy="933703"/>
              <a:chOff x="863867" y="2918801"/>
              <a:chExt cx="1140217" cy="933703"/>
            </a:xfrm>
          </p:grpSpPr>
          <p:sp>
            <p:nvSpPr>
              <p:cNvPr id="4999" name="Google Shape;4999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D(X)</a:t>
                </a:r>
                <a:endParaRPr/>
              </a:p>
            </p:txBody>
          </p:sp>
          <p:sp>
            <p:nvSpPr>
              <p:cNvPr id="5000" name="Google Shape;5000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5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1" name="Google Shape;5001;p51"/>
            <p:cNvGrpSpPr/>
            <p:nvPr/>
          </p:nvGrpSpPr>
          <p:grpSpPr>
            <a:xfrm>
              <a:off x="4659770" y="3505092"/>
              <a:ext cx="1140217" cy="933703"/>
              <a:chOff x="863867" y="2918801"/>
              <a:chExt cx="1140217" cy="933703"/>
            </a:xfrm>
          </p:grpSpPr>
          <p:sp>
            <p:nvSpPr>
              <p:cNvPr id="5002" name="Google Shape;5002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D(z)</a:t>
                </a:r>
                <a:endParaRPr/>
              </a:p>
            </p:txBody>
          </p:sp>
          <p:sp>
            <p:nvSpPr>
              <p:cNvPr id="5003" name="Google Shape;5003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7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(y)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04" name="Google Shape;5004;p51"/>
            <p:cNvGrpSpPr/>
            <p:nvPr/>
          </p:nvGrpSpPr>
          <p:grpSpPr>
            <a:xfrm>
              <a:off x="2357840" y="1758589"/>
              <a:ext cx="1140217" cy="933703"/>
              <a:chOff x="863867" y="2918801"/>
              <a:chExt cx="1140217" cy="933703"/>
            </a:xfrm>
          </p:grpSpPr>
          <p:sp>
            <p:nvSpPr>
              <p:cNvPr id="5005" name="Google Shape;5005;p51"/>
              <p:cNvSpPr/>
              <p:nvPr/>
            </p:nvSpPr>
            <p:spPr>
              <a:xfrm>
                <a:off x="863867" y="2918801"/>
                <a:ext cx="1117197" cy="370390"/>
              </a:xfrm>
              <a:prstGeom prst="rect">
                <a:avLst/>
              </a:prstGeom>
              <a:solidFill>
                <a:schemeClr val="accen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D(y)</a:t>
                </a:r>
                <a:endParaRPr/>
              </a:p>
            </p:txBody>
          </p:sp>
          <p:sp>
            <p:nvSpPr>
              <p:cNvPr id="5006" name="Google Shape;5006;p51"/>
              <p:cNvSpPr txBox="1"/>
              <p:nvPr/>
            </p:nvSpPr>
            <p:spPr>
              <a:xfrm>
                <a:off x="886887" y="3316973"/>
                <a:ext cx="1117197" cy="535531"/>
              </a:xfrm>
              <a:prstGeom prst="rect">
                <a:avLst/>
              </a:prstGeom>
              <a:noFill/>
              <a:ln cap="flat" cmpd="sng" w="19050">
                <a:solidFill>
                  <a:srgbClr val="31538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(x) = </a:t>
                </a:r>
                <a:r>
                  <a:rPr b="0" i="0" lang="en-US" sz="1600" u="none" cap="none" strike="noStrike">
                    <a:solidFill>
                      <a:srgbClr val="FF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</a:t>
                </a:r>
                <a:endParaRPr/>
              </a:p>
              <a:p>
                <a:pPr indent="0" lvl="1" marL="11430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r>
                  <a:rPr b="0" baseline="-2500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y</a:t>
                </a:r>
                <a:r>
                  <a:rPr b="0" i="0" lang="en-US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(z) = 1</a:t>
                </a:r>
                <a:endParaRPr b="0" i="0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07" name="Google Shape;5007;p51"/>
          <p:cNvSpPr/>
          <p:nvPr/>
        </p:nvSpPr>
        <p:spPr>
          <a:xfrm>
            <a:off x="4124514" y="4938256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08" name="Google Shape;5008;p51"/>
          <p:cNvSpPr txBox="1"/>
          <p:nvPr/>
        </p:nvSpPr>
        <p:spPr>
          <a:xfrm>
            <a:off x="4147534" y="5336428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9" name="Google Shape;5009;p51"/>
          <p:cNvSpPr/>
          <p:nvPr/>
        </p:nvSpPr>
        <p:spPr>
          <a:xfrm>
            <a:off x="1626547" y="5954882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D(y)</a:t>
            </a:r>
            <a:endParaRPr/>
          </a:p>
        </p:txBody>
      </p:sp>
      <p:sp>
        <p:nvSpPr>
          <p:cNvPr id="5010" name="Google Shape;5010;p51"/>
          <p:cNvSpPr txBox="1"/>
          <p:nvPr/>
        </p:nvSpPr>
        <p:spPr>
          <a:xfrm>
            <a:off x="1649567" y="6353054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1" name="Google Shape;5011;p51"/>
          <p:cNvSpPr/>
          <p:nvPr/>
        </p:nvSpPr>
        <p:spPr>
          <a:xfrm>
            <a:off x="5594227" y="3823449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D(X)</a:t>
            </a:r>
            <a:endParaRPr/>
          </a:p>
        </p:txBody>
      </p:sp>
      <p:sp>
        <p:nvSpPr>
          <p:cNvPr id="5012" name="Google Shape;5012;p51"/>
          <p:cNvSpPr txBox="1"/>
          <p:nvPr/>
        </p:nvSpPr>
        <p:spPr>
          <a:xfrm>
            <a:off x="5617247" y="4221621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(z) =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3" name="Google Shape;5013;p51"/>
          <p:cNvSpPr/>
          <p:nvPr/>
        </p:nvSpPr>
        <p:spPr>
          <a:xfrm>
            <a:off x="8661017" y="4058400"/>
            <a:ext cx="1117197" cy="37039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D(z)</a:t>
            </a:r>
            <a:endParaRPr/>
          </a:p>
        </p:txBody>
      </p:sp>
      <p:sp>
        <p:nvSpPr>
          <p:cNvPr id="5014" name="Google Shape;5014;p51"/>
          <p:cNvSpPr txBox="1"/>
          <p:nvPr/>
        </p:nvSpPr>
        <p:spPr>
          <a:xfrm>
            <a:off x="8684037" y="4456572"/>
            <a:ext cx="1117197" cy="535531"/>
          </a:xfrm>
          <a:prstGeom prst="rect">
            <a:avLst/>
          </a:prstGeom>
          <a:noFill/>
          <a:ln cap="flat" cmpd="sng" w="1905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(x) = 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baseline="-2500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(y) =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8" name="Shape 5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9" name="Google Shape;5019;p5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Comparison of LS and DV algorithms</a:t>
            </a:r>
            <a:endParaRPr/>
          </a:p>
        </p:txBody>
      </p:sp>
      <p:sp>
        <p:nvSpPr>
          <p:cNvPr id="5020" name="Google Shape;5020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1" name="Google Shape;5021;p52"/>
          <p:cNvSpPr txBox="1"/>
          <p:nvPr/>
        </p:nvSpPr>
        <p:spPr>
          <a:xfrm>
            <a:off x="749342" y="1478070"/>
            <a:ext cx="5162943" cy="1615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message complexity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routers, O(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3000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 sent  </a:t>
            </a:r>
            <a:endParaRPr/>
          </a:p>
          <a:p>
            <a:pPr indent="-349249" lvl="1" marL="6969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exchange between neighbors; convergence time varies</a:t>
            </a:r>
            <a:endParaRPr/>
          </a:p>
        </p:txBody>
      </p:sp>
      <p:sp>
        <p:nvSpPr>
          <p:cNvPr id="5022" name="Google Shape;5022;p52"/>
          <p:cNvSpPr txBox="1"/>
          <p:nvPr/>
        </p:nvSpPr>
        <p:spPr>
          <a:xfrm>
            <a:off x="738904" y="3382027"/>
            <a:ext cx="5060647" cy="2367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speed of convergence</a:t>
            </a:r>
            <a:endParaRPr/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algorithm, O(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aseline="30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messages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oscillations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49" lvl="0" marL="696913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convergence time varies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have routing loops</a:t>
            </a:r>
            <a:endParaRPr/>
          </a:p>
          <a:p>
            <a:pPr indent="-236537" lvl="1" marL="6969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count-to-infinity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3" name="Google Shape;5023;p52"/>
          <p:cNvSpPr txBox="1"/>
          <p:nvPr/>
        </p:nvSpPr>
        <p:spPr>
          <a:xfrm>
            <a:off x="6087648" y="1498948"/>
            <a:ext cx="5574083" cy="49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robustness: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if router malfunctions, or is compromised?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LS: 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</a:t>
            </a:r>
            <a:endParaRPr/>
          </a:p>
          <a:p>
            <a:pPr indent="-236537" lvl="1" marL="5222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computes only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DV: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router can advertise incorrect </a:t>
            </a:r>
            <a:r>
              <a:rPr b="0" i="1" lang="en-US" sz="2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path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cost (“I have a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really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low cost path to everywhere”): black-holing</a:t>
            </a:r>
            <a:endParaRPr/>
          </a:p>
          <a:p>
            <a:pPr indent="-223838" lvl="1" marL="4603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router’s table used by others: error propagate thru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8" name="Shape 5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9" name="Google Shape;5029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030" name="Google Shape;503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031" name="Google Shape;5031;p53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2" name="Google Shape;5032;p5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3" name="Google Shape;5033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7" name="Shape 5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" name="Google Shape;5038;p54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our routing study thus far - idealized 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all routers identical</a:t>
            </a:r>
            <a:endParaRPr/>
          </a:p>
          <a:p>
            <a:pPr indent="-285750" lvl="0" marL="52228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network “flat”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… not true in practice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039" name="Google Shape;5039;p5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Making routing scalable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0" name="Google Shape;5040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41" name="Google Shape;5041;p54"/>
          <p:cNvSpPr txBox="1"/>
          <p:nvPr/>
        </p:nvSpPr>
        <p:spPr>
          <a:xfrm>
            <a:off x="990600" y="3666994"/>
            <a:ext cx="4984315" cy="226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billions of destinations: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store all destinations in routing tables!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table exchange would swamp links!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42" name="Google Shape;5042;p54"/>
          <p:cNvSpPr txBox="1"/>
          <p:nvPr/>
        </p:nvSpPr>
        <p:spPr>
          <a:xfrm>
            <a:off x="6413326" y="3654991"/>
            <a:ext cx="536127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administrative autonomy: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Internet: a network of networks</a:t>
            </a:r>
            <a:endParaRPr/>
          </a:p>
          <a:p>
            <a:pPr indent="-219075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network admin may want to control routing in its own network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6" name="Shape 5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7" name="Google Shape;5047;p55"/>
          <p:cNvSpPr txBox="1"/>
          <p:nvPr>
            <p:ph idx="1" type="body"/>
          </p:nvPr>
        </p:nvSpPr>
        <p:spPr>
          <a:xfrm>
            <a:off x="788096" y="1561188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aggregate routers into regions known as </a:t>
            </a:r>
            <a:r>
              <a:rPr lang="en-US" sz="3200">
                <a:solidFill>
                  <a:srgbClr val="0000A8"/>
                </a:solidFill>
              </a:rPr>
              <a:t>“autonomous systems”</a:t>
            </a:r>
            <a:r>
              <a:rPr lang="en-US" sz="3200"/>
              <a:t> (AS) (a.k.a. “</a:t>
            </a:r>
            <a:r>
              <a:rPr lang="en-US" sz="3200">
                <a:solidFill>
                  <a:srgbClr val="0000A8"/>
                </a:solidFill>
              </a:rPr>
              <a:t>domains</a:t>
            </a:r>
            <a:r>
              <a:rPr lang="en-US" sz="3200"/>
              <a:t>”)</a:t>
            </a:r>
            <a:endParaRPr/>
          </a:p>
        </p:txBody>
      </p:sp>
      <p:sp>
        <p:nvSpPr>
          <p:cNvPr id="5048" name="Google Shape;5048;p5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approach to scalable routing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9" name="Google Shape;5049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0" name="Google Shape;5050;p55"/>
          <p:cNvSpPr txBox="1"/>
          <p:nvPr/>
        </p:nvSpPr>
        <p:spPr>
          <a:xfrm>
            <a:off x="952500" y="2904546"/>
            <a:ext cx="5635668" cy="3659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intra-AS (aka “intra-domain”):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same AS (“network”)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routers in AS must run same intra-domain protocol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routers in different AS can run different intra-domain routing protocols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gateway router: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“edge” of its own AS, has link(s) to router(s) in other AS’es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051" name="Google Shape;5051;p55"/>
          <p:cNvSpPr txBox="1"/>
          <p:nvPr/>
        </p:nvSpPr>
        <p:spPr>
          <a:xfrm>
            <a:off x="6864096" y="2928482"/>
            <a:ext cx="516089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inter-AS (aka “inter-domain”):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</a:t>
            </a: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among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AS’es</a:t>
            </a:r>
            <a:endParaRPr/>
          </a:p>
          <a:p>
            <a:pPr indent="-285750" lvl="0" marL="409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gateways perform inter-domain routing (as well as intra-domain routing)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5" name="Shape 5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6" name="Google Shape;5056;p5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Interconnected ASes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7" name="Google Shape;5057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58" name="Google Shape;5058;p56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9" name="Google Shape;5059;p56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0" name="Google Shape;5060;p56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1" name="Google Shape;5061;p56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2" name="Google Shape;5062;p56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3" name="Google Shape;5063;p56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4" name="Google Shape;5064;p56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5" name="Google Shape;5065;p56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6" name="Google Shape;5066;p56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7" name="Google Shape;5067;p56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8" name="Google Shape;5068;p56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9" name="Google Shape;5069;p56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0" name="Google Shape;5070;p56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1" name="Google Shape;5071;p56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2" name="Google Shape;5072;p56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3" name="Google Shape;5073;p56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074" name="Google Shape;5074;p56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5" name="Google Shape;5075;p56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076" name="Google Shape;5076;p56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77" name="Google Shape;5077;p56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8" name="Google Shape;5078;p56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9" name="Google Shape;5079;p56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0" name="Google Shape;5080;p56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1" name="Google Shape;5081;p56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2" name="Google Shape;5082;p56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3" name="Google Shape;5083;p56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84" name="Google Shape;5084;p56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5" name="Google Shape;5085;p56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6" name="Google Shape;5086;p56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56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88" name="Google Shape;5088;p56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089" name="Google Shape;5089;p56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0" name="Google Shape;5090;p56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091" name="Google Shape;5091;p56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2" name="Google Shape;5092;p56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3" name="Google Shape;5093;p56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94" name="Google Shape;5094;p56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5" name="Google Shape;5095;p56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56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56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8" name="Google Shape;5098;p56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9" name="Google Shape;5099;p56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0" name="Google Shape;5100;p56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1" name="Google Shape;5101;p56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2" name="Google Shape;5102;p56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3" name="Google Shape;5103;p56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4" name="Google Shape;5104;p56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5" name="Google Shape;5105;p56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6" name="Google Shape;5106;p56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7" name="Google Shape;5107;p56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8" name="Google Shape;5108;p56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9" name="Google Shape;5109;p56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0" name="Google Shape;5110;p56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111" name="Google Shape;5111;p56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12" name="Google Shape;5112;p56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3" name="Google Shape;5113;p56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4" name="Google Shape;5114;p56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5" name="Google Shape;5115;p56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6" name="Google Shape;5116;p56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56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18" name="Google Shape;5118;p56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119" name="Google Shape;5119;p56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0" name="Google Shape;5120;p56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1" name="Google Shape;5121;p56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22" name="Google Shape;5122;p56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3" name="Google Shape;5123;p56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4" name="Google Shape;5124;p56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5" name="Google Shape;5125;p56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6" name="Google Shape;5126;p56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127" name="Google Shape;5127;p56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8" name="Google Shape;5128;p56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9" name="Google Shape;5129;p56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0" name="Google Shape;5130;p56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1" name="Google Shape;5131;p56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2" name="Google Shape;5132;p56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3" name="Google Shape;5133;p56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4" name="Google Shape;5134;p56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135" name="Google Shape;5135;p56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36" name="Google Shape;5136;p56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7" name="Google Shape;5137;p56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38" name="Google Shape;5138;p56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9" name="Google Shape;5139;p56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0" name="Google Shape;5140;p56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141" name="Google Shape;5141;p56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2" name="Google Shape;5142;p56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43" name="Google Shape;5143;p56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144" name="Google Shape;5144;p56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45" name="Google Shape;5145;p56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6" name="Google Shape;5146;p56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47" name="Google Shape;5147;p56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8" name="Google Shape;5148;p56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149" name="Google Shape;5149;p56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150" name="Google Shape;5150;p56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1" name="Google Shape;5151;p56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152" name="Google Shape;5152;p56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3" name="Google Shape;5153;p56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4" name="Google Shape;5154;p56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5" name="Google Shape;5155;p56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56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56"/>
          <p:cNvCxnSpPr/>
          <p:nvPr/>
        </p:nvCxnSpPr>
        <p:spPr>
          <a:xfrm>
            <a:off x="7246913" y="5100458"/>
            <a:ext cx="324111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56"/>
          <p:cNvCxnSpPr/>
          <p:nvPr/>
        </p:nvCxnSpPr>
        <p:spPr>
          <a:xfrm flipH="1" rot="10800000">
            <a:off x="7160776" y="4638895"/>
            <a:ext cx="382509" cy="37455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56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56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56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56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56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4" name="Google Shape;5164;p56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5" name="Google Shape;5165;p56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6" name="Google Shape;5166;p56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167" name="Google Shape;5167;p56"/>
          <p:cNvGrpSpPr/>
          <p:nvPr/>
        </p:nvGrpSpPr>
        <p:grpSpPr>
          <a:xfrm>
            <a:off x="1778696" y="3924256"/>
            <a:ext cx="5968456" cy="2124592"/>
            <a:chOff x="3175544" y="3748892"/>
            <a:chExt cx="5968456" cy="2124592"/>
          </a:xfrm>
        </p:grpSpPr>
        <p:grpSp>
          <p:nvGrpSpPr>
            <p:cNvPr id="5168" name="Google Shape;5168;p56"/>
            <p:cNvGrpSpPr/>
            <p:nvPr/>
          </p:nvGrpSpPr>
          <p:grpSpPr>
            <a:xfrm>
              <a:off x="3175544" y="3748892"/>
              <a:ext cx="1609399" cy="1316010"/>
              <a:chOff x="3188070" y="3748892"/>
              <a:chExt cx="1609399" cy="1316010"/>
            </a:xfrm>
          </p:grpSpPr>
          <p:sp>
            <p:nvSpPr>
              <p:cNvPr id="5169" name="Google Shape;5169;p56"/>
              <p:cNvSpPr/>
              <p:nvPr/>
            </p:nvSpPr>
            <p:spPr>
              <a:xfrm>
                <a:off x="3188070" y="3748892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0" name="Google Shape;5170;p56"/>
              <p:cNvGrpSpPr/>
              <p:nvPr/>
            </p:nvGrpSpPr>
            <p:grpSpPr>
              <a:xfrm>
                <a:off x="3323010" y="3984960"/>
                <a:ext cx="1290181" cy="895439"/>
                <a:chOff x="2145563" y="2093530"/>
                <a:chExt cx="1290181" cy="895439"/>
              </a:xfrm>
            </p:grpSpPr>
            <p:sp>
              <p:nvSpPr>
                <p:cNvPr id="5171" name="Google Shape;5171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2" name="Google Shape;5172;p56"/>
                <p:cNvSpPr/>
                <p:nvPr/>
              </p:nvSpPr>
              <p:spPr>
                <a:xfrm>
                  <a:off x="2145563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3" name="Google Shape;5173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74" name="Google Shape;5174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75" name="Google Shape;5175;p56"/>
            <p:cNvGrpSpPr/>
            <p:nvPr/>
          </p:nvGrpSpPr>
          <p:grpSpPr>
            <a:xfrm>
              <a:off x="4345585" y="4779701"/>
              <a:ext cx="2744147" cy="1093783"/>
              <a:chOff x="4345585" y="4779701"/>
              <a:chExt cx="2744147" cy="1093783"/>
            </a:xfrm>
          </p:grpSpPr>
          <p:sp>
            <p:nvSpPr>
              <p:cNvPr id="5176" name="Google Shape;5176;p56"/>
              <p:cNvSpPr/>
              <p:nvPr/>
            </p:nvSpPr>
            <p:spPr>
              <a:xfrm>
                <a:off x="4345585" y="4779701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77" name="Google Shape;5177;p56"/>
              <p:cNvGrpSpPr/>
              <p:nvPr/>
            </p:nvGrpSpPr>
            <p:grpSpPr>
              <a:xfrm>
                <a:off x="4915903" y="4888922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78" name="Google Shape;5178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79" name="Google Shape;5179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0" name="Google Shape;5180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1" name="Google Shape;5181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grpSp>
          <p:nvGrpSpPr>
            <p:cNvPr id="5182" name="Google Shape;5182;p56"/>
            <p:cNvGrpSpPr/>
            <p:nvPr/>
          </p:nvGrpSpPr>
          <p:grpSpPr>
            <a:xfrm>
              <a:off x="6989573" y="3977477"/>
              <a:ext cx="2154427" cy="1384541"/>
              <a:chOff x="6989573" y="3977477"/>
              <a:chExt cx="2154427" cy="1384541"/>
            </a:xfrm>
          </p:grpSpPr>
          <p:sp>
            <p:nvSpPr>
              <p:cNvPr id="5183" name="Google Shape;5183;p56"/>
              <p:cNvSpPr/>
              <p:nvPr/>
            </p:nvSpPr>
            <p:spPr>
              <a:xfrm>
                <a:off x="6989573" y="3977477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84" name="Google Shape;5184;p56"/>
              <p:cNvGrpSpPr/>
              <p:nvPr/>
            </p:nvGrpSpPr>
            <p:grpSpPr>
              <a:xfrm>
                <a:off x="7396057" y="4300199"/>
                <a:ext cx="1290181" cy="895439"/>
                <a:chOff x="2158089" y="2093530"/>
                <a:chExt cx="1290181" cy="895439"/>
              </a:xfrm>
            </p:grpSpPr>
            <p:sp>
              <p:nvSpPr>
                <p:cNvPr id="5185" name="Google Shape;5185;p56"/>
                <p:cNvSpPr txBox="1"/>
                <p:nvPr/>
              </p:nvSpPr>
              <p:spPr>
                <a:xfrm>
                  <a:off x="2307787" y="2257804"/>
                  <a:ext cx="1017010" cy="61786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intra-AS</a:t>
                  </a:r>
                  <a:endParaRPr/>
                </a:p>
                <a:p>
                  <a:pPr indent="0" lvl="0" marL="0" marR="0" rtl="0" algn="ctr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A8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routing</a:t>
                  </a:r>
                  <a:endParaRPr/>
                </a:p>
              </p:txBody>
            </p:sp>
            <p:sp>
              <p:nvSpPr>
                <p:cNvPr id="5186" name="Google Shape;5186;p56"/>
                <p:cNvSpPr/>
                <p:nvPr/>
              </p:nvSpPr>
              <p:spPr>
                <a:xfrm>
                  <a:off x="2158089" y="2093530"/>
                  <a:ext cx="1290181" cy="864296"/>
                </a:xfrm>
                <a:prstGeom prst="ellipse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87" name="Google Shape;5187;p56"/>
                <p:cNvSpPr/>
                <p:nvPr/>
              </p:nvSpPr>
              <p:spPr>
                <a:xfrm>
                  <a:off x="2417523" y="2844399"/>
                  <a:ext cx="776614" cy="14457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188" name="Google Shape;5188;p56"/>
                <p:cNvCxnSpPr/>
                <p:nvPr/>
              </p:nvCxnSpPr>
              <p:spPr>
                <a:xfrm flipH="1">
                  <a:off x="3111009" y="2833557"/>
                  <a:ext cx="138182" cy="97585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A8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grpSp>
        <p:nvGrpSpPr>
          <p:cNvPr id="5189" name="Google Shape;5189;p56"/>
          <p:cNvGrpSpPr/>
          <p:nvPr/>
        </p:nvGrpSpPr>
        <p:grpSpPr>
          <a:xfrm>
            <a:off x="1812296" y="3939436"/>
            <a:ext cx="5968456" cy="2124592"/>
            <a:chOff x="3202684" y="3763506"/>
            <a:chExt cx="5968456" cy="2124592"/>
          </a:xfrm>
        </p:grpSpPr>
        <p:grpSp>
          <p:nvGrpSpPr>
            <p:cNvPr id="5190" name="Google Shape;5190;p56"/>
            <p:cNvGrpSpPr/>
            <p:nvPr/>
          </p:nvGrpSpPr>
          <p:grpSpPr>
            <a:xfrm>
              <a:off x="3202684" y="3763506"/>
              <a:ext cx="5968456" cy="2124592"/>
              <a:chOff x="2563856" y="-1509951"/>
              <a:chExt cx="5968456" cy="2124592"/>
            </a:xfrm>
          </p:grpSpPr>
          <p:sp>
            <p:nvSpPr>
              <p:cNvPr id="5191" name="Google Shape;5191;p56"/>
              <p:cNvSpPr/>
              <p:nvPr/>
            </p:nvSpPr>
            <p:spPr>
              <a:xfrm>
                <a:off x="2563856" y="-1509951"/>
                <a:ext cx="1609399" cy="1316010"/>
              </a:xfrm>
              <a:custGeom>
                <a:rect b="b" l="l" r="r" t="t"/>
                <a:pathLst>
                  <a:path extrusionOk="0" h="451" w="1198">
                    <a:moveTo>
                      <a:pt x="88" y="181"/>
                    </a:moveTo>
                    <a:cubicBezTo>
                      <a:pt x="159" y="143"/>
                      <a:pt x="120" y="111"/>
                      <a:pt x="180" y="89"/>
                    </a:cubicBezTo>
                    <a:cubicBezTo>
                      <a:pt x="240" y="67"/>
                      <a:pt x="313" y="60"/>
                      <a:pt x="448" y="49"/>
                    </a:cubicBezTo>
                    <a:cubicBezTo>
                      <a:pt x="583" y="38"/>
                      <a:pt x="866" y="0"/>
                      <a:pt x="988" y="25"/>
                    </a:cubicBezTo>
                    <a:cubicBezTo>
                      <a:pt x="1110" y="50"/>
                      <a:pt x="1198" y="132"/>
                      <a:pt x="1181" y="197"/>
                    </a:cubicBezTo>
                    <a:cubicBezTo>
                      <a:pt x="1164" y="262"/>
                      <a:pt x="1034" y="375"/>
                      <a:pt x="889" y="413"/>
                    </a:cubicBezTo>
                    <a:cubicBezTo>
                      <a:pt x="744" y="451"/>
                      <a:pt x="449" y="438"/>
                      <a:pt x="307" y="425"/>
                    </a:cubicBezTo>
                    <a:cubicBezTo>
                      <a:pt x="165" y="412"/>
                      <a:pt x="72" y="378"/>
                      <a:pt x="36" y="337"/>
                    </a:cubicBezTo>
                    <a:cubicBezTo>
                      <a:pt x="0" y="296"/>
                      <a:pt x="77" y="213"/>
                      <a:pt x="88" y="18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2" name="Google Shape;5192;p56"/>
              <p:cNvSpPr/>
              <p:nvPr/>
            </p:nvSpPr>
            <p:spPr>
              <a:xfrm>
                <a:off x="3733897" y="-479142"/>
                <a:ext cx="2744147" cy="1093783"/>
              </a:xfrm>
              <a:custGeom>
                <a:rect b="b" l="l" r="r" t="t"/>
                <a:pathLst>
                  <a:path extrusionOk="0" h="682" w="1583">
                    <a:moveTo>
                      <a:pt x="155" y="224"/>
                    </a:moveTo>
                    <a:cubicBezTo>
                      <a:pt x="208" y="137"/>
                      <a:pt x="302" y="108"/>
                      <a:pt x="407" y="74"/>
                    </a:cubicBezTo>
                    <a:cubicBezTo>
                      <a:pt x="512" y="40"/>
                      <a:pt x="660" y="0"/>
                      <a:pt x="785" y="20"/>
                    </a:cubicBezTo>
                    <a:cubicBezTo>
                      <a:pt x="910" y="40"/>
                      <a:pt x="1027" y="126"/>
                      <a:pt x="1157" y="194"/>
                    </a:cubicBezTo>
                    <a:cubicBezTo>
                      <a:pt x="1287" y="262"/>
                      <a:pt x="1545" y="353"/>
                      <a:pt x="1564" y="428"/>
                    </a:cubicBezTo>
                    <a:cubicBezTo>
                      <a:pt x="1583" y="503"/>
                      <a:pt x="1417" y="606"/>
                      <a:pt x="1272" y="644"/>
                    </a:cubicBezTo>
                    <a:cubicBezTo>
                      <a:pt x="1127" y="682"/>
                      <a:pt x="887" y="664"/>
                      <a:pt x="690" y="656"/>
                    </a:cubicBezTo>
                    <a:cubicBezTo>
                      <a:pt x="493" y="648"/>
                      <a:pt x="178" y="668"/>
                      <a:pt x="89" y="596"/>
                    </a:cubicBezTo>
                    <a:cubicBezTo>
                      <a:pt x="0" y="524"/>
                      <a:pt x="102" y="311"/>
                      <a:pt x="155" y="22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0000">
                    <a:schemeClr val="lt1"/>
                  </a:gs>
                  <a:gs pos="99000">
                    <a:srgbClr val="FFFFFF">
                      <a:alpha val="72941"/>
                    </a:srgbClr>
                  </a:gs>
                  <a:gs pos="100000">
                    <a:srgbClr val="FFFFFF">
                      <a:alpha val="72941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3" name="Google Shape;5193;p56"/>
              <p:cNvSpPr/>
              <p:nvPr/>
            </p:nvSpPr>
            <p:spPr>
              <a:xfrm>
                <a:off x="6377885" y="-1281366"/>
                <a:ext cx="2154427" cy="1384541"/>
              </a:xfrm>
              <a:custGeom>
                <a:rect b="b" l="l" r="r" t="t"/>
                <a:pathLst>
                  <a:path extrusionOk="0" h="543" w="1162">
                    <a:moveTo>
                      <a:pt x="56" y="162"/>
                    </a:moveTo>
                    <a:cubicBezTo>
                      <a:pt x="115" y="100"/>
                      <a:pt x="221" y="28"/>
                      <a:pt x="368" y="14"/>
                    </a:cubicBezTo>
                    <a:cubicBezTo>
                      <a:pt x="515" y="0"/>
                      <a:pt x="811" y="42"/>
                      <a:pt x="940" y="79"/>
                    </a:cubicBezTo>
                    <a:cubicBezTo>
                      <a:pt x="1069" y="116"/>
                      <a:pt x="1126" y="177"/>
                      <a:pt x="1144" y="239"/>
                    </a:cubicBezTo>
                    <a:cubicBezTo>
                      <a:pt x="1162" y="301"/>
                      <a:pt x="1141" y="401"/>
                      <a:pt x="1048" y="451"/>
                    </a:cubicBezTo>
                    <a:cubicBezTo>
                      <a:pt x="955" y="501"/>
                      <a:pt x="746" y="543"/>
                      <a:pt x="586" y="541"/>
                    </a:cubicBezTo>
                    <a:cubicBezTo>
                      <a:pt x="426" y="539"/>
                      <a:pt x="176" y="502"/>
                      <a:pt x="88" y="439"/>
                    </a:cubicBezTo>
                    <a:cubicBezTo>
                      <a:pt x="0" y="376"/>
                      <a:pt x="63" y="220"/>
                      <a:pt x="56" y="16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4000">
                    <a:schemeClr val="lt1"/>
                  </a:gs>
                  <a:gs pos="99000">
                    <a:srgbClr val="FFFFFF">
                      <a:alpha val="66666"/>
                    </a:srgbClr>
                  </a:gs>
                  <a:gs pos="100000">
                    <a:srgbClr val="FFFFFF">
                      <a:alpha val="6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194" name="Google Shape;5194;p56"/>
              <p:cNvCxnSpPr/>
              <p:nvPr/>
            </p:nvCxnSpPr>
            <p:spPr>
              <a:xfrm flipH="1" rot="10800000">
                <a:off x="5824603" y="-501042"/>
                <a:ext cx="814192" cy="5010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5195" name="Google Shape;5195;p56"/>
              <p:cNvCxnSpPr/>
              <p:nvPr/>
            </p:nvCxnSpPr>
            <p:spPr>
              <a:xfrm>
                <a:off x="4010416" y="-711896"/>
                <a:ext cx="724423" cy="43632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5196" name="Google Shape;5196;p56"/>
            <p:cNvSpPr txBox="1"/>
            <p:nvPr/>
          </p:nvSpPr>
          <p:spPr>
            <a:xfrm>
              <a:off x="4935255" y="4346532"/>
              <a:ext cx="22171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inter-AS routing</a:t>
              </a:r>
              <a:endParaRPr/>
            </a:p>
          </p:txBody>
        </p:sp>
      </p:grpSp>
      <p:grpSp>
        <p:nvGrpSpPr>
          <p:cNvPr id="5197" name="Google Shape;5197;p56"/>
          <p:cNvGrpSpPr/>
          <p:nvPr/>
        </p:nvGrpSpPr>
        <p:grpSpPr>
          <a:xfrm>
            <a:off x="3723768" y="1866380"/>
            <a:ext cx="2334629" cy="3331019"/>
            <a:chOff x="5176788" y="1691016"/>
            <a:chExt cx="2334629" cy="3331019"/>
          </a:xfrm>
        </p:grpSpPr>
        <p:sp>
          <p:nvSpPr>
            <p:cNvPr id="5198" name="Google Shape;5198;p56"/>
            <p:cNvSpPr/>
            <p:nvPr/>
          </p:nvSpPr>
          <p:spPr>
            <a:xfrm flipH="1">
              <a:off x="5219204" y="3674178"/>
              <a:ext cx="2255450" cy="1347857"/>
            </a:xfrm>
            <a:custGeom>
              <a:rect b="b" l="l" r="r" t="t"/>
              <a:pathLst>
                <a:path extrusionOk="0" h="1349639" w="2254368">
                  <a:moveTo>
                    <a:pt x="1855043" y="1349639"/>
                  </a:moveTo>
                  <a:cubicBezTo>
                    <a:pt x="1304110" y="746280"/>
                    <a:pt x="628999" y="499249"/>
                    <a:pt x="0" y="310"/>
                  </a:cubicBezTo>
                  <a:cubicBezTo>
                    <a:pt x="333077" y="4877"/>
                    <a:pt x="1918156" y="-3099"/>
                    <a:pt x="2251233" y="1468"/>
                  </a:cubicBezTo>
                  <a:cubicBezTo>
                    <a:pt x="2089546" y="493074"/>
                    <a:pt x="2029736" y="828030"/>
                    <a:pt x="2254368" y="1315058"/>
                  </a:cubicBezTo>
                  <a:cubicBezTo>
                    <a:pt x="2028914" y="1268083"/>
                    <a:pt x="1915520" y="1271535"/>
                    <a:pt x="1855043" y="134963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5199" name="Google Shape;5199;p56"/>
            <p:cNvGrpSpPr/>
            <p:nvPr/>
          </p:nvGrpSpPr>
          <p:grpSpPr>
            <a:xfrm>
              <a:off x="5176788" y="1691016"/>
              <a:ext cx="2334629" cy="2102478"/>
              <a:chOff x="5176788" y="1691016"/>
              <a:chExt cx="2334629" cy="2102478"/>
            </a:xfrm>
          </p:grpSpPr>
          <p:grpSp>
            <p:nvGrpSpPr>
              <p:cNvPr id="5200" name="Google Shape;5200;p56"/>
              <p:cNvGrpSpPr/>
              <p:nvPr/>
            </p:nvGrpSpPr>
            <p:grpSpPr>
              <a:xfrm>
                <a:off x="5176788" y="1691016"/>
                <a:ext cx="2334629" cy="2102478"/>
                <a:chOff x="1858002" y="3709936"/>
                <a:chExt cx="1045872" cy="1739638"/>
              </a:xfrm>
            </p:grpSpPr>
            <p:sp>
              <p:nvSpPr>
                <p:cNvPr id="5201" name="Google Shape;5201;p56"/>
                <p:cNvSpPr/>
                <p:nvPr/>
              </p:nvSpPr>
              <p:spPr>
                <a:xfrm rot="10800000">
                  <a:off x="1867527" y="3957547"/>
                  <a:ext cx="1033544" cy="611095"/>
                </a:xfrm>
                <a:prstGeom prst="rect">
                  <a:avLst/>
                </a:prstGeom>
                <a:gradFill>
                  <a:gsLst>
                    <a:gs pos="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5202" name="Google Shape;5202;p56"/>
                <p:cNvGrpSpPr/>
                <p:nvPr/>
              </p:nvGrpSpPr>
              <p:grpSpPr>
                <a:xfrm>
                  <a:off x="1859590" y="5089265"/>
                  <a:ext cx="1035050" cy="360309"/>
                  <a:chOff x="4129067" y="3606966"/>
                  <a:chExt cx="567968" cy="338045"/>
                </a:xfrm>
              </p:grpSpPr>
              <p:sp>
                <p:nvSpPr>
                  <p:cNvPr id="5203" name="Google Shape;5203;p56"/>
                  <p:cNvSpPr/>
                  <p:nvPr/>
                </p:nvSpPr>
                <p:spPr>
                  <a:xfrm>
                    <a:off x="4129067" y="3720144"/>
                    <a:ext cx="567968" cy="224867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4" name="Google Shape;5204;p56"/>
                  <p:cNvSpPr/>
                  <p:nvPr/>
                </p:nvSpPr>
                <p:spPr>
                  <a:xfrm>
                    <a:off x="4129067" y="3720144"/>
                    <a:ext cx="567968" cy="111689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05" name="Google Shape;5205;p56"/>
                  <p:cNvSpPr/>
                  <p:nvPr/>
                </p:nvSpPr>
                <p:spPr>
                  <a:xfrm>
                    <a:off x="4129067" y="3606966"/>
                    <a:ext cx="567968" cy="224867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206" name="Google Shape;5206;p56"/>
                  <p:cNvCxnSpPr/>
                  <p:nvPr/>
                </p:nvCxnSpPr>
                <p:spPr>
                  <a:xfrm>
                    <a:off x="4697035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5207" name="Google Shape;5207;p56"/>
                  <p:cNvCxnSpPr/>
                  <p:nvPr/>
                </p:nvCxnSpPr>
                <p:spPr>
                  <a:xfrm>
                    <a:off x="4129067" y="3720144"/>
                    <a:ext cx="0" cy="111689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5208" name="Google Shape;5208;p56"/>
                <p:cNvSpPr/>
                <p:nvPr/>
              </p:nvSpPr>
              <p:spPr>
                <a:xfrm>
                  <a:off x="1859676" y="4691826"/>
                  <a:ext cx="1037420" cy="522210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209" name="Google Shape;5209;p56"/>
                <p:cNvCxnSpPr>
                  <a:stCxn id="5210" idx="1"/>
                </p:cNvCxnSpPr>
                <p:nvPr/>
              </p:nvCxnSpPr>
              <p:spPr>
                <a:xfrm flipH="1">
                  <a:off x="1861285" y="3924839"/>
                  <a:ext cx="900" cy="1295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211" name="Google Shape;5211;p56"/>
                <p:cNvCxnSpPr/>
                <p:nvPr/>
              </p:nvCxnSpPr>
              <p:spPr>
                <a:xfrm flipH="1">
                  <a:off x="2894641" y="3971833"/>
                  <a:ext cx="6350" cy="126981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5212" name="Google Shape;5212;p56"/>
                <p:cNvGrpSpPr/>
                <p:nvPr/>
              </p:nvGrpSpPr>
              <p:grpSpPr>
                <a:xfrm>
                  <a:off x="1858002" y="3709936"/>
                  <a:ext cx="1045872" cy="398402"/>
                  <a:chOff x="2185125" y="1574638"/>
                  <a:chExt cx="1201487" cy="429505"/>
                </a:xfrm>
              </p:grpSpPr>
              <p:sp>
                <p:nvSpPr>
                  <p:cNvPr id="5213" name="Google Shape;5213;p56"/>
                  <p:cNvSpPr/>
                  <p:nvPr/>
                </p:nvSpPr>
                <p:spPr>
                  <a:xfrm flipH="1" rot="10800000">
                    <a:off x="2185125" y="1689286"/>
                    <a:ext cx="1196349" cy="314857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0" name="Google Shape;5210;p56"/>
                  <p:cNvSpPr/>
                  <p:nvPr/>
                </p:nvSpPr>
                <p:spPr>
                  <a:xfrm>
                    <a:off x="2189930" y="1749849"/>
                    <a:ext cx="1195120" cy="112938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4" name="Google Shape;5214;p56"/>
                  <p:cNvSpPr/>
                  <p:nvPr/>
                </p:nvSpPr>
                <p:spPr>
                  <a:xfrm flipH="1" rot="10800000">
                    <a:off x="2189930" y="1574638"/>
                    <a:ext cx="1196349" cy="3148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80808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5" name="Google Shape;5215;p56"/>
                  <p:cNvSpPr/>
                  <p:nvPr/>
                </p:nvSpPr>
                <p:spPr>
                  <a:xfrm>
                    <a:off x="2489684" y="1670464"/>
                    <a:ext cx="581761" cy="157429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216" name="Google Shape;5216;p56"/>
                  <p:cNvSpPr/>
                  <p:nvPr/>
                </p:nvSpPr>
                <p:spPr>
                  <a:xfrm>
                    <a:off x="2429501" y="1629396"/>
                    <a:ext cx="703949" cy="11122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7" name="Google Shape;5217;p56"/>
                  <p:cNvSpPr/>
                  <p:nvPr/>
                </p:nvSpPr>
                <p:spPr>
                  <a:xfrm>
                    <a:off x="2892722" y="1723510"/>
                    <a:ext cx="257143" cy="95826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18" name="Google Shape;5218;p56"/>
                  <p:cNvSpPr/>
                  <p:nvPr/>
                </p:nvSpPr>
                <p:spPr>
                  <a:xfrm>
                    <a:off x="2416736" y="1725222"/>
                    <a:ext cx="255318" cy="9411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cxnSp>
                <p:nvCxnSpPr>
                  <p:cNvPr id="5219" name="Google Shape;5219;p56"/>
                  <p:cNvCxnSpPr>
                    <a:endCxn id="5214" idx="2"/>
                  </p:cNvCxnSpPr>
                  <p:nvPr/>
                </p:nvCxnSpPr>
                <p:spPr>
                  <a:xfrm rot="10800000">
                    <a:off x="2189930" y="1732067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220" name="Google Shape;5220;p56"/>
                  <p:cNvCxnSpPr/>
                  <p:nvPr/>
                </p:nvCxnSpPr>
                <p:spPr>
                  <a:xfrm rot="10800000">
                    <a:off x="3384788" y="1728644"/>
                    <a:ext cx="1824" cy="12149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  <a:effectLst>
                    <a:outerShdw blurRad="40005" rotWithShape="0" algn="tl" dir="5400000" dist="19939">
                      <a:srgbClr val="80808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5221" name="Google Shape;5221;p56"/>
              <p:cNvGrpSpPr/>
              <p:nvPr/>
            </p:nvGrpSpPr>
            <p:grpSpPr>
              <a:xfrm>
                <a:off x="5741299" y="2747246"/>
                <a:ext cx="1221860" cy="1008038"/>
                <a:chOff x="1992768" y="2310128"/>
                <a:chExt cx="1136650" cy="928372"/>
              </a:xfrm>
            </p:grpSpPr>
            <p:sp>
              <p:nvSpPr>
                <p:cNvPr id="5222" name="Google Shape;5222;p56"/>
                <p:cNvSpPr/>
                <p:nvPr/>
              </p:nvSpPr>
              <p:spPr>
                <a:xfrm>
                  <a:off x="1992768" y="2337583"/>
                  <a:ext cx="1136650" cy="900917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C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  <a:effectLst>
                  <a:outerShdw blurRad="50800" rotWithShape="0" algn="bl" dir="18900000" dist="38100">
                    <a:srgbClr val="000000">
                      <a:alpha val="4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5223" name="Google Shape;5223;p56"/>
                <p:cNvCxnSpPr/>
                <p:nvPr/>
              </p:nvCxnSpPr>
              <p:spPr>
                <a:xfrm>
                  <a:off x="1992768" y="2735763"/>
                  <a:ext cx="1136650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cxnSp>
              <p:nvCxnSpPr>
                <p:cNvPr id="5224" name="Google Shape;5224;p56"/>
                <p:cNvCxnSpPr/>
                <p:nvPr/>
              </p:nvCxnSpPr>
              <p:spPr>
                <a:xfrm rot="10800000">
                  <a:off x="2543809" y="2758130"/>
                  <a:ext cx="0" cy="452102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</p:cxnSp>
            <p:sp>
              <p:nvSpPr>
                <p:cNvPr id="5225" name="Google Shape;5225;p56"/>
                <p:cNvSpPr txBox="1"/>
                <p:nvPr/>
              </p:nvSpPr>
              <p:spPr>
                <a:xfrm>
                  <a:off x="2011312" y="2310128"/>
                  <a:ext cx="1094850" cy="3915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forwarding</a:t>
                  </a:r>
                  <a:endParaRPr/>
                </a:p>
                <a:p>
                  <a:pPr indent="0" lvl="0" marL="0" marR="0" rtl="0" algn="ctr">
                    <a:lnSpc>
                      <a:spcPct val="8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table</a:t>
                  </a:r>
                  <a:endParaRPr/>
                </a:p>
              </p:txBody>
            </p:sp>
          </p:grpSp>
        </p:grpSp>
      </p:grpSp>
      <p:sp>
        <p:nvSpPr>
          <p:cNvPr id="5226" name="Google Shape;5226;p56"/>
          <p:cNvSpPr txBox="1"/>
          <p:nvPr/>
        </p:nvSpPr>
        <p:spPr>
          <a:xfrm>
            <a:off x="6300592" y="1641655"/>
            <a:ext cx="5711869" cy="845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forwarding table  configured by intra- and inter-AS routing algorithms</a:t>
            </a:r>
            <a:endParaRPr/>
          </a:p>
        </p:txBody>
      </p:sp>
      <p:grpSp>
        <p:nvGrpSpPr>
          <p:cNvPr id="5227" name="Google Shape;5227;p56"/>
          <p:cNvGrpSpPr/>
          <p:nvPr/>
        </p:nvGrpSpPr>
        <p:grpSpPr>
          <a:xfrm>
            <a:off x="3770936" y="2327478"/>
            <a:ext cx="989852" cy="1051967"/>
            <a:chOff x="-167080" y="2120214"/>
            <a:chExt cx="989852" cy="1051967"/>
          </a:xfrm>
        </p:grpSpPr>
        <p:grpSp>
          <p:nvGrpSpPr>
            <p:cNvPr id="5228" name="Google Shape;5228;p56"/>
            <p:cNvGrpSpPr/>
            <p:nvPr/>
          </p:nvGrpSpPr>
          <p:grpSpPr>
            <a:xfrm>
              <a:off x="-167080" y="2120214"/>
              <a:ext cx="989852" cy="697506"/>
              <a:chOff x="1653" y="2898"/>
              <a:chExt cx="678" cy="473"/>
            </a:xfrm>
          </p:grpSpPr>
          <p:sp>
            <p:nvSpPr>
              <p:cNvPr id="5229" name="Google Shape;5229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3333CC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0" name="Google Shape;5230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Intra-AS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1" name="Google Shape;5231;p56"/>
            <p:cNvSpPr/>
            <p:nvPr/>
          </p:nvSpPr>
          <p:spPr>
            <a:xfrm rot="5400000">
              <a:off x="-37103" y="2815767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2" name="Google Shape;5232;p56"/>
          <p:cNvGrpSpPr/>
          <p:nvPr/>
        </p:nvGrpSpPr>
        <p:grpSpPr>
          <a:xfrm>
            <a:off x="5032107" y="2338321"/>
            <a:ext cx="989852" cy="1047923"/>
            <a:chOff x="1057515" y="2118865"/>
            <a:chExt cx="989852" cy="1047923"/>
          </a:xfrm>
        </p:grpSpPr>
        <p:grpSp>
          <p:nvGrpSpPr>
            <p:cNvPr id="5233" name="Google Shape;5233;p56"/>
            <p:cNvGrpSpPr/>
            <p:nvPr/>
          </p:nvGrpSpPr>
          <p:grpSpPr>
            <a:xfrm>
              <a:off x="1057515" y="2118865"/>
              <a:ext cx="989852" cy="697506"/>
              <a:chOff x="1653" y="2898"/>
              <a:chExt cx="678" cy="473"/>
            </a:xfrm>
          </p:grpSpPr>
          <p:sp>
            <p:nvSpPr>
              <p:cNvPr id="5234" name="Google Shape;5234;p56"/>
              <p:cNvSpPr/>
              <p:nvPr/>
            </p:nvSpPr>
            <p:spPr>
              <a:xfrm>
                <a:off x="1653" y="2898"/>
                <a:ext cx="678" cy="378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5" name="Google Shape;5235;p56"/>
              <p:cNvSpPr txBox="1"/>
              <p:nvPr/>
            </p:nvSpPr>
            <p:spPr>
              <a:xfrm>
                <a:off x="1733" y="2933"/>
                <a:ext cx="517" cy="43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Inter-AS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36" name="Google Shape;5236;p56"/>
            <p:cNvSpPr/>
            <p:nvPr/>
          </p:nvSpPr>
          <p:spPr>
            <a:xfrm flipH="1" rot="-5400000">
              <a:off x="1454529" y="2810374"/>
              <a:ext cx="524728" cy="188100"/>
            </a:xfrm>
            <a:prstGeom prst="bentUpArrow">
              <a:avLst>
                <a:gd fmla="val 16723" name="adj1"/>
                <a:gd fmla="val 25000" name="adj2"/>
                <a:gd fmla="val 25000" name="adj3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37" name="Google Shape;5237;p56"/>
          <p:cNvSpPr txBox="1"/>
          <p:nvPr/>
        </p:nvSpPr>
        <p:spPr>
          <a:xfrm>
            <a:off x="6392032" y="2464615"/>
            <a:ext cx="5711869" cy="680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 routing determine entries for destinations within AS</a:t>
            </a:r>
            <a:endParaRPr/>
          </a:p>
        </p:txBody>
      </p:sp>
      <p:sp>
        <p:nvSpPr>
          <p:cNvPr id="5238" name="Google Shape;5238;p56"/>
          <p:cNvSpPr txBox="1"/>
          <p:nvPr/>
        </p:nvSpPr>
        <p:spPr>
          <a:xfrm>
            <a:off x="6385936" y="3165655"/>
            <a:ext cx="5711869" cy="760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7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 &amp; intra-AS determine entries for external destinations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2" name="Shape 5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3" name="Google Shape;5243;p57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a role in intradomain forwarding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4" name="Google Shape;5244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5" name="Google Shape;5245;p57"/>
          <p:cNvSpPr/>
          <p:nvPr/>
        </p:nvSpPr>
        <p:spPr>
          <a:xfrm>
            <a:off x="5446783" y="4100650"/>
            <a:ext cx="2351995" cy="1511508"/>
          </a:xfrm>
          <a:custGeom>
            <a:rect b="b" l="l" r="r" t="t"/>
            <a:pathLst>
              <a:path extrusionOk="0" h="543" w="1162">
                <a:moveTo>
                  <a:pt x="56" y="162"/>
                </a:moveTo>
                <a:cubicBezTo>
                  <a:pt x="115" y="100"/>
                  <a:pt x="221" y="28"/>
                  <a:pt x="368" y="14"/>
                </a:cubicBezTo>
                <a:cubicBezTo>
                  <a:pt x="515" y="0"/>
                  <a:pt x="811" y="42"/>
                  <a:pt x="940" y="79"/>
                </a:cubicBezTo>
                <a:cubicBezTo>
                  <a:pt x="1069" y="116"/>
                  <a:pt x="1126" y="177"/>
                  <a:pt x="1144" y="239"/>
                </a:cubicBezTo>
                <a:cubicBezTo>
                  <a:pt x="1162" y="301"/>
                  <a:pt x="1141" y="401"/>
                  <a:pt x="1048" y="451"/>
                </a:cubicBezTo>
                <a:cubicBezTo>
                  <a:pt x="955" y="501"/>
                  <a:pt x="746" y="543"/>
                  <a:pt x="586" y="541"/>
                </a:cubicBezTo>
                <a:cubicBezTo>
                  <a:pt x="426" y="539"/>
                  <a:pt x="176" y="502"/>
                  <a:pt x="88" y="439"/>
                </a:cubicBezTo>
                <a:cubicBezTo>
                  <a:pt x="0" y="376"/>
                  <a:pt x="63" y="220"/>
                  <a:pt x="56" y="16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6" name="Google Shape;5246;p57"/>
          <p:cNvSpPr/>
          <p:nvPr/>
        </p:nvSpPr>
        <p:spPr>
          <a:xfrm>
            <a:off x="1620228" y="3847012"/>
            <a:ext cx="1832250" cy="1498236"/>
          </a:xfrm>
          <a:custGeom>
            <a:rect b="b" l="l" r="r" t="t"/>
            <a:pathLst>
              <a:path extrusionOk="0" h="451" w="1198">
                <a:moveTo>
                  <a:pt x="88" y="181"/>
                </a:moveTo>
                <a:cubicBezTo>
                  <a:pt x="159" y="143"/>
                  <a:pt x="120" y="111"/>
                  <a:pt x="180" y="89"/>
                </a:cubicBezTo>
                <a:cubicBezTo>
                  <a:pt x="240" y="67"/>
                  <a:pt x="313" y="60"/>
                  <a:pt x="448" y="49"/>
                </a:cubicBezTo>
                <a:cubicBezTo>
                  <a:pt x="583" y="38"/>
                  <a:pt x="866" y="0"/>
                  <a:pt x="988" y="25"/>
                </a:cubicBezTo>
                <a:cubicBezTo>
                  <a:pt x="1110" y="50"/>
                  <a:pt x="1198" y="132"/>
                  <a:pt x="1181" y="197"/>
                </a:cubicBezTo>
                <a:cubicBezTo>
                  <a:pt x="1164" y="262"/>
                  <a:pt x="1034" y="375"/>
                  <a:pt x="889" y="413"/>
                </a:cubicBezTo>
                <a:cubicBezTo>
                  <a:pt x="744" y="451"/>
                  <a:pt x="449" y="438"/>
                  <a:pt x="307" y="425"/>
                </a:cubicBezTo>
                <a:cubicBezTo>
                  <a:pt x="165" y="412"/>
                  <a:pt x="72" y="378"/>
                  <a:pt x="36" y="337"/>
                </a:cubicBezTo>
                <a:cubicBezTo>
                  <a:pt x="0" y="296"/>
                  <a:pt x="77" y="213"/>
                  <a:pt x="88" y="18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7" name="Google Shape;5247;p57"/>
          <p:cNvSpPr/>
          <p:nvPr/>
        </p:nvSpPr>
        <p:spPr>
          <a:xfrm>
            <a:off x="2802795" y="4927925"/>
            <a:ext cx="2930139" cy="1167917"/>
          </a:xfrm>
          <a:custGeom>
            <a:rect b="b" l="l" r="r" t="t"/>
            <a:pathLst>
              <a:path extrusionOk="0" h="682" w="1583">
                <a:moveTo>
                  <a:pt x="155" y="224"/>
                </a:moveTo>
                <a:cubicBezTo>
                  <a:pt x="208" y="137"/>
                  <a:pt x="302" y="108"/>
                  <a:pt x="407" y="74"/>
                </a:cubicBezTo>
                <a:cubicBezTo>
                  <a:pt x="512" y="40"/>
                  <a:pt x="660" y="0"/>
                  <a:pt x="785" y="20"/>
                </a:cubicBezTo>
                <a:cubicBezTo>
                  <a:pt x="910" y="40"/>
                  <a:pt x="1027" y="126"/>
                  <a:pt x="1157" y="194"/>
                </a:cubicBezTo>
                <a:cubicBezTo>
                  <a:pt x="1287" y="262"/>
                  <a:pt x="1545" y="353"/>
                  <a:pt x="1564" y="428"/>
                </a:cubicBezTo>
                <a:cubicBezTo>
                  <a:pt x="1583" y="503"/>
                  <a:pt x="1417" y="606"/>
                  <a:pt x="1272" y="644"/>
                </a:cubicBezTo>
                <a:cubicBezTo>
                  <a:pt x="1127" y="682"/>
                  <a:pt x="887" y="664"/>
                  <a:pt x="690" y="656"/>
                </a:cubicBezTo>
                <a:cubicBezTo>
                  <a:pt x="493" y="648"/>
                  <a:pt x="178" y="668"/>
                  <a:pt x="89" y="596"/>
                </a:cubicBezTo>
                <a:cubicBezTo>
                  <a:pt x="0" y="524"/>
                  <a:pt x="102" y="311"/>
                  <a:pt x="155" y="224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8" name="Google Shape;5248;p57"/>
          <p:cNvSpPr/>
          <p:nvPr/>
        </p:nvSpPr>
        <p:spPr>
          <a:xfrm>
            <a:off x="2001278" y="492645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9" name="Google Shape;5249;p57"/>
          <p:cNvCxnSpPr/>
          <p:nvPr/>
        </p:nvCxnSpPr>
        <p:spPr>
          <a:xfrm>
            <a:off x="2001278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0" name="Google Shape;5250;p57"/>
          <p:cNvCxnSpPr/>
          <p:nvPr/>
        </p:nvCxnSpPr>
        <p:spPr>
          <a:xfrm>
            <a:off x="2458245" y="4916128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1" name="Google Shape;5251;p57"/>
          <p:cNvSpPr/>
          <p:nvPr/>
        </p:nvSpPr>
        <p:spPr>
          <a:xfrm>
            <a:off x="2001278" y="4916128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2" name="Google Shape;5252;p57"/>
          <p:cNvSpPr/>
          <p:nvPr/>
        </p:nvSpPr>
        <p:spPr>
          <a:xfrm>
            <a:off x="1996898" y="4829124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3" name="Google Shape;5253;p57"/>
          <p:cNvSpPr/>
          <p:nvPr/>
        </p:nvSpPr>
        <p:spPr>
          <a:xfrm>
            <a:off x="2123914" y="4848294"/>
            <a:ext cx="205854" cy="18285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4" name="Google Shape;5254;p57"/>
          <p:cNvSpPr txBox="1"/>
          <p:nvPr/>
        </p:nvSpPr>
        <p:spPr>
          <a:xfrm>
            <a:off x="1998358" y="4752442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3b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5" name="Google Shape;5255;p57"/>
          <p:cNvSpPr/>
          <p:nvPr/>
        </p:nvSpPr>
        <p:spPr>
          <a:xfrm>
            <a:off x="3779509" y="5820083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56" name="Google Shape;5256;p57"/>
          <p:cNvCxnSpPr/>
          <p:nvPr/>
        </p:nvCxnSpPr>
        <p:spPr>
          <a:xfrm>
            <a:off x="3779509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7" name="Google Shape;5257;p57"/>
          <p:cNvCxnSpPr/>
          <p:nvPr/>
        </p:nvCxnSpPr>
        <p:spPr>
          <a:xfrm>
            <a:off x="4236476" y="5809761"/>
            <a:ext cx="0" cy="76681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8" name="Google Shape;5258;p57"/>
          <p:cNvSpPr/>
          <p:nvPr/>
        </p:nvSpPr>
        <p:spPr>
          <a:xfrm>
            <a:off x="3779509" y="5809761"/>
            <a:ext cx="452588" cy="75207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9" name="Google Shape;5259;p57"/>
          <p:cNvSpPr/>
          <p:nvPr/>
        </p:nvSpPr>
        <p:spPr>
          <a:xfrm>
            <a:off x="3775129" y="5722757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60" name="Google Shape;5260;p57"/>
          <p:cNvGrpSpPr/>
          <p:nvPr/>
        </p:nvGrpSpPr>
        <p:grpSpPr>
          <a:xfrm>
            <a:off x="3778049" y="5637228"/>
            <a:ext cx="468647" cy="396679"/>
            <a:chOff x="2897" y="2425"/>
            <a:chExt cx="323" cy="269"/>
          </a:xfrm>
        </p:grpSpPr>
        <p:sp>
          <p:nvSpPr>
            <p:cNvPr id="5261" name="Google Shape;5261;p57"/>
            <p:cNvSpPr/>
            <p:nvPr/>
          </p:nvSpPr>
          <p:spPr>
            <a:xfrm>
              <a:off x="2982" y="2490"/>
              <a:ext cx="142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2" name="Google Shape;5262;p57"/>
            <p:cNvSpPr txBox="1"/>
            <p:nvPr/>
          </p:nvSpPr>
          <p:spPr>
            <a:xfrm>
              <a:off x="2897" y="2425"/>
              <a:ext cx="323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1d</a:t>
              </a:r>
              <a:endParaRPr/>
            </a:p>
          </p:txBody>
        </p:sp>
      </p:grpSp>
      <p:sp>
        <p:nvSpPr>
          <p:cNvPr id="5263" name="Google Shape;5263;p57"/>
          <p:cNvSpPr/>
          <p:nvPr/>
        </p:nvSpPr>
        <p:spPr>
          <a:xfrm>
            <a:off x="2820315" y="4731797"/>
            <a:ext cx="456967" cy="122395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4" name="Google Shape;5264;p57"/>
          <p:cNvCxnSpPr/>
          <p:nvPr/>
        </p:nvCxnSpPr>
        <p:spPr>
          <a:xfrm>
            <a:off x="2820315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5" name="Google Shape;5265;p57"/>
          <p:cNvCxnSpPr/>
          <p:nvPr/>
        </p:nvCxnSpPr>
        <p:spPr>
          <a:xfrm>
            <a:off x="3277282" y="47214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6" name="Google Shape;5266;p57"/>
          <p:cNvSpPr/>
          <p:nvPr/>
        </p:nvSpPr>
        <p:spPr>
          <a:xfrm>
            <a:off x="2820315" y="4721475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7" name="Google Shape;5267;p57"/>
          <p:cNvSpPr/>
          <p:nvPr/>
        </p:nvSpPr>
        <p:spPr>
          <a:xfrm>
            <a:off x="2815935" y="4634471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8" name="Google Shape;5268;p57"/>
          <p:cNvSpPr/>
          <p:nvPr/>
        </p:nvSpPr>
        <p:spPr>
          <a:xfrm>
            <a:off x="2942952" y="4653641"/>
            <a:ext cx="207314" cy="162211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9" name="Google Shape;5269;p57"/>
          <p:cNvSpPr txBox="1"/>
          <p:nvPr/>
        </p:nvSpPr>
        <p:spPr>
          <a:xfrm>
            <a:off x="2818855" y="4556315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0" name="Google Shape;5270;p57"/>
          <p:cNvSpPr/>
          <p:nvPr/>
        </p:nvSpPr>
        <p:spPr>
          <a:xfrm>
            <a:off x="3726950" y="5236125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1" name="Google Shape;5271;p57"/>
          <p:cNvCxnSpPr/>
          <p:nvPr/>
        </p:nvCxnSpPr>
        <p:spPr>
          <a:xfrm>
            <a:off x="3726950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2" name="Google Shape;5272;p57"/>
          <p:cNvCxnSpPr/>
          <p:nvPr/>
        </p:nvCxnSpPr>
        <p:spPr>
          <a:xfrm>
            <a:off x="4183917" y="5227277"/>
            <a:ext cx="0" cy="7520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3" name="Google Shape;5273;p57"/>
          <p:cNvSpPr/>
          <p:nvPr/>
        </p:nvSpPr>
        <p:spPr>
          <a:xfrm>
            <a:off x="3726950" y="5227277"/>
            <a:ext cx="452588" cy="7078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4" name="Google Shape;5274;p57"/>
          <p:cNvSpPr/>
          <p:nvPr/>
        </p:nvSpPr>
        <p:spPr>
          <a:xfrm>
            <a:off x="3722570" y="5138799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5" name="Google Shape;5275;p57"/>
          <p:cNvGrpSpPr/>
          <p:nvPr/>
        </p:nvGrpSpPr>
        <p:grpSpPr>
          <a:xfrm>
            <a:off x="3729870" y="5053269"/>
            <a:ext cx="452588" cy="398153"/>
            <a:chOff x="2899" y="2425"/>
            <a:chExt cx="319" cy="270"/>
          </a:xfrm>
        </p:grpSpPr>
        <p:sp>
          <p:nvSpPr>
            <p:cNvPr id="5276" name="Google Shape;5276;p57"/>
            <p:cNvSpPr/>
            <p:nvPr/>
          </p:nvSpPr>
          <p:spPr>
            <a:xfrm>
              <a:off x="2982" y="2490"/>
              <a:ext cx="144" cy="13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7" name="Google Shape;5277;p57"/>
            <p:cNvSpPr txBox="1"/>
            <p:nvPr/>
          </p:nvSpPr>
          <p:spPr>
            <a:xfrm>
              <a:off x="2899" y="2425"/>
              <a:ext cx="319" cy="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1c</a:t>
              </a:r>
              <a:endParaRPr/>
            </a:p>
          </p:txBody>
        </p:sp>
      </p:grpSp>
      <p:cxnSp>
        <p:nvCxnSpPr>
          <p:cNvPr id="5278" name="Google Shape;5278;p57"/>
          <p:cNvCxnSpPr/>
          <p:nvPr/>
        </p:nvCxnSpPr>
        <p:spPr>
          <a:xfrm>
            <a:off x="6347578" y="4971418"/>
            <a:ext cx="449668" cy="14451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9" name="Google Shape;5279;p57"/>
          <p:cNvCxnSpPr/>
          <p:nvPr/>
        </p:nvCxnSpPr>
        <p:spPr>
          <a:xfrm>
            <a:off x="6820605" y="4846819"/>
            <a:ext cx="132856" cy="171058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0" name="Google Shape;5280;p57"/>
          <p:cNvCxnSpPr/>
          <p:nvPr/>
        </p:nvCxnSpPr>
        <p:spPr>
          <a:xfrm flipH="1" rot="10800000">
            <a:off x="6248301" y="4781935"/>
            <a:ext cx="166435" cy="112073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1" name="Google Shape;5281;p57"/>
          <p:cNvSpPr/>
          <p:nvPr/>
        </p:nvSpPr>
        <p:spPr>
          <a:xfrm>
            <a:off x="4233556" y="5716858"/>
            <a:ext cx="385429" cy="120921"/>
          </a:xfrm>
          <a:custGeom>
            <a:rect b="b" l="l" r="r" t="t"/>
            <a:pathLst>
              <a:path extrusionOk="0" h="82" w="264">
                <a:moveTo>
                  <a:pt x="0" y="82"/>
                </a:moveTo>
                <a:lnTo>
                  <a:pt x="26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2" name="Google Shape;5282;p57"/>
          <p:cNvSpPr/>
          <p:nvPr/>
        </p:nvSpPr>
        <p:spPr>
          <a:xfrm>
            <a:off x="3561975" y="5663771"/>
            <a:ext cx="221914" cy="174008"/>
          </a:xfrm>
          <a:custGeom>
            <a:rect b="b" l="l" r="r" t="t"/>
            <a:pathLst>
              <a:path extrusionOk="0" h="118" w="152">
                <a:moveTo>
                  <a:pt x="0" y="0"/>
                </a:moveTo>
                <a:lnTo>
                  <a:pt x="152" y="11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3" name="Google Shape;5283;p57"/>
          <p:cNvSpPr/>
          <p:nvPr/>
        </p:nvSpPr>
        <p:spPr>
          <a:xfrm>
            <a:off x="3743010" y="5560546"/>
            <a:ext cx="823417" cy="120921"/>
          </a:xfrm>
          <a:custGeom>
            <a:rect b="b" l="l" r="r" t="t"/>
            <a:pathLst>
              <a:path extrusionOk="0" h="82" w="564">
                <a:moveTo>
                  <a:pt x="0" y="0"/>
                </a:moveTo>
                <a:lnTo>
                  <a:pt x="564" y="82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4" name="Google Shape;5284;p57"/>
          <p:cNvSpPr/>
          <p:nvPr/>
        </p:nvSpPr>
        <p:spPr>
          <a:xfrm>
            <a:off x="3652492" y="5321654"/>
            <a:ext cx="110957" cy="138616"/>
          </a:xfrm>
          <a:custGeom>
            <a:rect b="b" l="l" r="r" t="t"/>
            <a:pathLst>
              <a:path extrusionOk="0" h="94" w="76">
                <a:moveTo>
                  <a:pt x="0" y="94"/>
                </a:moveTo>
                <a:lnTo>
                  <a:pt x="76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5" name="Google Shape;5285;p57"/>
          <p:cNvSpPr/>
          <p:nvPr/>
        </p:nvSpPr>
        <p:spPr>
          <a:xfrm>
            <a:off x="2446565" y="4767189"/>
            <a:ext cx="367910" cy="168109"/>
          </a:xfrm>
          <a:custGeom>
            <a:rect b="b" l="l" r="r" t="t"/>
            <a:pathLst>
              <a:path extrusionOk="0" h="114" w="252">
                <a:moveTo>
                  <a:pt x="0" y="114"/>
                </a:moveTo>
                <a:lnTo>
                  <a:pt x="252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6" name="Google Shape;5286;p57"/>
          <p:cNvSpPr/>
          <p:nvPr/>
        </p:nvSpPr>
        <p:spPr>
          <a:xfrm>
            <a:off x="3083108" y="4855667"/>
            <a:ext cx="648222" cy="380458"/>
          </a:xfrm>
          <a:custGeom>
            <a:rect b="b" l="l" r="r" t="t"/>
            <a:pathLst>
              <a:path extrusionOk="0" h="258" w="444">
                <a:moveTo>
                  <a:pt x="0" y="0"/>
                </a:moveTo>
                <a:lnTo>
                  <a:pt x="444" y="258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7" name="Google Shape;5287;p57"/>
          <p:cNvSpPr/>
          <p:nvPr/>
        </p:nvSpPr>
        <p:spPr>
          <a:xfrm>
            <a:off x="5016095" y="5029675"/>
            <a:ext cx="954814" cy="619350"/>
          </a:xfrm>
          <a:custGeom>
            <a:rect b="b" l="l" r="r" t="t"/>
            <a:pathLst>
              <a:path extrusionOk="0" h="420" w="654">
                <a:moveTo>
                  <a:pt x="0" y="420"/>
                </a:moveTo>
                <a:lnTo>
                  <a:pt x="654" y="0"/>
                </a:lnTo>
              </a:path>
            </a:pathLst>
          </a:cu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8" name="Google Shape;5288;p57"/>
          <p:cNvSpPr/>
          <p:nvPr/>
        </p:nvSpPr>
        <p:spPr>
          <a:xfrm>
            <a:off x="5890611" y="4936773"/>
            <a:ext cx="456967" cy="12092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9" name="Google Shape;5289;p57"/>
          <p:cNvCxnSpPr/>
          <p:nvPr/>
        </p:nvCxnSpPr>
        <p:spPr>
          <a:xfrm>
            <a:off x="5890611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90" name="Google Shape;5290;p57"/>
          <p:cNvCxnSpPr/>
          <p:nvPr/>
        </p:nvCxnSpPr>
        <p:spPr>
          <a:xfrm>
            <a:off x="6347578" y="4924975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1" name="Google Shape;5291;p57"/>
          <p:cNvSpPr/>
          <p:nvPr/>
        </p:nvSpPr>
        <p:spPr>
          <a:xfrm>
            <a:off x="5890611" y="4924975"/>
            <a:ext cx="452588" cy="73732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2" name="Google Shape;5292;p57"/>
          <p:cNvSpPr/>
          <p:nvPr/>
        </p:nvSpPr>
        <p:spPr>
          <a:xfrm>
            <a:off x="5886231" y="4837972"/>
            <a:ext cx="456967" cy="140091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3" name="Google Shape;5293;p57"/>
          <p:cNvSpPr/>
          <p:nvPr/>
        </p:nvSpPr>
        <p:spPr>
          <a:xfrm>
            <a:off x="6013247" y="4857142"/>
            <a:ext cx="205854" cy="17990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4" name="Google Shape;5294;p57"/>
          <p:cNvSpPr txBox="1"/>
          <p:nvPr/>
        </p:nvSpPr>
        <p:spPr>
          <a:xfrm>
            <a:off x="5887691" y="4761290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5" name="Google Shape;5295;p57"/>
          <p:cNvSpPr txBox="1"/>
          <p:nvPr/>
        </p:nvSpPr>
        <p:spPr>
          <a:xfrm>
            <a:off x="1840470" y="5215261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6" name="Google Shape;5296;p57"/>
          <p:cNvSpPr txBox="1"/>
          <p:nvPr/>
        </p:nvSpPr>
        <p:spPr>
          <a:xfrm>
            <a:off x="5345452" y="5839068"/>
            <a:ext cx="665742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7" name="Google Shape;5297;p57"/>
          <p:cNvSpPr txBox="1"/>
          <p:nvPr/>
        </p:nvSpPr>
        <p:spPr>
          <a:xfrm>
            <a:off x="7116511" y="5463035"/>
            <a:ext cx="616103" cy="368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AS2</a:t>
            </a:r>
            <a:endParaRPr/>
          </a:p>
        </p:txBody>
      </p:sp>
      <p:sp>
        <p:nvSpPr>
          <p:cNvPr id="5298" name="Google Shape;5298;p57"/>
          <p:cNvSpPr/>
          <p:nvPr/>
        </p:nvSpPr>
        <p:spPr>
          <a:xfrm>
            <a:off x="3280202" y="5545800"/>
            <a:ext cx="456967" cy="11944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9" name="Google Shape;5299;p57"/>
          <p:cNvCxnSpPr/>
          <p:nvPr/>
        </p:nvCxnSpPr>
        <p:spPr>
          <a:xfrm>
            <a:off x="3280202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00" name="Google Shape;5300;p57"/>
          <p:cNvCxnSpPr/>
          <p:nvPr/>
        </p:nvCxnSpPr>
        <p:spPr>
          <a:xfrm>
            <a:off x="3738630" y="5535477"/>
            <a:ext cx="0" cy="7373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1" name="Google Shape;5301;p57"/>
          <p:cNvSpPr/>
          <p:nvPr/>
        </p:nvSpPr>
        <p:spPr>
          <a:xfrm>
            <a:off x="3280202" y="5535477"/>
            <a:ext cx="452588" cy="69308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2" name="Google Shape;5302;p57"/>
          <p:cNvSpPr/>
          <p:nvPr/>
        </p:nvSpPr>
        <p:spPr>
          <a:xfrm>
            <a:off x="3275822" y="5455847"/>
            <a:ext cx="456967" cy="141566"/>
          </a:xfrm>
          <a:prstGeom prst="ellipse">
            <a:avLst/>
          </a:prstGeom>
          <a:solidFill>
            <a:srgbClr val="CCCC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3" name="Google Shape;5303;p57"/>
          <p:cNvSpPr/>
          <p:nvPr/>
        </p:nvSpPr>
        <p:spPr>
          <a:xfrm>
            <a:off x="3399919" y="5494187"/>
            <a:ext cx="207314" cy="141566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4" name="Google Shape;5304;p57"/>
          <p:cNvSpPr txBox="1"/>
          <p:nvPr/>
        </p:nvSpPr>
        <p:spPr>
          <a:xfrm>
            <a:off x="3280202" y="5367368"/>
            <a:ext cx="467187" cy="396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05" name="Google Shape;5305;p57"/>
          <p:cNvGrpSpPr/>
          <p:nvPr/>
        </p:nvGrpSpPr>
        <p:grpSpPr>
          <a:xfrm>
            <a:off x="6394297" y="4593181"/>
            <a:ext cx="461347" cy="396679"/>
            <a:chOff x="4320" y="1936"/>
            <a:chExt cx="316" cy="269"/>
          </a:xfrm>
        </p:grpSpPr>
        <p:sp>
          <p:nvSpPr>
            <p:cNvPr id="5306" name="Google Shape;5306;p57"/>
            <p:cNvSpPr/>
            <p:nvPr/>
          </p:nvSpPr>
          <p:spPr>
            <a:xfrm>
              <a:off x="4323" y="2054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07" name="Google Shape;5307;p57"/>
            <p:cNvCxnSpPr/>
            <p:nvPr/>
          </p:nvCxnSpPr>
          <p:spPr>
            <a:xfrm>
              <a:off x="4323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08" name="Google Shape;5308;p57"/>
            <p:cNvCxnSpPr/>
            <p:nvPr/>
          </p:nvCxnSpPr>
          <p:spPr>
            <a:xfrm>
              <a:off x="4636" y="2047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09" name="Google Shape;5309;p57"/>
            <p:cNvSpPr/>
            <p:nvPr/>
          </p:nvSpPr>
          <p:spPr>
            <a:xfrm>
              <a:off x="4323" y="2047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0" name="Google Shape;5310;p57"/>
            <p:cNvSpPr/>
            <p:nvPr/>
          </p:nvSpPr>
          <p:spPr>
            <a:xfrm>
              <a:off x="4320" y="198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1" name="Google Shape;5311;p57"/>
            <p:cNvSpPr/>
            <p:nvPr/>
          </p:nvSpPr>
          <p:spPr>
            <a:xfrm>
              <a:off x="4407" y="2001"/>
              <a:ext cx="141" cy="118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2" name="Google Shape;5312;p57"/>
            <p:cNvSpPr txBox="1"/>
            <p:nvPr/>
          </p:nvSpPr>
          <p:spPr>
            <a:xfrm>
              <a:off x="4325" y="1936"/>
              <a:ext cx="310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2c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13" name="Google Shape;5313;p57"/>
          <p:cNvGrpSpPr/>
          <p:nvPr/>
        </p:nvGrpSpPr>
        <p:grpSpPr>
          <a:xfrm>
            <a:off x="6797246" y="4920552"/>
            <a:ext cx="468647" cy="396679"/>
            <a:chOff x="4596" y="2158"/>
            <a:chExt cx="321" cy="269"/>
          </a:xfrm>
        </p:grpSpPr>
        <p:sp>
          <p:nvSpPr>
            <p:cNvPr id="5314" name="Google Shape;5314;p57"/>
            <p:cNvSpPr/>
            <p:nvPr/>
          </p:nvSpPr>
          <p:spPr>
            <a:xfrm>
              <a:off x="4599" y="2276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15" name="Google Shape;5315;p57"/>
            <p:cNvCxnSpPr/>
            <p:nvPr/>
          </p:nvCxnSpPr>
          <p:spPr>
            <a:xfrm>
              <a:off x="4599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6" name="Google Shape;5316;p57"/>
            <p:cNvCxnSpPr/>
            <p:nvPr/>
          </p:nvCxnSpPr>
          <p:spPr>
            <a:xfrm>
              <a:off x="4910" y="2269"/>
              <a:ext cx="0" cy="5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17" name="Google Shape;5317;p57"/>
            <p:cNvSpPr/>
            <p:nvPr/>
          </p:nvSpPr>
          <p:spPr>
            <a:xfrm>
              <a:off x="4599" y="2269"/>
              <a:ext cx="310" cy="51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8" name="Google Shape;5318;p57"/>
            <p:cNvSpPr/>
            <p:nvPr/>
          </p:nvSpPr>
          <p:spPr>
            <a:xfrm>
              <a:off x="4596" y="2208"/>
              <a:ext cx="313" cy="97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9" name="Google Shape;5319;p57"/>
            <p:cNvSpPr/>
            <p:nvPr/>
          </p:nvSpPr>
          <p:spPr>
            <a:xfrm>
              <a:off x="4683" y="2221"/>
              <a:ext cx="141" cy="112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0" name="Google Shape;5320;p57"/>
            <p:cNvSpPr txBox="1"/>
            <p:nvPr/>
          </p:nvSpPr>
          <p:spPr>
            <a:xfrm>
              <a:off x="4598" y="2158"/>
              <a:ext cx="319" cy="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2b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21" name="Google Shape;5321;p57"/>
          <p:cNvGrpSpPr/>
          <p:nvPr/>
        </p:nvGrpSpPr>
        <p:grpSpPr>
          <a:xfrm>
            <a:off x="4562047" y="5466169"/>
            <a:ext cx="468647" cy="396679"/>
            <a:chOff x="2015" y="1976"/>
            <a:chExt cx="321" cy="269"/>
          </a:xfrm>
        </p:grpSpPr>
        <p:sp>
          <p:nvSpPr>
            <p:cNvPr id="5322" name="Google Shape;5322;p57"/>
            <p:cNvSpPr/>
            <p:nvPr/>
          </p:nvSpPr>
          <p:spPr>
            <a:xfrm>
              <a:off x="2019" y="2102"/>
              <a:ext cx="311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3" name="Google Shape;5323;p57"/>
            <p:cNvCxnSpPr/>
            <p:nvPr/>
          </p:nvCxnSpPr>
          <p:spPr>
            <a:xfrm>
              <a:off x="2019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4" name="Google Shape;5324;p57"/>
            <p:cNvCxnSpPr/>
            <p:nvPr/>
          </p:nvCxnSpPr>
          <p:spPr>
            <a:xfrm>
              <a:off x="2330" y="2097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25" name="Google Shape;5325;p57"/>
            <p:cNvSpPr/>
            <p:nvPr/>
          </p:nvSpPr>
          <p:spPr>
            <a:xfrm>
              <a:off x="2019" y="2097"/>
              <a:ext cx="310" cy="47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6" name="Google Shape;5326;p57"/>
            <p:cNvSpPr/>
            <p:nvPr/>
          </p:nvSpPr>
          <p:spPr>
            <a:xfrm>
              <a:off x="2016" y="2036"/>
              <a:ext cx="313" cy="95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27" name="Google Shape;5327;p57"/>
            <p:cNvGrpSpPr/>
            <p:nvPr/>
          </p:nvGrpSpPr>
          <p:grpSpPr>
            <a:xfrm>
              <a:off x="2015" y="1976"/>
              <a:ext cx="321" cy="269"/>
              <a:chOff x="2894" y="2425"/>
              <a:chExt cx="328" cy="269"/>
            </a:xfrm>
          </p:grpSpPr>
          <p:sp>
            <p:nvSpPr>
              <p:cNvPr id="5328" name="Google Shape;5328;p57"/>
              <p:cNvSpPr/>
              <p:nvPr/>
            </p:nvSpPr>
            <p:spPr>
              <a:xfrm>
                <a:off x="2982" y="2490"/>
                <a:ext cx="144" cy="132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9" name="Google Shape;5329;p57"/>
              <p:cNvSpPr txBox="1"/>
              <p:nvPr/>
            </p:nvSpPr>
            <p:spPr>
              <a:xfrm>
                <a:off x="2894" y="2425"/>
                <a:ext cx="328" cy="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30" name="Google Shape;5330;p57"/>
          <p:cNvGrpSpPr/>
          <p:nvPr/>
        </p:nvGrpSpPr>
        <p:grpSpPr>
          <a:xfrm>
            <a:off x="2231951" y="4354289"/>
            <a:ext cx="461347" cy="393730"/>
            <a:chOff x="2016" y="1976"/>
            <a:chExt cx="316" cy="267"/>
          </a:xfrm>
        </p:grpSpPr>
        <p:sp>
          <p:nvSpPr>
            <p:cNvPr id="5331" name="Google Shape;5331;p57"/>
            <p:cNvSpPr/>
            <p:nvPr/>
          </p:nvSpPr>
          <p:spPr>
            <a:xfrm>
              <a:off x="2019" y="2102"/>
              <a:ext cx="313" cy="81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32" name="Google Shape;5332;p57"/>
            <p:cNvCxnSpPr/>
            <p:nvPr/>
          </p:nvCxnSpPr>
          <p:spPr>
            <a:xfrm>
              <a:off x="2019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3" name="Google Shape;5333;p57"/>
            <p:cNvCxnSpPr/>
            <p:nvPr/>
          </p:nvCxnSpPr>
          <p:spPr>
            <a:xfrm>
              <a:off x="2332" y="2095"/>
              <a:ext cx="0" cy="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334" name="Google Shape;5334;p57"/>
            <p:cNvSpPr/>
            <p:nvPr/>
          </p:nvSpPr>
          <p:spPr>
            <a:xfrm>
              <a:off x="2019" y="2095"/>
              <a:ext cx="310" cy="50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5" name="Google Shape;5335;p57"/>
            <p:cNvSpPr/>
            <p:nvPr/>
          </p:nvSpPr>
          <p:spPr>
            <a:xfrm>
              <a:off x="2016" y="2037"/>
              <a:ext cx="313" cy="94"/>
            </a:xfrm>
            <a:prstGeom prst="ellipse">
              <a:avLst/>
            </a:prstGeom>
            <a:solidFill>
              <a:srgbClr val="CCCC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6" name="Google Shape;5336;p57"/>
            <p:cNvGrpSpPr/>
            <p:nvPr/>
          </p:nvGrpSpPr>
          <p:grpSpPr>
            <a:xfrm>
              <a:off x="2020" y="1976"/>
              <a:ext cx="308" cy="267"/>
              <a:chOff x="2899" y="2425"/>
              <a:chExt cx="315" cy="267"/>
            </a:xfrm>
          </p:grpSpPr>
          <p:sp>
            <p:nvSpPr>
              <p:cNvPr id="5337" name="Google Shape;5337;p57"/>
              <p:cNvSpPr/>
              <p:nvPr/>
            </p:nvSpPr>
            <p:spPr>
              <a:xfrm>
                <a:off x="2982" y="2490"/>
                <a:ext cx="142" cy="13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8" name="Google Shape;5338;p57"/>
              <p:cNvSpPr txBox="1"/>
              <p:nvPr/>
            </p:nvSpPr>
            <p:spPr>
              <a:xfrm>
                <a:off x="2899" y="2425"/>
                <a:ext cx="315" cy="2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3c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339" name="Google Shape;5339;p57"/>
          <p:cNvCxnSpPr/>
          <p:nvPr/>
        </p:nvCxnSpPr>
        <p:spPr>
          <a:xfrm flipH="1">
            <a:off x="2266990" y="4669862"/>
            <a:ext cx="90518" cy="159261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0" name="Google Shape;5340;p57"/>
          <p:cNvCxnSpPr/>
          <p:nvPr/>
        </p:nvCxnSpPr>
        <p:spPr>
          <a:xfrm>
            <a:off x="1818783" y="4737696"/>
            <a:ext cx="211694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1" name="Google Shape;5341;p57"/>
          <p:cNvCxnSpPr/>
          <p:nvPr/>
        </p:nvCxnSpPr>
        <p:spPr>
          <a:xfrm flipH="1">
            <a:off x="2547302" y="4214198"/>
            <a:ext cx="198555" cy="2241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2" name="Google Shape;5342;p57"/>
          <p:cNvCxnSpPr/>
          <p:nvPr/>
        </p:nvCxnSpPr>
        <p:spPr>
          <a:xfrm>
            <a:off x="2139974" y="4200926"/>
            <a:ext cx="175195" cy="26248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57"/>
          <p:cNvCxnSpPr/>
          <p:nvPr/>
        </p:nvCxnSpPr>
        <p:spPr>
          <a:xfrm flipH="1">
            <a:off x="3103547" y="4338068"/>
            <a:ext cx="102197" cy="30377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57"/>
          <p:cNvCxnSpPr/>
          <p:nvPr/>
        </p:nvCxnSpPr>
        <p:spPr>
          <a:xfrm rot="10800000">
            <a:off x="6356338" y="4388206"/>
            <a:ext cx="185415" cy="29787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57"/>
          <p:cNvCxnSpPr/>
          <p:nvPr/>
        </p:nvCxnSpPr>
        <p:spPr>
          <a:xfrm rot="10800000">
            <a:off x="5900830" y="4538619"/>
            <a:ext cx="198555" cy="27280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6" name="Google Shape;5346;p57"/>
          <p:cNvCxnSpPr/>
          <p:nvPr/>
        </p:nvCxnSpPr>
        <p:spPr>
          <a:xfrm flipH="1">
            <a:off x="3141506" y="5637228"/>
            <a:ext cx="197095" cy="17253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7" name="Google Shape;5347;p57"/>
          <p:cNvCxnSpPr/>
          <p:nvPr/>
        </p:nvCxnSpPr>
        <p:spPr>
          <a:xfrm rot="10800000">
            <a:off x="3091868" y="5488289"/>
            <a:ext cx="185415" cy="1179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8" name="Google Shape;5348;p57"/>
          <p:cNvCxnSpPr/>
          <p:nvPr/>
        </p:nvCxnSpPr>
        <p:spPr>
          <a:xfrm flipH="1">
            <a:off x="3487517" y="5887917"/>
            <a:ext cx="309511" cy="2212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9" name="Google Shape;5349;p57"/>
          <p:cNvCxnSpPr/>
          <p:nvPr/>
        </p:nvCxnSpPr>
        <p:spPr>
          <a:xfrm flipH="1" rot="10800000">
            <a:off x="4192677" y="5212531"/>
            <a:ext cx="334331" cy="1474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0" name="Google Shape;5350;p57"/>
          <p:cNvCxnSpPr/>
          <p:nvPr/>
        </p:nvCxnSpPr>
        <p:spPr>
          <a:xfrm>
            <a:off x="4859879" y="5762572"/>
            <a:ext cx="173735" cy="1622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1" name="Google Shape;5351;p57"/>
          <p:cNvCxnSpPr/>
          <p:nvPr/>
        </p:nvCxnSpPr>
        <p:spPr>
          <a:xfrm>
            <a:off x="4156178" y="5324603"/>
            <a:ext cx="211694" cy="11059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2" name="Google Shape;5352;p57"/>
          <p:cNvSpPr/>
          <p:nvPr/>
        </p:nvSpPr>
        <p:spPr>
          <a:xfrm flipH="1">
            <a:off x="642829" y="460918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3" name="Google Shape;5353;p57"/>
          <p:cNvSpPr txBox="1"/>
          <p:nvPr/>
        </p:nvSpPr>
        <p:spPr>
          <a:xfrm>
            <a:off x="699979" y="5393411"/>
            <a:ext cx="8937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cxnSp>
        <p:nvCxnSpPr>
          <p:cNvPr id="5354" name="Google Shape;5354;p57"/>
          <p:cNvCxnSpPr/>
          <p:nvPr/>
        </p:nvCxnSpPr>
        <p:spPr>
          <a:xfrm flipH="1">
            <a:off x="1500079" y="4955261"/>
            <a:ext cx="468313" cy="2682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5" name="Google Shape;5355;p57"/>
          <p:cNvSpPr/>
          <p:nvPr/>
        </p:nvSpPr>
        <p:spPr>
          <a:xfrm>
            <a:off x="8053714" y="3961226"/>
            <a:ext cx="1171575" cy="1758950"/>
          </a:xfrm>
          <a:custGeom>
            <a:rect b="b" l="l" r="r" t="t"/>
            <a:pathLst>
              <a:path extrusionOk="0" h="1108" w="738">
                <a:moveTo>
                  <a:pt x="32" y="394"/>
                </a:moveTo>
                <a:cubicBezTo>
                  <a:pt x="66" y="301"/>
                  <a:pt x="108" y="228"/>
                  <a:pt x="213" y="172"/>
                </a:cubicBezTo>
                <a:cubicBezTo>
                  <a:pt x="318" y="116"/>
                  <a:pt x="588" y="0"/>
                  <a:pt x="663" y="56"/>
                </a:cubicBezTo>
                <a:cubicBezTo>
                  <a:pt x="738" y="112"/>
                  <a:pt x="659" y="346"/>
                  <a:pt x="661" y="509"/>
                </a:cubicBezTo>
                <a:cubicBezTo>
                  <a:pt x="663" y="672"/>
                  <a:pt x="731" y="956"/>
                  <a:pt x="677" y="1032"/>
                </a:cubicBezTo>
                <a:cubicBezTo>
                  <a:pt x="623" y="1108"/>
                  <a:pt x="442" y="999"/>
                  <a:pt x="338" y="962"/>
                </a:cubicBezTo>
                <a:cubicBezTo>
                  <a:pt x="234" y="925"/>
                  <a:pt x="102" y="904"/>
                  <a:pt x="51" y="809"/>
                </a:cubicBezTo>
                <a:cubicBezTo>
                  <a:pt x="0" y="715"/>
                  <a:pt x="36" y="481"/>
                  <a:pt x="32" y="394"/>
                </a:cubicBezTo>
                <a:close/>
              </a:path>
            </a:pathLst>
          </a:custGeom>
          <a:gradFill>
            <a:gsLst>
              <a:gs pos="0">
                <a:srgbClr val="9CE0FA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6" name="Google Shape;5356;p57"/>
          <p:cNvCxnSpPr/>
          <p:nvPr/>
        </p:nvCxnSpPr>
        <p:spPr>
          <a:xfrm>
            <a:off x="6848694" y="4790989"/>
            <a:ext cx="1318276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7" name="Google Shape;5357;p57"/>
          <p:cNvCxnSpPr/>
          <p:nvPr/>
        </p:nvCxnSpPr>
        <p:spPr>
          <a:xfrm>
            <a:off x="7290584" y="5105814"/>
            <a:ext cx="133984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58" name="Google Shape;5358;p57"/>
          <p:cNvSpPr txBox="1"/>
          <p:nvPr/>
        </p:nvSpPr>
        <p:spPr>
          <a:xfrm>
            <a:off x="8433127" y="4558126"/>
            <a:ext cx="893762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networks</a:t>
            </a:r>
            <a:endParaRPr/>
          </a:p>
        </p:txBody>
      </p:sp>
      <p:sp>
        <p:nvSpPr>
          <p:cNvPr id="5359" name="Google Shape;5359;p57"/>
          <p:cNvSpPr txBox="1"/>
          <p:nvPr/>
        </p:nvSpPr>
        <p:spPr>
          <a:xfrm>
            <a:off x="657073" y="1558642"/>
            <a:ext cx="5004692" cy="72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router in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receives datagram destined outside of AS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0" name="Google Shape;5360;p57"/>
          <p:cNvSpPr/>
          <p:nvPr/>
        </p:nvSpPr>
        <p:spPr>
          <a:xfrm>
            <a:off x="6108525" y="1488552"/>
            <a:ext cx="5490576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AS1 inter-domain routing must: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which destinations reachable through AS2, which through AS3</a:t>
            </a:r>
            <a:endParaRPr/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propagate this reachability info to all routers in AS1</a:t>
            </a:r>
            <a:endParaRPr/>
          </a:p>
        </p:txBody>
      </p:sp>
      <p:grpSp>
        <p:nvGrpSpPr>
          <p:cNvPr id="5361" name="Google Shape;5361;p57"/>
          <p:cNvGrpSpPr/>
          <p:nvPr/>
        </p:nvGrpSpPr>
        <p:grpSpPr>
          <a:xfrm>
            <a:off x="2670048" y="5636768"/>
            <a:ext cx="765291" cy="508222"/>
            <a:chOff x="2670048" y="5636768"/>
            <a:chExt cx="765291" cy="508222"/>
          </a:xfrm>
        </p:grpSpPr>
        <p:sp>
          <p:nvSpPr>
            <p:cNvPr id="5362" name="Google Shape;5362;p57"/>
            <p:cNvSpPr/>
            <p:nvPr/>
          </p:nvSpPr>
          <p:spPr>
            <a:xfrm rot="-2425119">
              <a:off x="2896614" y="5786744"/>
              <a:ext cx="537176" cy="20252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5F7FC"/>
                </a:gs>
                <a:gs pos="35000">
                  <a:srgbClr val="D8E2F3"/>
                </a:gs>
                <a:gs pos="68000">
                  <a:srgbClr val="A9BEE4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63" name="Google Shape;5363;p57"/>
            <p:cNvGrpSpPr/>
            <p:nvPr/>
          </p:nvGrpSpPr>
          <p:grpSpPr>
            <a:xfrm>
              <a:off x="2670048" y="5701792"/>
              <a:ext cx="245122" cy="443198"/>
              <a:chOff x="375561" y="297711"/>
              <a:chExt cx="1252683" cy="2138362"/>
            </a:xfrm>
          </p:grpSpPr>
          <p:sp>
            <p:nvSpPr>
              <p:cNvPr id="5364" name="Google Shape;5364;p57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5" name="Google Shape;5365;p57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6" name="Google Shape;5366;p57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67" name="Google Shape;5367;p57"/>
          <p:cNvSpPr txBox="1"/>
          <p:nvPr/>
        </p:nvSpPr>
        <p:spPr>
          <a:xfrm>
            <a:off x="602209" y="2259682"/>
            <a:ext cx="5004692" cy="199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should forward packet to gateway router in AS1, but which one?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8" name="Google Shape;5368;p57"/>
          <p:cNvGrpSpPr/>
          <p:nvPr/>
        </p:nvGrpSpPr>
        <p:grpSpPr>
          <a:xfrm>
            <a:off x="528828" y="2261616"/>
            <a:ext cx="3400044" cy="3791712"/>
            <a:chOff x="528828" y="2261616"/>
            <a:chExt cx="3400044" cy="3791712"/>
          </a:xfrm>
        </p:grpSpPr>
        <p:pic>
          <p:nvPicPr>
            <p:cNvPr descr="A close up of a sign&#10;&#10;Description automatically generated" id="5369" name="Google Shape;5369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81528" y="5205984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 close up of a sign&#10;&#10;Description automatically generated" id="5370" name="Google Shape;5370;p5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8828" y="2261616"/>
              <a:ext cx="847344" cy="847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4" name="Shape 5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5" name="Google Shape;5375;p58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000"/>
              <a:buFont typeface="Calibri"/>
              <a:buNone/>
            </a:pPr>
            <a:r>
              <a:rPr b="0" lang="en-US" sz="40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Inter-AS routing:  routing within an AS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6" name="Google Shape;5376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77" name="Google Shape;5377;p58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1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common intra-AS routing protocols: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RIP: Routing Information Protocol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[RFC 1723]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DV: DVs exchanged every 30 secs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longer widely used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EIGRP: Enhanced Interior Gateway Routing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DV based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formerly Cisco-proprietary for decades (became open in 2013 [RFC 7868])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OSPF: Open Shortest Path First  </a:t>
            </a: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[RFC 2328]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link-state routing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IS-IS protocol (ISO standard, not RFC standard) essentially same as OSPF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1" name="Shape 5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2" name="Google Shape;5382;p59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</a:pPr>
            <a:r>
              <a:rPr lang="en-US" sz="4000"/>
              <a:t>OSPF (Open Shortest Path First) routing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3" name="Google Shape;538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84" name="Google Shape;5384;p59"/>
          <p:cNvSpPr txBox="1"/>
          <p:nvPr/>
        </p:nvSpPr>
        <p:spPr>
          <a:xfrm>
            <a:off x="857488" y="1558642"/>
            <a:ext cx="10942029" cy="47670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“open”: publicly available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 link-state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floods OSPF link-state advertisements (directly over IP rather than using TCP/UDP) to all other routers in entire AS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link costs metrics possible: bandwidth, delay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router has full topology, uses Dijkstra’s algorithm to compute forwarding table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security: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OSPF messages authenticated (to prevent malicious intrusion) 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60"/>
          <p:cNvSpPr txBox="1"/>
          <p:nvPr>
            <p:ph type="title"/>
          </p:nvPr>
        </p:nvSpPr>
        <p:spPr>
          <a:xfrm>
            <a:off x="838200" y="451821"/>
            <a:ext cx="1087363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Hierarchical OSPF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0" name="Google Shape;5390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1" name="Google Shape;5391;p60"/>
          <p:cNvSpPr txBox="1"/>
          <p:nvPr/>
        </p:nvSpPr>
        <p:spPr>
          <a:xfrm>
            <a:off x="858903" y="1430860"/>
            <a:ext cx="11470883" cy="1738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538" lvl="0" marL="2365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two-level hierarchy: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area, backbone.</a:t>
            </a:r>
            <a:endParaRPr/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link-state advertisements flooded only in area, or backbone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5425" lvl="1" marL="6350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node has detailed area topology; only knows direction to reach other destinations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5392" name="Google Shape;5392;p60"/>
          <p:cNvGrpSpPr/>
          <p:nvPr/>
        </p:nvGrpSpPr>
        <p:grpSpPr>
          <a:xfrm>
            <a:off x="413359" y="3406459"/>
            <a:ext cx="4096011" cy="1200329"/>
            <a:chOff x="450937" y="3406459"/>
            <a:chExt cx="4096011" cy="1200329"/>
          </a:xfrm>
        </p:grpSpPr>
        <p:sp>
          <p:nvSpPr>
            <p:cNvPr id="5393" name="Google Shape;5393;p60"/>
            <p:cNvSpPr/>
            <p:nvPr/>
          </p:nvSpPr>
          <p:spPr>
            <a:xfrm>
              <a:off x="450937" y="3406459"/>
              <a:ext cx="2968668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area border routers: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“summarize” distances  to destinations in own area, advertise in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94" name="Google Shape;5394;p60"/>
            <p:cNvCxnSpPr/>
            <p:nvPr/>
          </p:nvCxnSpPr>
          <p:spPr>
            <a:xfrm>
              <a:off x="3294345" y="4158641"/>
              <a:ext cx="1252603" cy="23799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395" name="Google Shape;5395;p60"/>
          <p:cNvSpPr/>
          <p:nvPr/>
        </p:nvSpPr>
        <p:spPr>
          <a:xfrm>
            <a:off x="4334572" y="3279558"/>
            <a:ext cx="5195932" cy="1635654"/>
          </a:xfrm>
          <a:custGeom>
            <a:rect b="b" l="l" r="r" t="t"/>
            <a:pathLst>
              <a:path extrusionOk="0" h="1390" w="3786">
                <a:moveTo>
                  <a:pt x="408" y="575"/>
                </a:moveTo>
                <a:cubicBezTo>
                  <a:pt x="689" y="273"/>
                  <a:pt x="1286" y="110"/>
                  <a:pt x="1693" y="55"/>
                </a:cubicBezTo>
                <a:cubicBezTo>
                  <a:pt x="2100" y="0"/>
                  <a:pt x="2585" y="164"/>
                  <a:pt x="2852" y="245"/>
                </a:cubicBezTo>
                <a:cubicBezTo>
                  <a:pt x="3119" y="326"/>
                  <a:pt x="3163" y="420"/>
                  <a:pt x="3295" y="540"/>
                </a:cubicBezTo>
                <a:cubicBezTo>
                  <a:pt x="3427" y="660"/>
                  <a:pt x="3786" y="870"/>
                  <a:pt x="3702" y="1130"/>
                </a:cubicBezTo>
                <a:cubicBezTo>
                  <a:pt x="3618" y="1390"/>
                  <a:pt x="3209" y="1190"/>
                  <a:pt x="3035" y="1214"/>
                </a:cubicBezTo>
                <a:cubicBezTo>
                  <a:pt x="2870" y="1266"/>
                  <a:pt x="2655" y="1277"/>
                  <a:pt x="2655" y="1277"/>
                </a:cubicBezTo>
                <a:cubicBezTo>
                  <a:pt x="2655" y="1277"/>
                  <a:pt x="2160" y="1316"/>
                  <a:pt x="1918" y="1326"/>
                </a:cubicBezTo>
                <a:cubicBezTo>
                  <a:pt x="1676" y="1336"/>
                  <a:pt x="1387" y="1353"/>
                  <a:pt x="1201" y="1340"/>
                </a:cubicBezTo>
                <a:cubicBezTo>
                  <a:pt x="1015" y="1327"/>
                  <a:pt x="913" y="1278"/>
                  <a:pt x="801" y="1249"/>
                </a:cubicBezTo>
                <a:lnTo>
                  <a:pt x="527" y="1165"/>
                </a:lnTo>
                <a:cubicBezTo>
                  <a:pt x="404" y="1140"/>
                  <a:pt x="126" y="1159"/>
                  <a:pt x="63" y="1102"/>
                </a:cubicBezTo>
                <a:cubicBezTo>
                  <a:pt x="0" y="1045"/>
                  <a:pt x="85" y="919"/>
                  <a:pt x="148" y="821"/>
                </a:cubicBezTo>
                <a:cubicBezTo>
                  <a:pt x="205" y="733"/>
                  <a:pt x="127" y="877"/>
                  <a:pt x="408" y="575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96" name="Google Shape;5396;p60"/>
          <p:cNvCxnSpPr/>
          <p:nvPr/>
        </p:nvCxnSpPr>
        <p:spPr>
          <a:xfrm flipH="1" rot="10800000">
            <a:off x="5763247" y="3566679"/>
            <a:ext cx="915396" cy="25652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7" name="Google Shape;5397;p60"/>
          <p:cNvCxnSpPr/>
          <p:nvPr/>
        </p:nvCxnSpPr>
        <p:spPr>
          <a:xfrm>
            <a:off x="6868035" y="3564326"/>
            <a:ext cx="1011463" cy="25535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8" name="Google Shape;5398;p60"/>
          <p:cNvCxnSpPr/>
          <p:nvPr/>
        </p:nvCxnSpPr>
        <p:spPr>
          <a:xfrm>
            <a:off x="8088104" y="3859685"/>
            <a:ext cx="694438" cy="594249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9" name="Google Shape;5399;p60"/>
          <p:cNvCxnSpPr/>
          <p:nvPr/>
        </p:nvCxnSpPr>
        <p:spPr>
          <a:xfrm flipH="1" rot="10800000">
            <a:off x="6859800" y="3782021"/>
            <a:ext cx="1099297" cy="8766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0" name="Google Shape;5400;p60"/>
          <p:cNvCxnSpPr/>
          <p:nvPr/>
        </p:nvCxnSpPr>
        <p:spPr>
          <a:xfrm>
            <a:off x="5765992" y="3886750"/>
            <a:ext cx="984016" cy="735455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1" name="Google Shape;5401;p60"/>
          <p:cNvCxnSpPr/>
          <p:nvPr/>
        </p:nvCxnSpPr>
        <p:spPr>
          <a:xfrm flipH="1">
            <a:off x="8443558" y="4453933"/>
            <a:ext cx="345846" cy="65308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2" name="Google Shape;5402;p60"/>
          <p:cNvCxnSpPr/>
          <p:nvPr/>
        </p:nvCxnSpPr>
        <p:spPr>
          <a:xfrm>
            <a:off x="8468261" y="5087014"/>
            <a:ext cx="772665" cy="62013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3" name="Google Shape;5403;p60"/>
          <p:cNvCxnSpPr/>
          <p:nvPr/>
        </p:nvCxnSpPr>
        <p:spPr>
          <a:xfrm>
            <a:off x="6767849" y="4578667"/>
            <a:ext cx="473481" cy="99198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4" name="Google Shape;5404;p60"/>
          <p:cNvCxnSpPr/>
          <p:nvPr/>
        </p:nvCxnSpPr>
        <p:spPr>
          <a:xfrm>
            <a:off x="6389064" y="5218807"/>
            <a:ext cx="212723" cy="7201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5" name="Google Shape;5405;p60"/>
          <p:cNvCxnSpPr/>
          <p:nvPr/>
        </p:nvCxnSpPr>
        <p:spPr>
          <a:xfrm flipH="1">
            <a:off x="6599043" y="5594184"/>
            <a:ext cx="625817" cy="33889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6" name="Google Shape;5406;p60"/>
          <p:cNvCxnSpPr/>
          <p:nvPr/>
        </p:nvCxnSpPr>
        <p:spPr>
          <a:xfrm flipH="1">
            <a:off x="6432981" y="4663391"/>
            <a:ext cx="336240" cy="57777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7" name="Google Shape;5407;p60"/>
          <p:cNvCxnSpPr/>
          <p:nvPr/>
        </p:nvCxnSpPr>
        <p:spPr>
          <a:xfrm flipH="1">
            <a:off x="4906865" y="3773784"/>
            <a:ext cx="741100" cy="627196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8" name="Google Shape;5408;p60"/>
          <p:cNvCxnSpPr/>
          <p:nvPr/>
        </p:nvCxnSpPr>
        <p:spPr>
          <a:xfrm flipH="1">
            <a:off x="4383979" y="4405687"/>
            <a:ext cx="499556" cy="58601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9" name="Google Shape;5409;p60"/>
          <p:cNvCxnSpPr/>
          <p:nvPr/>
        </p:nvCxnSpPr>
        <p:spPr>
          <a:xfrm flipH="1">
            <a:off x="3822664" y="5037591"/>
            <a:ext cx="537983" cy="44480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0" name="Google Shape;5410;p60"/>
          <p:cNvCxnSpPr/>
          <p:nvPr/>
        </p:nvCxnSpPr>
        <p:spPr>
          <a:xfrm flipH="1">
            <a:off x="4562391" y="5429442"/>
            <a:ext cx="374667" cy="5024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1" name="Google Shape;5411;p60"/>
          <p:cNvCxnSpPr/>
          <p:nvPr/>
        </p:nvCxnSpPr>
        <p:spPr>
          <a:xfrm>
            <a:off x="4452599" y="5005819"/>
            <a:ext cx="550335" cy="38596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12" name="Google Shape;5412;p60"/>
          <p:cNvSpPr/>
          <p:nvPr/>
        </p:nvSpPr>
        <p:spPr>
          <a:xfrm>
            <a:off x="3522107" y="4155044"/>
            <a:ext cx="1889804" cy="2091048"/>
          </a:xfrm>
          <a:custGeom>
            <a:rect b="b" l="l" r="r" t="t"/>
            <a:pathLst>
              <a:path extrusionOk="0" h="1777" w="1377">
                <a:moveTo>
                  <a:pt x="671" y="245"/>
                </a:moveTo>
                <a:cubicBezTo>
                  <a:pt x="604" y="317"/>
                  <a:pt x="533" y="382"/>
                  <a:pt x="474" y="463"/>
                </a:cubicBezTo>
                <a:cubicBezTo>
                  <a:pt x="415" y="544"/>
                  <a:pt x="366" y="663"/>
                  <a:pt x="319" y="730"/>
                </a:cubicBezTo>
                <a:cubicBezTo>
                  <a:pt x="272" y="797"/>
                  <a:pt x="242" y="800"/>
                  <a:pt x="193" y="863"/>
                </a:cubicBezTo>
                <a:cubicBezTo>
                  <a:pt x="144" y="926"/>
                  <a:pt x="48" y="1027"/>
                  <a:pt x="24" y="1109"/>
                </a:cubicBezTo>
                <a:cubicBezTo>
                  <a:pt x="0" y="1191"/>
                  <a:pt x="10" y="1295"/>
                  <a:pt x="46" y="1355"/>
                </a:cubicBezTo>
                <a:cubicBezTo>
                  <a:pt x="82" y="1415"/>
                  <a:pt x="172" y="1437"/>
                  <a:pt x="242" y="1467"/>
                </a:cubicBezTo>
                <a:cubicBezTo>
                  <a:pt x="312" y="1497"/>
                  <a:pt x="404" y="1499"/>
                  <a:pt x="467" y="1538"/>
                </a:cubicBezTo>
                <a:cubicBezTo>
                  <a:pt x="530" y="1577"/>
                  <a:pt x="518" y="1669"/>
                  <a:pt x="622" y="1699"/>
                </a:cubicBezTo>
                <a:cubicBezTo>
                  <a:pt x="726" y="1729"/>
                  <a:pt x="986" y="1777"/>
                  <a:pt x="1092" y="1720"/>
                </a:cubicBezTo>
                <a:cubicBezTo>
                  <a:pt x="1198" y="1663"/>
                  <a:pt x="1219" y="1471"/>
                  <a:pt x="1261" y="1355"/>
                </a:cubicBezTo>
                <a:cubicBezTo>
                  <a:pt x="1303" y="1239"/>
                  <a:pt x="1377" y="1150"/>
                  <a:pt x="1345" y="1025"/>
                </a:cubicBezTo>
                <a:cubicBezTo>
                  <a:pt x="1313" y="900"/>
                  <a:pt x="1084" y="727"/>
                  <a:pt x="1071" y="603"/>
                </a:cubicBezTo>
                <a:cubicBezTo>
                  <a:pt x="1058" y="479"/>
                  <a:pt x="1237" y="374"/>
                  <a:pt x="1268" y="280"/>
                </a:cubicBezTo>
                <a:cubicBezTo>
                  <a:pt x="1299" y="186"/>
                  <a:pt x="1320" y="82"/>
                  <a:pt x="1254" y="41"/>
                </a:cubicBezTo>
                <a:cubicBezTo>
                  <a:pt x="1188" y="0"/>
                  <a:pt x="970" y="2"/>
                  <a:pt x="874" y="34"/>
                </a:cubicBezTo>
                <a:cubicBezTo>
                  <a:pt x="778" y="66"/>
                  <a:pt x="738" y="173"/>
                  <a:pt x="671" y="245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3" name="Google Shape;5413;p60"/>
          <p:cNvSpPr/>
          <p:nvPr/>
        </p:nvSpPr>
        <p:spPr>
          <a:xfrm>
            <a:off x="5997929" y="4329200"/>
            <a:ext cx="1645515" cy="2023974"/>
          </a:xfrm>
          <a:custGeom>
            <a:rect b="b" l="l" r="r" t="t"/>
            <a:pathLst>
              <a:path extrusionOk="0" h="1720" w="1199">
                <a:moveTo>
                  <a:pt x="651" y="20"/>
                </a:moveTo>
                <a:cubicBezTo>
                  <a:pt x="595" y="0"/>
                  <a:pt x="643" y="10"/>
                  <a:pt x="609" y="20"/>
                </a:cubicBezTo>
                <a:cubicBezTo>
                  <a:pt x="575" y="30"/>
                  <a:pt x="499" y="45"/>
                  <a:pt x="447" y="83"/>
                </a:cubicBezTo>
                <a:cubicBezTo>
                  <a:pt x="395" y="121"/>
                  <a:pt x="354" y="178"/>
                  <a:pt x="300" y="245"/>
                </a:cubicBezTo>
                <a:cubicBezTo>
                  <a:pt x="246" y="312"/>
                  <a:pt x="173" y="379"/>
                  <a:pt x="124" y="483"/>
                </a:cubicBezTo>
                <a:cubicBezTo>
                  <a:pt x="75" y="587"/>
                  <a:pt x="10" y="742"/>
                  <a:pt x="5" y="870"/>
                </a:cubicBezTo>
                <a:cubicBezTo>
                  <a:pt x="0" y="998"/>
                  <a:pt x="50" y="1122"/>
                  <a:pt x="96" y="1249"/>
                </a:cubicBezTo>
                <a:cubicBezTo>
                  <a:pt x="142" y="1376"/>
                  <a:pt x="153" y="1564"/>
                  <a:pt x="279" y="1635"/>
                </a:cubicBezTo>
                <a:cubicBezTo>
                  <a:pt x="405" y="1706"/>
                  <a:pt x="711" y="1720"/>
                  <a:pt x="855" y="1678"/>
                </a:cubicBezTo>
                <a:cubicBezTo>
                  <a:pt x="999" y="1636"/>
                  <a:pt x="1089" y="1492"/>
                  <a:pt x="1143" y="1383"/>
                </a:cubicBezTo>
                <a:cubicBezTo>
                  <a:pt x="1197" y="1274"/>
                  <a:pt x="1199" y="1129"/>
                  <a:pt x="1178" y="1024"/>
                </a:cubicBezTo>
                <a:cubicBezTo>
                  <a:pt x="1157" y="919"/>
                  <a:pt x="1057" y="854"/>
                  <a:pt x="1016" y="750"/>
                </a:cubicBezTo>
                <a:cubicBezTo>
                  <a:pt x="975" y="646"/>
                  <a:pt x="944" y="501"/>
                  <a:pt x="932" y="399"/>
                </a:cubicBezTo>
                <a:cubicBezTo>
                  <a:pt x="920" y="297"/>
                  <a:pt x="994" y="203"/>
                  <a:pt x="946" y="139"/>
                </a:cubicBezTo>
                <a:cubicBezTo>
                  <a:pt x="898" y="75"/>
                  <a:pt x="707" y="40"/>
                  <a:pt x="651" y="20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4" name="Google Shape;5414;p60"/>
          <p:cNvSpPr/>
          <p:nvPr/>
        </p:nvSpPr>
        <p:spPr>
          <a:xfrm>
            <a:off x="8097711" y="4111505"/>
            <a:ext cx="1797853" cy="2016914"/>
          </a:xfrm>
          <a:custGeom>
            <a:rect b="b" l="l" r="r" t="t"/>
            <a:pathLst>
              <a:path extrusionOk="0" h="1714" w="1310">
                <a:moveTo>
                  <a:pt x="470" y="29"/>
                </a:moveTo>
                <a:cubicBezTo>
                  <a:pt x="373" y="0"/>
                  <a:pt x="308" y="123"/>
                  <a:pt x="245" y="198"/>
                </a:cubicBezTo>
                <a:cubicBezTo>
                  <a:pt x="182" y="273"/>
                  <a:pt x="130" y="385"/>
                  <a:pt x="90" y="479"/>
                </a:cubicBezTo>
                <a:cubicBezTo>
                  <a:pt x="50" y="573"/>
                  <a:pt x="12" y="651"/>
                  <a:pt x="6" y="760"/>
                </a:cubicBezTo>
                <a:cubicBezTo>
                  <a:pt x="0" y="869"/>
                  <a:pt x="7" y="1042"/>
                  <a:pt x="55" y="1132"/>
                </a:cubicBezTo>
                <a:cubicBezTo>
                  <a:pt x="103" y="1222"/>
                  <a:pt x="191" y="1232"/>
                  <a:pt x="294" y="1301"/>
                </a:cubicBezTo>
                <a:cubicBezTo>
                  <a:pt x="397" y="1370"/>
                  <a:pt x="536" y="1479"/>
                  <a:pt x="673" y="1546"/>
                </a:cubicBezTo>
                <a:cubicBezTo>
                  <a:pt x="810" y="1613"/>
                  <a:pt x="1018" y="1714"/>
                  <a:pt x="1116" y="1701"/>
                </a:cubicBezTo>
                <a:cubicBezTo>
                  <a:pt x="1214" y="1688"/>
                  <a:pt x="1310" y="1559"/>
                  <a:pt x="1263" y="1469"/>
                </a:cubicBezTo>
                <a:cubicBezTo>
                  <a:pt x="1216" y="1379"/>
                  <a:pt x="925" y="1270"/>
                  <a:pt x="835" y="1160"/>
                </a:cubicBezTo>
                <a:cubicBezTo>
                  <a:pt x="745" y="1050"/>
                  <a:pt x="723" y="940"/>
                  <a:pt x="722" y="809"/>
                </a:cubicBezTo>
                <a:cubicBezTo>
                  <a:pt x="721" y="678"/>
                  <a:pt x="871" y="504"/>
                  <a:pt x="828" y="373"/>
                </a:cubicBezTo>
                <a:cubicBezTo>
                  <a:pt x="785" y="242"/>
                  <a:pt x="567" y="58"/>
                  <a:pt x="470" y="29"/>
                </a:cubicBezTo>
                <a:close/>
              </a:path>
            </a:pathLst>
          </a:custGeom>
          <a:noFill/>
          <a:ln cap="flat" cmpd="sng" w="1905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5" name="Google Shape;5415;p60"/>
          <p:cNvSpPr txBox="1"/>
          <p:nvPr/>
        </p:nvSpPr>
        <p:spPr>
          <a:xfrm>
            <a:off x="3391728" y="6026044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5416" name="Google Shape;5416;p60"/>
          <p:cNvSpPr txBox="1"/>
          <p:nvPr/>
        </p:nvSpPr>
        <p:spPr>
          <a:xfrm>
            <a:off x="6474154" y="6304928"/>
            <a:ext cx="719141" cy="27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5417" name="Google Shape;5417;p60"/>
          <p:cNvSpPr txBox="1"/>
          <p:nvPr/>
        </p:nvSpPr>
        <p:spPr>
          <a:xfrm>
            <a:off x="9140740" y="5103488"/>
            <a:ext cx="719141" cy="271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 3</a:t>
            </a:r>
            <a:endParaRPr/>
          </a:p>
        </p:txBody>
      </p:sp>
      <p:sp>
        <p:nvSpPr>
          <p:cNvPr id="5418" name="Google Shape;5418;p60"/>
          <p:cNvSpPr txBox="1"/>
          <p:nvPr/>
        </p:nvSpPr>
        <p:spPr>
          <a:xfrm>
            <a:off x="6209380" y="3772638"/>
            <a:ext cx="120097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/>
          </a:p>
        </p:txBody>
      </p:sp>
      <p:sp>
        <p:nvSpPr>
          <p:cNvPr id="5419" name="Google Shape;5419;p60"/>
          <p:cNvSpPr txBox="1"/>
          <p:nvPr/>
        </p:nvSpPr>
        <p:spPr>
          <a:xfrm>
            <a:off x="7742257" y="5796581"/>
            <a:ext cx="806975" cy="414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routers</a:t>
            </a:r>
            <a:endParaRPr/>
          </a:p>
        </p:txBody>
      </p:sp>
      <p:cxnSp>
        <p:nvCxnSpPr>
          <p:cNvPr id="5420" name="Google Shape;5420;p60"/>
          <p:cNvCxnSpPr/>
          <p:nvPr/>
        </p:nvCxnSpPr>
        <p:spPr>
          <a:xfrm flipH="1" rot="10800000">
            <a:off x="8587660" y="5774224"/>
            <a:ext cx="424074" cy="148268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60"/>
          <p:cNvCxnSpPr/>
          <p:nvPr/>
        </p:nvCxnSpPr>
        <p:spPr>
          <a:xfrm rot="10800000">
            <a:off x="7388176" y="5681262"/>
            <a:ext cx="415840" cy="222402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2" name="Google Shape;5422;p60"/>
          <p:cNvCxnSpPr/>
          <p:nvPr/>
        </p:nvCxnSpPr>
        <p:spPr>
          <a:xfrm rot="10800000">
            <a:off x="6785690" y="3169085"/>
            <a:ext cx="0" cy="27403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423" name="Google Shape;5423;p60"/>
          <p:cNvGrpSpPr/>
          <p:nvPr/>
        </p:nvGrpSpPr>
        <p:grpSpPr>
          <a:xfrm>
            <a:off x="6340202" y="5745395"/>
            <a:ext cx="597931" cy="300817"/>
            <a:chOff x="7493876" y="2774731"/>
            <a:chExt cx="1481958" cy="894622"/>
          </a:xfrm>
        </p:grpSpPr>
        <p:sp>
          <p:nvSpPr>
            <p:cNvPr id="5424" name="Google Shape;542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25" name="Google Shape;542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26" name="Google Shape;542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7" name="Google Shape;542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8" name="Google Shape;542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9" name="Google Shape;542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0" name="Google Shape;543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1" name="Google Shape;5431;p60"/>
          <p:cNvGrpSpPr/>
          <p:nvPr/>
        </p:nvGrpSpPr>
        <p:grpSpPr>
          <a:xfrm>
            <a:off x="6864077" y="5403856"/>
            <a:ext cx="597931" cy="300817"/>
            <a:chOff x="7493876" y="2774731"/>
            <a:chExt cx="1481958" cy="894622"/>
          </a:xfrm>
        </p:grpSpPr>
        <p:sp>
          <p:nvSpPr>
            <p:cNvPr id="5432" name="Google Shape;543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33" name="Google Shape;543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34" name="Google Shape;543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35" name="Google Shape;543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6" name="Google Shape;543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7" name="Google Shape;543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8" name="Google Shape;543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39" name="Google Shape;5439;p60"/>
          <p:cNvGrpSpPr/>
          <p:nvPr/>
        </p:nvGrpSpPr>
        <p:grpSpPr>
          <a:xfrm>
            <a:off x="6559277" y="4511228"/>
            <a:ext cx="597931" cy="300817"/>
            <a:chOff x="7493876" y="2774731"/>
            <a:chExt cx="1481958" cy="894622"/>
          </a:xfrm>
        </p:grpSpPr>
        <p:sp>
          <p:nvSpPr>
            <p:cNvPr id="5440" name="Google Shape;544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1" name="Google Shape;544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42" name="Google Shape;544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43" name="Google Shape;544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4" name="Google Shape;544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5" name="Google Shape;544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6" name="Google Shape;544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47" name="Google Shape;5447;p60"/>
          <p:cNvGrpSpPr/>
          <p:nvPr/>
        </p:nvGrpSpPr>
        <p:grpSpPr>
          <a:xfrm>
            <a:off x="6140177" y="5141239"/>
            <a:ext cx="597931" cy="300817"/>
            <a:chOff x="7493876" y="2774731"/>
            <a:chExt cx="1481958" cy="894622"/>
          </a:xfrm>
        </p:grpSpPr>
        <p:sp>
          <p:nvSpPr>
            <p:cNvPr id="5448" name="Google Shape;544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49" name="Google Shape;544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0" name="Google Shape;545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1" name="Google Shape;545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2" name="Google Shape;545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3" name="Google Shape;545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4" name="Google Shape;545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55" name="Google Shape;5455;p60"/>
          <p:cNvGrpSpPr/>
          <p:nvPr/>
        </p:nvGrpSpPr>
        <p:grpSpPr>
          <a:xfrm>
            <a:off x="4569913" y="4277185"/>
            <a:ext cx="597931" cy="300817"/>
            <a:chOff x="7493876" y="2774731"/>
            <a:chExt cx="1481958" cy="894622"/>
          </a:xfrm>
        </p:grpSpPr>
        <p:sp>
          <p:nvSpPr>
            <p:cNvPr id="5456" name="Google Shape;545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57" name="Google Shape;545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58" name="Google Shape;545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59" name="Google Shape;545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0" name="Google Shape;546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1" name="Google Shape;546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2" name="Google Shape;546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63" name="Google Shape;5463;p60"/>
          <p:cNvGrpSpPr/>
          <p:nvPr/>
        </p:nvGrpSpPr>
        <p:grpSpPr>
          <a:xfrm>
            <a:off x="4158978" y="4866374"/>
            <a:ext cx="597931" cy="300817"/>
            <a:chOff x="7493876" y="2774731"/>
            <a:chExt cx="1481958" cy="894622"/>
          </a:xfrm>
        </p:grpSpPr>
        <p:sp>
          <p:nvSpPr>
            <p:cNvPr id="5464" name="Google Shape;546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65" name="Google Shape;546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66" name="Google Shape;546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67" name="Google Shape;546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8" name="Google Shape;546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9" name="Google Shape;546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0" name="Google Shape;547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1" name="Google Shape;5471;p60"/>
          <p:cNvGrpSpPr/>
          <p:nvPr/>
        </p:nvGrpSpPr>
        <p:grpSpPr>
          <a:xfrm>
            <a:off x="3617415" y="5394331"/>
            <a:ext cx="597931" cy="300817"/>
            <a:chOff x="7493876" y="2774731"/>
            <a:chExt cx="1481958" cy="894622"/>
          </a:xfrm>
        </p:grpSpPr>
        <p:sp>
          <p:nvSpPr>
            <p:cNvPr id="5472" name="Google Shape;547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73" name="Google Shape;547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74" name="Google Shape;547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75" name="Google Shape;547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6" name="Google Shape;547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7" name="Google Shape;547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8" name="Google Shape;547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79" name="Google Shape;5479;p60"/>
          <p:cNvGrpSpPr/>
          <p:nvPr/>
        </p:nvGrpSpPr>
        <p:grpSpPr>
          <a:xfrm>
            <a:off x="4312742" y="5705934"/>
            <a:ext cx="597931" cy="300817"/>
            <a:chOff x="7493876" y="2774731"/>
            <a:chExt cx="1481958" cy="894622"/>
          </a:xfrm>
        </p:grpSpPr>
        <p:sp>
          <p:nvSpPr>
            <p:cNvPr id="5480" name="Google Shape;548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1" name="Google Shape;548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82" name="Google Shape;548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83" name="Google Shape;548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4" name="Google Shape;548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5" name="Google Shape;548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6" name="Google Shape;548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87" name="Google Shape;5487;p60"/>
          <p:cNvGrpSpPr/>
          <p:nvPr/>
        </p:nvGrpSpPr>
        <p:grpSpPr>
          <a:xfrm>
            <a:off x="4587608" y="5246012"/>
            <a:ext cx="597931" cy="300817"/>
            <a:chOff x="7493876" y="2774731"/>
            <a:chExt cx="1481958" cy="894622"/>
          </a:xfrm>
        </p:grpSpPr>
        <p:sp>
          <p:nvSpPr>
            <p:cNvPr id="5488" name="Google Shape;548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89" name="Google Shape;548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0" name="Google Shape;549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1" name="Google Shape;549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2" name="Google Shape;549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3" name="Google Shape;549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4" name="Google Shape;549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495" name="Google Shape;5495;p60"/>
          <p:cNvGrpSpPr/>
          <p:nvPr/>
        </p:nvGrpSpPr>
        <p:grpSpPr>
          <a:xfrm>
            <a:off x="8462916" y="4337057"/>
            <a:ext cx="597931" cy="300817"/>
            <a:chOff x="7493876" y="2774731"/>
            <a:chExt cx="1481958" cy="894622"/>
          </a:xfrm>
        </p:grpSpPr>
        <p:sp>
          <p:nvSpPr>
            <p:cNvPr id="5496" name="Google Shape;549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497" name="Google Shape;549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498" name="Google Shape;549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99" name="Google Shape;549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0" name="Google Shape;550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1" name="Google Shape;550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2" name="Google Shape;550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03" name="Google Shape;5503;p60"/>
          <p:cNvGrpSpPr/>
          <p:nvPr/>
        </p:nvGrpSpPr>
        <p:grpSpPr>
          <a:xfrm>
            <a:off x="8243841" y="4926247"/>
            <a:ext cx="597931" cy="300817"/>
            <a:chOff x="7493876" y="2774731"/>
            <a:chExt cx="1481958" cy="894622"/>
          </a:xfrm>
        </p:grpSpPr>
        <p:sp>
          <p:nvSpPr>
            <p:cNvPr id="5504" name="Google Shape;5504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05" name="Google Shape;5505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06" name="Google Shape;5506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7" name="Google Shape;5507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8" name="Google Shape;5508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9" name="Google Shape;5509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0" name="Google Shape;5510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1" name="Google Shape;5511;p60"/>
          <p:cNvGrpSpPr/>
          <p:nvPr/>
        </p:nvGrpSpPr>
        <p:grpSpPr>
          <a:xfrm>
            <a:off x="8963659" y="5613409"/>
            <a:ext cx="597931" cy="300817"/>
            <a:chOff x="7493876" y="2774731"/>
            <a:chExt cx="1481958" cy="894622"/>
          </a:xfrm>
        </p:grpSpPr>
        <p:sp>
          <p:nvSpPr>
            <p:cNvPr id="5512" name="Google Shape;5512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13" name="Google Shape;5513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14" name="Google Shape;5514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15" name="Google Shape;5515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6" name="Google Shape;5516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7" name="Google Shape;5517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8" name="Google Shape;5518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19" name="Google Shape;5519;p60"/>
          <p:cNvGrpSpPr/>
          <p:nvPr/>
        </p:nvGrpSpPr>
        <p:grpSpPr>
          <a:xfrm>
            <a:off x="6526620" y="3425378"/>
            <a:ext cx="597931" cy="300817"/>
            <a:chOff x="7493876" y="2774731"/>
            <a:chExt cx="1481958" cy="894622"/>
          </a:xfrm>
        </p:grpSpPr>
        <p:sp>
          <p:nvSpPr>
            <p:cNvPr id="5520" name="Google Shape;5520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1" name="Google Shape;5521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22" name="Google Shape;5522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23" name="Google Shape;5523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4" name="Google Shape;5524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5" name="Google Shape;5525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6" name="Google Shape;5526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27" name="Google Shape;5527;p60"/>
          <p:cNvGrpSpPr/>
          <p:nvPr/>
        </p:nvGrpSpPr>
        <p:grpSpPr>
          <a:xfrm>
            <a:off x="7683227" y="3687996"/>
            <a:ext cx="597931" cy="300817"/>
            <a:chOff x="7493876" y="2774731"/>
            <a:chExt cx="1481958" cy="894622"/>
          </a:xfrm>
        </p:grpSpPr>
        <p:sp>
          <p:nvSpPr>
            <p:cNvPr id="5528" name="Google Shape;5528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29" name="Google Shape;5529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0" name="Google Shape;5530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1" name="Google Shape;5531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2" name="Google Shape;5532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3" name="Google Shape;5533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4" name="Google Shape;5534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35" name="Google Shape;5535;p60"/>
          <p:cNvGrpSpPr/>
          <p:nvPr/>
        </p:nvGrpSpPr>
        <p:grpSpPr>
          <a:xfrm>
            <a:off x="5374095" y="3693439"/>
            <a:ext cx="597931" cy="300817"/>
            <a:chOff x="7493876" y="2774731"/>
            <a:chExt cx="1481958" cy="894622"/>
          </a:xfrm>
        </p:grpSpPr>
        <p:sp>
          <p:nvSpPr>
            <p:cNvPr id="5536" name="Google Shape;5536;p6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5537" name="Google Shape;5537;p6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5538" name="Google Shape;5538;p6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39" name="Google Shape;5539;p6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0" name="Google Shape;5540;p6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1" name="Google Shape;5541;p6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2" name="Google Shape;5542;p6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543" name="Google Shape;5543;p60"/>
          <p:cNvGrpSpPr/>
          <p:nvPr/>
        </p:nvGrpSpPr>
        <p:grpSpPr>
          <a:xfrm>
            <a:off x="8317285" y="3820439"/>
            <a:ext cx="3684736" cy="1112688"/>
            <a:chOff x="8317285" y="3820439"/>
            <a:chExt cx="3684736" cy="1112688"/>
          </a:xfrm>
        </p:grpSpPr>
        <p:sp>
          <p:nvSpPr>
            <p:cNvPr id="5544" name="Google Shape;5544;p60"/>
            <p:cNvSpPr/>
            <p:nvPr/>
          </p:nvSpPr>
          <p:spPr>
            <a:xfrm>
              <a:off x="9857982" y="4009797"/>
              <a:ext cx="214403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backbone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runs OSPF limited to backbone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5" name="Google Shape;5545;p60"/>
            <p:cNvCxnSpPr/>
            <p:nvPr/>
          </p:nvCxnSpPr>
          <p:spPr>
            <a:xfrm rot="10800000">
              <a:off x="8317285" y="3820439"/>
              <a:ext cx="1503120" cy="363254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6" name="Google Shape;5546;p60"/>
          <p:cNvGrpSpPr/>
          <p:nvPr/>
        </p:nvGrpSpPr>
        <p:grpSpPr>
          <a:xfrm>
            <a:off x="7166977" y="3322953"/>
            <a:ext cx="4306864" cy="646331"/>
            <a:chOff x="7166977" y="3322953"/>
            <a:chExt cx="4306864" cy="646331"/>
          </a:xfrm>
        </p:grpSpPr>
        <p:sp>
          <p:nvSpPr>
            <p:cNvPr id="5547" name="Google Shape;5547;p60"/>
            <p:cNvSpPr/>
            <p:nvPr/>
          </p:nvSpPr>
          <p:spPr>
            <a:xfrm>
              <a:off x="8897655" y="3322953"/>
              <a:ext cx="257618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boundary router: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connects to other ASes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548" name="Google Shape;5548;p60"/>
            <p:cNvCxnSpPr/>
            <p:nvPr/>
          </p:nvCxnSpPr>
          <p:spPr>
            <a:xfrm rot="10800000">
              <a:off x="7166977" y="3521901"/>
              <a:ext cx="1651346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549" name="Google Shape;5549;p60"/>
          <p:cNvGrpSpPr/>
          <p:nvPr/>
        </p:nvGrpSpPr>
        <p:grpSpPr>
          <a:xfrm>
            <a:off x="400831" y="4789096"/>
            <a:ext cx="3682654" cy="1754326"/>
            <a:chOff x="400831" y="4789096"/>
            <a:chExt cx="3682654" cy="1754326"/>
          </a:xfrm>
        </p:grpSpPr>
        <p:sp>
          <p:nvSpPr>
            <p:cNvPr id="5550" name="Google Shape;5550;p60"/>
            <p:cNvSpPr/>
            <p:nvPr/>
          </p:nvSpPr>
          <p:spPr>
            <a:xfrm>
              <a:off x="400831" y="4789096"/>
              <a:ext cx="3244241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local routers: 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flood LS in area only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compute routing within area</a:t>
              </a:r>
              <a:endParaRPr/>
            </a:p>
            <a:p>
              <a:pPr indent="-173038" lvl="0" marL="173038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Char char="•"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forward packets to outside via area border router</a:t>
              </a:r>
              <a:endParaRPr/>
            </a:p>
          </p:txBody>
        </p:sp>
        <p:cxnSp>
          <p:nvCxnSpPr>
            <p:cNvPr id="5551" name="Google Shape;5551;p60"/>
            <p:cNvCxnSpPr/>
            <p:nvPr/>
          </p:nvCxnSpPr>
          <p:spPr>
            <a:xfrm>
              <a:off x="2091847" y="5035463"/>
              <a:ext cx="1991638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6" name="Shape 5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7" name="Google Shape;5557;p6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5558" name="Google Shape;55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5559" name="Google Shape;5559;p61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0" name="Google Shape;5560;p61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1" name="Google Shape;5561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5" name="Shape 5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6" name="Google Shape;5566;p62"/>
          <p:cNvSpPr txBox="1"/>
          <p:nvPr>
            <p:ph idx="1" type="body"/>
          </p:nvPr>
        </p:nvSpPr>
        <p:spPr>
          <a:xfrm>
            <a:off x="838199" y="1724027"/>
            <a:ext cx="1078595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CC0000"/>
                </a:solidFill>
              </a:rPr>
              <a:t>BGP (Border Gateway Protocol):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i="1" lang="en-US">
                <a:solidFill>
                  <a:srgbClr val="000000"/>
                </a:solidFill>
              </a:rPr>
              <a:t>the</a:t>
            </a:r>
            <a:r>
              <a:rPr lang="en-US">
                <a:solidFill>
                  <a:srgbClr val="000000"/>
                </a:solidFill>
              </a:rPr>
              <a:t> de facto inter-domain routing protocol</a:t>
            </a:r>
            <a:endParaRPr/>
          </a:p>
          <a:p>
            <a:pPr indent="-277813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“glue that holds the Internet together”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allows subnet to advertise its existence, and the destinations it can reach, to rest of Internet: </a:t>
            </a:r>
            <a:r>
              <a:rPr i="1" lang="en-US">
                <a:solidFill>
                  <a:srgbClr val="000099"/>
                </a:solidFill>
              </a:rPr>
              <a:t>“I am here, here is who I can reach, and how”</a:t>
            </a:r>
            <a:endParaRPr i="1">
              <a:solidFill>
                <a:srgbClr val="000099"/>
              </a:solidFill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>
                <a:solidFill>
                  <a:srgbClr val="000000"/>
                </a:solidFill>
              </a:rPr>
              <a:t>BGP provides each AS a means to: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eBGP:</a:t>
            </a:r>
            <a:r>
              <a:rPr lang="en-US">
                <a:solidFill>
                  <a:srgbClr val="000000"/>
                </a:solidFill>
              </a:rPr>
              <a:t> obtain subnet reachability information from neighboring ASes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CC0000"/>
                </a:solidFill>
              </a:rPr>
              <a:t>iBGP:</a:t>
            </a:r>
            <a:r>
              <a:rPr lang="en-US">
                <a:solidFill>
                  <a:srgbClr val="000000"/>
                </a:solidFill>
              </a:rPr>
              <a:t> propagate reachability information to all AS-internal routers.</a:t>
            </a:r>
            <a:endParaRPr/>
          </a:p>
          <a:p>
            <a:pPr indent="-342900" lvl="1" marL="8001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lang="en-US">
                <a:solidFill>
                  <a:srgbClr val="000000"/>
                </a:solidFill>
              </a:rPr>
              <a:t>determine “good” routes to other networks based on reachability information and </a:t>
            </a:r>
            <a:r>
              <a:rPr i="1" lang="en-US">
                <a:solidFill>
                  <a:srgbClr val="000090"/>
                </a:solidFill>
              </a:rPr>
              <a:t>policy</a:t>
            </a:r>
            <a:endParaRPr>
              <a:solidFill>
                <a:srgbClr val="00009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567" name="Google Shape;5567;p6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Internet inter-AS routing: BGP</a:t>
            </a:r>
            <a:endParaRPr/>
          </a:p>
        </p:txBody>
      </p:sp>
      <p:sp>
        <p:nvSpPr>
          <p:cNvPr id="5568" name="Google Shape;5568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2" name="Shape 5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3" name="Google Shape;5573;p63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eBGP, iBGP connections</a:t>
            </a:r>
            <a:endParaRPr/>
          </a:p>
        </p:txBody>
      </p:sp>
      <p:sp>
        <p:nvSpPr>
          <p:cNvPr id="5574" name="Google Shape;5574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575" name="Google Shape;5575;p63"/>
          <p:cNvGrpSpPr/>
          <p:nvPr/>
        </p:nvGrpSpPr>
        <p:grpSpPr>
          <a:xfrm>
            <a:off x="4773228" y="4365522"/>
            <a:ext cx="3666682" cy="635979"/>
            <a:chOff x="7493868" y="5383138"/>
            <a:chExt cx="3666682" cy="635979"/>
          </a:xfrm>
        </p:grpSpPr>
        <p:cxnSp>
          <p:nvCxnSpPr>
            <p:cNvPr id="5576" name="Google Shape;5576;p63"/>
            <p:cNvCxnSpPr/>
            <p:nvPr/>
          </p:nvCxnSpPr>
          <p:spPr>
            <a:xfrm rot="10800000">
              <a:off x="7493868" y="5589319"/>
              <a:ext cx="749784" cy="11598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rgbClr val="CC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5577" name="Google Shape;5577;p63"/>
            <p:cNvCxnSpPr/>
            <p:nvPr/>
          </p:nvCxnSpPr>
          <p:spPr>
            <a:xfrm flipH="1" rot="10800000">
              <a:off x="7523346" y="5869497"/>
              <a:ext cx="699488" cy="69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00009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5578" name="Google Shape;5578;p63"/>
            <p:cNvSpPr txBox="1"/>
            <p:nvPr/>
          </p:nvSpPr>
          <p:spPr>
            <a:xfrm>
              <a:off x="8347651" y="5383138"/>
              <a:ext cx="20697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eBGP connectivity</a:t>
              </a:r>
              <a:endParaRPr/>
            </a:p>
          </p:txBody>
        </p:sp>
        <p:sp>
          <p:nvSpPr>
            <p:cNvPr id="5579" name="Google Shape;5579;p63"/>
            <p:cNvSpPr txBox="1"/>
            <p:nvPr/>
          </p:nvSpPr>
          <p:spPr>
            <a:xfrm>
              <a:off x="8372607" y="5649785"/>
              <a:ext cx="2787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logical iBGP connectivity</a:t>
              </a:r>
              <a:endParaRPr/>
            </a:p>
          </p:txBody>
        </p:sp>
      </p:grpSp>
      <p:sp>
        <p:nvSpPr>
          <p:cNvPr id="5580" name="Google Shape;5580;p63"/>
          <p:cNvSpPr/>
          <p:nvPr/>
        </p:nvSpPr>
        <p:spPr>
          <a:xfrm>
            <a:off x="2249944" y="2430156"/>
            <a:ext cx="2712783" cy="1853712"/>
          </a:xfrm>
          <a:custGeom>
            <a:rect b="b" l="l" r="r" t="t"/>
            <a:pathLst>
              <a:path extrusionOk="0" h="10795" w="10000">
                <a:moveTo>
                  <a:pt x="45" y="5036"/>
                </a:moveTo>
                <a:cubicBezTo>
                  <a:pt x="272" y="4277"/>
                  <a:pt x="1931" y="3650"/>
                  <a:pt x="2738" y="2811"/>
                </a:cubicBezTo>
                <a:cubicBezTo>
                  <a:pt x="3545" y="1972"/>
                  <a:pt x="3352" y="117"/>
                  <a:pt x="4886" y="4"/>
                </a:cubicBezTo>
                <a:cubicBezTo>
                  <a:pt x="6420" y="-109"/>
                  <a:pt x="7216" y="1912"/>
                  <a:pt x="8068" y="2813"/>
                </a:cubicBezTo>
                <a:cubicBezTo>
                  <a:pt x="8920" y="3715"/>
                  <a:pt x="9928" y="3420"/>
                  <a:pt x="9996" y="5413"/>
                </a:cubicBezTo>
                <a:cubicBezTo>
                  <a:pt x="10064" y="7406"/>
                  <a:pt x="9275" y="6409"/>
                  <a:pt x="8476" y="7306"/>
                </a:cubicBezTo>
                <a:cubicBezTo>
                  <a:pt x="7677" y="8203"/>
                  <a:pt x="7086" y="10770"/>
                  <a:pt x="5202" y="10795"/>
                </a:cubicBezTo>
                <a:cubicBezTo>
                  <a:pt x="3318" y="10820"/>
                  <a:pt x="3391" y="8255"/>
                  <a:pt x="2753" y="7683"/>
                </a:cubicBezTo>
                <a:cubicBezTo>
                  <a:pt x="2115" y="7111"/>
                  <a:pt x="2326" y="7496"/>
                  <a:pt x="1375" y="7365"/>
                </a:cubicBezTo>
                <a:cubicBezTo>
                  <a:pt x="493" y="6773"/>
                  <a:pt x="-182" y="5795"/>
                  <a:pt x="45" y="503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1" name="Google Shape;5581;p63"/>
          <p:cNvGrpSpPr/>
          <p:nvPr/>
        </p:nvGrpSpPr>
        <p:grpSpPr>
          <a:xfrm>
            <a:off x="3388105" y="2581018"/>
            <a:ext cx="565150" cy="369332"/>
            <a:chOff x="1736090" y="2873352"/>
            <a:chExt cx="565150" cy="369332"/>
          </a:xfrm>
        </p:grpSpPr>
        <p:grpSp>
          <p:nvGrpSpPr>
            <p:cNvPr id="5582" name="Google Shape;5582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83" name="Google Shape;5583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4" name="Google Shape;5584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5" name="Google Shape;5585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6" name="Google Shape;5586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7" name="Google Shape;5587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8" name="Google Shape;5588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89" name="Google Shape;5589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590" name="Google Shape;5590;p63"/>
              <p:cNvCxnSpPr>
                <a:endCxn id="5585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591" name="Google Shape;5591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592" name="Google Shape;5592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593" name="Google Shape;5593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4" name="Google Shape;5594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1b</a:t>
                </a:r>
                <a:endParaRPr/>
              </a:p>
            </p:txBody>
          </p:sp>
        </p:grpSp>
      </p:grpSp>
      <p:grpSp>
        <p:nvGrpSpPr>
          <p:cNvPr id="5595" name="Google Shape;5595;p63"/>
          <p:cNvGrpSpPr/>
          <p:nvPr/>
        </p:nvGrpSpPr>
        <p:grpSpPr>
          <a:xfrm>
            <a:off x="3392335" y="3802335"/>
            <a:ext cx="565150" cy="369332"/>
            <a:chOff x="1736090" y="2873352"/>
            <a:chExt cx="565150" cy="369332"/>
          </a:xfrm>
        </p:grpSpPr>
        <p:grpSp>
          <p:nvGrpSpPr>
            <p:cNvPr id="5596" name="Google Shape;5596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597" name="Google Shape;5597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8" name="Google Shape;5598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599" name="Google Shape;5599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0" name="Google Shape;5600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1" name="Google Shape;5601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2" name="Google Shape;5602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3" name="Google Shape;5603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04" name="Google Shape;5604;p63"/>
              <p:cNvCxnSpPr>
                <a:endCxn id="5599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05" name="Google Shape;5605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06" name="Google Shape;5606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07" name="Google Shape;5607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08" name="Google Shape;5608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1d</a:t>
                </a:r>
                <a:endParaRPr/>
              </a:p>
            </p:txBody>
          </p:sp>
        </p:grpSp>
      </p:grpSp>
      <p:grpSp>
        <p:nvGrpSpPr>
          <p:cNvPr id="5609" name="Google Shape;5609;p63"/>
          <p:cNvGrpSpPr/>
          <p:nvPr/>
        </p:nvGrpSpPr>
        <p:grpSpPr>
          <a:xfrm>
            <a:off x="4253821" y="3192738"/>
            <a:ext cx="565150" cy="369332"/>
            <a:chOff x="1736090" y="2873352"/>
            <a:chExt cx="565150" cy="369332"/>
          </a:xfrm>
        </p:grpSpPr>
        <p:grpSp>
          <p:nvGrpSpPr>
            <p:cNvPr id="5610" name="Google Shape;5610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11" name="Google Shape;5611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2" name="Google Shape;5612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3" name="Google Shape;5613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4" name="Google Shape;5614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5" name="Google Shape;5615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6" name="Google Shape;5616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17" name="Google Shape;5617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18" name="Google Shape;5618;p63"/>
              <p:cNvCxnSpPr>
                <a:endCxn id="561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19" name="Google Shape;5619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20" name="Google Shape;5620;p63"/>
            <p:cNvGrpSpPr/>
            <p:nvPr/>
          </p:nvGrpSpPr>
          <p:grpSpPr>
            <a:xfrm>
              <a:off x="1770362" y="2873352"/>
              <a:ext cx="428460" cy="369332"/>
              <a:chOff x="667045" y="1708643"/>
              <a:chExt cx="428460" cy="369332"/>
            </a:xfrm>
          </p:grpSpPr>
          <p:sp>
            <p:nvSpPr>
              <p:cNvPr id="5621" name="Google Shape;5621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2" name="Google Shape;5622;p63"/>
              <p:cNvSpPr txBox="1"/>
              <p:nvPr/>
            </p:nvSpPr>
            <p:spPr>
              <a:xfrm>
                <a:off x="667045" y="1708643"/>
                <a:ext cx="42846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1c</a:t>
                </a:r>
                <a:endParaRPr/>
              </a:p>
            </p:txBody>
          </p:sp>
        </p:grpSp>
      </p:grpSp>
      <p:grpSp>
        <p:nvGrpSpPr>
          <p:cNvPr id="5623" name="Google Shape;5623;p63"/>
          <p:cNvGrpSpPr/>
          <p:nvPr/>
        </p:nvGrpSpPr>
        <p:grpSpPr>
          <a:xfrm>
            <a:off x="2485346" y="3186385"/>
            <a:ext cx="565150" cy="369332"/>
            <a:chOff x="1736090" y="2873352"/>
            <a:chExt cx="565150" cy="369332"/>
          </a:xfrm>
        </p:grpSpPr>
        <p:grpSp>
          <p:nvGrpSpPr>
            <p:cNvPr id="5624" name="Google Shape;5624;p63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5625" name="Google Shape;5625;p63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6" name="Google Shape;5626;p63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7" name="Google Shape;5627;p63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8" name="Google Shape;5628;p63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29" name="Google Shape;5629;p63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0" name="Google Shape;5630;p63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1" name="Google Shape;5631;p63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32" name="Google Shape;5632;p63"/>
              <p:cNvCxnSpPr>
                <a:endCxn id="562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5633" name="Google Shape;5633;p63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5634" name="Google Shape;5634;p63"/>
            <p:cNvGrpSpPr/>
            <p:nvPr/>
          </p:nvGrpSpPr>
          <p:grpSpPr>
            <a:xfrm>
              <a:off x="1770362" y="2873352"/>
              <a:ext cx="441422" cy="369332"/>
              <a:chOff x="667045" y="1708643"/>
              <a:chExt cx="441422" cy="369332"/>
            </a:xfrm>
          </p:grpSpPr>
          <p:sp>
            <p:nvSpPr>
              <p:cNvPr id="5635" name="Google Shape;5635;p63"/>
              <p:cNvSpPr/>
              <p:nvPr/>
            </p:nvSpPr>
            <p:spPr>
              <a:xfrm>
                <a:off x="725417" y="1787240"/>
                <a:ext cx="356365" cy="231962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636" name="Google Shape;5636;p63"/>
              <p:cNvSpPr txBox="1"/>
              <p:nvPr/>
            </p:nvSpPr>
            <p:spPr>
              <a:xfrm>
                <a:off x="667045" y="1708643"/>
                <a:ext cx="44142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1a</a:t>
                </a:r>
                <a:endParaRPr/>
              </a:p>
            </p:txBody>
          </p:sp>
        </p:grpSp>
      </p:grpSp>
      <p:cxnSp>
        <p:nvCxnSpPr>
          <p:cNvPr id="5637" name="Google Shape;5637;p63"/>
          <p:cNvCxnSpPr>
            <a:stCxn id="5594" idx="2"/>
            <a:endCxn id="5608" idx="0"/>
          </p:cNvCxnSpPr>
          <p:nvPr/>
        </p:nvCxnSpPr>
        <p:spPr>
          <a:xfrm>
            <a:off x="3643088" y="2950350"/>
            <a:ext cx="4200" cy="8520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8" name="Google Shape;5638;p63"/>
          <p:cNvCxnSpPr/>
          <p:nvPr/>
        </p:nvCxnSpPr>
        <p:spPr>
          <a:xfrm>
            <a:off x="3059492" y="3356287"/>
            <a:ext cx="1204913" cy="6353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39" name="Google Shape;5639;p63"/>
          <p:cNvCxnSpPr>
            <a:stCxn id="5583" idx="7"/>
          </p:cNvCxnSpPr>
          <p:nvPr/>
        </p:nvCxnSpPr>
        <p:spPr>
          <a:xfrm>
            <a:off x="3870723" y="2862143"/>
            <a:ext cx="480000" cy="36990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0" name="Google Shape;5640;p63"/>
          <p:cNvCxnSpPr/>
          <p:nvPr/>
        </p:nvCxnSpPr>
        <p:spPr>
          <a:xfrm>
            <a:off x="2952088" y="3493970"/>
            <a:ext cx="477927" cy="35707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1" name="Google Shape;5641;p63"/>
          <p:cNvCxnSpPr/>
          <p:nvPr/>
        </p:nvCxnSpPr>
        <p:spPr>
          <a:xfrm flipH="1">
            <a:off x="3848057" y="3491208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642" name="Google Shape;5642;p63"/>
          <p:cNvCxnSpPr/>
          <p:nvPr/>
        </p:nvCxnSpPr>
        <p:spPr>
          <a:xfrm flipH="1">
            <a:off x="2939568" y="2874612"/>
            <a:ext cx="508002" cy="34925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9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5643" name="Google Shape;5643;p63"/>
          <p:cNvGrpSpPr/>
          <p:nvPr/>
        </p:nvGrpSpPr>
        <p:grpSpPr>
          <a:xfrm>
            <a:off x="4858786" y="1645599"/>
            <a:ext cx="2712783" cy="1853712"/>
            <a:chOff x="-2170772" y="2784954"/>
            <a:chExt cx="2712783" cy="1853712"/>
          </a:xfrm>
        </p:grpSpPr>
        <p:sp>
          <p:nvSpPr>
            <p:cNvPr id="5644" name="Google Shape;5644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45" name="Google Shape;5645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646" name="Google Shape;5646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47" name="Google Shape;5647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48" name="Google Shape;5648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49" name="Google Shape;5649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0" name="Google Shape;5650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1" name="Google Shape;5651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2" name="Google Shape;5652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3" name="Google Shape;5653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4" name="Google Shape;5654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55" name="Google Shape;5655;p63"/>
                  <p:cNvCxnSpPr>
                    <a:endCxn id="5650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56" name="Google Shape;5656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57" name="Google Shape;5657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58" name="Google Shape;5658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59" name="Google Shape;5659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2b</a:t>
                    </a:r>
                    <a:endParaRPr/>
                  </a:p>
                </p:txBody>
              </p:sp>
            </p:grpSp>
          </p:grpSp>
          <p:grpSp>
            <p:nvGrpSpPr>
              <p:cNvPr id="5660" name="Google Shape;5660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61" name="Google Shape;566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62" name="Google Shape;566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3" name="Google Shape;566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4" name="Google Shape;566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5" name="Google Shape;566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6" name="Google Shape;566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7" name="Google Shape;566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68" name="Google Shape;566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69" name="Google Shape;5669;p63"/>
                  <p:cNvCxnSpPr>
                    <a:endCxn id="566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70" name="Google Shape;567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71" name="Google Shape;5671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672" name="Google Shape;567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3" name="Google Shape;5673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2d</a:t>
                    </a:r>
                    <a:endParaRPr/>
                  </a:p>
                </p:txBody>
              </p:sp>
            </p:grpSp>
          </p:grpSp>
          <p:grpSp>
            <p:nvGrpSpPr>
              <p:cNvPr id="5674" name="Google Shape;5674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75" name="Google Shape;5675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76" name="Google Shape;5676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7" name="Google Shape;5677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8" name="Google Shape;5678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79" name="Google Shape;5679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0" name="Google Shape;5680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1" name="Google Shape;5681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2" name="Google Shape;5682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83" name="Google Shape;5683;p63"/>
                  <p:cNvCxnSpPr>
                    <a:endCxn id="5678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84" name="Google Shape;5684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85" name="Google Shape;5685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686" name="Google Shape;5686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87" name="Google Shape;5687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2c</a:t>
                    </a:r>
                    <a:endParaRPr/>
                  </a:p>
                </p:txBody>
              </p:sp>
            </p:grpSp>
          </p:grpSp>
          <p:grpSp>
            <p:nvGrpSpPr>
              <p:cNvPr id="5688" name="Google Shape;5688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689" name="Google Shape;5689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690" name="Google Shape;5690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1" name="Google Shape;5691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2" name="Google Shape;5692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3" name="Google Shape;5693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4" name="Google Shape;5694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5" name="Google Shape;5695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696" name="Google Shape;5696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697" name="Google Shape;5697;p63"/>
                  <p:cNvCxnSpPr>
                    <a:endCxn id="5692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698" name="Google Shape;5698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699" name="Google Shape;5699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00" name="Google Shape;5700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01" name="Google Shape;5701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2a</a:t>
                    </a:r>
                    <a:endParaRPr/>
                  </a:p>
                </p:txBody>
              </p:sp>
            </p:grpSp>
          </p:grpSp>
          <p:cxnSp>
            <p:nvCxnSpPr>
              <p:cNvPr id="5702" name="Google Shape;5702;p63"/>
              <p:cNvCxnSpPr>
                <a:stCxn id="5659" idx="2"/>
                <a:endCxn id="5673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3" name="Google Shape;5703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4" name="Google Shape;5704;p63"/>
              <p:cNvCxnSpPr>
                <a:stCxn id="5648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5" name="Google Shape;5705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6" name="Google Shape;5706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7" name="Google Shape;5707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5708" name="Google Shape;5708;p63"/>
          <p:cNvGrpSpPr/>
          <p:nvPr/>
        </p:nvGrpSpPr>
        <p:grpSpPr>
          <a:xfrm>
            <a:off x="7530080" y="2464278"/>
            <a:ext cx="2712783" cy="1853712"/>
            <a:chOff x="-2170772" y="2784954"/>
            <a:chExt cx="2712783" cy="1853712"/>
          </a:xfrm>
        </p:grpSpPr>
        <p:sp>
          <p:nvSpPr>
            <p:cNvPr id="5709" name="Google Shape;5709;p63"/>
            <p:cNvSpPr/>
            <p:nvPr/>
          </p:nvSpPr>
          <p:spPr>
            <a:xfrm>
              <a:off x="-2170772" y="2784954"/>
              <a:ext cx="2712783" cy="1853712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0" name="Google Shape;5710;p63"/>
            <p:cNvGrpSpPr/>
            <p:nvPr/>
          </p:nvGrpSpPr>
          <p:grpSpPr>
            <a:xfrm>
              <a:off x="-1935370" y="2935816"/>
              <a:ext cx="2333625" cy="1590649"/>
              <a:chOff x="833331" y="2873352"/>
              <a:chExt cx="2333625" cy="1590649"/>
            </a:xfrm>
          </p:grpSpPr>
          <p:grpSp>
            <p:nvGrpSpPr>
              <p:cNvPr id="5711" name="Google Shape;5711;p63"/>
              <p:cNvGrpSpPr/>
              <p:nvPr/>
            </p:nvGrpSpPr>
            <p:grpSpPr>
              <a:xfrm>
                <a:off x="1736090" y="287335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12" name="Google Shape;5712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13" name="Google Shape;5713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4" name="Google Shape;5714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5" name="Google Shape;5715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6" name="Google Shape;5716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7" name="Google Shape;5717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8" name="Google Shape;5718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19" name="Google Shape;5719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20" name="Google Shape;5720;p63"/>
                  <p:cNvCxnSpPr>
                    <a:endCxn id="5715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21" name="Google Shape;5721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22" name="Google Shape;5722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23" name="Google Shape;5723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4" name="Google Shape;5724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3b</a:t>
                    </a:r>
                    <a:endParaRPr/>
                  </a:p>
                </p:txBody>
              </p:sp>
            </p:grpSp>
          </p:grpSp>
          <p:grpSp>
            <p:nvGrpSpPr>
              <p:cNvPr id="5725" name="Google Shape;5725;p63"/>
              <p:cNvGrpSpPr/>
              <p:nvPr/>
            </p:nvGrpSpPr>
            <p:grpSpPr>
              <a:xfrm>
                <a:off x="1740320" y="409466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26" name="Google Shape;5726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27" name="Google Shape;5727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8" name="Google Shape;5728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29" name="Google Shape;5729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0" name="Google Shape;5730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1" name="Google Shape;5731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2" name="Google Shape;5732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3" name="Google Shape;5733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34" name="Google Shape;5734;p63"/>
                  <p:cNvCxnSpPr>
                    <a:endCxn id="5729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35" name="Google Shape;5735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36" name="Google Shape;5736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37" name="Google Shape;5737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38" name="Google Shape;5738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3d</a:t>
                    </a:r>
                    <a:endParaRPr/>
                  </a:p>
                </p:txBody>
              </p:sp>
            </p:grpSp>
          </p:grpSp>
          <p:grpSp>
            <p:nvGrpSpPr>
              <p:cNvPr id="5739" name="Google Shape;5739;p63"/>
              <p:cNvGrpSpPr/>
              <p:nvPr/>
            </p:nvGrpSpPr>
            <p:grpSpPr>
              <a:xfrm>
                <a:off x="2601806" y="3485072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40" name="Google Shape;5740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41" name="Google Shape;5741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2" name="Google Shape;5742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3" name="Google Shape;5743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4" name="Google Shape;5744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5" name="Google Shape;5745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6" name="Google Shape;5746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47" name="Google Shape;5747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48" name="Google Shape;5748;p63"/>
                  <p:cNvCxnSpPr>
                    <a:endCxn id="5743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49" name="Google Shape;5749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50" name="Google Shape;5750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51" name="Google Shape;5751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2" name="Google Shape;5752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3c</a:t>
                    </a:r>
                    <a:endParaRPr/>
                  </a:p>
                </p:txBody>
              </p:sp>
            </p:grpSp>
          </p:grpSp>
          <p:grpSp>
            <p:nvGrpSpPr>
              <p:cNvPr id="5753" name="Google Shape;5753;p63"/>
              <p:cNvGrpSpPr/>
              <p:nvPr/>
            </p:nvGrpSpPr>
            <p:grpSpPr>
              <a:xfrm>
                <a:off x="833331" y="3478719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54" name="Google Shape;5754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55" name="Google Shape;5755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6" name="Google Shape;5756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7" name="Google Shape;5757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8" name="Google Shape;5758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59" name="Google Shape;5759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0" name="Google Shape;5760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1" name="Google Shape;5761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62" name="Google Shape;5762;p63"/>
                  <p:cNvCxnSpPr>
                    <a:endCxn id="5757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63" name="Google Shape;5763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64" name="Google Shape;5764;p63"/>
                <p:cNvGrpSpPr/>
                <p:nvPr/>
              </p:nvGrpSpPr>
              <p:grpSpPr>
                <a:xfrm>
                  <a:off x="1770362" y="2873352"/>
                  <a:ext cx="441422" cy="369332"/>
                  <a:chOff x="667045" y="1708643"/>
                  <a:chExt cx="441422" cy="369332"/>
                </a:xfrm>
              </p:grpSpPr>
              <p:sp>
                <p:nvSpPr>
                  <p:cNvPr id="5765" name="Google Shape;5765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66" name="Google Shape;5766;p63"/>
                  <p:cNvSpPr txBox="1"/>
                  <p:nvPr/>
                </p:nvSpPr>
                <p:spPr>
                  <a:xfrm>
                    <a:off x="667045" y="1708643"/>
                    <a:ext cx="441422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3a</a:t>
                    </a:r>
                    <a:endParaRPr/>
                  </a:p>
                </p:txBody>
              </p:sp>
            </p:grpSp>
          </p:grpSp>
          <p:cxnSp>
            <p:nvCxnSpPr>
              <p:cNvPr id="5767" name="Google Shape;5767;p63"/>
              <p:cNvCxnSpPr>
                <a:stCxn id="5724" idx="2"/>
                <a:endCxn id="5738" idx="0"/>
              </p:cNvCxnSpPr>
              <p:nvPr/>
            </p:nvCxnSpPr>
            <p:spPr>
              <a:xfrm>
                <a:off x="1991073" y="3242684"/>
                <a:ext cx="4200" cy="8520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8" name="Google Shape;5768;p63"/>
              <p:cNvCxnSpPr/>
              <p:nvPr/>
            </p:nvCxnSpPr>
            <p:spPr>
              <a:xfrm>
                <a:off x="1407477" y="3648621"/>
                <a:ext cx="1204913" cy="6353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9" name="Google Shape;5769;p63"/>
              <p:cNvCxnSpPr>
                <a:stCxn id="5713" idx="7"/>
              </p:cNvCxnSpPr>
              <p:nvPr/>
            </p:nvCxnSpPr>
            <p:spPr>
              <a:xfrm>
                <a:off x="2218708" y="3154477"/>
                <a:ext cx="480000" cy="369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0" name="Google Shape;5770;p63"/>
              <p:cNvCxnSpPr/>
              <p:nvPr/>
            </p:nvCxnSpPr>
            <p:spPr>
              <a:xfrm>
                <a:off x="1300073" y="3786304"/>
                <a:ext cx="477927" cy="357071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1" name="Google Shape;5771;p63"/>
              <p:cNvCxnSpPr/>
              <p:nvPr/>
            </p:nvCxnSpPr>
            <p:spPr>
              <a:xfrm flipH="1">
                <a:off x="2196042" y="3783542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2" name="Google Shape;5772;p63"/>
              <p:cNvCxnSpPr/>
              <p:nvPr/>
            </p:nvCxnSpPr>
            <p:spPr>
              <a:xfrm flipH="1">
                <a:off x="1287553" y="3166946"/>
                <a:ext cx="508002" cy="34925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rgbClr val="00009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5773" name="Google Shape;5773;p63"/>
          <p:cNvCxnSpPr/>
          <p:nvPr/>
        </p:nvCxnSpPr>
        <p:spPr>
          <a:xfrm flipH="1">
            <a:off x="4711988" y="2705105"/>
            <a:ext cx="495463" cy="495451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774" name="Google Shape;5774;p63"/>
          <p:cNvCxnSpPr>
            <a:endCxn id="5676" idx="7"/>
          </p:cNvCxnSpPr>
          <p:nvPr/>
        </p:nvCxnSpPr>
        <p:spPr>
          <a:xfrm rot="10800000">
            <a:off x="7345281" y="2689306"/>
            <a:ext cx="498900" cy="573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rgbClr val="CC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775" name="Google Shape;5775;p63"/>
          <p:cNvSpPr txBox="1"/>
          <p:nvPr/>
        </p:nvSpPr>
        <p:spPr>
          <a:xfrm>
            <a:off x="5926240" y="3607892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2</a:t>
            </a:r>
            <a:endParaRPr/>
          </a:p>
        </p:txBody>
      </p:sp>
      <p:sp>
        <p:nvSpPr>
          <p:cNvPr id="5776" name="Google Shape;5776;p63"/>
          <p:cNvSpPr txBox="1"/>
          <p:nvPr/>
        </p:nvSpPr>
        <p:spPr>
          <a:xfrm>
            <a:off x="8597533" y="4364108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3</a:t>
            </a:r>
            <a:endParaRPr/>
          </a:p>
        </p:txBody>
      </p:sp>
      <p:sp>
        <p:nvSpPr>
          <p:cNvPr id="5777" name="Google Shape;5777;p63"/>
          <p:cNvSpPr txBox="1"/>
          <p:nvPr/>
        </p:nvSpPr>
        <p:spPr>
          <a:xfrm>
            <a:off x="3316617" y="4308296"/>
            <a:ext cx="7535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AS 1</a:t>
            </a:r>
            <a:endParaRPr/>
          </a:p>
        </p:txBody>
      </p:sp>
      <p:grpSp>
        <p:nvGrpSpPr>
          <p:cNvPr id="5778" name="Google Shape;5778;p63"/>
          <p:cNvGrpSpPr/>
          <p:nvPr/>
        </p:nvGrpSpPr>
        <p:grpSpPr>
          <a:xfrm>
            <a:off x="2711421" y="2143251"/>
            <a:ext cx="6465899" cy="3959125"/>
            <a:chOff x="1020408" y="2368720"/>
            <a:chExt cx="6465899" cy="3959125"/>
          </a:xfrm>
        </p:grpSpPr>
        <p:grpSp>
          <p:nvGrpSpPr>
            <p:cNvPr id="5779" name="Google Shape;5779;p63"/>
            <p:cNvGrpSpPr/>
            <p:nvPr/>
          </p:nvGrpSpPr>
          <p:grpSpPr>
            <a:xfrm>
              <a:off x="1020408" y="2368720"/>
              <a:ext cx="5734325" cy="3959125"/>
              <a:chOff x="1020408" y="2368720"/>
              <a:chExt cx="5734325" cy="3959125"/>
            </a:xfrm>
          </p:grpSpPr>
          <p:grpSp>
            <p:nvGrpSpPr>
              <p:cNvPr id="5780" name="Google Shape;5780;p63"/>
              <p:cNvGrpSpPr/>
              <p:nvPr/>
            </p:nvGrpSpPr>
            <p:grpSpPr>
              <a:xfrm>
                <a:off x="1146544" y="5725901"/>
                <a:ext cx="565150" cy="369332"/>
                <a:chOff x="1736090" y="2873352"/>
                <a:chExt cx="565150" cy="369332"/>
              </a:xfrm>
            </p:grpSpPr>
            <p:grpSp>
              <p:nvGrpSpPr>
                <p:cNvPr id="5781" name="Google Shape;5781;p63"/>
                <p:cNvGrpSpPr/>
                <p:nvPr/>
              </p:nvGrpSpPr>
              <p:grpSpPr>
                <a:xfrm>
                  <a:off x="1736090" y="2893762"/>
                  <a:ext cx="565150" cy="292100"/>
                  <a:chOff x="1871277" y="1576300"/>
                  <a:chExt cx="1128371" cy="437861"/>
                </a:xfrm>
              </p:grpSpPr>
              <p:sp>
                <p:nvSpPr>
                  <p:cNvPr id="5782" name="Google Shape;5782;p63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3" name="Google Shape;5783;p63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4" name="Google Shape;5784;p63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5" name="Google Shape;5785;p63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6" name="Google Shape;5786;p63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7" name="Google Shape;5787;p63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88" name="Google Shape;5788;p63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5789" name="Google Shape;5789;p63"/>
                  <p:cNvCxnSpPr>
                    <a:endCxn id="5784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5790" name="Google Shape;5790;p63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5791" name="Google Shape;5791;p63"/>
                <p:cNvGrpSpPr/>
                <p:nvPr/>
              </p:nvGrpSpPr>
              <p:grpSpPr>
                <a:xfrm>
                  <a:off x="1770362" y="2873352"/>
                  <a:ext cx="428460" cy="369332"/>
                  <a:chOff x="667045" y="1708643"/>
                  <a:chExt cx="428460" cy="369332"/>
                </a:xfrm>
              </p:grpSpPr>
              <p:sp>
                <p:nvSpPr>
                  <p:cNvPr id="5792" name="Google Shape;5792;p63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5793" name="Google Shape;5793;p63"/>
                  <p:cNvSpPr txBox="1"/>
                  <p:nvPr/>
                </p:nvSpPr>
                <p:spPr>
                  <a:xfrm>
                    <a:off x="667045" y="1708643"/>
                    <a:ext cx="428460" cy="3693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1c</a:t>
                    </a:r>
                    <a:endParaRPr/>
                  </a:p>
                </p:txBody>
              </p:sp>
            </p:grpSp>
          </p:grpSp>
          <p:sp>
            <p:nvSpPr>
              <p:cNvPr id="5794" name="Google Shape;5794;p63"/>
              <p:cNvSpPr/>
              <p:nvPr/>
            </p:nvSpPr>
            <p:spPr>
              <a:xfrm>
                <a:off x="1020408" y="551134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5" name="Google Shape;5795;p63"/>
              <p:cNvSpPr/>
              <p:nvPr/>
            </p:nvSpPr>
            <p:spPr>
              <a:xfrm>
                <a:off x="2442651" y="319158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6" name="Google Shape;5796;p63"/>
              <p:cNvSpPr/>
              <p:nvPr/>
            </p:nvSpPr>
            <p:spPr>
              <a:xfrm>
                <a:off x="3252649" y="2368720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5797" name="Google Shape;5797;p63"/>
              <p:cNvSpPr/>
              <p:nvPr/>
            </p:nvSpPr>
            <p:spPr>
              <a:xfrm>
                <a:off x="5037704" y="2453079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  <p:sp>
            <p:nvSpPr>
              <p:cNvPr id="5798" name="Google Shape;5798;p63"/>
              <p:cNvSpPr/>
              <p:nvPr/>
            </p:nvSpPr>
            <p:spPr>
              <a:xfrm>
                <a:off x="5915729" y="3217852"/>
                <a:ext cx="839004" cy="816496"/>
              </a:xfrm>
              <a:prstGeom prst="ellipse">
                <a:avLst/>
              </a:prstGeom>
              <a:noFill/>
              <a:ln cap="flat" cmpd="sng" w="19050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Gill Sans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rPr>
                  <a:t>∂</a:t>
                </a:r>
                <a:endParaRPr/>
              </a:p>
            </p:txBody>
          </p:sp>
        </p:grpSp>
        <p:sp>
          <p:nvSpPr>
            <p:cNvPr id="5799" name="Google Shape;5799;p63"/>
            <p:cNvSpPr txBox="1"/>
            <p:nvPr/>
          </p:nvSpPr>
          <p:spPr>
            <a:xfrm>
              <a:off x="2018143" y="5692792"/>
              <a:ext cx="54681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gateway routers run both eBGP and iBGP protocols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p64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basics</a:t>
            </a:r>
            <a:endParaRPr/>
          </a:p>
        </p:txBody>
      </p:sp>
      <p:sp>
        <p:nvSpPr>
          <p:cNvPr id="5805" name="Google Shape;5805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06" name="Google Shape;5806;p64"/>
          <p:cNvSpPr txBox="1"/>
          <p:nvPr/>
        </p:nvSpPr>
        <p:spPr>
          <a:xfrm>
            <a:off x="952500" y="2841538"/>
            <a:ext cx="10972278" cy="12340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AS3 gateway 3a advertises </a:t>
            </a:r>
            <a:r>
              <a:rPr lang="en-US" sz="28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 </a:t>
            </a:r>
            <a:r>
              <a:rPr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AS2 gateway 2c: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AS3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promises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AS2 it will forward datagrams towards 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5807" name="Google Shape;5807;p64"/>
          <p:cNvSpPr/>
          <p:nvPr/>
        </p:nvSpPr>
        <p:spPr>
          <a:xfrm>
            <a:off x="952500" y="1307971"/>
            <a:ext cx="10784388" cy="1235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BGP session: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BGP routers (“peers”) exchange BGP messages over semi-permanent TCP connection: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advertising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paths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different destination network prefixes (BGP  is a “path vector” protocol)</a:t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8" name="Google Shape;5808;p64"/>
          <p:cNvGrpSpPr/>
          <p:nvPr/>
        </p:nvGrpSpPr>
        <p:grpSpPr>
          <a:xfrm>
            <a:off x="4625977" y="4850481"/>
            <a:ext cx="2545688" cy="1720535"/>
            <a:chOff x="4625977" y="4850481"/>
            <a:chExt cx="2545688" cy="1720535"/>
          </a:xfrm>
        </p:grpSpPr>
        <p:grpSp>
          <p:nvGrpSpPr>
            <p:cNvPr id="5809" name="Google Shape;5809;p64"/>
            <p:cNvGrpSpPr/>
            <p:nvPr/>
          </p:nvGrpSpPr>
          <p:grpSpPr>
            <a:xfrm>
              <a:off x="4625977" y="4850481"/>
              <a:ext cx="2545688" cy="1720535"/>
              <a:chOff x="-2170772" y="2784954"/>
              <a:chExt cx="2712783" cy="1853712"/>
            </a:xfrm>
          </p:grpSpPr>
          <p:sp>
            <p:nvSpPr>
              <p:cNvPr id="5810" name="Google Shape;581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811" name="Google Shape;581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812" name="Google Shape;581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13" name="Google Shape;581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14" name="Google Shape;581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5" name="Google Shape;581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6" name="Google Shape;581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7" name="Google Shape;581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8" name="Google Shape;581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19" name="Google Shape;581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0" name="Google Shape;582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21" name="Google Shape;5821;p64"/>
                    <p:cNvCxnSpPr>
                      <a:endCxn id="581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22" name="Google Shape;582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23" name="Google Shape;582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24" name="Google Shape;582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5" name="Google Shape;582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26" name="Google Shape;582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27" name="Google Shape;582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28" name="Google Shape;582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29" name="Google Shape;582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0" name="Google Shape;583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1" name="Google Shape;583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2" name="Google Shape;583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3" name="Google Shape;583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4" name="Google Shape;583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35" name="Google Shape;5835;p64"/>
                    <p:cNvCxnSpPr>
                      <a:endCxn id="583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36" name="Google Shape;583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37" name="Google Shape;583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38" name="Google Shape;583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39" name="Google Shape;583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40" name="Google Shape;584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41" name="Google Shape;584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42" name="Google Shape;584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3" name="Google Shape;584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4" name="Google Shape;584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5" name="Google Shape;584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6" name="Google Shape;584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7" name="Google Shape;584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48" name="Google Shape;584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49" name="Google Shape;5849;p64"/>
                    <p:cNvCxnSpPr>
                      <a:endCxn id="584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50" name="Google Shape;585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51" name="Google Shape;585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852" name="Google Shape;585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3" name="Google Shape;585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54" name="Google Shape;585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55" name="Google Shape;585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56" name="Google Shape;585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7" name="Google Shape;585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8" name="Google Shape;585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59" name="Google Shape;585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0" name="Google Shape;586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1" name="Google Shape;586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2" name="Google Shape;586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63" name="Google Shape;5863;p64"/>
                    <p:cNvCxnSpPr>
                      <a:endCxn id="585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64" name="Google Shape;586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65" name="Google Shape;586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66" name="Google Shape;586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67" name="Google Shape;586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868" name="Google Shape;5868;p64"/>
                <p:cNvCxnSpPr>
                  <a:stCxn id="581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9" name="Google Shape;586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70" name="Google Shape;587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5871" name="Google Shape;5871;p64"/>
            <p:cNvSpPr txBox="1"/>
            <p:nvPr/>
          </p:nvSpPr>
          <p:spPr>
            <a:xfrm>
              <a:off x="4833576" y="4910165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2</a:t>
              </a:r>
              <a:endParaRPr/>
            </a:p>
          </p:txBody>
        </p:sp>
      </p:grpSp>
      <p:grpSp>
        <p:nvGrpSpPr>
          <p:cNvPr id="5872" name="Google Shape;5872;p64"/>
          <p:cNvGrpSpPr/>
          <p:nvPr/>
        </p:nvGrpSpPr>
        <p:grpSpPr>
          <a:xfrm>
            <a:off x="8100574" y="3694542"/>
            <a:ext cx="2575521" cy="1672516"/>
            <a:chOff x="8100574" y="3694542"/>
            <a:chExt cx="2575521" cy="1672516"/>
          </a:xfrm>
        </p:grpSpPr>
        <p:sp>
          <p:nvSpPr>
            <p:cNvPr id="5873" name="Google Shape;5873;p64"/>
            <p:cNvSpPr/>
            <p:nvPr/>
          </p:nvSpPr>
          <p:spPr>
            <a:xfrm>
              <a:off x="8100574" y="3694542"/>
              <a:ext cx="2575521" cy="1672516"/>
            </a:xfrm>
            <a:custGeom>
              <a:rect b="b" l="l" r="r" t="t"/>
              <a:pathLst>
                <a:path extrusionOk="0" h="10795" w="10000">
                  <a:moveTo>
                    <a:pt x="45" y="5036"/>
                  </a:moveTo>
                  <a:cubicBezTo>
                    <a:pt x="272" y="4277"/>
                    <a:pt x="1931" y="3650"/>
                    <a:pt x="2738" y="2811"/>
                  </a:cubicBezTo>
                  <a:cubicBezTo>
                    <a:pt x="3545" y="1972"/>
                    <a:pt x="3352" y="117"/>
                    <a:pt x="4886" y="4"/>
                  </a:cubicBezTo>
                  <a:cubicBezTo>
                    <a:pt x="6420" y="-109"/>
                    <a:pt x="7216" y="1912"/>
                    <a:pt x="8068" y="2813"/>
                  </a:cubicBezTo>
                  <a:cubicBezTo>
                    <a:pt x="8920" y="3715"/>
                    <a:pt x="9928" y="3420"/>
                    <a:pt x="9996" y="5413"/>
                  </a:cubicBezTo>
                  <a:cubicBezTo>
                    <a:pt x="10064" y="7406"/>
                    <a:pt x="9275" y="6409"/>
                    <a:pt x="8476" y="7306"/>
                  </a:cubicBezTo>
                  <a:cubicBezTo>
                    <a:pt x="7677" y="8203"/>
                    <a:pt x="7086" y="10770"/>
                    <a:pt x="5202" y="10795"/>
                  </a:cubicBezTo>
                  <a:cubicBezTo>
                    <a:pt x="3318" y="10820"/>
                    <a:pt x="3391" y="8255"/>
                    <a:pt x="2753" y="7683"/>
                  </a:cubicBezTo>
                  <a:cubicBezTo>
                    <a:pt x="2115" y="7111"/>
                    <a:pt x="2326" y="7496"/>
                    <a:pt x="1375" y="7365"/>
                  </a:cubicBezTo>
                  <a:cubicBezTo>
                    <a:pt x="493" y="6773"/>
                    <a:pt x="-182" y="5795"/>
                    <a:pt x="45" y="503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74" name="Google Shape;5874;p64"/>
            <p:cNvGrpSpPr/>
            <p:nvPr/>
          </p:nvGrpSpPr>
          <p:grpSpPr>
            <a:xfrm>
              <a:off x="8136838" y="3735782"/>
              <a:ext cx="2402775" cy="1530043"/>
              <a:chOff x="8136838" y="3735782"/>
              <a:chExt cx="2402775" cy="1530043"/>
            </a:xfrm>
          </p:grpSpPr>
          <p:grpSp>
            <p:nvGrpSpPr>
              <p:cNvPr id="5875" name="Google Shape;5875;p64"/>
              <p:cNvGrpSpPr/>
              <p:nvPr/>
            </p:nvGrpSpPr>
            <p:grpSpPr>
              <a:xfrm>
                <a:off x="8324065" y="3830658"/>
                <a:ext cx="2215548" cy="1435167"/>
                <a:chOff x="833331" y="2873352"/>
                <a:chExt cx="2333625" cy="1590649"/>
              </a:xfrm>
            </p:grpSpPr>
            <p:grpSp>
              <p:nvGrpSpPr>
                <p:cNvPr id="5876" name="Google Shape;5876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77" name="Google Shape;587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78" name="Google Shape;587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79" name="Google Shape;587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0" name="Google Shape;588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1" name="Google Shape;588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2" name="Google Shape;588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3" name="Google Shape;588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4" name="Google Shape;588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85" name="Google Shape;5885;p64"/>
                    <p:cNvCxnSpPr>
                      <a:endCxn id="588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886" name="Google Shape;588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887" name="Google Shape;588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888" name="Google Shape;588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89" name="Google Shape;588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890" name="Google Shape;5890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891" name="Google Shape;589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892" name="Google Shape;589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3" name="Google Shape;589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4" name="Google Shape;589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5" name="Google Shape;589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6" name="Google Shape;589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7" name="Google Shape;589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898" name="Google Shape;589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899" name="Google Shape;5899;p64"/>
                    <p:cNvCxnSpPr>
                      <a:endCxn id="589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00" name="Google Shape;590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01" name="Google Shape;5901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02" name="Google Shape;590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3" name="Google Shape;5903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04" name="Google Shape;5904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05" name="Google Shape;590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06" name="Google Shape;590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7" name="Google Shape;590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8" name="Google Shape;590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09" name="Google Shape;590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0" name="Google Shape;591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1" name="Google Shape;591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2" name="Google Shape;591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13" name="Google Shape;5913;p64"/>
                    <p:cNvCxnSpPr>
                      <a:endCxn id="590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14" name="Google Shape;591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15" name="Google Shape;5915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16" name="Google Shape;591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17" name="Google Shape;5917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18" name="Google Shape;5918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19" name="Google Shape;5919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20" name="Google Shape;5920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1" name="Google Shape;5921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2" name="Google Shape;5922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3" name="Google Shape;5923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4" name="Google Shape;5924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5" name="Google Shape;5925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26" name="Google Shape;5926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27" name="Google Shape;5927;p64"/>
                    <p:cNvCxnSpPr>
                      <a:endCxn id="5922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28" name="Google Shape;5928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29" name="Google Shape;5929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30" name="Google Shape;5930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31" name="Google Shape;5931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32" name="Google Shape;5932;p64"/>
                <p:cNvCxnSpPr>
                  <a:stCxn id="5889" idx="2"/>
                  <a:endCxn id="5903" idx="0"/>
                </p:cNvCxnSpPr>
                <p:nvPr/>
              </p:nvCxnSpPr>
              <p:spPr>
                <a:xfrm>
                  <a:off x="1991073" y="3242684"/>
                  <a:ext cx="4200" cy="852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rgbClr val="00009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3" name="Google Shape;5933;p64"/>
                <p:cNvCxnSpPr/>
                <p:nvPr/>
              </p:nvCxnSpPr>
              <p:spPr>
                <a:xfrm>
                  <a:off x="1407477" y="3648621"/>
                  <a:ext cx="1204913" cy="6353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4" name="Google Shape;5934;p64"/>
                <p:cNvCxnSpPr>
                  <a:stCxn id="5878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5" name="Google Shape;5935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36" name="Google Shape;5936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37" name="Google Shape;5937;p64"/>
              <p:cNvSpPr txBox="1"/>
              <p:nvPr/>
            </p:nvSpPr>
            <p:spPr>
              <a:xfrm>
                <a:off x="8136838" y="3735782"/>
                <a:ext cx="75353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000090"/>
                    </a:solidFill>
                    <a:latin typeface="Arial"/>
                    <a:ea typeface="Arial"/>
                    <a:cs typeface="Arial"/>
                    <a:sym typeface="Arial"/>
                  </a:rPr>
                  <a:t>AS 3</a:t>
                </a:r>
                <a:endParaRPr/>
              </a:p>
            </p:txBody>
          </p:sp>
        </p:grpSp>
      </p:grpSp>
      <p:grpSp>
        <p:nvGrpSpPr>
          <p:cNvPr id="5938" name="Google Shape;5938;p64"/>
          <p:cNvGrpSpPr/>
          <p:nvPr/>
        </p:nvGrpSpPr>
        <p:grpSpPr>
          <a:xfrm>
            <a:off x="1426553" y="4136253"/>
            <a:ext cx="3452487" cy="1719017"/>
            <a:chOff x="1426553" y="4136253"/>
            <a:chExt cx="3452487" cy="1719017"/>
          </a:xfrm>
        </p:grpSpPr>
        <p:grpSp>
          <p:nvGrpSpPr>
            <p:cNvPr id="5939" name="Google Shape;5939;p64"/>
            <p:cNvGrpSpPr/>
            <p:nvPr/>
          </p:nvGrpSpPr>
          <p:grpSpPr>
            <a:xfrm>
              <a:off x="1426553" y="4136253"/>
              <a:ext cx="2557336" cy="1719017"/>
              <a:chOff x="-2170772" y="2784954"/>
              <a:chExt cx="2712783" cy="1853712"/>
            </a:xfrm>
          </p:grpSpPr>
          <p:sp>
            <p:nvSpPr>
              <p:cNvPr id="5940" name="Google Shape;5940;p64"/>
              <p:cNvSpPr/>
              <p:nvPr/>
            </p:nvSpPr>
            <p:spPr>
              <a:xfrm>
                <a:off x="-2170772" y="2784954"/>
                <a:ext cx="2712783" cy="1853712"/>
              </a:xfrm>
              <a:custGeom>
                <a:rect b="b" l="l" r="r" t="t"/>
                <a:pathLst>
                  <a:path extrusionOk="0" h="10795" w="10000">
                    <a:moveTo>
                      <a:pt x="45" y="5036"/>
                    </a:moveTo>
                    <a:cubicBezTo>
                      <a:pt x="272" y="4277"/>
                      <a:pt x="1931" y="3650"/>
                      <a:pt x="2738" y="2811"/>
                    </a:cubicBezTo>
                    <a:cubicBezTo>
                      <a:pt x="3545" y="1972"/>
                      <a:pt x="3352" y="117"/>
                      <a:pt x="4886" y="4"/>
                    </a:cubicBezTo>
                    <a:cubicBezTo>
                      <a:pt x="6420" y="-109"/>
                      <a:pt x="7216" y="1912"/>
                      <a:pt x="8068" y="2813"/>
                    </a:cubicBezTo>
                    <a:cubicBezTo>
                      <a:pt x="8920" y="3715"/>
                      <a:pt x="9928" y="3420"/>
                      <a:pt x="9996" y="5413"/>
                    </a:cubicBezTo>
                    <a:cubicBezTo>
                      <a:pt x="10064" y="7406"/>
                      <a:pt x="9275" y="6409"/>
                      <a:pt x="8476" y="7306"/>
                    </a:cubicBezTo>
                    <a:cubicBezTo>
                      <a:pt x="7677" y="8203"/>
                      <a:pt x="7086" y="10770"/>
                      <a:pt x="5202" y="10795"/>
                    </a:cubicBezTo>
                    <a:cubicBezTo>
                      <a:pt x="3318" y="10820"/>
                      <a:pt x="3391" y="8255"/>
                      <a:pt x="2753" y="7683"/>
                    </a:cubicBezTo>
                    <a:cubicBezTo>
                      <a:pt x="2115" y="7111"/>
                      <a:pt x="2326" y="7496"/>
                      <a:pt x="1375" y="7365"/>
                    </a:cubicBezTo>
                    <a:cubicBezTo>
                      <a:pt x="493" y="6773"/>
                      <a:pt x="-182" y="5795"/>
                      <a:pt x="45" y="5036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941" name="Google Shape;5941;p64"/>
              <p:cNvGrpSpPr/>
              <p:nvPr/>
            </p:nvGrpSpPr>
            <p:grpSpPr>
              <a:xfrm>
                <a:off x="-1935370" y="2935816"/>
                <a:ext cx="2333625" cy="1590649"/>
                <a:chOff x="833331" y="2873352"/>
                <a:chExt cx="2333625" cy="1590649"/>
              </a:xfrm>
            </p:grpSpPr>
            <p:grpSp>
              <p:nvGrpSpPr>
                <p:cNvPr id="5942" name="Google Shape;5942;p64"/>
                <p:cNvGrpSpPr/>
                <p:nvPr/>
              </p:nvGrpSpPr>
              <p:grpSpPr>
                <a:xfrm>
                  <a:off x="1736090" y="287335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43" name="Google Shape;5943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44" name="Google Shape;5944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5" name="Google Shape;5945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6" name="Google Shape;5946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7" name="Google Shape;5947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8" name="Google Shape;5948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49" name="Google Shape;5949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0" name="Google Shape;5950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51" name="Google Shape;5951;p64"/>
                    <p:cNvCxnSpPr>
                      <a:endCxn id="594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52" name="Google Shape;5952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53" name="Google Shape;5953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54" name="Google Shape;5954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5" name="Google Shape;5955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1b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56" name="Google Shape;5956;p64"/>
                <p:cNvGrpSpPr/>
                <p:nvPr/>
              </p:nvGrpSpPr>
              <p:grpSpPr>
                <a:xfrm>
                  <a:off x="1740320" y="409466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57" name="Google Shape;5957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58" name="Google Shape;5958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59" name="Google Shape;5959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0" name="Google Shape;5960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1" name="Google Shape;5961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2" name="Google Shape;5962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3" name="Google Shape;5963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4" name="Google Shape;5964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65" name="Google Shape;5965;p64"/>
                    <p:cNvCxnSpPr>
                      <a:endCxn id="5960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66" name="Google Shape;5966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67" name="Google Shape;5967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68" name="Google Shape;5968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69" name="Google Shape;5969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1d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70" name="Google Shape;5970;p64"/>
                <p:cNvGrpSpPr/>
                <p:nvPr/>
              </p:nvGrpSpPr>
              <p:grpSpPr>
                <a:xfrm>
                  <a:off x="2601806" y="3485072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71" name="Google Shape;5971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72" name="Google Shape;5972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3" name="Google Shape;5973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4" name="Google Shape;5974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5" name="Google Shape;5975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6" name="Google Shape;5976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7" name="Google Shape;5977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78" name="Google Shape;5978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79" name="Google Shape;5979;p64"/>
                    <p:cNvCxnSpPr>
                      <a:endCxn id="5974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80" name="Google Shape;5980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81" name="Google Shape;5981;p64"/>
                  <p:cNvGrpSpPr/>
                  <p:nvPr/>
                </p:nvGrpSpPr>
                <p:grpSpPr>
                  <a:xfrm>
                    <a:off x="1770362" y="2873352"/>
                    <a:ext cx="428460" cy="369332"/>
                    <a:chOff x="667045" y="1708643"/>
                    <a:chExt cx="428460" cy="369332"/>
                  </a:xfrm>
                </p:grpSpPr>
                <p:sp>
                  <p:nvSpPr>
                    <p:cNvPr id="5982" name="Google Shape;5982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3" name="Google Shape;5983;p64"/>
                    <p:cNvSpPr txBox="1"/>
                    <p:nvPr/>
                  </p:nvSpPr>
                  <p:spPr>
                    <a:xfrm>
                      <a:off x="667045" y="1708643"/>
                      <a:ext cx="428460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5984" name="Google Shape;5984;p64"/>
                <p:cNvGrpSpPr/>
                <p:nvPr/>
              </p:nvGrpSpPr>
              <p:grpSpPr>
                <a:xfrm>
                  <a:off x="833331" y="3478719"/>
                  <a:ext cx="565150" cy="369332"/>
                  <a:chOff x="1736090" y="2873352"/>
                  <a:chExt cx="565150" cy="369332"/>
                </a:xfrm>
              </p:grpSpPr>
              <p:grpSp>
                <p:nvGrpSpPr>
                  <p:cNvPr id="5985" name="Google Shape;5985;p64"/>
                  <p:cNvGrpSpPr/>
                  <p:nvPr/>
                </p:nvGrpSpPr>
                <p:grpSpPr>
                  <a:xfrm>
                    <a:off x="1736090" y="2893762"/>
                    <a:ext cx="565150" cy="292100"/>
                    <a:chOff x="1871277" y="1576300"/>
                    <a:chExt cx="1128371" cy="437861"/>
                  </a:xfrm>
                </p:grpSpPr>
                <p:sp>
                  <p:nvSpPr>
                    <p:cNvPr id="5986" name="Google Shape;5986;p64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7" name="Google Shape;5987;p64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8" name="Google Shape;5988;p64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89" name="Google Shape;5989;p64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0" name="Google Shape;5990;p64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1" name="Google Shape;5991;p64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2" name="Google Shape;5992;p64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5993" name="Google Shape;5993;p64"/>
                    <p:cNvCxnSpPr>
                      <a:endCxn id="5988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5994" name="Google Shape;5994;p64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5995" name="Google Shape;5995;p64"/>
                  <p:cNvGrpSpPr/>
                  <p:nvPr/>
                </p:nvGrpSpPr>
                <p:grpSpPr>
                  <a:xfrm>
                    <a:off x="1770362" y="2873352"/>
                    <a:ext cx="441422" cy="369332"/>
                    <a:chOff x="667045" y="1708643"/>
                    <a:chExt cx="441422" cy="369332"/>
                  </a:xfrm>
                </p:grpSpPr>
                <p:sp>
                  <p:nvSpPr>
                    <p:cNvPr id="5996" name="Google Shape;5996;p64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5997" name="Google Shape;5997;p64"/>
                    <p:cNvSpPr txBox="1"/>
                    <p:nvPr/>
                  </p:nvSpPr>
                  <p:spPr>
                    <a:xfrm>
                      <a:off x="667045" y="1708643"/>
                      <a:ext cx="441422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1a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5998" name="Google Shape;5998;p64"/>
                <p:cNvCxnSpPr>
                  <a:stCxn id="5944" idx="7"/>
                </p:cNvCxnSpPr>
                <p:nvPr/>
              </p:nvCxnSpPr>
              <p:spPr>
                <a:xfrm>
                  <a:off x="2218708" y="3154477"/>
                  <a:ext cx="480000" cy="369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99" name="Google Shape;5999;p64"/>
                <p:cNvCxnSpPr/>
                <p:nvPr/>
              </p:nvCxnSpPr>
              <p:spPr>
                <a:xfrm>
                  <a:off x="1300073" y="3786304"/>
                  <a:ext cx="477927" cy="357071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0" name="Google Shape;6000;p64"/>
                <p:cNvCxnSpPr/>
                <p:nvPr/>
              </p:nvCxnSpPr>
              <p:spPr>
                <a:xfrm flipH="1">
                  <a:off x="2196042" y="3783542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01" name="Google Shape;6001;p64"/>
                <p:cNvCxnSpPr/>
                <p:nvPr/>
              </p:nvCxnSpPr>
              <p:spPr>
                <a:xfrm flipH="1">
                  <a:off x="1287553" y="3166946"/>
                  <a:ext cx="508002" cy="34925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6002" name="Google Shape;6002;p64"/>
            <p:cNvSpPr txBox="1"/>
            <p:nvPr/>
          </p:nvSpPr>
          <p:spPr>
            <a:xfrm>
              <a:off x="1430686" y="4247082"/>
              <a:ext cx="75353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90"/>
                  </a:solidFill>
                  <a:latin typeface="Arial"/>
                  <a:ea typeface="Arial"/>
                  <a:cs typeface="Arial"/>
                  <a:sym typeface="Arial"/>
                </a:rPr>
                <a:t>AS 1</a:t>
              </a:r>
              <a:endParaRPr/>
            </a:p>
          </p:txBody>
        </p:sp>
        <p:cxnSp>
          <p:nvCxnSpPr>
            <p:cNvPr id="6003" name="Google Shape;6003;p64"/>
            <p:cNvCxnSpPr>
              <a:stCxn id="5867" idx="1"/>
            </p:cNvCxnSpPr>
            <p:nvPr/>
          </p:nvCxnSpPr>
          <p:spPr>
            <a:xfrm rot="10800000">
              <a:off x="3848240" y="5024779"/>
              <a:ext cx="1030800" cy="699000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04" name="Google Shape;6004;p64"/>
          <p:cNvGrpSpPr/>
          <p:nvPr/>
        </p:nvGrpSpPr>
        <p:grpSpPr>
          <a:xfrm>
            <a:off x="10343349" y="5542542"/>
            <a:ext cx="1701734" cy="616172"/>
            <a:chOff x="6935906" y="5482318"/>
            <a:chExt cx="1701734" cy="616172"/>
          </a:xfrm>
        </p:grpSpPr>
        <p:grpSp>
          <p:nvGrpSpPr>
            <p:cNvPr id="6005" name="Google Shape;6005;p64"/>
            <p:cNvGrpSpPr/>
            <p:nvPr/>
          </p:nvGrpSpPr>
          <p:grpSpPr>
            <a:xfrm>
              <a:off x="6935906" y="5482318"/>
              <a:ext cx="1701734" cy="616172"/>
              <a:chOff x="6808463" y="5108795"/>
              <a:chExt cx="1701734" cy="616172"/>
            </a:xfrm>
          </p:grpSpPr>
          <p:sp>
            <p:nvSpPr>
              <p:cNvPr id="6006" name="Google Shape;6006;p64"/>
              <p:cNvSpPr/>
              <p:nvPr/>
            </p:nvSpPr>
            <p:spPr>
              <a:xfrm>
                <a:off x="6808463" y="5108795"/>
                <a:ext cx="1701734" cy="616172"/>
              </a:xfrm>
              <a:custGeom>
                <a:rect b="b" l="l" r="r" t="t"/>
                <a:pathLst>
                  <a:path extrusionOk="0" h="11127" w="11293">
                    <a:moveTo>
                      <a:pt x="40" y="9082"/>
                    </a:moveTo>
                    <a:cubicBezTo>
                      <a:pt x="352" y="7566"/>
                      <a:pt x="3280" y="1761"/>
                      <a:pt x="4577" y="470"/>
                    </a:cubicBezTo>
                    <a:cubicBezTo>
                      <a:pt x="5874" y="-821"/>
                      <a:pt x="6795" y="914"/>
                      <a:pt x="7822" y="1336"/>
                    </a:cubicBezTo>
                    <a:cubicBezTo>
                      <a:pt x="8849" y="1758"/>
                      <a:pt x="10193" y="1947"/>
                      <a:pt x="10740" y="3004"/>
                    </a:cubicBezTo>
                    <a:cubicBezTo>
                      <a:pt x="11287" y="4061"/>
                      <a:pt x="11468" y="6337"/>
                      <a:pt x="11102" y="7683"/>
                    </a:cubicBezTo>
                    <a:cubicBezTo>
                      <a:pt x="10736" y="9030"/>
                      <a:pt x="9940" y="10771"/>
                      <a:pt x="8541" y="11085"/>
                    </a:cubicBezTo>
                    <a:cubicBezTo>
                      <a:pt x="7141" y="11398"/>
                      <a:pt x="4122" y="9898"/>
                      <a:pt x="2705" y="9564"/>
                    </a:cubicBezTo>
                    <a:cubicBezTo>
                      <a:pt x="1288" y="9230"/>
                      <a:pt x="-272" y="10598"/>
                      <a:pt x="40" y="9082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007" name="Google Shape;6007;p64"/>
              <p:cNvGrpSpPr/>
              <p:nvPr/>
            </p:nvGrpSpPr>
            <p:grpSpPr>
              <a:xfrm>
                <a:off x="7908175" y="5241780"/>
                <a:ext cx="536554" cy="263548"/>
                <a:chOff x="1871277" y="1576300"/>
                <a:chExt cx="1128371" cy="437861"/>
              </a:xfrm>
            </p:grpSpPr>
            <p:sp>
              <p:nvSpPr>
                <p:cNvPr id="6008" name="Google Shape;6008;p6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09" name="Google Shape;6009;p6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0" name="Google Shape;6010;p6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1" name="Google Shape;6011;p6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2" name="Google Shape;6012;p6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3" name="Google Shape;6013;p6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4" name="Google Shape;6014;p6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015" name="Google Shape;6015;p64"/>
                <p:cNvCxnSpPr>
                  <a:endCxn id="601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016" name="Google Shape;6016;p6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6017" name="Google Shape;6017;p64"/>
              <p:cNvGrpSpPr/>
              <p:nvPr/>
            </p:nvGrpSpPr>
            <p:grpSpPr>
              <a:xfrm>
                <a:off x="7876581" y="5223365"/>
                <a:ext cx="466894" cy="369332"/>
                <a:chOff x="599495" y="1708643"/>
                <a:chExt cx="491778" cy="409344"/>
              </a:xfrm>
            </p:grpSpPr>
            <p:sp>
              <p:nvSpPr>
                <p:cNvPr id="6018" name="Google Shape;6018;p64"/>
                <p:cNvSpPr/>
                <p:nvPr/>
              </p:nvSpPr>
              <p:spPr>
                <a:xfrm>
                  <a:off x="725417" y="1787240"/>
                  <a:ext cx="356365" cy="231962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019" name="Google Shape;6019;p64"/>
                <p:cNvSpPr txBox="1"/>
                <p:nvPr/>
              </p:nvSpPr>
              <p:spPr>
                <a:xfrm>
                  <a:off x="599495" y="1708643"/>
                  <a:ext cx="491778" cy="4093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 X</a:t>
                  </a:r>
                  <a:endParaRPr/>
                </a:p>
              </p:txBody>
            </p:sp>
          </p:grpSp>
        </p:grpSp>
        <p:cxnSp>
          <p:nvCxnSpPr>
            <p:cNvPr id="6020" name="Google Shape;6020;p64"/>
            <p:cNvCxnSpPr/>
            <p:nvPr/>
          </p:nvCxnSpPr>
          <p:spPr>
            <a:xfrm flipH="1">
              <a:off x="7158742" y="5764030"/>
              <a:ext cx="870024" cy="9999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021" name="Google Shape;6021;p64"/>
          <p:cNvGrpSpPr/>
          <p:nvPr/>
        </p:nvGrpSpPr>
        <p:grpSpPr>
          <a:xfrm>
            <a:off x="7225656" y="5005474"/>
            <a:ext cx="2482393" cy="1088259"/>
            <a:chOff x="2281" y="2317"/>
            <a:chExt cx="1564" cy="686"/>
          </a:xfrm>
        </p:grpSpPr>
        <p:sp>
          <p:nvSpPr>
            <p:cNvPr id="6022" name="Google Shape;6022;p64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3" name="Google Shape;6023;p64"/>
            <p:cNvSpPr txBox="1"/>
            <p:nvPr/>
          </p:nvSpPr>
          <p:spPr>
            <a:xfrm>
              <a:off x="2294" y="2677"/>
              <a:ext cx="1551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BGP advertisement:</a:t>
              </a:r>
              <a:endParaRPr/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1600"/>
                <a:buFont typeface="Arial"/>
                <a:buNone/>
              </a:pPr>
              <a:r>
                <a:rPr b="0" lang="en-US" sz="1600" u="none" cap="none" strike="noStrike">
                  <a:solidFill>
                    <a:srgbClr val="0000A8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cxnSp>
        <p:nvCxnSpPr>
          <p:cNvPr id="6024" name="Google Shape;6024;p64"/>
          <p:cNvCxnSpPr>
            <a:stCxn id="5844" idx="5"/>
            <a:endCxn id="5931" idx="1"/>
          </p:cNvCxnSpPr>
          <p:nvPr/>
        </p:nvCxnSpPr>
        <p:spPr>
          <a:xfrm flipH="1" rot="10800000">
            <a:off x="6957825" y="4543451"/>
            <a:ext cx="1398900" cy="1062900"/>
          </a:xfrm>
          <a:prstGeom prst="straightConnector1">
            <a:avLst/>
          </a:prstGeom>
          <a:solidFill>
            <a:srgbClr val="00CC99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8" name="Shape 6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9" name="Google Shape;6029;p65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Path attributes and BGP routes</a:t>
            </a:r>
            <a:endParaRPr/>
          </a:p>
        </p:txBody>
      </p:sp>
      <p:sp>
        <p:nvSpPr>
          <p:cNvPr id="6030" name="Google Shape;6030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1" name="Google Shape;6031;p65"/>
          <p:cNvSpPr txBox="1"/>
          <p:nvPr/>
        </p:nvSpPr>
        <p:spPr>
          <a:xfrm>
            <a:off x="767350" y="1547660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advertised route:  prefix + attributes 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prefix: destination being advertised</a:t>
            </a:r>
            <a:endParaRPr/>
          </a:p>
          <a:p>
            <a:pPr indent="-290513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important attributes: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AS-PATH: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 of ASes through which prefix advertisement has passed</a:t>
            </a:r>
            <a:endParaRPr/>
          </a:p>
          <a:p>
            <a:pPr indent="-211137" lvl="1" marL="9207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NEXT-HO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indicates specific internal-AS router to next-hop AS</a:t>
            </a:r>
            <a:endParaRPr/>
          </a:p>
          <a:p>
            <a:pPr indent="-285750" lvl="0" marL="3476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policy-based routing: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receiving route advertisement uses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import policy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accept/decline path (e.g., never route through AS Y).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policy also determines whether to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advertise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path to other other neighboring ASes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5" name="Shape 6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6" name="Google Shape;6036;p66"/>
          <p:cNvGrpSpPr/>
          <p:nvPr/>
        </p:nvGrpSpPr>
        <p:grpSpPr>
          <a:xfrm>
            <a:off x="1113403" y="1064076"/>
            <a:ext cx="9801110" cy="2876474"/>
            <a:chOff x="1426553" y="3694542"/>
            <a:chExt cx="9801110" cy="2876474"/>
          </a:xfrm>
        </p:grpSpPr>
        <p:grpSp>
          <p:nvGrpSpPr>
            <p:cNvPr id="6037" name="Google Shape;6037;p66"/>
            <p:cNvGrpSpPr/>
            <p:nvPr/>
          </p:nvGrpSpPr>
          <p:grpSpPr>
            <a:xfrm>
              <a:off x="1426553" y="3694542"/>
              <a:ext cx="9249542" cy="2876474"/>
              <a:chOff x="1426553" y="3694542"/>
              <a:chExt cx="9249542" cy="2876474"/>
            </a:xfrm>
          </p:grpSpPr>
          <p:grpSp>
            <p:nvGrpSpPr>
              <p:cNvPr id="6038" name="Google Shape;6038;p66"/>
              <p:cNvGrpSpPr/>
              <p:nvPr/>
            </p:nvGrpSpPr>
            <p:grpSpPr>
              <a:xfrm>
                <a:off x="4625977" y="4850481"/>
                <a:ext cx="2545688" cy="1720535"/>
                <a:chOff x="4625977" y="4850481"/>
                <a:chExt cx="2545688" cy="1720535"/>
              </a:xfrm>
            </p:grpSpPr>
            <p:grpSp>
              <p:nvGrpSpPr>
                <p:cNvPr id="6039" name="Google Shape;6039;p66"/>
                <p:cNvGrpSpPr/>
                <p:nvPr/>
              </p:nvGrpSpPr>
              <p:grpSpPr>
                <a:xfrm>
                  <a:off x="4625977" y="4850481"/>
                  <a:ext cx="2545688" cy="1720535"/>
                  <a:chOff x="-2170772" y="2784954"/>
                  <a:chExt cx="2712783" cy="1853712"/>
                </a:xfrm>
              </p:grpSpPr>
              <p:sp>
                <p:nvSpPr>
                  <p:cNvPr id="6040" name="Google Shape;604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041" name="Google Shape;604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042" name="Google Shape;604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43" name="Google Shape;604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44" name="Google Shape;604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5" name="Google Shape;604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6" name="Google Shape;604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7" name="Google Shape;604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8" name="Google Shape;604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49" name="Google Shape;604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0" name="Google Shape;605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51" name="Google Shape;6051;p66"/>
                        <p:cNvCxnSpPr>
                          <a:endCxn id="604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52" name="Google Shape;605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53" name="Google Shape;605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54" name="Google Shape;605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5" name="Google Shape;605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56" name="Google Shape;605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57" name="Google Shape;605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58" name="Google Shape;605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59" name="Google Shape;605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0" name="Google Shape;606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1" name="Google Shape;606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2" name="Google Shape;606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3" name="Google Shape;606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4" name="Google Shape;606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65" name="Google Shape;6065;p66"/>
                        <p:cNvCxnSpPr>
                          <a:endCxn id="606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66" name="Google Shape;606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67" name="Google Shape;606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68" name="Google Shape;606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69" name="Google Shape;606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70" name="Google Shape;607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71" name="Google Shape;607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72" name="Google Shape;607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3" name="Google Shape;607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4" name="Google Shape;607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5" name="Google Shape;607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6" name="Google Shape;607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7" name="Google Shape;607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78" name="Google Shape;607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79" name="Google Shape;6079;p66"/>
                        <p:cNvCxnSpPr>
                          <a:endCxn id="607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80" name="Google Shape;608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81" name="Google Shape;608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082" name="Google Shape;608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3" name="Google Shape;608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084" name="Google Shape;608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085" name="Google Shape;608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086" name="Google Shape;608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7" name="Google Shape;608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8" name="Google Shape;608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89" name="Google Shape;608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0" name="Google Shape;609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1" name="Google Shape;609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2" name="Google Shape;609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093" name="Google Shape;6093;p66"/>
                        <p:cNvCxnSpPr>
                          <a:endCxn id="608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094" name="Google Shape;609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095" name="Google Shape;609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096" name="Google Shape;609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097" name="Google Shape;609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2a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098" name="Google Shape;6098;p66"/>
                    <p:cNvCxnSpPr>
                      <a:stCxn id="604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099" name="Google Shape;609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00" name="Google Shape;610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101" name="Google Shape;6101;p66"/>
                <p:cNvSpPr txBox="1"/>
                <p:nvPr/>
              </p:nvSpPr>
              <p:spPr>
                <a:xfrm>
                  <a:off x="4833576" y="4910165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2</a:t>
                  </a:r>
                  <a:endParaRPr/>
                </a:p>
              </p:txBody>
            </p:sp>
          </p:grpSp>
          <p:grpSp>
            <p:nvGrpSpPr>
              <p:cNvPr id="6102" name="Google Shape;6102;p66"/>
              <p:cNvGrpSpPr/>
              <p:nvPr/>
            </p:nvGrpSpPr>
            <p:grpSpPr>
              <a:xfrm>
                <a:off x="8100574" y="3694542"/>
                <a:ext cx="2575521" cy="1672516"/>
                <a:chOff x="8100574" y="3694542"/>
                <a:chExt cx="2575521" cy="1672516"/>
              </a:xfrm>
            </p:grpSpPr>
            <p:sp>
              <p:nvSpPr>
                <p:cNvPr id="6103" name="Google Shape;6103;p66"/>
                <p:cNvSpPr/>
                <p:nvPr/>
              </p:nvSpPr>
              <p:spPr>
                <a:xfrm>
                  <a:off x="8100574" y="3694542"/>
                  <a:ext cx="2575521" cy="1672516"/>
                </a:xfrm>
                <a:custGeom>
                  <a:rect b="b" l="l" r="r" t="t"/>
                  <a:pathLst>
                    <a:path extrusionOk="0" h="10795" w="10000">
                      <a:moveTo>
                        <a:pt x="45" y="5036"/>
                      </a:moveTo>
                      <a:cubicBezTo>
                        <a:pt x="272" y="4277"/>
                        <a:pt x="1931" y="3650"/>
                        <a:pt x="2738" y="2811"/>
                      </a:cubicBezTo>
                      <a:cubicBezTo>
                        <a:pt x="3545" y="1972"/>
                        <a:pt x="3352" y="117"/>
                        <a:pt x="4886" y="4"/>
                      </a:cubicBezTo>
                      <a:cubicBezTo>
                        <a:pt x="6420" y="-109"/>
                        <a:pt x="7216" y="1912"/>
                        <a:pt x="8068" y="2813"/>
                      </a:cubicBezTo>
                      <a:cubicBezTo>
                        <a:pt x="8920" y="3715"/>
                        <a:pt x="9928" y="3420"/>
                        <a:pt x="9996" y="5413"/>
                      </a:cubicBezTo>
                      <a:cubicBezTo>
                        <a:pt x="10064" y="7406"/>
                        <a:pt x="9275" y="6409"/>
                        <a:pt x="8476" y="7306"/>
                      </a:cubicBezTo>
                      <a:cubicBezTo>
                        <a:pt x="7677" y="8203"/>
                        <a:pt x="7086" y="10770"/>
                        <a:pt x="5202" y="10795"/>
                      </a:cubicBezTo>
                      <a:cubicBezTo>
                        <a:pt x="3318" y="10820"/>
                        <a:pt x="3391" y="8255"/>
                        <a:pt x="2753" y="7683"/>
                      </a:cubicBezTo>
                      <a:cubicBezTo>
                        <a:pt x="2115" y="7111"/>
                        <a:pt x="2326" y="7496"/>
                        <a:pt x="1375" y="7365"/>
                      </a:cubicBezTo>
                      <a:cubicBezTo>
                        <a:pt x="493" y="6773"/>
                        <a:pt x="-182" y="5795"/>
                        <a:pt x="45" y="5036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04" name="Google Shape;6104;p66"/>
                <p:cNvGrpSpPr/>
                <p:nvPr/>
              </p:nvGrpSpPr>
              <p:grpSpPr>
                <a:xfrm>
                  <a:off x="8136838" y="3735782"/>
                  <a:ext cx="2402775" cy="1530043"/>
                  <a:chOff x="8136838" y="3735782"/>
                  <a:chExt cx="2402775" cy="1530043"/>
                </a:xfrm>
              </p:grpSpPr>
              <p:grpSp>
                <p:nvGrpSpPr>
                  <p:cNvPr id="6105" name="Google Shape;6105;p66"/>
                  <p:cNvGrpSpPr/>
                  <p:nvPr/>
                </p:nvGrpSpPr>
                <p:grpSpPr>
                  <a:xfrm>
                    <a:off x="8324065" y="3830658"/>
                    <a:ext cx="2215548" cy="1435167"/>
                    <a:chOff x="833331" y="2873352"/>
                    <a:chExt cx="2333625" cy="1590649"/>
                  </a:xfrm>
                </p:grpSpPr>
                <p:grpSp>
                  <p:nvGrpSpPr>
                    <p:cNvPr id="6106" name="Google Shape;6106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07" name="Google Shape;610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08" name="Google Shape;610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09" name="Google Shape;610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0" name="Google Shape;611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1" name="Google Shape;611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2" name="Google Shape;611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3" name="Google Shape;611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4" name="Google Shape;611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15" name="Google Shape;6115;p66"/>
                        <p:cNvCxnSpPr>
                          <a:endCxn id="611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16" name="Google Shape;611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17" name="Google Shape;611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18" name="Google Shape;611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19" name="Google Shape;611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20" name="Google Shape;6120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21" name="Google Shape;612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22" name="Google Shape;612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3" name="Google Shape;612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4" name="Google Shape;612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5" name="Google Shape;612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6" name="Google Shape;612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7" name="Google Shape;612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28" name="Google Shape;612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29" name="Google Shape;6129;p66"/>
                        <p:cNvCxnSpPr>
                          <a:endCxn id="612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30" name="Google Shape;613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31" name="Google Shape;6131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32" name="Google Shape;613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3" name="Google Shape;613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34" name="Google Shape;6134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35" name="Google Shape;613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36" name="Google Shape;613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7" name="Google Shape;613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8" name="Google Shape;613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39" name="Google Shape;613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0" name="Google Shape;614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1" name="Google Shape;614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2" name="Google Shape;614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43" name="Google Shape;6143;p66"/>
                        <p:cNvCxnSpPr>
                          <a:endCxn id="613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44" name="Google Shape;614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45" name="Google Shape;6145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146" name="Google Shape;614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47" name="Google Shape;614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48" name="Google Shape;6148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49" name="Google Shape;6149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50" name="Google Shape;6150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1" name="Google Shape;6151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2" name="Google Shape;6152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3" name="Google Shape;6153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4" name="Google Shape;6154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5" name="Google Shape;6155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56" name="Google Shape;6156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57" name="Google Shape;6157;p66"/>
                        <p:cNvCxnSpPr>
                          <a:endCxn id="6152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58" name="Google Shape;6158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59" name="Google Shape;6159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60" name="Google Shape;6160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61" name="Google Shape;6161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3a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162" name="Google Shape;6162;p66"/>
                    <p:cNvCxnSpPr>
                      <a:stCxn id="6119" idx="2"/>
                      <a:endCxn id="6133" idx="0"/>
                    </p:cNvCxnSpPr>
                    <p:nvPr/>
                  </p:nvCxnSpPr>
                  <p:spPr>
                    <a:xfrm>
                      <a:off x="1991073" y="3242684"/>
                      <a:ext cx="4200" cy="8520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rgbClr val="000090"/>
                      </a:solidFill>
                      <a:prstDash val="dash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3" name="Google Shape;6163;p66"/>
                    <p:cNvCxnSpPr/>
                    <p:nvPr/>
                  </p:nvCxnSpPr>
                  <p:spPr>
                    <a:xfrm>
                      <a:off x="1407477" y="3648621"/>
                      <a:ext cx="1204913" cy="6353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4" name="Google Shape;6164;p66"/>
                    <p:cNvCxnSpPr>
                      <a:stCxn id="6108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5" name="Google Shape;6165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166" name="Google Shape;6166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  <p:sp>
                <p:nvSpPr>
                  <p:cNvPr id="6167" name="Google Shape;6167;p66"/>
                  <p:cNvSpPr txBox="1"/>
                  <p:nvPr/>
                </p:nvSpPr>
                <p:spPr>
                  <a:xfrm>
                    <a:off x="8136838" y="37357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3</a:t>
                    </a:r>
                    <a:endParaRPr/>
                  </a:p>
                </p:txBody>
              </p:sp>
            </p:grpSp>
          </p:grpSp>
          <p:grpSp>
            <p:nvGrpSpPr>
              <p:cNvPr id="6168" name="Google Shape;6168;p66"/>
              <p:cNvGrpSpPr/>
              <p:nvPr/>
            </p:nvGrpSpPr>
            <p:grpSpPr>
              <a:xfrm>
                <a:off x="1426553" y="4136253"/>
                <a:ext cx="3452487" cy="1719017"/>
                <a:chOff x="1426553" y="4136253"/>
                <a:chExt cx="3452487" cy="1719017"/>
              </a:xfrm>
            </p:grpSpPr>
            <p:grpSp>
              <p:nvGrpSpPr>
                <p:cNvPr id="6169" name="Google Shape;6169;p66"/>
                <p:cNvGrpSpPr/>
                <p:nvPr/>
              </p:nvGrpSpPr>
              <p:grpSpPr>
                <a:xfrm>
                  <a:off x="1426553" y="4136253"/>
                  <a:ext cx="2557336" cy="1719017"/>
                  <a:chOff x="-2170772" y="2784954"/>
                  <a:chExt cx="2712783" cy="1853712"/>
                </a:xfrm>
              </p:grpSpPr>
              <p:sp>
                <p:nvSpPr>
                  <p:cNvPr id="6170" name="Google Shape;6170;p66"/>
                  <p:cNvSpPr/>
                  <p:nvPr/>
                </p:nvSpPr>
                <p:spPr>
                  <a:xfrm>
                    <a:off x="-2170772" y="2784954"/>
                    <a:ext cx="2712783" cy="1853712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171" name="Google Shape;6171;p66"/>
                  <p:cNvGrpSpPr/>
                  <p:nvPr/>
                </p:nvGrpSpPr>
                <p:grpSpPr>
                  <a:xfrm>
                    <a:off x="-1935370" y="2935816"/>
                    <a:ext cx="2333625" cy="1590649"/>
                    <a:chOff x="833331" y="2873352"/>
                    <a:chExt cx="2333625" cy="1590649"/>
                  </a:xfrm>
                </p:grpSpPr>
                <p:grpSp>
                  <p:nvGrpSpPr>
                    <p:cNvPr id="6172" name="Google Shape;6172;p66"/>
                    <p:cNvGrpSpPr/>
                    <p:nvPr/>
                  </p:nvGrpSpPr>
                  <p:grpSpPr>
                    <a:xfrm>
                      <a:off x="1736090" y="287335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73" name="Google Shape;6173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74" name="Google Shape;6174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5" name="Google Shape;6175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6" name="Google Shape;6176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7" name="Google Shape;6177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8" name="Google Shape;6178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79" name="Google Shape;6179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0" name="Google Shape;6180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81" name="Google Shape;6181;p66"/>
                        <p:cNvCxnSpPr>
                          <a:endCxn id="6176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82" name="Google Shape;6182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83" name="Google Shape;6183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84" name="Google Shape;6184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5" name="Google Shape;6185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1b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186" name="Google Shape;6186;p66"/>
                    <p:cNvGrpSpPr/>
                    <p:nvPr/>
                  </p:nvGrpSpPr>
                  <p:grpSpPr>
                    <a:xfrm>
                      <a:off x="1740320" y="409466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187" name="Google Shape;6187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188" name="Google Shape;6188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89" name="Google Shape;6189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0" name="Google Shape;6190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1" name="Google Shape;6191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2" name="Google Shape;6192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3" name="Google Shape;6193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4" name="Google Shape;6194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195" name="Google Shape;6195;p66"/>
                        <p:cNvCxnSpPr>
                          <a:endCxn id="6190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196" name="Google Shape;6196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197" name="Google Shape;6197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198" name="Google Shape;6198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199" name="Google Shape;6199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1d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00" name="Google Shape;6200;p66"/>
                    <p:cNvGrpSpPr/>
                    <p:nvPr/>
                  </p:nvGrpSpPr>
                  <p:grpSpPr>
                    <a:xfrm>
                      <a:off x="2601806" y="3485072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01" name="Google Shape;6201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02" name="Google Shape;6202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3" name="Google Shape;6203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4" name="Google Shape;6204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5" name="Google Shape;6205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6" name="Google Shape;6206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7" name="Google Shape;6207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08" name="Google Shape;6208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09" name="Google Shape;6209;p66"/>
                        <p:cNvCxnSpPr>
                          <a:endCxn id="6204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10" name="Google Shape;6210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11" name="Google Shape;6211;p66"/>
                      <p:cNvGrpSpPr/>
                      <p:nvPr/>
                    </p:nvGrpSpPr>
                    <p:grpSpPr>
                      <a:xfrm>
                        <a:off x="1770362" y="2873352"/>
                        <a:ext cx="428460" cy="369332"/>
                        <a:chOff x="667045" y="1708643"/>
                        <a:chExt cx="428460" cy="369332"/>
                      </a:xfrm>
                    </p:grpSpPr>
                    <p:sp>
                      <p:nvSpPr>
                        <p:cNvPr id="6212" name="Google Shape;6212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3" name="Google Shape;6213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28460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1c</a:t>
                          </a:r>
                          <a:endParaRPr/>
                        </a:p>
                      </p:txBody>
                    </p:sp>
                  </p:grpSp>
                </p:grpSp>
                <p:grpSp>
                  <p:nvGrpSpPr>
                    <p:cNvPr id="6214" name="Google Shape;6214;p66"/>
                    <p:cNvGrpSpPr/>
                    <p:nvPr/>
                  </p:nvGrpSpPr>
                  <p:grpSpPr>
                    <a:xfrm>
                      <a:off x="833331" y="3478719"/>
                      <a:ext cx="565150" cy="369332"/>
                      <a:chOff x="1736090" y="2873352"/>
                      <a:chExt cx="565150" cy="369332"/>
                    </a:xfrm>
                  </p:grpSpPr>
                  <p:grpSp>
                    <p:nvGrpSpPr>
                      <p:cNvPr id="6215" name="Google Shape;6215;p66"/>
                      <p:cNvGrpSpPr/>
                      <p:nvPr/>
                    </p:nvGrpSpPr>
                    <p:grpSpPr>
                      <a:xfrm>
                        <a:off x="1736090" y="2893762"/>
                        <a:ext cx="565150" cy="292100"/>
                        <a:chOff x="1871277" y="1576300"/>
                        <a:chExt cx="1128371" cy="437861"/>
                      </a:xfrm>
                    </p:grpSpPr>
                    <p:sp>
                      <p:nvSpPr>
                        <p:cNvPr id="6216" name="Google Shape;6216;p66"/>
                        <p:cNvSpPr/>
                        <p:nvPr/>
                      </p:nvSpPr>
                      <p:spPr>
                        <a:xfrm flipH="1" rot="10800000">
                          <a:off x="1874446" y="1692905"/>
                          <a:ext cx="1125202" cy="321256"/>
                        </a:xfrm>
                        <a:prstGeom prst="ellipse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0" scaled="0"/>
                        </a:gra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7" name="Google Shape;6217;p66"/>
                        <p:cNvSpPr/>
                        <p:nvPr/>
                      </p:nvSpPr>
                      <p:spPr>
                        <a:xfrm>
                          <a:off x="1871277" y="1740499"/>
                          <a:ext cx="1128371" cy="114225"/>
                        </a:xfrm>
                        <a:prstGeom prst="rect">
                          <a:avLst/>
                        </a:prstGeom>
                        <a:gradFill>
                          <a:gsLst>
                            <a:gs pos="0">
                              <a:srgbClr val="262699"/>
                            </a:gs>
                            <a:gs pos="52999">
                              <a:srgbClr val="8383E0"/>
                            </a:gs>
                            <a:gs pos="100000">
                              <a:srgbClr val="262699"/>
                            </a:gs>
                          </a:gsLst>
                          <a:lin ang="10800000" scaled="0"/>
                        </a:gra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8" name="Google Shape;6218;p66"/>
                        <p:cNvSpPr/>
                        <p:nvPr/>
                      </p:nvSpPr>
                      <p:spPr>
                        <a:xfrm flipH="1" rot="10800000">
                          <a:off x="1871277" y="1576300"/>
                          <a:ext cx="1125200" cy="321257"/>
                        </a:xfrm>
                        <a:prstGeom prst="ellipse">
                          <a:avLst/>
                        </a:prstGeom>
                        <a:solidFill>
                          <a:srgbClr val="BFBFBF"/>
                        </a:solidFill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19" name="Google Shape;6219;p66"/>
                        <p:cNvSpPr/>
                        <p:nvPr/>
                      </p:nvSpPr>
                      <p:spPr>
                        <a:xfrm>
                          <a:off x="2159708" y="1673868"/>
                          <a:ext cx="548339" cy="159438"/>
                        </a:xfrm>
                        <a:custGeom>
                          <a:rect b="b" l="l" r="r" t="t"/>
                          <a:pathLst>
                            <a:path extrusionOk="0" h="1321259" w="3076069">
                              <a:moveTo>
                                <a:pt x="1537780" y="750825"/>
                              </a:moveTo>
                              <a:lnTo>
                                <a:pt x="313981" y="1321259"/>
                              </a:lnTo>
                              <a:lnTo>
                                <a:pt x="0" y="1228607"/>
                              </a:lnTo>
                              <a:lnTo>
                                <a:pt x="962613" y="837478"/>
                              </a:lnTo>
                              <a:lnTo>
                                <a:pt x="935005" y="450949"/>
                              </a:lnTo>
                              <a:lnTo>
                                <a:pt x="212596" y="119640"/>
                              </a:lnTo>
                              <a:lnTo>
                                <a:pt x="456466" y="50617"/>
                              </a:lnTo>
                              <a:lnTo>
                                <a:pt x="1528577" y="501566"/>
                              </a:lnTo>
                              <a:lnTo>
                                <a:pt x="2623695" y="0"/>
                              </a:lnTo>
                              <a:lnTo>
                                <a:pt x="2927383" y="96632"/>
                              </a:lnTo>
                              <a:lnTo>
                                <a:pt x="2131352" y="432543"/>
                              </a:lnTo>
                              <a:lnTo>
                                <a:pt x="2292399" y="920305"/>
                              </a:lnTo>
                              <a:lnTo>
                                <a:pt x="3076069" y="1228607"/>
                              </a:lnTo>
                              <a:lnTo>
                                <a:pt x="2808172" y="1316375"/>
                              </a:lnTo>
                              <a:lnTo>
                                <a:pt x="1537780" y="7508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8383E0"/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0" name="Google Shape;6220;p66"/>
                        <p:cNvSpPr/>
                        <p:nvPr/>
                      </p:nvSpPr>
                      <p:spPr>
                        <a:xfrm>
                          <a:off x="2102655" y="1633412"/>
                          <a:ext cx="662444" cy="111846"/>
                        </a:xfrm>
                        <a:custGeom>
                          <a:rect b="b" l="l" r="r" t="t"/>
                          <a:pathLst>
                            <a:path extrusionOk="0" h="932950" w="3723451">
                              <a:moveTo>
                                <a:pt x="0" y="228246"/>
                              </a:moveTo>
                              <a:lnTo>
                                <a:pt x="655168" y="2690"/>
                              </a:lnTo>
                              <a:lnTo>
                                <a:pt x="1855778" y="520562"/>
                              </a:lnTo>
                              <a:lnTo>
                                <a:pt x="3001174" y="0"/>
                              </a:lnTo>
                              <a:lnTo>
                                <a:pt x="3723451" y="207149"/>
                              </a:lnTo>
                              <a:lnTo>
                                <a:pt x="3186079" y="461874"/>
                              </a:lnTo>
                              <a:lnTo>
                                <a:pt x="3013067" y="393200"/>
                              </a:lnTo>
                              <a:lnTo>
                                <a:pt x="1876873" y="932950"/>
                              </a:lnTo>
                              <a:lnTo>
                                <a:pt x="711613" y="413055"/>
                              </a:lnTo>
                              <a:lnTo>
                                <a:pt x="523214" y="469166"/>
                              </a:lnTo>
                              <a:lnTo>
                                <a:pt x="0" y="22824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1" name="Google Shape;6221;p66"/>
                        <p:cNvSpPr/>
                        <p:nvPr/>
                      </p:nvSpPr>
                      <p:spPr>
                        <a:xfrm>
                          <a:off x="2536889" y="1728599"/>
                          <a:ext cx="244057" cy="97568"/>
                        </a:xfrm>
                        <a:custGeom>
                          <a:rect b="b" l="l" r="r" t="t"/>
                          <a:pathLst>
                            <a:path extrusionOk="0" h="809868" w="1366596">
                              <a:moveTo>
                                <a:pt x="0" y="0"/>
                              </a:moveTo>
                              <a:lnTo>
                                <a:pt x="1366596" y="625807"/>
                              </a:lnTo>
                              <a:lnTo>
                                <a:pt x="865050" y="809868"/>
                              </a:lnTo>
                              <a:lnTo>
                                <a:pt x="4601" y="427942"/>
                              </a:lnTo>
                              <a:cubicBezTo>
                                <a:pt x="-1535" y="105836"/>
                                <a:pt x="1534" y="142647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2" name="Google Shape;6222;p66"/>
                        <p:cNvSpPr/>
                        <p:nvPr/>
                      </p:nvSpPr>
                      <p:spPr>
                        <a:xfrm>
                          <a:off x="2089977" y="1730980"/>
                          <a:ext cx="240888" cy="95187"/>
                        </a:xfrm>
                        <a:custGeom>
                          <a:rect b="b" l="l" r="r" t="t"/>
                          <a:pathLst>
                            <a:path extrusionOk="0" h="791462" w="1348191">
                              <a:moveTo>
                                <a:pt x="1329786" y="0"/>
                              </a:moveTo>
                              <a:lnTo>
                                <a:pt x="1348191" y="381926"/>
                              </a:lnTo>
                              <a:lnTo>
                                <a:pt x="487742" y="791462"/>
                              </a:lnTo>
                              <a:lnTo>
                                <a:pt x="0" y="612002"/>
                              </a:lnTo>
                              <a:lnTo>
                                <a:pt x="1329786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262699"/>
                        </a:solidFill>
                        <a:ln>
                          <a:noFill/>
                        </a:ln>
                        <a:effectLst>
                          <a:outerShdw blurRad="40000" rotWithShape="0" dir="5400000" dist="23000">
                            <a:srgbClr val="000000">
                              <a:alpha val="34901"/>
                            </a:srgbClr>
                          </a:outerShdw>
                        </a:effectLst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cxnSp>
                      <p:nvCxnSpPr>
                        <p:cNvPr id="6223" name="Google Shape;6223;p66"/>
                        <p:cNvCxnSpPr>
                          <a:endCxn id="6218" idx="2"/>
                        </p:cNvCxnSpPr>
                        <p:nvPr/>
                      </p:nvCxnSpPr>
                      <p:spPr>
                        <a:xfrm rot="10800000">
                          <a:off x="1871277" y="1736929"/>
                          <a:ext cx="3300" cy="123600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  <p:cxnSp>
                      <p:nvCxnSpPr>
                        <p:cNvPr id="6224" name="Google Shape;6224;p66"/>
                        <p:cNvCxnSpPr/>
                        <p:nvPr/>
                      </p:nvCxnSpPr>
                      <p:spPr>
                        <a:xfrm rot="10800000">
                          <a:off x="2996477" y="1733359"/>
                          <a:ext cx="3171" cy="123743"/>
                        </a:xfrm>
                        <a:prstGeom prst="straightConnector1">
                          <a:avLst/>
                        </a:prstGeom>
                        <a:noFill/>
                        <a:ln cap="flat" cmpd="sng" w="9525">
                          <a:solidFill>
                            <a:srgbClr val="000000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  <a:effectLst>
                          <a:outerShdw blurRad="40005" rotWithShape="0" algn="tl" dir="5400000" dist="19939">
                            <a:srgbClr val="000000">
                              <a:alpha val="37647"/>
                            </a:srgbClr>
                          </a:outerShdw>
                        </a:effectLst>
                      </p:spPr>
                    </p:cxnSp>
                  </p:grpSp>
                  <p:grpSp>
                    <p:nvGrpSpPr>
                      <p:cNvPr id="6225" name="Google Shape;6225;p66"/>
                      <p:cNvGrpSpPr/>
                      <p:nvPr/>
                    </p:nvGrpSpPr>
                    <p:grpSpPr>
                      <a:xfrm>
                        <a:off x="1770362" y="2873352"/>
                        <a:ext cx="441422" cy="369332"/>
                        <a:chOff x="667045" y="1708643"/>
                        <a:chExt cx="441422" cy="369332"/>
                      </a:xfrm>
                    </p:grpSpPr>
                    <p:sp>
                      <p:nvSpPr>
                        <p:cNvPr id="6226" name="Google Shape;6226;p66"/>
                        <p:cNvSpPr/>
                        <p:nvPr/>
                      </p:nvSpPr>
                      <p:spPr>
                        <a:xfrm>
                          <a:off x="725417" y="1787240"/>
                          <a:ext cx="356365" cy="231962"/>
                        </a:xfrm>
                        <a:prstGeom prst="ellipse">
                          <a:avLst/>
                        </a:prstGeom>
                        <a:solidFill>
                          <a:srgbClr val="FFFFFF">
                            <a:alpha val="75686"/>
                          </a:srgbClr>
                        </a:solidFill>
                        <a:ln>
                          <a:noFill/>
                        </a:ln>
                      </p:spPr>
                      <p:txBody>
                        <a:bodyPr anchorCtr="0" anchor="ctr" bIns="45700" lIns="91425" spcFirstLastPara="1" rIns="91425" wrap="square" tIns="45700">
                          <a:noAutofit/>
                        </a:bodyPr>
                        <a:lstStyle/>
                        <a:p>
                          <a:pPr indent="0" lvl="0" marL="0" marR="0" rtl="0" algn="ctr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00"/>
                            <a:buFont typeface="Calibri"/>
                            <a:buNone/>
                          </a:pPr>
                          <a:r>
                            <a:t/>
                          </a:r>
                          <a:endParaRPr b="0" i="0" sz="1800" u="none" cap="none" strike="noStrike">
                            <a:solidFill>
                              <a:srgbClr val="FFFFFF"/>
                            </a:solidFill>
                            <a:latin typeface="Gill Sans"/>
                            <a:ea typeface="Gill Sans"/>
                            <a:cs typeface="Gill Sans"/>
                            <a:sym typeface="Gill Sans"/>
                          </a:endParaRPr>
                        </a:p>
                      </p:txBody>
                    </p:sp>
                    <p:sp>
                      <p:nvSpPr>
                        <p:cNvPr id="6227" name="Google Shape;6227;p66"/>
                        <p:cNvSpPr txBox="1"/>
                        <p:nvPr/>
                      </p:nvSpPr>
                      <p:spPr>
                        <a:xfrm>
                          <a:off x="667045" y="1708643"/>
                          <a:ext cx="441422" cy="369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anchorCtr="0" anchor="t" bIns="45700" lIns="91425" spcFirstLastPara="1" rIns="91425" wrap="square" tIns="45700">
                          <a:spAutoFit/>
                        </a:bodyPr>
                        <a:lstStyle/>
                        <a:p>
                          <a:pPr indent="0" lvl="0" marL="0" marR="0" rtl="0" algn="l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Pts val="1800"/>
                            <a:buFont typeface="Arial"/>
                            <a:buNone/>
                          </a:pPr>
                          <a:r>
                            <a:rPr b="0" i="0" lang="en-US" sz="1800" u="none" cap="none" strike="noStrike">
                              <a:solidFill>
                                <a:srgbClr val="000000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1a</a:t>
                          </a:r>
                          <a:endParaRPr/>
                        </a:p>
                      </p:txBody>
                    </p:sp>
                  </p:grpSp>
                </p:grpSp>
                <p:cxnSp>
                  <p:nvCxnSpPr>
                    <p:cNvPr id="6228" name="Google Shape;6228;p66"/>
                    <p:cNvCxnSpPr>
                      <a:stCxn id="6174" idx="7"/>
                    </p:cNvCxnSpPr>
                    <p:nvPr/>
                  </p:nvCxnSpPr>
                  <p:spPr>
                    <a:xfrm>
                      <a:off x="2218708" y="3154477"/>
                      <a:ext cx="480000" cy="36990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29" name="Google Shape;6229;p66"/>
                    <p:cNvCxnSpPr/>
                    <p:nvPr/>
                  </p:nvCxnSpPr>
                  <p:spPr>
                    <a:xfrm>
                      <a:off x="1300073" y="3786304"/>
                      <a:ext cx="477927" cy="357071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0" name="Google Shape;6230;p66"/>
                    <p:cNvCxnSpPr/>
                    <p:nvPr/>
                  </p:nvCxnSpPr>
                  <p:spPr>
                    <a:xfrm flipH="1">
                      <a:off x="2196042" y="3783542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  <p:cxnSp>
                  <p:nvCxnSpPr>
                    <p:cNvPr id="6231" name="Google Shape;6231;p66"/>
                    <p:cNvCxnSpPr/>
                    <p:nvPr/>
                  </p:nvCxnSpPr>
                  <p:spPr>
                    <a:xfrm flipH="1">
                      <a:off x="1287553" y="3166946"/>
                      <a:ext cx="508002" cy="349250"/>
                    </a:xfrm>
                    <a:prstGeom prst="straightConnector1">
                      <a:avLst/>
                    </a:prstGeom>
                    <a:solidFill>
                      <a:srgbClr val="00CC99"/>
                    </a:solidFill>
                    <a:ln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</p:cxnSp>
              </p:grpSp>
            </p:grpSp>
            <p:sp>
              <p:nvSpPr>
                <p:cNvPr id="6232" name="Google Shape;6232;p66"/>
                <p:cNvSpPr txBox="1"/>
                <p:nvPr/>
              </p:nvSpPr>
              <p:spPr>
                <a:xfrm>
                  <a:off x="1430686" y="4247082"/>
                  <a:ext cx="753532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00009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AS 1</a:t>
                  </a:r>
                  <a:endParaRPr/>
                </a:p>
              </p:txBody>
            </p:sp>
            <p:cxnSp>
              <p:nvCxnSpPr>
                <p:cNvPr id="6233" name="Google Shape;6233;p66"/>
                <p:cNvCxnSpPr>
                  <a:stCxn id="6097" idx="1"/>
                </p:cNvCxnSpPr>
                <p:nvPr/>
              </p:nvCxnSpPr>
              <p:spPr>
                <a:xfrm rot="10800000">
                  <a:off x="3848240" y="5024779"/>
                  <a:ext cx="1030800" cy="6990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234" name="Google Shape;6234;p66"/>
              <p:cNvCxnSpPr>
                <a:stCxn id="6074" idx="5"/>
                <a:endCxn id="6161" idx="1"/>
              </p:cNvCxnSpPr>
              <p:nvPr/>
            </p:nvCxnSpPr>
            <p:spPr>
              <a:xfrm flipH="1" rot="10800000">
                <a:off x="6957825" y="4543451"/>
                <a:ext cx="1398900" cy="106290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235" name="Google Shape;6235;p66"/>
            <p:cNvGrpSpPr/>
            <p:nvPr/>
          </p:nvGrpSpPr>
          <p:grpSpPr>
            <a:xfrm>
              <a:off x="9525929" y="4809915"/>
              <a:ext cx="1701734" cy="616172"/>
              <a:chOff x="6935906" y="5482318"/>
              <a:chExt cx="1701734" cy="616172"/>
            </a:xfrm>
          </p:grpSpPr>
          <p:grpSp>
            <p:nvGrpSpPr>
              <p:cNvPr id="6236" name="Google Shape;6236;p66"/>
              <p:cNvGrpSpPr/>
              <p:nvPr/>
            </p:nvGrpSpPr>
            <p:grpSpPr>
              <a:xfrm>
                <a:off x="6935906" y="5482318"/>
                <a:ext cx="1701734" cy="616172"/>
                <a:chOff x="6808463" y="5108795"/>
                <a:chExt cx="1701734" cy="616172"/>
              </a:xfrm>
            </p:grpSpPr>
            <p:sp>
              <p:nvSpPr>
                <p:cNvPr id="6237" name="Google Shape;6237;p66"/>
                <p:cNvSpPr/>
                <p:nvPr/>
              </p:nvSpPr>
              <p:spPr>
                <a:xfrm>
                  <a:off x="6808463" y="5108795"/>
                  <a:ext cx="1701734" cy="616172"/>
                </a:xfrm>
                <a:custGeom>
                  <a:rect b="b" l="l" r="r" t="t"/>
                  <a:pathLst>
                    <a:path extrusionOk="0" h="11127" w="11293">
                      <a:moveTo>
                        <a:pt x="40" y="9082"/>
                      </a:moveTo>
                      <a:cubicBezTo>
                        <a:pt x="352" y="7566"/>
                        <a:pt x="3280" y="1761"/>
                        <a:pt x="4577" y="470"/>
                      </a:cubicBezTo>
                      <a:cubicBezTo>
                        <a:pt x="5874" y="-821"/>
                        <a:pt x="6795" y="914"/>
                        <a:pt x="7822" y="1336"/>
                      </a:cubicBezTo>
                      <a:cubicBezTo>
                        <a:pt x="8849" y="1758"/>
                        <a:pt x="10193" y="1947"/>
                        <a:pt x="10740" y="3004"/>
                      </a:cubicBezTo>
                      <a:cubicBezTo>
                        <a:pt x="11287" y="4061"/>
                        <a:pt x="11468" y="6337"/>
                        <a:pt x="11102" y="7683"/>
                      </a:cubicBezTo>
                      <a:cubicBezTo>
                        <a:pt x="10736" y="9030"/>
                        <a:pt x="9940" y="10771"/>
                        <a:pt x="8541" y="11085"/>
                      </a:cubicBezTo>
                      <a:cubicBezTo>
                        <a:pt x="7141" y="11398"/>
                        <a:pt x="4122" y="9898"/>
                        <a:pt x="2705" y="9564"/>
                      </a:cubicBezTo>
                      <a:cubicBezTo>
                        <a:pt x="1288" y="9230"/>
                        <a:pt x="-272" y="10598"/>
                        <a:pt x="40" y="9082"/>
                      </a:cubicBez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38" name="Google Shape;6238;p66"/>
                <p:cNvGrpSpPr/>
                <p:nvPr/>
              </p:nvGrpSpPr>
              <p:grpSpPr>
                <a:xfrm>
                  <a:off x="7908175" y="5241780"/>
                  <a:ext cx="536554" cy="263548"/>
                  <a:chOff x="1871277" y="1576300"/>
                  <a:chExt cx="1128371" cy="437861"/>
                </a:xfrm>
              </p:grpSpPr>
              <p:sp>
                <p:nvSpPr>
                  <p:cNvPr id="6239" name="Google Shape;6239;p66"/>
                  <p:cNvSpPr/>
                  <p:nvPr/>
                </p:nvSpPr>
                <p:spPr>
                  <a:xfrm flipH="1" rot="10800000">
                    <a:off x="1874446" y="1692905"/>
                    <a:ext cx="1125202" cy="321256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0" scaled="0"/>
                  </a:gra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0" name="Google Shape;6240;p66"/>
                  <p:cNvSpPr/>
                  <p:nvPr/>
                </p:nvSpPr>
                <p:spPr>
                  <a:xfrm>
                    <a:off x="1871277" y="1740499"/>
                    <a:ext cx="1128371" cy="114225"/>
                  </a:xfrm>
                  <a:prstGeom prst="rect">
                    <a:avLst/>
                  </a:prstGeom>
                  <a:gradFill>
                    <a:gsLst>
                      <a:gs pos="0">
                        <a:srgbClr val="262699"/>
                      </a:gs>
                      <a:gs pos="52999">
                        <a:srgbClr val="8383E0"/>
                      </a:gs>
                      <a:gs pos="100000">
                        <a:srgbClr val="262699"/>
                      </a:gs>
                    </a:gsLst>
                    <a:lin ang="108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1" name="Google Shape;6241;p66"/>
                  <p:cNvSpPr/>
                  <p:nvPr/>
                </p:nvSpPr>
                <p:spPr>
                  <a:xfrm flipH="1" rot="10800000">
                    <a:off x="1871277" y="1576300"/>
                    <a:ext cx="1125200" cy="321257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2" name="Google Shape;6242;p66"/>
                  <p:cNvSpPr/>
                  <p:nvPr/>
                </p:nvSpPr>
                <p:spPr>
                  <a:xfrm>
                    <a:off x="2159708" y="1673868"/>
                    <a:ext cx="548339" cy="159438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3" name="Google Shape;6243;p66"/>
                  <p:cNvSpPr/>
                  <p:nvPr/>
                </p:nvSpPr>
                <p:spPr>
                  <a:xfrm>
                    <a:off x="2102655" y="1633412"/>
                    <a:ext cx="662444" cy="111846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4" name="Google Shape;6244;p66"/>
                  <p:cNvSpPr/>
                  <p:nvPr/>
                </p:nvSpPr>
                <p:spPr>
                  <a:xfrm>
                    <a:off x="2536889" y="1728599"/>
                    <a:ext cx="244057" cy="97568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45" name="Google Shape;6245;p66"/>
                  <p:cNvSpPr/>
                  <p:nvPr/>
                </p:nvSpPr>
                <p:spPr>
                  <a:xfrm>
                    <a:off x="2089977" y="1730980"/>
                    <a:ext cx="240888" cy="95187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6246" name="Google Shape;6246;p66"/>
                  <p:cNvCxnSpPr>
                    <a:endCxn id="6241" idx="2"/>
                  </p:cNvCxnSpPr>
                  <p:nvPr/>
                </p:nvCxnSpPr>
                <p:spPr>
                  <a:xfrm rot="10800000">
                    <a:off x="1871277" y="1736929"/>
                    <a:ext cx="3300" cy="1236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6247" name="Google Shape;6247;p66"/>
                  <p:cNvCxnSpPr/>
                  <p:nvPr/>
                </p:nvCxnSpPr>
                <p:spPr>
                  <a:xfrm rot="10800000">
                    <a:off x="2996477" y="1733359"/>
                    <a:ext cx="3171" cy="12374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  <p:grpSp>
              <p:nvGrpSpPr>
                <p:cNvPr id="6248" name="Google Shape;6248;p66"/>
                <p:cNvGrpSpPr/>
                <p:nvPr/>
              </p:nvGrpSpPr>
              <p:grpSpPr>
                <a:xfrm>
                  <a:off x="7876581" y="5223365"/>
                  <a:ext cx="466894" cy="369332"/>
                  <a:chOff x="599495" y="1708643"/>
                  <a:chExt cx="491778" cy="409344"/>
                </a:xfrm>
              </p:grpSpPr>
              <p:sp>
                <p:nvSpPr>
                  <p:cNvPr id="6249" name="Google Shape;6249;p66"/>
                  <p:cNvSpPr/>
                  <p:nvPr/>
                </p:nvSpPr>
                <p:spPr>
                  <a:xfrm>
                    <a:off x="725417" y="1787240"/>
                    <a:ext cx="356365" cy="231962"/>
                  </a:xfrm>
                  <a:prstGeom prst="ellipse">
                    <a:avLst/>
                  </a:prstGeom>
                  <a:solidFill>
                    <a:srgbClr val="FFFFFF">
                      <a:alpha val="75686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6250" name="Google Shape;6250;p66"/>
                  <p:cNvSpPr txBox="1"/>
                  <p:nvPr/>
                </p:nvSpPr>
                <p:spPr>
                  <a:xfrm>
                    <a:off x="599495" y="1708643"/>
                    <a:ext cx="491778" cy="40934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  X</a:t>
                    </a:r>
                    <a:endParaRPr/>
                  </a:p>
                </p:txBody>
              </p:sp>
            </p:grpSp>
          </p:grpSp>
          <p:cxnSp>
            <p:nvCxnSpPr>
              <p:cNvPr id="6251" name="Google Shape;6251;p66"/>
              <p:cNvCxnSpPr/>
              <p:nvPr/>
            </p:nvCxnSpPr>
            <p:spPr>
              <a:xfrm flipH="1">
                <a:off x="7158742" y="5764030"/>
                <a:ext cx="870024" cy="9999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52" name="Google Shape;6252;p66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253" name="Google Shape;6253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54" name="Google Shape;6254;p66"/>
          <p:cNvSpPr txBox="1"/>
          <p:nvPr/>
        </p:nvSpPr>
        <p:spPr>
          <a:xfrm>
            <a:off x="825754" y="4751961"/>
            <a:ext cx="10673139" cy="84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AS2 router 2c accepts path AS3,X, propagates (via iBGP) to all AS2 routers</a:t>
            </a:r>
            <a:endParaRPr/>
          </a:p>
          <a:p>
            <a:pPr indent="-69850" lvl="0" marL="35242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55" name="Google Shape;6255;p66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56" name="Google Shape;6256;p66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57" name="Google Shape;6257;p66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8" name="Google Shape;6258;p66"/>
          <p:cNvSpPr txBox="1"/>
          <p:nvPr/>
        </p:nvSpPr>
        <p:spPr>
          <a:xfrm>
            <a:off x="853911" y="4164411"/>
            <a:ext cx="11146023" cy="848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AS2 router 2c receives path advertisement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(via eBGP) from AS3 router 3a</a:t>
            </a:r>
            <a:endParaRPr/>
          </a:p>
        </p:txBody>
      </p:sp>
      <p:sp>
        <p:nvSpPr>
          <p:cNvPr id="6259" name="Google Shape;6259;p66"/>
          <p:cNvSpPr txBox="1"/>
          <p:nvPr/>
        </p:nvSpPr>
        <p:spPr>
          <a:xfrm>
            <a:off x="837479" y="5525933"/>
            <a:ext cx="10511102" cy="510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AS2 policy,  AS2 router 2a advertises (via eBGP)  path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 AS3, X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AS1 router 1c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60" name="Google Shape;6260;p66"/>
          <p:cNvGrpSpPr/>
          <p:nvPr/>
        </p:nvGrpSpPr>
        <p:grpSpPr>
          <a:xfrm>
            <a:off x="5079134" y="2657901"/>
            <a:ext cx="1118837" cy="826267"/>
            <a:chOff x="4052000" y="2820739"/>
            <a:chExt cx="1118837" cy="826267"/>
          </a:xfrm>
        </p:grpSpPr>
        <p:cxnSp>
          <p:nvCxnSpPr>
            <p:cNvPr id="6261" name="Google Shape;6261;p66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2" name="Google Shape;6262;p66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63" name="Google Shape;6263;p66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64" name="Google Shape;6264;p66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65" name="Google Shape;6265;p66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6" name="Google Shape;6266;p66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0" name="Shape 6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1" name="Google Shape;6271;p67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 </a:t>
            </a:r>
            <a:r>
              <a:rPr lang="en-US" sz="3600"/>
              <a:t>(more</a:t>
            </a:r>
            <a:r>
              <a:rPr lang="en-US"/>
              <a:t>)</a:t>
            </a:r>
            <a:endParaRPr/>
          </a:p>
        </p:txBody>
      </p:sp>
      <p:sp>
        <p:nvSpPr>
          <p:cNvPr id="6272" name="Google Shape;6272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273" name="Google Shape;6273;p67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274" name="Google Shape;6274;p67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275" name="Google Shape;6275;p67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76" name="Google Shape;6276;p67"/>
          <p:cNvSpPr txBox="1"/>
          <p:nvPr/>
        </p:nvSpPr>
        <p:spPr>
          <a:xfrm>
            <a:off x="1364685" y="4805597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AS2,AS3,X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2a</a:t>
            </a:r>
            <a:endParaRPr/>
          </a:p>
          <a:p>
            <a:pPr indent="-95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7" name="Google Shape;6277;p67"/>
          <p:cNvSpPr txBox="1"/>
          <p:nvPr/>
        </p:nvSpPr>
        <p:spPr>
          <a:xfrm>
            <a:off x="1142010" y="4352301"/>
            <a:ext cx="9918472" cy="575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6428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 router may learn about </a:t>
            </a:r>
            <a:r>
              <a:rPr lang="en-US" sz="28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multiple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paths to destination:</a:t>
            </a:r>
            <a:endParaRPr/>
          </a:p>
        </p:txBody>
      </p:sp>
      <p:grpSp>
        <p:nvGrpSpPr>
          <p:cNvPr id="6278" name="Google Shape;6278;p67"/>
          <p:cNvGrpSpPr/>
          <p:nvPr/>
        </p:nvGrpSpPr>
        <p:grpSpPr>
          <a:xfrm>
            <a:off x="1970966" y="1952535"/>
            <a:ext cx="1118837" cy="826267"/>
            <a:chOff x="4052000" y="2820739"/>
            <a:chExt cx="1118837" cy="826267"/>
          </a:xfrm>
        </p:grpSpPr>
        <p:cxnSp>
          <p:nvCxnSpPr>
            <p:cNvPr id="6279" name="Google Shape;6279;p67"/>
            <p:cNvCxnSpPr/>
            <p:nvPr/>
          </p:nvCxnSpPr>
          <p:spPr>
            <a:xfrm rot="10800000">
              <a:off x="4769093" y="2820739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0" name="Google Shape;6280;p67"/>
            <p:cNvCxnSpPr/>
            <p:nvPr/>
          </p:nvCxnSpPr>
          <p:spPr>
            <a:xfrm rot="10800000">
              <a:off x="4052000" y="3192229"/>
              <a:ext cx="1059565" cy="14171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281" name="Google Shape;6281;p67"/>
            <p:cNvCxnSpPr/>
            <p:nvPr/>
          </p:nvCxnSpPr>
          <p:spPr>
            <a:xfrm flipH="1">
              <a:off x="4748700" y="3344630"/>
              <a:ext cx="401744" cy="302376"/>
            </a:xfrm>
            <a:prstGeom prst="straightConnector1">
              <a:avLst/>
            </a:prstGeom>
            <a:solidFill>
              <a:schemeClr val="accent1"/>
            </a:solidFill>
            <a:ln cap="flat" cmpd="sng" w="254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6282" name="Google Shape;6282;p67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283" name="Google Shape;6283;p67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4" name="Google Shape;6284;p67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sp>
        <p:nvSpPr>
          <p:cNvPr id="6285" name="Google Shape;6285;p67"/>
          <p:cNvSpPr txBox="1"/>
          <p:nvPr/>
        </p:nvSpPr>
        <p:spPr>
          <a:xfrm>
            <a:off x="1399857" y="5223019"/>
            <a:ext cx="8505825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89166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learns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3a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6" name="Google Shape;6286;p67"/>
          <p:cNvSpPr txBox="1"/>
          <p:nvPr/>
        </p:nvSpPr>
        <p:spPr>
          <a:xfrm>
            <a:off x="1415491" y="5540232"/>
            <a:ext cx="10521813" cy="102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policy,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AS1 gateway router 1c chooses path </a:t>
            </a: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AS3,X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advertises path within AS1 via iBGP</a:t>
            </a:r>
            <a:endParaRPr/>
          </a:p>
          <a:p>
            <a:pPr indent="-215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7" name="Google Shape;6287;p67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288" name="Google Shape;6288;p67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9" name="Google Shape;6289;p67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grpSp>
        <p:nvGrpSpPr>
          <p:cNvPr id="6290" name="Google Shape;6290;p67"/>
          <p:cNvGrpSpPr/>
          <p:nvPr/>
        </p:nvGrpSpPr>
        <p:grpSpPr>
          <a:xfrm>
            <a:off x="1113403" y="1064076"/>
            <a:ext cx="9801110" cy="2876474"/>
            <a:chOff x="1113403" y="1064076"/>
            <a:chExt cx="9801110" cy="2876474"/>
          </a:xfrm>
        </p:grpSpPr>
        <p:grpSp>
          <p:nvGrpSpPr>
            <p:cNvPr id="6291" name="Google Shape;6291;p67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292" name="Google Shape;6292;p67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293" name="Google Shape;6293;p67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294" name="Google Shape;6294;p67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295" name="Google Shape;629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296" name="Google Shape;629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297" name="Google Shape;629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298" name="Google Shape;629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299" name="Google Shape;629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0" name="Google Shape;630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1" name="Google Shape;630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2" name="Google Shape;630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3" name="Google Shape;630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4" name="Google Shape;630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05" name="Google Shape;630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06" name="Google Shape;6306;p67"/>
                          <p:cNvCxnSpPr>
                            <a:endCxn id="630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07" name="Google Shape;630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08" name="Google Shape;630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09" name="Google Shape;630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0" name="Google Shape;631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11" name="Google Shape;631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12" name="Google Shape;631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13" name="Google Shape;631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4" name="Google Shape;631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5" name="Google Shape;631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6" name="Google Shape;631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7" name="Google Shape;631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8" name="Google Shape;631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19" name="Google Shape;631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20" name="Google Shape;6320;p67"/>
                          <p:cNvCxnSpPr>
                            <a:endCxn id="631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21" name="Google Shape;632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22" name="Google Shape;632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23" name="Google Shape;632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4" name="Google Shape;632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25" name="Google Shape;632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26" name="Google Shape;632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27" name="Google Shape;632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8" name="Google Shape;632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29" name="Google Shape;632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0" name="Google Shape;633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1" name="Google Shape;633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2" name="Google Shape;633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3" name="Google Shape;633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34" name="Google Shape;6334;p67"/>
                          <p:cNvCxnSpPr>
                            <a:endCxn id="632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35" name="Google Shape;633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36" name="Google Shape;633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337" name="Google Shape;633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38" name="Google Shape;633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39" name="Google Shape;633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40" name="Google Shape;634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41" name="Google Shape;634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2" name="Google Shape;634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3" name="Google Shape;634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4" name="Google Shape;634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5" name="Google Shape;634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6" name="Google Shape;634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47" name="Google Shape;634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48" name="Google Shape;6348;p67"/>
                          <p:cNvCxnSpPr>
                            <a:endCxn id="634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49" name="Google Shape;634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50" name="Google Shape;635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51" name="Google Shape;635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52" name="Google Shape;635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353" name="Google Shape;6353;p67"/>
                      <p:cNvCxnSpPr>
                        <a:stCxn id="629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4" name="Google Shape;635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355" name="Google Shape;635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356" name="Google Shape;6356;p67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357" name="Google Shape;6357;p67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358" name="Google Shape;6358;p67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359" name="Google Shape;6359;p67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360" name="Google Shape;6360;p67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361" name="Google Shape;6361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62" name="Google Shape;636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63" name="Google Shape;636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4" name="Google Shape;636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5" name="Google Shape;636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6" name="Google Shape;636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7" name="Google Shape;636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8" name="Google Shape;636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69" name="Google Shape;636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70" name="Google Shape;6370;p67"/>
                          <p:cNvCxnSpPr>
                            <a:endCxn id="636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71" name="Google Shape;637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72" name="Google Shape;637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73" name="Google Shape;637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4" name="Google Shape;637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75" name="Google Shape;6375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76" name="Google Shape;637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77" name="Google Shape;637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8" name="Google Shape;637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79" name="Google Shape;637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0" name="Google Shape;638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1" name="Google Shape;638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2" name="Google Shape;638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3" name="Google Shape;638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84" name="Google Shape;6384;p67"/>
                          <p:cNvCxnSpPr>
                            <a:endCxn id="637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85" name="Google Shape;638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386" name="Google Shape;638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387" name="Google Shape;638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88" name="Google Shape;638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389" name="Google Shape;6389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390" name="Google Shape;639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391" name="Google Shape;639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2" name="Google Shape;639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3" name="Google Shape;639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4" name="Google Shape;639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5" name="Google Shape;639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6" name="Google Shape;639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397" name="Google Shape;639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398" name="Google Shape;6398;p67"/>
                          <p:cNvCxnSpPr>
                            <a:endCxn id="639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399" name="Google Shape;639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00" name="Google Shape;640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01" name="Google Shape;640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2" name="Google Shape;640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03" name="Google Shape;6403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04" name="Google Shape;6404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05" name="Google Shape;6405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6" name="Google Shape;6406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7" name="Google Shape;6407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8" name="Google Shape;6408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09" name="Google Shape;6409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0" name="Google Shape;6410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1" name="Google Shape;6411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12" name="Google Shape;6412;p67"/>
                          <p:cNvCxnSpPr>
                            <a:endCxn id="6407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13" name="Google Shape;6413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14" name="Google Shape;6414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15" name="Google Shape;6415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16" name="Google Shape;6416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17" name="Google Shape;6417;p67"/>
                      <p:cNvCxnSpPr>
                        <a:stCxn id="6374" idx="2"/>
                        <a:endCxn id="6388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8" name="Google Shape;6418;p67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19" name="Google Shape;6419;p67"/>
                      <p:cNvCxnSpPr>
                        <a:stCxn id="6363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0" name="Google Shape;6420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21" name="Google Shape;6421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422" name="Google Shape;6422;p67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423" name="Google Shape;6423;p67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424" name="Google Shape;6424;p67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425" name="Google Shape;6425;p67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426" name="Google Shape;6426;p67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427" name="Google Shape;6427;p67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28" name="Google Shape;6428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29" name="Google Shape;6429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0" name="Google Shape;6430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1" name="Google Shape;6431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2" name="Google Shape;6432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3" name="Google Shape;6433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4" name="Google Shape;6434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35" name="Google Shape;6435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36" name="Google Shape;6436;p67"/>
                          <p:cNvCxnSpPr>
                            <a:endCxn id="6431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37" name="Google Shape;6437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38" name="Google Shape;6438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39" name="Google Shape;6439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0" name="Google Shape;6440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41" name="Google Shape;6441;p67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42" name="Google Shape;6442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43" name="Google Shape;6443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4" name="Google Shape;6444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5" name="Google Shape;6445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6" name="Google Shape;6446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7" name="Google Shape;6447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8" name="Google Shape;6448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49" name="Google Shape;6449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50" name="Google Shape;6450;p67"/>
                          <p:cNvCxnSpPr>
                            <a:endCxn id="6445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51" name="Google Shape;6451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52" name="Google Shape;6452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53" name="Google Shape;6453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4" name="Google Shape;6454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55" name="Google Shape;6455;p67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56" name="Google Shape;6456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57" name="Google Shape;6457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8" name="Google Shape;6458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59" name="Google Shape;6459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0" name="Google Shape;6460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1" name="Google Shape;6461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2" name="Google Shape;6462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3" name="Google Shape;6463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64" name="Google Shape;6464;p67"/>
                          <p:cNvCxnSpPr>
                            <a:endCxn id="6459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65" name="Google Shape;6465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66" name="Google Shape;6466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467" name="Google Shape;6467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68" name="Google Shape;6468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469" name="Google Shape;6469;p67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470" name="Google Shape;6470;p67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471" name="Google Shape;6471;p67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2" name="Google Shape;6472;p67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3" name="Google Shape;6473;p67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4" name="Google Shape;6474;p67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5" name="Google Shape;6475;p67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6" name="Google Shape;6476;p67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77" name="Google Shape;6477;p67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478" name="Google Shape;6478;p67"/>
                          <p:cNvCxnSpPr>
                            <a:endCxn id="6473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479" name="Google Shape;6479;p67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480" name="Google Shape;6480;p67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481" name="Google Shape;6481;p67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482" name="Google Shape;6482;p67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483" name="Google Shape;6483;p67"/>
                      <p:cNvCxnSpPr>
                        <a:stCxn id="6429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4" name="Google Shape;6484;p67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5" name="Google Shape;6485;p67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486" name="Google Shape;6486;p67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487" name="Google Shape;6487;p67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488" name="Google Shape;6488;p67"/>
                  <p:cNvCxnSpPr>
                    <a:stCxn id="6352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489" name="Google Shape;6489;p67"/>
                <p:cNvCxnSpPr>
                  <a:stCxn id="6329" idx="5"/>
                  <a:endCxn id="6416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490" name="Google Shape;6490;p67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491" name="Google Shape;6491;p67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492" name="Google Shape;6492;p67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493" name="Google Shape;6493;p67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494" name="Google Shape;6494;p67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5" name="Google Shape;6495;p67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6" name="Google Shape;6496;p67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7" name="Google Shape;6497;p67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8" name="Google Shape;6498;p67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499" name="Google Shape;6499;p67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0" name="Google Shape;6500;p67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501" name="Google Shape;6501;p67"/>
                    <p:cNvCxnSpPr>
                      <a:endCxn id="6496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502" name="Google Shape;6502;p67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503" name="Google Shape;6503;p67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504" name="Google Shape;6504;p67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505" name="Google Shape;6505;p67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506" name="Google Shape;6506;p67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507" name="Google Shape;6507;p67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508" name="Google Shape;6508;p67"/>
          <p:cNvGrpSpPr/>
          <p:nvPr/>
        </p:nvGrpSpPr>
        <p:grpSpPr>
          <a:xfrm>
            <a:off x="1833953" y="1828797"/>
            <a:ext cx="1544009" cy="1075913"/>
            <a:chOff x="393081" y="3061853"/>
            <a:chExt cx="1544009" cy="1075913"/>
          </a:xfrm>
        </p:grpSpPr>
        <p:grpSp>
          <p:nvGrpSpPr>
            <p:cNvPr id="6509" name="Google Shape;6509;p67"/>
            <p:cNvGrpSpPr/>
            <p:nvPr/>
          </p:nvGrpSpPr>
          <p:grpSpPr>
            <a:xfrm>
              <a:off x="393081" y="3198229"/>
              <a:ext cx="1118837" cy="826267"/>
              <a:chOff x="4052000" y="2820739"/>
              <a:chExt cx="1118837" cy="826267"/>
            </a:xfrm>
          </p:grpSpPr>
          <p:cxnSp>
            <p:nvCxnSpPr>
              <p:cNvPr id="6510" name="Google Shape;6510;p67"/>
              <p:cNvCxnSpPr/>
              <p:nvPr/>
            </p:nvCxnSpPr>
            <p:spPr>
              <a:xfrm rot="10800000">
                <a:off x="4769093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1" name="Google Shape;6511;p67"/>
              <p:cNvCxnSpPr/>
              <p:nvPr/>
            </p:nvCxnSpPr>
            <p:spPr>
              <a:xfrm rot="10800000">
                <a:off x="4052000" y="3192229"/>
                <a:ext cx="1059565" cy="1417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512" name="Google Shape;6512;p67"/>
              <p:cNvCxnSpPr/>
              <p:nvPr/>
            </p:nvCxnSpPr>
            <p:spPr>
              <a:xfrm flipH="1">
                <a:off x="4748700" y="3344630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513" name="Google Shape;6513;p67"/>
            <p:cNvSpPr txBox="1"/>
            <p:nvPr/>
          </p:nvSpPr>
          <p:spPr>
            <a:xfrm>
              <a:off x="536696" y="3269672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4" name="Google Shape;6514;p67"/>
            <p:cNvSpPr txBox="1"/>
            <p:nvPr/>
          </p:nvSpPr>
          <p:spPr>
            <a:xfrm>
              <a:off x="1219201" y="3061853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515" name="Google Shape;6515;p67"/>
            <p:cNvSpPr txBox="1"/>
            <p:nvPr/>
          </p:nvSpPr>
          <p:spPr>
            <a:xfrm>
              <a:off x="1177638" y="3768434"/>
              <a:ext cx="7178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9" name="Shape 6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0" name="Google Shape;6520;p68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messages</a:t>
            </a:r>
            <a:endParaRPr/>
          </a:p>
        </p:txBody>
      </p:sp>
      <p:sp>
        <p:nvSpPr>
          <p:cNvPr id="6521" name="Google Shape;6521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22" name="Google Shape;6522;p68"/>
          <p:cNvSpPr txBox="1"/>
          <p:nvPr/>
        </p:nvSpPr>
        <p:spPr>
          <a:xfrm>
            <a:off x="829980" y="1409874"/>
            <a:ext cx="10957012" cy="5041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 exchanged between peers over TCP connection</a:t>
            </a:r>
            <a:endParaRPr/>
          </a:p>
          <a:p>
            <a:pPr indent="-290513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messages: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OPEN: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opens TCP connection to remote BGP peer and authenticates sending BGP peer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UPDATE: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advertises new path (or withdraws old)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KEEPALIVE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keeps connection alive in absence of UPDATES; also ACKs OPEN request</a:t>
            </a:r>
            <a:endParaRPr/>
          </a:p>
          <a:p>
            <a:pPr indent="-290513" lvl="1" marL="6953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NOTIFICATION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reports errors in previous msg; also used to close connection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6" name="Shape 6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27" name="Google Shape;6527;p69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528" name="Google Shape;6528;p69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529" name="Google Shape;6529;p69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530" name="Google Shape;6530;p69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531" name="Google Shape;6531;p69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532" name="Google Shape;653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533" name="Google Shape;653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534" name="Google Shape;653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35" name="Google Shape;653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36" name="Google Shape;653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7" name="Google Shape;653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8" name="Google Shape;653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39" name="Google Shape;653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0" name="Google Shape;654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1" name="Google Shape;654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2" name="Google Shape;654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43" name="Google Shape;6543;p69"/>
                          <p:cNvCxnSpPr>
                            <a:endCxn id="653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44" name="Google Shape;654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45" name="Google Shape;654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46" name="Google Shape;654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47" name="Google Shape;654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48" name="Google Shape;654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49" name="Google Shape;654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50" name="Google Shape;655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1" name="Google Shape;655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2" name="Google Shape;655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3" name="Google Shape;655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4" name="Google Shape;655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5" name="Google Shape;655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56" name="Google Shape;655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57" name="Google Shape;6557;p69"/>
                          <p:cNvCxnSpPr>
                            <a:endCxn id="655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58" name="Google Shape;655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59" name="Google Shape;655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60" name="Google Shape;656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1" name="Google Shape;656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62" name="Google Shape;656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63" name="Google Shape;656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64" name="Google Shape;656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5" name="Google Shape;656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6" name="Google Shape;656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7" name="Google Shape;656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8" name="Google Shape;656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69" name="Google Shape;656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0" name="Google Shape;657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71" name="Google Shape;6571;p69"/>
                          <p:cNvCxnSpPr>
                            <a:endCxn id="65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72" name="Google Shape;657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73" name="Google Shape;657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574" name="Google Shape;657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5" name="Google Shape;657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576" name="Google Shape;657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77" name="Google Shape;657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578" name="Google Shape;657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79" name="Google Shape;657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0" name="Google Shape;658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1" name="Google Shape;658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2" name="Google Shape;658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3" name="Google Shape;658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4" name="Google Shape;658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585" name="Google Shape;6585;p69"/>
                          <p:cNvCxnSpPr>
                            <a:endCxn id="65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586" name="Google Shape;658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587" name="Google Shape;658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588" name="Google Shape;658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589" name="Google Shape;658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590" name="Google Shape;6590;p69"/>
                      <p:cNvCxnSpPr>
                        <a:stCxn id="653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1" name="Google Shape;659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592" name="Google Shape;659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593" name="Google Shape;6593;p69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594" name="Google Shape;6594;p69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595" name="Google Shape;6595;p69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596" name="Google Shape;6596;p69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597" name="Google Shape;6597;p69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598" name="Google Shape;6598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599" name="Google Shape;659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00" name="Google Shape;660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1" name="Google Shape;660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2" name="Google Shape;660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3" name="Google Shape;660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4" name="Google Shape;660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5" name="Google Shape;660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06" name="Google Shape;660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07" name="Google Shape;6607;p69"/>
                          <p:cNvCxnSpPr>
                            <a:endCxn id="66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08" name="Google Shape;660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09" name="Google Shape;660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10" name="Google Shape;661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1" name="Google Shape;661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12" name="Google Shape;6612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13" name="Google Shape;661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14" name="Google Shape;661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5" name="Google Shape;661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6" name="Google Shape;661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7" name="Google Shape;661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8" name="Google Shape;661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19" name="Google Shape;661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0" name="Google Shape;662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21" name="Google Shape;6621;p69"/>
                          <p:cNvCxnSpPr>
                            <a:endCxn id="66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22" name="Google Shape;662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23" name="Google Shape;662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24" name="Google Shape;662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5" name="Google Shape;662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26" name="Google Shape;6626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27" name="Google Shape;662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28" name="Google Shape;662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29" name="Google Shape;662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0" name="Google Shape;663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1" name="Google Shape;663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2" name="Google Shape;663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3" name="Google Shape;663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4" name="Google Shape;663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35" name="Google Shape;6635;p69"/>
                          <p:cNvCxnSpPr>
                            <a:endCxn id="66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36" name="Google Shape;663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37" name="Google Shape;663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638" name="Google Shape;663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39" name="Google Shape;663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40" name="Google Shape;6640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41" name="Google Shape;6641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42" name="Google Shape;6642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3" name="Google Shape;6643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4" name="Google Shape;6644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5" name="Google Shape;6645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6" name="Google Shape;6646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7" name="Google Shape;6647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48" name="Google Shape;6648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49" name="Google Shape;6649;p69"/>
                          <p:cNvCxnSpPr>
                            <a:endCxn id="66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50" name="Google Shape;6650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51" name="Google Shape;6651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52" name="Google Shape;6652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53" name="Google Shape;6653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654" name="Google Shape;6654;p69"/>
                      <p:cNvCxnSpPr>
                        <a:stCxn id="6611" idx="2"/>
                        <a:endCxn id="6625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5" name="Google Shape;6655;p69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6" name="Google Shape;6656;p69"/>
                      <p:cNvCxnSpPr>
                        <a:stCxn id="66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7" name="Google Shape;6657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658" name="Google Shape;6658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659" name="Google Shape;6659;p69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660" name="Google Shape;6660;p69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661" name="Google Shape;6661;p69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662" name="Google Shape;6662;p69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663" name="Google Shape;6663;p69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664" name="Google Shape;6664;p69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65" name="Google Shape;6665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66" name="Google Shape;6666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7" name="Google Shape;6667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8" name="Google Shape;6668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69" name="Google Shape;6669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0" name="Google Shape;6670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1" name="Google Shape;6671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2" name="Google Shape;6672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73" name="Google Shape;6673;p69"/>
                          <p:cNvCxnSpPr>
                            <a:endCxn id="66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74" name="Google Shape;6674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75" name="Google Shape;6675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76" name="Google Shape;6676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77" name="Google Shape;6677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78" name="Google Shape;6678;p69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79" name="Google Shape;6679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80" name="Google Shape;6680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1" name="Google Shape;6681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2" name="Google Shape;6682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3" name="Google Shape;6683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4" name="Google Shape;6684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5" name="Google Shape;6685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86" name="Google Shape;6686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687" name="Google Shape;6687;p69"/>
                          <p:cNvCxnSpPr>
                            <a:endCxn id="668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688" name="Google Shape;6688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689" name="Google Shape;6689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690" name="Google Shape;6690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1" name="Google Shape;6691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692" name="Google Shape;6692;p69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693" name="Google Shape;6693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694" name="Google Shape;6694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5" name="Google Shape;6695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6" name="Google Shape;6696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7" name="Google Shape;6697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8" name="Google Shape;6698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699" name="Google Shape;6699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0" name="Google Shape;6700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01" name="Google Shape;6701;p69"/>
                          <p:cNvCxnSpPr>
                            <a:endCxn id="669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02" name="Google Shape;6702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03" name="Google Shape;6703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704" name="Google Shape;6704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5" name="Google Shape;6705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706" name="Google Shape;6706;p69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707" name="Google Shape;6707;p69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708" name="Google Shape;6708;p69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09" name="Google Shape;6709;p69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0" name="Google Shape;6710;p69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1" name="Google Shape;6711;p69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2" name="Google Shape;6712;p69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3" name="Google Shape;6713;p69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4" name="Google Shape;6714;p69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715" name="Google Shape;6715;p69"/>
                          <p:cNvCxnSpPr>
                            <a:endCxn id="671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716" name="Google Shape;6716;p69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717" name="Google Shape;6717;p69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718" name="Google Shape;6718;p69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719" name="Google Shape;6719;p69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720" name="Google Shape;6720;p69"/>
                      <p:cNvCxnSpPr>
                        <a:stCxn id="6666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1" name="Google Shape;6721;p69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2" name="Google Shape;6722;p69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723" name="Google Shape;6723;p69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724" name="Google Shape;6724;p69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6725" name="Google Shape;6725;p69"/>
                  <p:cNvCxnSpPr>
                    <a:stCxn id="6589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726" name="Google Shape;6726;p69"/>
                <p:cNvCxnSpPr>
                  <a:stCxn id="6566" idx="5"/>
                  <a:endCxn id="6653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6727" name="Google Shape;6727;p69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6728" name="Google Shape;6728;p69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6729" name="Google Shape;6729;p69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730" name="Google Shape;6730;p69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6731" name="Google Shape;6731;p69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2" name="Google Shape;6732;p69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3" name="Google Shape;6733;p69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4" name="Google Shape;6734;p69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5" name="Google Shape;6735;p69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6" name="Google Shape;6736;p69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37" name="Google Shape;6737;p69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6738" name="Google Shape;6738;p69"/>
                    <p:cNvCxnSpPr>
                      <a:endCxn id="6733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6739" name="Google Shape;6739;p69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6740" name="Google Shape;6740;p69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6741" name="Google Shape;6741;p69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6742" name="Google Shape;6742;p69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6743" name="Google Shape;6743;p69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6744" name="Google Shape;6744;p69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45" name="Google Shape;6745;p69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6746" name="Google Shape;6746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47" name="Google Shape;6747;p69"/>
          <p:cNvGrpSpPr/>
          <p:nvPr/>
        </p:nvGrpSpPr>
        <p:grpSpPr>
          <a:xfrm>
            <a:off x="2993331" y="2473508"/>
            <a:ext cx="1275005" cy="828649"/>
            <a:chOff x="2241770" y="2498560"/>
            <a:chExt cx="1275005" cy="828649"/>
          </a:xfrm>
        </p:grpSpPr>
        <p:sp>
          <p:nvSpPr>
            <p:cNvPr id="6748" name="Google Shape;6748;p69"/>
            <p:cNvSpPr txBox="1"/>
            <p:nvPr/>
          </p:nvSpPr>
          <p:spPr>
            <a:xfrm>
              <a:off x="2241770" y="3019432"/>
              <a:ext cx="126015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AS2,AS3,X </a:t>
              </a:r>
              <a:endParaRPr/>
            </a:p>
          </p:txBody>
        </p:sp>
        <p:sp>
          <p:nvSpPr>
            <p:cNvPr id="6749" name="Google Shape;6749;p69"/>
            <p:cNvSpPr/>
            <p:nvPr/>
          </p:nvSpPr>
          <p:spPr>
            <a:xfrm rot="1968210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50" name="Google Shape;6750;p69"/>
          <p:cNvGrpSpPr/>
          <p:nvPr/>
        </p:nvGrpSpPr>
        <p:grpSpPr>
          <a:xfrm>
            <a:off x="3743662" y="1671430"/>
            <a:ext cx="941805" cy="615516"/>
            <a:chOff x="4482698" y="1658905"/>
            <a:chExt cx="941805" cy="615516"/>
          </a:xfrm>
        </p:grpSpPr>
        <p:sp>
          <p:nvSpPr>
            <p:cNvPr id="6751" name="Google Shape;6751;p69"/>
            <p:cNvSpPr/>
            <p:nvPr/>
          </p:nvSpPr>
          <p:spPr>
            <a:xfrm rot="-389120">
              <a:off x="4643012" y="1955688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2" name="Google Shape;6752;p69"/>
            <p:cNvSpPr txBox="1"/>
            <p:nvPr/>
          </p:nvSpPr>
          <p:spPr>
            <a:xfrm>
              <a:off x="4482698" y="1658905"/>
              <a:ext cx="76495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</a:t>
              </a:r>
              <a:endParaRPr/>
            </a:p>
          </p:txBody>
        </p:sp>
      </p:grpSp>
      <p:grpSp>
        <p:nvGrpSpPr>
          <p:cNvPr id="6753" name="Google Shape;6753;p69"/>
          <p:cNvGrpSpPr/>
          <p:nvPr/>
        </p:nvGrpSpPr>
        <p:grpSpPr>
          <a:xfrm>
            <a:off x="7037763" y="2400062"/>
            <a:ext cx="1291766" cy="685034"/>
            <a:chOff x="2281" y="2317"/>
            <a:chExt cx="814" cy="432"/>
          </a:xfrm>
        </p:grpSpPr>
        <p:sp>
          <p:nvSpPr>
            <p:cNvPr id="6754" name="Google Shape;6754;p69"/>
            <p:cNvSpPr/>
            <p:nvPr/>
          </p:nvSpPr>
          <p:spPr>
            <a:xfrm rot="-2203107">
              <a:off x="2282" y="2446"/>
              <a:ext cx="484" cy="163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5" name="Google Shape;6755;p69"/>
            <p:cNvSpPr txBox="1"/>
            <p:nvPr/>
          </p:nvSpPr>
          <p:spPr>
            <a:xfrm>
              <a:off x="2496" y="2559"/>
              <a:ext cx="599" cy="1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AS3, X</a:t>
              </a:r>
              <a:endParaRPr/>
            </a:p>
          </p:txBody>
        </p:sp>
      </p:grpSp>
      <p:sp>
        <p:nvSpPr>
          <p:cNvPr id="6756" name="Google Shape;6756;p69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6757" name="Google Shape;6757;p69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6758" name="Google Shape;6758;p69"/>
          <p:cNvGrpSpPr/>
          <p:nvPr/>
        </p:nvGrpSpPr>
        <p:grpSpPr>
          <a:xfrm>
            <a:off x="1643507" y="1934647"/>
            <a:ext cx="1360744" cy="1068501"/>
            <a:chOff x="1089218" y="2245331"/>
            <a:chExt cx="1360744" cy="1068501"/>
          </a:xfrm>
        </p:grpSpPr>
        <p:sp>
          <p:nvSpPr>
            <p:cNvPr id="6759" name="Google Shape;6759;p69"/>
            <p:cNvSpPr txBox="1"/>
            <p:nvPr/>
          </p:nvSpPr>
          <p:spPr>
            <a:xfrm>
              <a:off x="2165447" y="2998844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0" name="Google Shape;6760;p69"/>
            <p:cNvSpPr txBox="1"/>
            <p:nvPr/>
          </p:nvSpPr>
          <p:spPr>
            <a:xfrm>
              <a:off x="1458923" y="300605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6761" name="Google Shape;6761;p69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62" name="Google Shape;6762;p69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6763" name="Google Shape;6763;p69"/>
          <p:cNvGrpSpPr/>
          <p:nvPr/>
        </p:nvGrpSpPr>
        <p:grpSpPr>
          <a:xfrm>
            <a:off x="1126378" y="2990899"/>
            <a:ext cx="1694528" cy="3454211"/>
            <a:chOff x="537654" y="3292242"/>
            <a:chExt cx="1694528" cy="2998176"/>
          </a:xfrm>
        </p:grpSpPr>
        <p:sp>
          <p:nvSpPr>
            <p:cNvPr id="6764" name="Google Shape;6764;p69"/>
            <p:cNvSpPr/>
            <p:nvPr/>
          </p:nvSpPr>
          <p:spPr>
            <a:xfrm flipH="1" rot="10326036">
              <a:off x="771808" y="3379309"/>
              <a:ext cx="1333280" cy="959366"/>
            </a:xfrm>
            <a:custGeom>
              <a:rect b="b" l="l" r="r" t="t"/>
              <a:pathLst>
                <a:path extrusionOk="0" h="1143414" w="1332977">
                  <a:moveTo>
                    <a:pt x="1029955" y="1143414"/>
                  </a:moveTo>
                  <a:cubicBezTo>
                    <a:pt x="771645" y="868623"/>
                    <a:pt x="908943" y="903822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1125143" y="751678"/>
                    <a:pt x="1116033" y="592331"/>
                    <a:pt x="1332977" y="1045574"/>
                  </a:cubicBezTo>
                  <a:cubicBezTo>
                    <a:pt x="1183663" y="1029001"/>
                    <a:pt x="1194267" y="1059672"/>
                    <a:pt x="1029955" y="1143414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6765" name="Google Shape;6765;p69"/>
            <p:cNvGrpSpPr/>
            <p:nvPr/>
          </p:nvGrpSpPr>
          <p:grpSpPr>
            <a:xfrm>
              <a:off x="537654" y="4169528"/>
              <a:ext cx="1694528" cy="2120890"/>
              <a:chOff x="537654" y="4169528"/>
              <a:chExt cx="1694528" cy="2120890"/>
            </a:xfrm>
          </p:grpSpPr>
          <p:sp>
            <p:nvSpPr>
              <p:cNvPr id="6766" name="Google Shape;6766;p69"/>
              <p:cNvSpPr/>
              <p:nvPr/>
            </p:nvSpPr>
            <p:spPr>
              <a:xfrm rot="10800000">
                <a:off x="809301" y="4261100"/>
                <a:ext cx="1027112" cy="994484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6767" name="Google Shape;6767;p69"/>
              <p:cNvGrpSpPr/>
              <p:nvPr/>
            </p:nvGrpSpPr>
            <p:grpSpPr>
              <a:xfrm>
                <a:off x="812795" y="5933293"/>
                <a:ext cx="1035051" cy="357125"/>
                <a:chOff x="4128649" y="3606801"/>
                <a:chExt cx="568332" cy="338455"/>
              </a:xfrm>
            </p:grpSpPr>
            <p:sp>
              <p:nvSpPr>
                <p:cNvPr id="6768" name="Google Shape;6768;p69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69" name="Google Shape;6769;p6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0" name="Google Shape;6770;p69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71" name="Google Shape;6771;p69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772" name="Google Shape;6772;p69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773" name="Google Shape;6773;p69"/>
              <p:cNvSpPr/>
              <p:nvPr/>
            </p:nvSpPr>
            <p:spPr>
              <a:xfrm>
                <a:off x="817079" y="5203658"/>
                <a:ext cx="1027112" cy="860514"/>
              </a:xfrm>
              <a:prstGeom prst="rect">
                <a:avLst/>
              </a:prstGeom>
              <a:gradFill>
                <a:gsLst>
                  <a:gs pos="0">
                    <a:srgbClr val="8383E0">
                      <a:alpha val="61960"/>
                    </a:srgbClr>
                  </a:gs>
                  <a:gs pos="5400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6774" name="Google Shape;6774;p69"/>
              <p:cNvCxnSpPr>
                <a:endCxn id="6769" idx="1"/>
              </p:cNvCxnSpPr>
              <p:nvPr/>
            </p:nvCxnSpPr>
            <p:spPr>
              <a:xfrm>
                <a:off x="801395" y="4466956"/>
                <a:ext cx="114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75" name="Google Shape;6775;p69"/>
              <p:cNvCxnSpPr>
                <a:endCxn id="6769" idx="3"/>
              </p:cNvCxnSpPr>
              <p:nvPr/>
            </p:nvCxnSpPr>
            <p:spPr>
              <a:xfrm>
                <a:off x="1842745" y="4466956"/>
                <a:ext cx="5100" cy="16449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776" name="Google Shape;6776;p69"/>
              <p:cNvGrpSpPr/>
              <p:nvPr/>
            </p:nvGrpSpPr>
            <p:grpSpPr>
              <a:xfrm>
                <a:off x="777993" y="4169528"/>
                <a:ext cx="1079500" cy="395024"/>
                <a:chOff x="2183302" y="1574638"/>
                <a:chExt cx="1200154" cy="430181"/>
              </a:xfrm>
            </p:grpSpPr>
            <p:sp>
              <p:nvSpPr>
                <p:cNvPr id="6777" name="Google Shape;6777;p69"/>
                <p:cNvSpPr/>
                <p:nvPr/>
              </p:nvSpPr>
              <p:spPr>
                <a:xfrm flipH="1" rot="10800000">
                  <a:off x="2186832" y="1690517"/>
                  <a:ext cx="1194859" cy="31430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8" name="Google Shape;6778;p69"/>
                <p:cNvSpPr/>
                <p:nvPr/>
              </p:nvSpPr>
              <p:spPr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79" name="Google Shape;6779;p69"/>
                <p:cNvSpPr/>
                <p:nvPr/>
              </p:nvSpPr>
              <p:spPr>
                <a:xfrm flipH="1" rot="10800000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0" name="Google Shape;6780;p69"/>
                <p:cNvSpPr/>
                <p:nvPr/>
              </p:nvSpPr>
              <p:spPr>
                <a:xfrm>
                  <a:off x="2490400" y="1671469"/>
                  <a:ext cx="582428" cy="15715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1" name="Google Shape;6781;p69"/>
                <p:cNvSpPr/>
                <p:nvPr/>
              </p:nvSpPr>
              <p:spPr>
                <a:xfrm>
                  <a:off x="2430393" y="1630197"/>
                  <a:ext cx="702443" cy="109529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2" name="Google Shape;6782;p69"/>
                <p:cNvSpPr/>
                <p:nvPr/>
              </p:nvSpPr>
              <p:spPr>
                <a:xfrm>
                  <a:off x="2892805" y="1723852"/>
                  <a:ext cx="257680" cy="95243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83" name="Google Shape;6783;p69"/>
                <p:cNvSpPr/>
                <p:nvPr/>
              </p:nvSpPr>
              <p:spPr>
                <a:xfrm>
                  <a:off x="2418037" y="1725440"/>
                  <a:ext cx="254150" cy="95243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6784" name="Google Shape;6784;p69"/>
                <p:cNvCxnSpPr>
                  <a:endCxn id="6779" idx="2"/>
                </p:cNvCxnSpPr>
                <p:nvPr/>
              </p:nvCxnSpPr>
              <p:spPr>
                <a:xfrm rot="10800000">
                  <a:off x="2183302" y="1731789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6785" name="Google Shape;6785;p69"/>
                <p:cNvCxnSpPr/>
                <p:nvPr/>
              </p:nvCxnSpPr>
              <p:spPr>
                <a:xfrm rot="10800000">
                  <a:off x="3379926" y="1728615"/>
                  <a:ext cx="3530" cy="12222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sp>
            <p:nvSpPr>
              <p:cNvPr id="6786" name="Google Shape;6786;p69"/>
              <p:cNvSpPr/>
              <p:nvPr/>
            </p:nvSpPr>
            <p:spPr>
              <a:xfrm>
                <a:off x="546153" y="4588083"/>
                <a:ext cx="1670709" cy="130380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787" name="Google Shape;6787;p69"/>
              <p:cNvSpPr txBox="1"/>
              <p:nvPr/>
            </p:nvSpPr>
            <p:spPr>
              <a:xfrm>
                <a:off x="540390" y="4583226"/>
                <a:ext cx="620971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dest</a:t>
                </a:r>
                <a:endParaRPr/>
              </a:p>
            </p:txBody>
          </p:sp>
          <p:sp>
            <p:nvSpPr>
              <p:cNvPr id="6788" name="Google Shape;6788;p69"/>
              <p:cNvSpPr txBox="1"/>
              <p:nvPr/>
            </p:nvSpPr>
            <p:spPr>
              <a:xfrm>
                <a:off x="1162170" y="4587898"/>
                <a:ext cx="1070012" cy="3111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interface</a:t>
                </a:r>
                <a:endParaRPr/>
              </a:p>
            </p:txBody>
          </p:sp>
          <p:cxnSp>
            <p:nvCxnSpPr>
              <p:cNvPr id="6789" name="Google Shape;6789;p69"/>
              <p:cNvCxnSpPr/>
              <p:nvPr/>
            </p:nvCxnSpPr>
            <p:spPr>
              <a:xfrm>
                <a:off x="1154183" y="4593421"/>
                <a:ext cx="1345" cy="1293547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90" name="Google Shape;6790;p69"/>
              <p:cNvCxnSpPr/>
              <p:nvPr/>
            </p:nvCxnSpPr>
            <p:spPr>
              <a:xfrm rot="10800000">
                <a:off x="537654" y="4911108"/>
                <a:ext cx="1679208" cy="0"/>
              </a:xfrm>
              <a:prstGeom prst="straightConnector1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791" name="Google Shape;6791;p69"/>
              <p:cNvSpPr txBox="1"/>
              <p:nvPr/>
            </p:nvSpPr>
            <p:spPr>
              <a:xfrm>
                <a:off x="1222724" y="4844159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2" name="Google Shape;6792;p69"/>
              <p:cNvSpPr txBox="1"/>
              <p:nvPr/>
            </p:nvSpPr>
            <p:spPr>
              <a:xfrm>
                <a:off x="1218025" y="5574320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3" name="Google Shape;6793;p69"/>
              <p:cNvSpPr txBox="1"/>
              <p:nvPr/>
            </p:nvSpPr>
            <p:spPr>
              <a:xfrm>
                <a:off x="646020" y="484357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  <p:sp>
            <p:nvSpPr>
              <p:cNvPr id="6794" name="Google Shape;6794;p69"/>
              <p:cNvSpPr txBox="1"/>
              <p:nvPr/>
            </p:nvSpPr>
            <p:spPr>
              <a:xfrm>
                <a:off x="669517" y="5573736"/>
                <a:ext cx="415498" cy="3205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/>
              </a:p>
            </p:txBody>
          </p:sp>
        </p:grpSp>
      </p:grpSp>
      <p:sp>
        <p:nvSpPr>
          <p:cNvPr id="6795" name="Google Shape;6795;p69"/>
          <p:cNvSpPr txBox="1"/>
          <p:nvPr/>
        </p:nvSpPr>
        <p:spPr>
          <a:xfrm>
            <a:off x="491927" y="2538311"/>
            <a:ext cx="1117981" cy="840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local link interfaces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1a, 1d</a:t>
            </a:r>
            <a:endParaRPr/>
          </a:p>
        </p:txBody>
      </p:sp>
      <p:sp>
        <p:nvSpPr>
          <p:cNvPr id="6796" name="Google Shape;6796;p69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6797" name="Google Shape;6797;p69"/>
          <p:cNvGrpSpPr/>
          <p:nvPr/>
        </p:nvGrpSpPr>
        <p:grpSpPr>
          <a:xfrm>
            <a:off x="1260825" y="5090966"/>
            <a:ext cx="917328" cy="370003"/>
            <a:chOff x="1260825" y="5090966"/>
            <a:chExt cx="917328" cy="370003"/>
          </a:xfrm>
        </p:grpSpPr>
        <p:sp>
          <p:nvSpPr>
            <p:cNvPr id="6798" name="Google Shape;6798;p69"/>
            <p:cNvSpPr txBox="1"/>
            <p:nvPr/>
          </p:nvSpPr>
          <p:spPr>
            <a:xfrm>
              <a:off x="1260825" y="5091637"/>
              <a:ext cx="39946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1c</a:t>
              </a:r>
              <a:endParaRPr/>
            </a:p>
          </p:txBody>
        </p:sp>
        <p:sp>
          <p:nvSpPr>
            <p:cNvPr id="6799" name="Google Shape;6799;p69"/>
            <p:cNvSpPr txBox="1"/>
            <p:nvPr/>
          </p:nvSpPr>
          <p:spPr>
            <a:xfrm>
              <a:off x="1876467" y="509096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0" name="Google Shape;6800;p69"/>
          <p:cNvGrpSpPr/>
          <p:nvPr/>
        </p:nvGrpSpPr>
        <p:grpSpPr>
          <a:xfrm>
            <a:off x="1312521" y="5421278"/>
            <a:ext cx="864960" cy="372689"/>
            <a:chOff x="1312521" y="5421278"/>
            <a:chExt cx="864960" cy="372689"/>
          </a:xfrm>
        </p:grpSpPr>
        <p:sp>
          <p:nvSpPr>
            <p:cNvPr id="6801" name="Google Shape;6801;p69"/>
            <p:cNvSpPr txBox="1"/>
            <p:nvPr/>
          </p:nvSpPr>
          <p:spPr>
            <a:xfrm>
              <a:off x="1312521" y="5421278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6802" name="Google Shape;6802;p69"/>
            <p:cNvSpPr txBox="1"/>
            <p:nvPr/>
          </p:nvSpPr>
          <p:spPr>
            <a:xfrm>
              <a:off x="1875795" y="542463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6803" name="Google Shape;6803;p69"/>
          <p:cNvGrpSpPr/>
          <p:nvPr/>
        </p:nvGrpSpPr>
        <p:grpSpPr>
          <a:xfrm>
            <a:off x="2293495" y="1828802"/>
            <a:ext cx="1139242" cy="1021848"/>
            <a:chOff x="852623" y="3061858"/>
            <a:chExt cx="1139242" cy="1021848"/>
          </a:xfrm>
        </p:grpSpPr>
        <p:grpSp>
          <p:nvGrpSpPr>
            <p:cNvPr id="6804" name="Google Shape;6804;p69"/>
            <p:cNvGrpSpPr/>
            <p:nvPr/>
          </p:nvGrpSpPr>
          <p:grpSpPr>
            <a:xfrm>
              <a:off x="852623" y="3198229"/>
              <a:ext cx="760478" cy="811277"/>
              <a:chOff x="4511542" y="2820739"/>
              <a:chExt cx="760478" cy="811277"/>
            </a:xfrm>
          </p:grpSpPr>
          <p:cxnSp>
            <p:nvCxnSpPr>
              <p:cNvPr id="6805" name="Google Shape;6805;p69"/>
              <p:cNvCxnSpPr/>
              <p:nvPr/>
            </p:nvCxnSpPr>
            <p:spPr>
              <a:xfrm rot="10800000">
                <a:off x="4870276" y="2820739"/>
                <a:ext cx="401744" cy="302376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6" name="Google Shape;6806;p69"/>
              <p:cNvCxnSpPr/>
              <p:nvPr/>
            </p:nvCxnSpPr>
            <p:spPr>
              <a:xfrm rot="10800000">
                <a:off x="4511542" y="3225138"/>
                <a:ext cx="641247" cy="1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807" name="Google Shape;6807;p69"/>
              <p:cNvCxnSpPr/>
              <p:nvPr/>
            </p:nvCxnSpPr>
            <p:spPr>
              <a:xfrm flipH="1">
                <a:off x="4834894" y="3343933"/>
                <a:ext cx="422409" cy="288083"/>
              </a:xfrm>
              <a:prstGeom prst="straightConnector1">
                <a:avLst/>
              </a:prstGeom>
              <a:solidFill>
                <a:schemeClr val="accent1"/>
              </a:solidFill>
              <a:ln cap="flat" cmpd="sng" w="25400">
                <a:solidFill>
                  <a:srgbClr val="CC0000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sp>
          <p:nvSpPr>
            <p:cNvPr id="6808" name="Google Shape;6808;p69"/>
            <p:cNvSpPr txBox="1"/>
            <p:nvPr/>
          </p:nvSpPr>
          <p:spPr>
            <a:xfrm>
              <a:off x="915200" y="335586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09" name="Google Shape;6809;p69"/>
            <p:cNvSpPr txBox="1"/>
            <p:nvPr/>
          </p:nvSpPr>
          <p:spPr>
            <a:xfrm>
              <a:off x="1365356" y="3061858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  <p:sp>
          <p:nvSpPr>
            <p:cNvPr id="6810" name="Google Shape;6810;p69"/>
            <p:cNvSpPr txBox="1"/>
            <p:nvPr/>
          </p:nvSpPr>
          <p:spPr>
            <a:xfrm>
              <a:off x="1391251" y="3775929"/>
              <a:ext cx="60061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AS3,X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7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4" name="Shape 6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5" name="Google Shape;6815;p70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6816" name="Google Shape;6816;p70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6817" name="Google Shape;6817;p70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6818" name="Google Shape;6818;p70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6819" name="Google Shape;6819;p70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6820" name="Google Shape;682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821" name="Google Shape;682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822" name="Google Shape;682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23" name="Google Shape;682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24" name="Google Shape;682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5" name="Google Shape;682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6" name="Google Shape;682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7" name="Google Shape;682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8" name="Google Shape;682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29" name="Google Shape;682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0" name="Google Shape;683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31" name="Google Shape;6831;p70"/>
                          <p:cNvCxnSpPr>
                            <a:endCxn id="682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32" name="Google Shape;683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33" name="Google Shape;683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34" name="Google Shape;683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5" name="Google Shape;683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36" name="Google Shape;683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37" name="Google Shape;683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38" name="Google Shape;683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39" name="Google Shape;683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0" name="Google Shape;684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1" name="Google Shape;684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2" name="Google Shape;684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3" name="Google Shape;684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4" name="Google Shape;684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45" name="Google Shape;6845;p70"/>
                          <p:cNvCxnSpPr>
                            <a:endCxn id="684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46" name="Google Shape;684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47" name="Google Shape;684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48" name="Google Shape;684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49" name="Google Shape;684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50" name="Google Shape;685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51" name="Google Shape;685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52" name="Google Shape;685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3" name="Google Shape;685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4" name="Google Shape;685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5" name="Google Shape;685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6" name="Google Shape;685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7" name="Google Shape;685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58" name="Google Shape;685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59" name="Google Shape;6859;p70"/>
                          <p:cNvCxnSpPr>
                            <a:endCxn id="685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60" name="Google Shape;686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61" name="Google Shape;686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862" name="Google Shape;686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3" name="Google Shape;686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864" name="Google Shape;686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65" name="Google Shape;686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66" name="Google Shape;686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7" name="Google Shape;686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8" name="Google Shape;686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69" name="Google Shape;686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0" name="Google Shape;687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1" name="Google Shape;687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2" name="Google Shape;687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73" name="Google Shape;6873;p70"/>
                          <p:cNvCxnSpPr>
                            <a:endCxn id="686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74" name="Google Shape;687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75" name="Google Shape;687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76" name="Google Shape;687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77" name="Google Shape;687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878" name="Google Shape;6878;p70"/>
                      <p:cNvCxnSpPr>
                        <a:stCxn id="682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79" name="Google Shape;687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880" name="Google Shape;688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6881" name="Google Shape;6881;p70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6882" name="Google Shape;6882;p70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6883" name="Google Shape;6883;p70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84" name="Google Shape;6884;p70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6885" name="Google Shape;6885;p70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6886" name="Google Shape;6886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887" name="Google Shape;688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888" name="Google Shape;688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89" name="Google Shape;688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0" name="Google Shape;689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1" name="Google Shape;689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2" name="Google Shape;689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3" name="Google Shape;689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4" name="Google Shape;689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895" name="Google Shape;6895;p70"/>
                          <p:cNvCxnSpPr>
                            <a:endCxn id="689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896" name="Google Shape;689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897" name="Google Shape;689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898" name="Google Shape;689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899" name="Google Shape;689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00" name="Google Shape;6900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01" name="Google Shape;690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02" name="Google Shape;690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3" name="Google Shape;690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4" name="Google Shape;690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5" name="Google Shape;690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6" name="Google Shape;690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7" name="Google Shape;690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08" name="Google Shape;690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09" name="Google Shape;6909;p70"/>
                          <p:cNvCxnSpPr>
                            <a:endCxn id="690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10" name="Google Shape;691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11" name="Google Shape;691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12" name="Google Shape;691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3" name="Google Shape;691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14" name="Google Shape;6914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15" name="Google Shape;691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16" name="Google Shape;691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7" name="Google Shape;691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8" name="Google Shape;691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19" name="Google Shape;691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0" name="Google Shape;692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1" name="Google Shape;692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2" name="Google Shape;692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23" name="Google Shape;6923;p70"/>
                          <p:cNvCxnSpPr>
                            <a:endCxn id="691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24" name="Google Shape;692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25" name="Google Shape;692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26" name="Google Shape;692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27" name="Google Shape;692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28" name="Google Shape;6928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29" name="Google Shape;6929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30" name="Google Shape;6930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1" name="Google Shape;6931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2" name="Google Shape;6932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3" name="Google Shape;6933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4" name="Google Shape;6934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5" name="Google Shape;6935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36" name="Google Shape;6936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37" name="Google Shape;6937;p70"/>
                          <p:cNvCxnSpPr>
                            <a:endCxn id="69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38" name="Google Shape;6938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39" name="Google Shape;6939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40" name="Google Shape;6940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41" name="Google Shape;6941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6942" name="Google Shape;6942;p70"/>
                      <p:cNvCxnSpPr>
                        <a:stCxn id="6899" idx="2"/>
                        <a:endCxn id="6913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3" name="Google Shape;6943;p70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4" name="Google Shape;6944;p70"/>
                      <p:cNvCxnSpPr>
                        <a:stCxn id="6888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5" name="Google Shape;6945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6946" name="Google Shape;6946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6947" name="Google Shape;6947;p70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6948" name="Google Shape;6948;p70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6949" name="Google Shape;6949;p70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6950" name="Google Shape;6950;p70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951" name="Google Shape;6951;p70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6952" name="Google Shape;6952;p70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53" name="Google Shape;6953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54" name="Google Shape;6954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5" name="Google Shape;6955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6" name="Google Shape;6956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7" name="Google Shape;6957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8" name="Google Shape;6958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59" name="Google Shape;6959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0" name="Google Shape;6960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61" name="Google Shape;6961;p70"/>
                          <p:cNvCxnSpPr>
                            <a:endCxn id="695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62" name="Google Shape;6962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63" name="Google Shape;6963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64" name="Google Shape;6964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5" name="Google Shape;6965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66" name="Google Shape;6966;p70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67" name="Google Shape;6967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68" name="Google Shape;6968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69" name="Google Shape;6969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0" name="Google Shape;6970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1" name="Google Shape;6971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2" name="Google Shape;6972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3" name="Google Shape;6973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4" name="Google Shape;6974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75" name="Google Shape;6975;p70"/>
                          <p:cNvCxnSpPr>
                            <a:endCxn id="697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76" name="Google Shape;6976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77" name="Google Shape;6977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6978" name="Google Shape;6978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79" name="Google Shape;6979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80" name="Google Shape;6980;p70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81" name="Google Shape;6981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82" name="Google Shape;6982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3" name="Google Shape;6983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4" name="Google Shape;6984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5" name="Google Shape;6985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6" name="Google Shape;6986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7" name="Google Shape;6987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88" name="Google Shape;6988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6989" name="Google Shape;6989;p70"/>
                          <p:cNvCxnSpPr>
                            <a:endCxn id="698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6990" name="Google Shape;6990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6991" name="Google Shape;6991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6992" name="Google Shape;6992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3" name="Google Shape;6993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6994" name="Google Shape;6994;p70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6995" name="Google Shape;6995;p70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6996" name="Google Shape;6996;p70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7" name="Google Shape;6997;p70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8" name="Google Shape;6998;p70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6999" name="Google Shape;6999;p70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0" name="Google Shape;7000;p70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1" name="Google Shape;7001;p70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2" name="Google Shape;7002;p70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003" name="Google Shape;7003;p70"/>
                          <p:cNvCxnSpPr>
                            <a:endCxn id="699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004" name="Google Shape;7004;p70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005" name="Google Shape;7005;p70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006" name="Google Shape;7006;p70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007" name="Google Shape;7007;p70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008" name="Google Shape;7008;p70"/>
                      <p:cNvCxnSpPr>
                        <a:stCxn id="695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09" name="Google Shape;7009;p70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0" name="Google Shape;7010;p70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011" name="Google Shape;7011;p70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012" name="Google Shape;7012;p70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013" name="Google Shape;7013;p70"/>
                  <p:cNvCxnSpPr>
                    <a:stCxn id="6877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014" name="Google Shape;7014;p70"/>
                <p:cNvCxnSpPr>
                  <a:stCxn id="6854" idx="5"/>
                  <a:endCxn id="6941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015" name="Google Shape;7015;p70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016" name="Google Shape;7016;p70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017" name="Google Shape;7017;p70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018" name="Google Shape;7018;p70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019" name="Google Shape;7019;p70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0" name="Google Shape;7020;p70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1" name="Google Shape;7021;p70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2" name="Google Shape;7022;p70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3" name="Google Shape;7023;p70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4" name="Google Shape;7024;p70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25" name="Google Shape;7025;p70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026" name="Google Shape;7026;p70"/>
                    <p:cNvCxnSpPr>
                      <a:endCxn id="7021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027" name="Google Shape;7027;p70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028" name="Google Shape;7028;p70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029" name="Google Shape;7029;p70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030" name="Google Shape;7030;p70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031" name="Google Shape;7031;p70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032" name="Google Shape;7032;p70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033" name="Google Shape;7033;p70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path advertisement</a:t>
            </a:r>
            <a:endParaRPr/>
          </a:p>
        </p:txBody>
      </p:sp>
      <p:sp>
        <p:nvSpPr>
          <p:cNvPr id="7034" name="Google Shape;7034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5" name="Google Shape;7035;p70"/>
          <p:cNvSpPr txBox="1"/>
          <p:nvPr/>
        </p:nvSpPr>
        <p:spPr>
          <a:xfrm>
            <a:off x="3131508" y="4506640"/>
            <a:ext cx="8943583" cy="55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1a, 1b, 1d learn via iBGP from 1c: “path to X goes through 1c”</a:t>
            </a:r>
            <a:endParaRPr/>
          </a:p>
        </p:txBody>
      </p:sp>
      <p:sp>
        <p:nvSpPr>
          <p:cNvPr id="7036" name="Google Shape;7036;p70"/>
          <p:cNvSpPr txBox="1"/>
          <p:nvPr/>
        </p:nvSpPr>
        <p:spPr>
          <a:xfrm>
            <a:off x="3127771" y="4950493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OSPF intra-domain routing: to get to 1c, use  interface 1</a:t>
            </a:r>
            <a:endParaRPr/>
          </a:p>
        </p:txBody>
      </p:sp>
      <p:grpSp>
        <p:nvGrpSpPr>
          <p:cNvPr id="7037" name="Google Shape;7037;p70"/>
          <p:cNvGrpSpPr/>
          <p:nvPr/>
        </p:nvGrpSpPr>
        <p:grpSpPr>
          <a:xfrm>
            <a:off x="1643507" y="1934647"/>
            <a:ext cx="344767" cy="806081"/>
            <a:chOff x="1089218" y="2245331"/>
            <a:chExt cx="344767" cy="806081"/>
          </a:xfrm>
        </p:grpSpPr>
        <p:sp>
          <p:nvSpPr>
            <p:cNvPr id="7038" name="Google Shape;7038;p70"/>
            <p:cNvSpPr txBox="1"/>
            <p:nvPr/>
          </p:nvSpPr>
          <p:spPr>
            <a:xfrm>
              <a:off x="1149470" y="2245331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7039" name="Google Shape;7039;p70"/>
            <p:cNvSpPr txBox="1"/>
            <p:nvPr/>
          </p:nvSpPr>
          <p:spPr>
            <a:xfrm>
              <a:off x="1089218" y="2743635"/>
              <a:ext cx="2845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7040" name="Google Shape;7040;p70"/>
          <p:cNvSpPr txBox="1"/>
          <p:nvPr/>
        </p:nvSpPr>
        <p:spPr>
          <a:xfrm>
            <a:off x="3129859" y="5365940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1d: to get to X, use  interface 1</a:t>
            </a:r>
            <a:endParaRPr/>
          </a:p>
        </p:txBody>
      </p:sp>
      <p:grpSp>
        <p:nvGrpSpPr>
          <p:cNvPr id="7041" name="Google Shape;7041;p70"/>
          <p:cNvGrpSpPr/>
          <p:nvPr/>
        </p:nvGrpSpPr>
        <p:grpSpPr>
          <a:xfrm>
            <a:off x="399867" y="2407612"/>
            <a:ext cx="1694528" cy="3699295"/>
            <a:chOff x="399867" y="2407612"/>
            <a:chExt cx="1694528" cy="3699295"/>
          </a:xfrm>
        </p:grpSpPr>
        <p:sp>
          <p:nvSpPr>
            <p:cNvPr id="7042" name="Google Shape;7042;p70"/>
            <p:cNvSpPr/>
            <p:nvPr/>
          </p:nvSpPr>
          <p:spPr>
            <a:xfrm flipH="1" rot="10326036">
              <a:off x="668516" y="2483278"/>
              <a:ext cx="1196288" cy="1378282"/>
            </a:xfrm>
            <a:custGeom>
              <a:rect b="b" l="l" r="r" t="t"/>
              <a:pathLst>
                <a:path extrusionOk="0" h="1642695" w="1196017">
                  <a:moveTo>
                    <a:pt x="851586" y="1642695"/>
                  </a:moveTo>
                  <a:cubicBezTo>
                    <a:pt x="351624" y="596424"/>
                    <a:pt x="519034" y="861914"/>
                    <a:pt x="0" y="164654"/>
                  </a:cubicBezTo>
                  <a:cubicBezTo>
                    <a:pt x="346878" y="170249"/>
                    <a:pt x="644516" y="-5465"/>
                    <a:pt x="991394" y="130"/>
                  </a:cubicBezTo>
                  <a:cubicBezTo>
                    <a:pt x="818067" y="853650"/>
                    <a:pt x="952595" y="541133"/>
                    <a:pt x="1196017" y="1546568"/>
                  </a:cubicBezTo>
                  <a:cubicBezTo>
                    <a:pt x="1046703" y="1529995"/>
                    <a:pt x="1015898" y="1558953"/>
                    <a:pt x="851586" y="1642695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43" name="Google Shape;7043;p70"/>
            <p:cNvSpPr/>
            <p:nvPr/>
          </p:nvSpPr>
          <p:spPr>
            <a:xfrm rot="10800000">
              <a:off x="734144" y="3768921"/>
              <a:ext cx="1027112" cy="1145749"/>
            </a:xfrm>
            <a:prstGeom prst="rect">
              <a:avLst/>
            </a:prstGeom>
            <a:gradFill>
              <a:gsLst>
                <a:gs pos="0">
                  <a:srgbClr val="262699">
                    <a:alpha val="61960"/>
                  </a:srgbClr>
                </a:gs>
                <a:gs pos="54000">
                  <a:srgbClr val="8383E0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044" name="Google Shape;7044;p70"/>
            <p:cNvGrpSpPr/>
            <p:nvPr/>
          </p:nvGrpSpPr>
          <p:grpSpPr>
            <a:xfrm>
              <a:off x="737638" y="5695462"/>
              <a:ext cx="1035051" cy="411445"/>
              <a:chOff x="4128649" y="3606801"/>
              <a:chExt cx="568332" cy="338455"/>
            </a:xfrm>
          </p:grpSpPr>
          <p:sp>
            <p:nvSpPr>
              <p:cNvPr id="7045" name="Google Shape;7045;p70"/>
              <p:cNvSpPr/>
              <p:nvPr/>
            </p:nvSpPr>
            <p:spPr>
              <a:xfrm>
                <a:off x="4128649" y="3720080"/>
                <a:ext cx="568332" cy="225176"/>
              </a:xfrm>
              <a:prstGeom prst="ellipse">
                <a:avLst/>
              </a:prstGeom>
              <a:solidFill>
                <a:srgbClr val="2626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6" name="Google Shape;7046;p70"/>
              <p:cNvSpPr/>
              <p:nvPr/>
            </p:nvSpPr>
            <p:spPr>
              <a:xfrm>
                <a:off x="4128649" y="3720080"/>
                <a:ext cx="568332" cy="111898"/>
              </a:xfrm>
              <a:prstGeom prst="rect">
                <a:avLst/>
              </a:prstGeom>
              <a:solidFill>
                <a:srgbClr val="2626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47" name="Google Shape;7047;p70"/>
              <p:cNvSpPr/>
              <p:nvPr/>
            </p:nvSpPr>
            <p:spPr>
              <a:xfrm>
                <a:off x="4128649" y="3606801"/>
                <a:ext cx="568332" cy="225176"/>
              </a:xfrm>
              <a:prstGeom prst="ellipse">
                <a:avLst/>
              </a:prstGeom>
              <a:solidFill>
                <a:srgbClr val="8383E0">
                  <a:alpha val="69803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48" name="Google Shape;7048;p70"/>
              <p:cNvCxnSpPr/>
              <p:nvPr/>
            </p:nvCxnSpPr>
            <p:spPr>
              <a:xfrm>
                <a:off x="4696981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49" name="Google Shape;7049;p70"/>
              <p:cNvCxnSpPr/>
              <p:nvPr/>
            </p:nvCxnSpPr>
            <p:spPr>
              <a:xfrm>
                <a:off x="4128649" y="3720080"/>
                <a:ext cx="0" cy="1118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7050" name="Google Shape;7050;p70"/>
            <p:cNvSpPr/>
            <p:nvPr/>
          </p:nvSpPr>
          <p:spPr>
            <a:xfrm>
              <a:off x="741922" y="4854846"/>
              <a:ext cx="1027112" cy="991402"/>
            </a:xfrm>
            <a:prstGeom prst="rect">
              <a:avLst/>
            </a:prstGeom>
            <a:gradFill>
              <a:gsLst>
                <a:gs pos="0">
                  <a:srgbClr val="8383E0">
                    <a:alpha val="61960"/>
                  </a:srgbClr>
                </a:gs>
                <a:gs pos="54000">
                  <a:srgbClr val="ACACEA"/>
                </a:gs>
                <a:gs pos="100000">
                  <a:srgbClr val="FFFFFF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051" name="Google Shape;7051;p70"/>
            <p:cNvCxnSpPr>
              <a:endCxn id="7046" idx="1"/>
            </p:cNvCxnSpPr>
            <p:nvPr/>
          </p:nvCxnSpPr>
          <p:spPr>
            <a:xfrm>
              <a:off x="726238" y="4006085"/>
              <a:ext cx="114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7052" name="Google Shape;7052;p70"/>
            <p:cNvCxnSpPr>
              <a:endCxn id="7046" idx="3"/>
            </p:cNvCxnSpPr>
            <p:nvPr/>
          </p:nvCxnSpPr>
          <p:spPr>
            <a:xfrm>
              <a:off x="1767588" y="4006085"/>
              <a:ext cx="5100" cy="18951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7053" name="Google Shape;7053;p70"/>
            <p:cNvGrpSpPr/>
            <p:nvPr/>
          </p:nvGrpSpPr>
          <p:grpSpPr>
            <a:xfrm>
              <a:off x="702836" y="3663421"/>
              <a:ext cx="1079500" cy="455109"/>
              <a:chOff x="2183302" y="1574638"/>
              <a:chExt cx="1200154" cy="430181"/>
            </a:xfrm>
          </p:grpSpPr>
          <p:sp>
            <p:nvSpPr>
              <p:cNvPr id="7054" name="Google Shape;7054;p70"/>
              <p:cNvSpPr/>
              <p:nvPr/>
            </p:nvSpPr>
            <p:spPr>
              <a:xfrm flipH="1" rot="10800000">
                <a:off x="2186832" y="1690517"/>
                <a:ext cx="1194859" cy="314302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31000">
                    <a:srgbClr val="8383E0"/>
                  </a:gs>
                  <a:gs pos="100000">
                    <a:srgbClr val="D5D5F4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5" name="Google Shape;7055;p70"/>
              <p:cNvSpPr/>
              <p:nvPr/>
            </p:nvSpPr>
            <p:spPr>
              <a:xfrm>
                <a:off x="2183302" y="1734964"/>
                <a:ext cx="1198389" cy="112704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54000">
                    <a:srgbClr val="8383E0"/>
                  </a:gs>
                  <a:gs pos="100000">
                    <a:srgbClr val="262699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6" name="Google Shape;7056;p70"/>
              <p:cNvSpPr/>
              <p:nvPr/>
            </p:nvSpPr>
            <p:spPr>
              <a:xfrm flipH="1" rot="10800000">
                <a:off x="2183302" y="1574638"/>
                <a:ext cx="1196624" cy="314302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7" name="Google Shape;7057;p70"/>
              <p:cNvSpPr/>
              <p:nvPr/>
            </p:nvSpPr>
            <p:spPr>
              <a:xfrm>
                <a:off x="2490400" y="1671469"/>
                <a:ext cx="582428" cy="157150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8" name="Google Shape;7058;p70"/>
              <p:cNvSpPr/>
              <p:nvPr/>
            </p:nvSpPr>
            <p:spPr>
              <a:xfrm>
                <a:off x="2430393" y="1630197"/>
                <a:ext cx="702443" cy="109529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59" name="Google Shape;7059;p70"/>
              <p:cNvSpPr/>
              <p:nvPr/>
            </p:nvSpPr>
            <p:spPr>
              <a:xfrm>
                <a:off x="2892805" y="1723852"/>
                <a:ext cx="257680" cy="95243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7060" name="Google Shape;7060;p70"/>
              <p:cNvSpPr/>
              <p:nvPr/>
            </p:nvSpPr>
            <p:spPr>
              <a:xfrm>
                <a:off x="2418037" y="1725440"/>
                <a:ext cx="254150" cy="95243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061" name="Google Shape;7061;p70"/>
              <p:cNvCxnSpPr>
                <a:endCxn id="7056" idx="2"/>
              </p:cNvCxnSpPr>
              <p:nvPr/>
            </p:nvCxnSpPr>
            <p:spPr>
              <a:xfrm rot="10800000">
                <a:off x="2183302" y="1731789"/>
                <a:ext cx="3600" cy="1221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7062" name="Google Shape;7062;p70"/>
              <p:cNvCxnSpPr/>
              <p:nvPr/>
            </p:nvCxnSpPr>
            <p:spPr>
              <a:xfrm rot="10800000">
                <a:off x="3379926" y="1728615"/>
                <a:ext cx="3530" cy="12222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sp>
          <p:nvSpPr>
            <p:cNvPr id="7063" name="Google Shape;7063;p70"/>
            <p:cNvSpPr/>
            <p:nvPr/>
          </p:nvSpPr>
          <p:spPr>
            <a:xfrm>
              <a:off x="408366" y="4245849"/>
              <a:ext cx="1670709" cy="1502121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064" name="Google Shape;7064;p70"/>
            <p:cNvSpPr txBox="1"/>
            <p:nvPr/>
          </p:nvSpPr>
          <p:spPr>
            <a:xfrm>
              <a:off x="402603" y="4240253"/>
              <a:ext cx="620971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</a:t>
              </a:r>
              <a:endParaRPr/>
            </a:p>
          </p:txBody>
        </p:sp>
        <p:sp>
          <p:nvSpPr>
            <p:cNvPr id="7065" name="Google Shape;7065;p70"/>
            <p:cNvSpPr txBox="1"/>
            <p:nvPr/>
          </p:nvSpPr>
          <p:spPr>
            <a:xfrm>
              <a:off x="1024383" y="4245636"/>
              <a:ext cx="1070012" cy="3585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interface</a:t>
              </a:r>
              <a:endParaRPr/>
            </a:p>
          </p:txBody>
        </p:sp>
        <p:cxnSp>
          <p:nvCxnSpPr>
            <p:cNvPr id="7066" name="Google Shape;7066;p70"/>
            <p:cNvCxnSpPr/>
            <p:nvPr/>
          </p:nvCxnSpPr>
          <p:spPr>
            <a:xfrm>
              <a:off x="1016396" y="4251999"/>
              <a:ext cx="1345" cy="1490301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67" name="Google Shape;7067;p70"/>
            <p:cNvCxnSpPr/>
            <p:nvPr/>
          </p:nvCxnSpPr>
          <p:spPr>
            <a:xfrm rot="10800000">
              <a:off x="399867" y="4618007"/>
              <a:ext cx="1679208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068" name="Google Shape;7068;p70"/>
            <p:cNvSpPr txBox="1"/>
            <p:nvPr/>
          </p:nvSpPr>
          <p:spPr>
            <a:xfrm>
              <a:off x="1084937" y="4540875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69" name="Google Shape;7069;p70"/>
            <p:cNvSpPr txBox="1"/>
            <p:nvPr/>
          </p:nvSpPr>
          <p:spPr>
            <a:xfrm>
              <a:off x="1080238" y="5382097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0" name="Google Shape;7070;p70"/>
            <p:cNvSpPr txBox="1"/>
            <p:nvPr/>
          </p:nvSpPr>
          <p:spPr>
            <a:xfrm>
              <a:off x="508233" y="4540203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7071" name="Google Shape;7071;p70"/>
            <p:cNvSpPr txBox="1"/>
            <p:nvPr/>
          </p:nvSpPr>
          <p:spPr>
            <a:xfrm>
              <a:off x="531730" y="5381424"/>
              <a:ext cx="4154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7072" name="Google Shape;7072;p70"/>
            <p:cNvGrpSpPr/>
            <p:nvPr/>
          </p:nvGrpSpPr>
          <p:grpSpPr>
            <a:xfrm>
              <a:off x="521789" y="4827919"/>
              <a:ext cx="917328" cy="370003"/>
              <a:chOff x="1260825" y="5090966"/>
              <a:chExt cx="917328" cy="370003"/>
            </a:xfrm>
          </p:grpSpPr>
          <p:sp>
            <p:nvSpPr>
              <p:cNvPr id="7073" name="Google Shape;7073;p70"/>
              <p:cNvSpPr txBox="1"/>
              <p:nvPr/>
            </p:nvSpPr>
            <p:spPr>
              <a:xfrm>
                <a:off x="1260825" y="5091637"/>
                <a:ext cx="39946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1c</a:t>
                </a:r>
                <a:endParaRPr/>
              </a:p>
            </p:txBody>
          </p:sp>
          <p:sp>
            <p:nvSpPr>
              <p:cNvPr id="7074" name="Google Shape;7074;p70"/>
              <p:cNvSpPr txBox="1"/>
              <p:nvPr/>
            </p:nvSpPr>
            <p:spPr>
              <a:xfrm>
                <a:off x="1876467" y="5090966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7075" name="Google Shape;7075;p70"/>
          <p:cNvGrpSpPr/>
          <p:nvPr/>
        </p:nvGrpSpPr>
        <p:grpSpPr>
          <a:xfrm>
            <a:off x="582650" y="5157552"/>
            <a:ext cx="864960" cy="372689"/>
            <a:chOff x="2013978" y="7112291"/>
            <a:chExt cx="864960" cy="372689"/>
          </a:xfrm>
        </p:grpSpPr>
        <p:sp>
          <p:nvSpPr>
            <p:cNvPr id="7076" name="Google Shape;7076;p70"/>
            <p:cNvSpPr txBox="1"/>
            <p:nvPr/>
          </p:nvSpPr>
          <p:spPr>
            <a:xfrm>
              <a:off x="2013978" y="7112291"/>
              <a:ext cx="3048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  <p:sp>
          <p:nvSpPr>
            <p:cNvPr id="7077" name="Google Shape;7077;p70"/>
            <p:cNvSpPr txBox="1"/>
            <p:nvPr/>
          </p:nvSpPr>
          <p:spPr>
            <a:xfrm>
              <a:off x="2577252" y="711564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7078" name="Google Shape;7078;p70"/>
          <p:cNvSpPr txBox="1"/>
          <p:nvPr/>
        </p:nvSpPr>
        <p:spPr>
          <a:xfrm>
            <a:off x="3129859" y="575424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OSPF intra-domain routing: to get to 1c, use  interface 2</a:t>
            </a:r>
            <a:endParaRPr/>
          </a:p>
        </p:txBody>
      </p:sp>
      <p:sp>
        <p:nvSpPr>
          <p:cNvPr id="7079" name="Google Shape;7079;p70"/>
          <p:cNvSpPr txBox="1"/>
          <p:nvPr/>
        </p:nvSpPr>
        <p:spPr>
          <a:xfrm>
            <a:off x="3131947" y="6157167"/>
            <a:ext cx="8270914" cy="5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3688" lvl="0" marL="293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 1a: to get to X, use  interface 2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3" name="Shape 7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4" name="Google Shape;7084;p71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Why different Intra-, Inter-AS routing ?</a:t>
            </a:r>
            <a:r>
              <a:rPr lang="en-US" sz="6000"/>
              <a:t> </a:t>
            </a:r>
            <a:endParaRPr/>
          </a:p>
        </p:txBody>
      </p:sp>
      <p:sp>
        <p:nvSpPr>
          <p:cNvPr id="7085" name="Google Shape;7085;p71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6" name="Google Shape;7086;p71"/>
          <p:cNvSpPr txBox="1"/>
          <p:nvPr/>
        </p:nvSpPr>
        <p:spPr>
          <a:xfrm>
            <a:off x="952500" y="1421534"/>
            <a:ext cx="1031860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policy: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admin wants control over how its traffic routed, who routes through its network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single admin, so policy less of an issue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scale: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hierarchical routing saves table size, reduced update traffic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performance: 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intra-AS: can focus on performance</a:t>
            </a:r>
            <a:endParaRPr/>
          </a:p>
          <a:p>
            <a:pPr indent="-223837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inter-AS: policy dominates over performance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0" name="Shape 7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91" name="Google Shape;7091;p72"/>
          <p:cNvGrpSpPr/>
          <p:nvPr/>
        </p:nvGrpSpPr>
        <p:grpSpPr>
          <a:xfrm>
            <a:off x="1163507" y="1064076"/>
            <a:ext cx="9801110" cy="2876474"/>
            <a:chOff x="1113403" y="1064076"/>
            <a:chExt cx="9801110" cy="2876474"/>
          </a:xfrm>
        </p:grpSpPr>
        <p:grpSp>
          <p:nvGrpSpPr>
            <p:cNvPr id="7092" name="Google Shape;7092;p72"/>
            <p:cNvGrpSpPr/>
            <p:nvPr/>
          </p:nvGrpSpPr>
          <p:grpSpPr>
            <a:xfrm>
              <a:off x="1113403" y="1064076"/>
              <a:ext cx="9801110" cy="2876474"/>
              <a:chOff x="1426553" y="3694542"/>
              <a:chExt cx="9801110" cy="2876474"/>
            </a:xfrm>
          </p:grpSpPr>
          <p:grpSp>
            <p:nvGrpSpPr>
              <p:cNvPr id="7093" name="Google Shape;7093;p72"/>
              <p:cNvGrpSpPr/>
              <p:nvPr/>
            </p:nvGrpSpPr>
            <p:grpSpPr>
              <a:xfrm>
                <a:off x="1426553" y="3694542"/>
                <a:ext cx="9249542" cy="2876474"/>
                <a:chOff x="1426553" y="3694542"/>
                <a:chExt cx="9249542" cy="2876474"/>
              </a:xfrm>
            </p:grpSpPr>
            <p:grpSp>
              <p:nvGrpSpPr>
                <p:cNvPr id="7094" name="Google Shape;7094;p72"/>
                <p:cNvGrpSpPr/>
                <p:nvPr/>
              </p:nvGrpSpPr>
              <p:grpSpPr>
                <a:xfrm>
                  <a:off x="4625977" y="4850481"/>
                  <a:ext cx="2545688" cy="1720535"/>
                  <a:chOff x="4625977" y="4850481"/>
                  <a:chExt cx="2545688" cy="1720535"/>
                </a:xfrm>
              </p:grpSpPr>
              <p:grpSp>
                <p:nvGrpSpPr>
                  <p:cNvPr id="7095" name="Google Shape;7095;p72"/>
                  <p:cNvGrpSpPr/>
                  <p:nvPr/>
                </p:nvGrpSpPr>
                <p:grpSpPr>
                  <a:xfrm>
                    <a:off x="4625977" y="4850481"/>
                    <a:ext cx="2545688" cy="1720535"/>
                    <a:chOff x="-2170772" y="2784954"/>
                    <a:chExt cx="2712783" cy="1853712"/>
                  </a:xfrm>
                </p:grpSpPr>
                <p:sp>
                  <p:nvSpPr>
                    <p:cNvPr id="7096" name="Google Shape;709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097" name="Google Shape;709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098" name="Google Shape;709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099" name="Google Shape;709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00" name="Google Shape;710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1" name="Google Shape;710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2" name="Google Shape;710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3" name="Google Shape;710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4" name="Google Shape;710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5" name="Google Shape;710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06" name="Google Shape;710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07" name="Google Shape;7107;p72"/>
                          <p:cNvCxnSpPr>
                            <a:endCxn id="710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08" name="Google Shape;710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09" name="Google Shape;710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10" name="Google Shape;711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1" name="Google Shape;711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12" name="Google Shape;711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13" name="Google Shape;711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14" name="Google Shape;711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5" name="Google Shape;711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6" name="Google Shape;711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7" name="Google Shape;711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8" name="Google Shape;711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19" name="Google Shape;711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0" name="Google Shape;712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21" name="Google Shape;7121;p72"/>
                          <p:cNvCxnSpPr>
                            <a:endCxn id="711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22" name="Google Shape;712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23" name="Google Shape;712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24" name="Google Shape;712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5" name="Google Shape;712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26" name="Google Shape;712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27" name="Google Shape;712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28" name="Google Shape;712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29" name="Google Shape;712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0" name="Google Shape;713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1" name="Google Shape;713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2" name="Google Shape;713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3" name="Google Shape;713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4" name="Google Shape;713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35" name="Google Shape;7135;p72"/>
                          <p:cNvCxnSpPr>
                            <a:endCxn id="713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36" name="Google Shape;713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37" name="Google Shape;713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138" name="Google Shape;713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39" name="Google Shape;713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40" name="Google Shape;714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41" name="Google Shape;714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42" name="Google Shape;714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3" name="Google Shape;714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4" name="Google Shape;714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5" name="Google Shape;714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6" name="Google Shape;714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7" name="Google Shape;714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48" name="Google Shape;714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49" name="Google Shape;7149;p72"/>
                          <p:cNvCxnSpPr>
                            <a:endCxn id="714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50" name="Google Shape;715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51" name="Google Shape;715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52" name="Google Shape;715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53" name="Google Shape;715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2a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154" name="Google Shape;7154;p72"/>
                      <p:cNvCxnSpPr>
                        <a:stCxn id="710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5" name="Google Shape;715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156" name="Google Shape;715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157" name="Google Shape;7157;p72"/>
                  <p:cNvSpPr txBox="1"/>
                  <p:nvPr/>
                </p:nvSpPr>
                <p:spPr>
                  <a:xfrm>
                    <a:off x="4833576" y="4910165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2</a:t>
                    </a:r>
                    <a:endParaRPr/>
                  </a:p>
                </p:txBody>
              </p:sp>
            </p:grpSp>
            <p:grpSp>
              <p:nvGrpSpPr>
                <p:cNvPr id="7158" name="Google Shape;7158;p72"/>
                <p:cNvGrpSpPr/>
                <p:nvPr/>
              </p:nvGrpSpPr>
              <p:grpSpPr>
                <a:xfrm>
                  <a:off x="8100574" y="3694542"/>
                  <a:ext cx="2575521" cy="1672516"/>
                  <a:chOff x="8100574" y="3694542"/>
                  <a:chExt cx="2575521" cy="1672516"/>
                </a:xfrm>
              </p:grpSpPr>
              <p:sp>
                <p:nvSpPr>
                  <p:cNvPr id="7159" name="Google Shape;7159;p72"/>
                  <p:cNvSpPr/>
                  <p:nvPr/>
                </p:nvSpPr>
                <p:spPr>
                  <a:xfrm>
                    <a:off x="8100574" y="3694542"/>
                    <a:ext cx="2575521" cy="1672516"/>
                  </a:xfrm>
                  <a:custGeom>
                    <a:rect b="b" l="l" r="r" t="t"/>
                    <a:pathLst>
                      <a:path extrusionOk="0" h="10795" w="10000">
                        <a:moveTo>
                          <a:pt x="45" y="5036"/>
                        </a:moveTo>
                        <a:cubicBezTo>
                          <a:pt x="272" y="4277"/>
                          <a:pt x="1931" y="3650"/>
                          <a:pt x="2738" y="2811"/>
                        </a:cubicBezTo>
                        <a:cubicBezTo>
                          <a:pt x="3545" y="1972"/>
                          <a:pt x="3352" y="117"/>
                          <a:pt x="4886" y="4"/>
                        </a:cubicBezTo>
                        <a:cubicBezTo>
                          <a:pt x="6420" y="-109"/>
                          <a:pt x="7216" y="1912"/>
                          <a:pt x="8068" y="2813"/>
                        </a:cubicBezTo>
                        <a:cubicBezTo>
                          <a:pt x="8920" y="3715"/>
                          <a:pt x="9928" y="3420"/>
                          <a:pt x="9996" y="5413"/>
                        </a:cubicBezTo>
                        <a:cubicBezTo>
                          <a:pt x="10064" y="7406"/>
                          <a:pt x="9275" y="6409"/>
                          <a:pt x="8476" y="7306"/>
                        </a:cubicBezTo>
                        <a:cubicBezTo>
                          <a:pt x="7677" y="8203"/>
                          <a:pt x="7086" y="10770"/>
                          <a:pt x="5202" y="10795"/>
                        </a:cubicBezTo>
                        <a:cubicBezTo>
                          <a:pt x="3318" y="10820"/>
                          <a:pt x="3391" y="8255"/>
                          <a:pt x="2753" y="7683"/>
                        </a:cubicBezTo>
                        <a:cubicBezTo>
                          <a:pt x="2115" y="7111"/>
                          <a:pt x="2326" y="7496"/>
                          <a:pt x="1375" y="7365"/>
                        </a:cubicBezTo>
                        <a:cubicBezTo>
                          <a:pt x="493" y="6773"/>
                          <a:pt x="-182" y="5795"/>
                          <a:pt x="45" y="5036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160" name="Google Shape;7160;p72"/>
                  <p:cNvGrpSpPr/>
                  <p:nvPr/>
                </p:nvGrpSpPr>
                <p:grpSpPr>
                  <a:xfrm>
                    <a:off x="8136838" y="3735782"/>
                    <a:ext cx="2402775" cy="1530043"/>
                    <a:chOff x="8136838" y="3735782"/>
                    <a:chExt cx="2402775" cy="1530043"/>
                  </a:xfrm>
                </p:grpSpPr>
                <p:grpSp>
                  <p:nvGrpSpPr>
                    <p:cNvPr id="7161" name="Google Shape;7161;p72"/>
                    <p:cNvGrpSpPr/>
                    <p:nvPr/>
                  </p:nvGrpSpPr>
                  <p:grpSpPr>
                    <a:xfrm>
                      <a:off x="8324065" y="3830658"/>
                      <a:ext cx="2215548" cy="1435167"/>
                      <a:chOff x="833331" y="2873352"/>
                      <a:chExt cx="2333625" cy="1590649"/>
                    </a:xfrm>
                  </p:grpSpPr>
                  <p:grpSp>
                    <p:nvGrpSpPr>
                      <p:cNvPr id="7162" name="Google Shape;7162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63" name="Google Shape;716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64" name="Google Shape;716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5" name="Google Shape;716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6" name="Google Shape;716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7" name="Google Shape;716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8" name="Google Shape;716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69" name="Google Shape;716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0" name="Google Shape;717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71" name="Google Shape;7171;p72"/>
                          <p:cNvCxnSpPr>
                            <a:endCxn id="716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72" name="Google Shape;717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73" name="Google Shape;717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74" name="Google Shape;717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5" name="Google Shape;717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76" name="Google Shape;7176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77" name="Google Shape;717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78" name="Google Shape;717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79" name="Google Shape;717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0" name="Google Shape;718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1" name="Google Shape;718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2" name="Google Shape;718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3" name="Google Shape;718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4" name="Google Shape;718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85" name="Google Shape;7185;p72"/>
                          <p:cNvCxnSpPr>
                            <a:endCxn id="718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186" name="Google Shape;718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187" name="Google Shape;718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188" name="Google Shape;718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89" name="Google Shape;718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190" name="Google Shape;7190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191" name="Google Shape;719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192" name="Google Shape;719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3" name="Google Shape;719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4" name="Google Shape;719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5" name="Google Shape;719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6" name="Google Shape;719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7" name="Google Shape;719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198" name="Google Shape;719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199" name="Google Shape;7199;p72"/>
                          <p:cNvCxnSpPr>
                            <a:endCxn id="719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00" name="Google Shape;720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01" name="Google Shape;720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02" name="Google Shape;720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3" name="Google Shape;720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04" name="Google Shape;7204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05" name="Google Shape;7205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06" name="Google Shape;7206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7" name="Google Shape;7207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8" name="Google Shape;7208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09" name="Google Shape;7209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0" name="Google Shape;7210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1" name="Google Shape;7211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2" name="Google Shape;7212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13" name="Google Shape;7213;p72"/>
                          <p:cNvCxnSpPr>
                            <a:endCxn id="7208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14" name="Google Shape;7214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15" name="Google Shape;7215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16" name="Google Shape;7216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17" name="Google Shape;7217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3a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18" name="Google Shape;7218;p72"/>
                      <p:cNvCxnSpPr>
                        <a:stCxn id="7175" idx="2"/>
                        <a:endCxn id="7189" idx="0"/>
                      </p:cNvCxnSpPr>
                      <p:nvPr/>
                    </p:nvCxnSpPr>
                    <p:spPr>
                      <a:xfrm>
                        <a:off x="1991073" y="3242684"/>
                        <a:ext cx="4200" cy="8520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rgbClr val="000090"/>
                        </a:solidFill>
                        <a:prstDash val="dash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19" name="Google Shape;7219;p72"/>
                      <p:cNvCxnSpPr/>
                      <p:nvPr/>
                    </p:nvCxnSpPr>
                    <p:spPr>
                      <a:xfrm>
                        <a:off x="1407477" y="3648621"/>
                        <a:ext cx="1204913" cy="6353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0" name="Google Shape;7220;p72"/>
                      <p:cNvCxnSpPr>
                        <a:stCxn id="7164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1" name="Google Shape;7221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22" name="Google Shape;7222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  <p:sp>
                  <p:nvSpPr>
                    <p:cNvPr id="7223" name="Google Shape;7223;p72"/>
                    <p:cNvSpPr txBox="1"/>
                    <p:nvPr/>
                  </p:nvSpPr>
                  <p:spPr>
                    <a:xfrm>
                      <a:off x="8136838" y="3735782"/>
                      <a:ext cx="753532" cy="40011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00009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 3</a:t>
                      </a:r>
                      <a:endParaRPr/>
                    </a:p>
                  </p:txBody>
                </p:sp>
              </p:grpSp>
            </p:grpSp>
            <p:grpSp>
              <p:nvGrpSpPr>
                <p:cNvPr id="7224" name="Google Shape;7224;p72"/>
                <p:cNvGrpSpPr/>
                <p:nvPr/>
              </p:nvGrpSpPr>
              <p:grpSpPr>
                <a:xfrm>
                  <a:off x="1426553" y="4136253"/>
                  <a:ext cx="3452487" cy="1719017"/>
                  <a:chOff x="1426553" y="4136253"/>
                  <a:chExt cx="3452487" cy="1719017"/>
                </a:xfrm>
              </p:grpSpPr>
              <p:grpSp>
                <p:nvGrpSpPr>
                  <p:cNvPr id="7225" name="Google Shape;7225;p72"/>
                  <p:cNvGrpSpPr/>
                  <p:nvPr/>
                </p:nvGrpSpPr>
                <p:grpSpPr>
                  <a:xfrm>
                    <a:off x="1426553" y="4136253"/>
                    <a:ext cx="2557336" cy="1719017"/>
                    <a:chOff x="-2170772" y="2784954"/>
                    <a:chExt cx="2712783" cy="1853712"/>
                  </a:xfrm>
                </p:grpSpPr>
                <p:sp>
                  <p:nvSpPr>
                    <p:cNvPr id="7226" name="Google Shape;7226;p72"/>
                    <p:cNvSpPr/>
                    <p:nvPr/>
                  </p:nvSpPr>
                  <p:spPr>
                    <a:xfrm>
                      <a:off x="-2170772" y="2784954"/>
                      <a:ext cx="2712783" cy="1853712"/>
                    </a:xfrm>
                    <a:custGeom>
                      <a:rect b="b" l="l" r="r" t="t"/>
                      <a:pathLst>
                        <a:path extrusionOk="0" h="10795" w="10000">
                          <a:moveTo>
                            <a:pt x="45" y="5036"/>
                          </a:moveTo>
                          <a:cubicBezTo>
                            <a:pt x="272" y="4277"/>
                            <a:pt x="1931" y="3650"/>
                            <a:pt x="2738" y="2811"/>
                          </a:cubicBezTo>
                          <a:cubicBezTo>
                            <a:pt x="3545" y="1972"/>
                            <a:pt x="3352" y="117"/>
                            <a:pt x="4886" y="4"/>
                          </a:cubicBezTo>
                          <a:cubicBezTo>
                            <a:pt x="6420" y="-109"/>
                            <a:pt x="7216" y="1912"/>
                            <a:pt x="8068" y="2813"/>
                          </a:cubicBezTo>
                          <a:cubicBezTo>
                            <a:pt x="8920" y="3715"/>
                            <a:pt x="9928" y="3420"/>
                            <a:pt x="9996" y="5413"/>
                          </a:cubicBezTo>
                          <a:cubicBezTo>
                            <a:pt x="10064" y="7406"/>
                            <a:pt x="9275" y="6409"/>
                            <a:pt x="8476" y="7306"/>
                          </a:cubicBezTo>
                          <a:cubicBezTo>
                            <a:pt x="7677" y="8203"/>
                            <a:pt x="7086" y="10770"/>
                            <a:pt x="5202" y="10795"/>
                          </a:cubicBezTo>
                          <a:cubicBezTo>
                            <a:pt x="3318" y="10820"/>
                            <a:pt x="3391" y="8255"/>
                            <a:pt x="2753" y="7683"/>
                          </a:cubicBezTo>
                          <a:cubicBezTo>
                            <a:pt x="2115" y="7111"/>
                            <a:pt x="2326" y="7496"/>
                            <a:pt x="1375" y="7365"/>
                          </a:cubicBezTo>
                          <a:cubicBezTo>
                            <a:pt x="493" y="6773"/>
                            <a:pt x="-182" y="5795"/>
                            <a:pt x="45" y="5036"/>
                          </a:cubicBezTo>
                          <a:close/>
                        </a:path>
                      </a:pathLst>
                    </a:custGeom>
                    <a:solidFill>
                      <a:srgbClr val="9CE0FA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227" name="Google Shape;7227;p72"/>
                    <p:cNvGrpSpPr/>
                    <p:nvPr/>
                  </p:nvGrpSpPr>
                  <p:grpSpPr>
                    <a:xfrm>
                      <a:off x="-1935370" y="2935816"/>
                      <a:ext cx="2333625" cy="1590649"/>
                      <a:chOff x="833331" y="2873352"/>
                      <a:chExt cx="2333625" cy="1590649"/>
                    </a:xfrm>
                  </p:grpSpPr>
                  <p:grpSp>
                    <p:nvGrpSpPr>
                      <p:cNvPr id="7228" name="Google Shape;7228;p72"/>
                      <p:cNvGrpSpPr/>
                      <p:nvPr/>
                    </p:nvGrpSpPr>
                    <p:grpSpPr>
                      <a:xfrm>
                        <a:off x="1736090" y="287335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29" name="Google Shape;7229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30" name="Google Shape;7230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1" name="Google Shape;7231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2" name="Google Shape;7232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3" name="Google Shape;7233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4" name="Google Shape;7234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5" name="Google Shape;7235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36" name="Google Shape;7236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37" name="Google Shape;7237;p72"/>
                          <p:cNvCxnSpPr>
                            <a:endCxn id="7232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38" name="Google Shape;7238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39" name="Google Shape;7239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40" name="Google Shape;7240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1" name="Google Shape;7241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1b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42" name="Google Shape;7242;p72"/>
                      <p:cNvGrpSpPr/>
                      <p:nvPr/>
                    </p:nvGrpSpPr>
                    <p:grpSpPr>
                      <a:xfrm>
                        <a:off x="1740320" y="409466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43" name="Google Shape;7243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44" name="Google Shape;7244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5" name="Google Shape;7245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6" name="Google Shape;7246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7" name="Google Shape;7247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8" name="Google Shape;7248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49" name="Google Shape;7249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0" name="Google Shape;7250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51" name="Google Shape;7251;p72"/>
                          <p:cNvCxnSpPr>
                            <a:endCxn id="7246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52" name="Google Shape;7252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53" name="Google Shape;7253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54" name="Google Shape;7254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5" name="Google Shape;7255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1d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56" name="Google Shape;7256;p72"/>
                      <p:cNvGrpSpPr/>
                      <p:nvPr/>
                    </p:nvGrpSpPr>
                    <p:grpSpPr>
                      <a:xfrm>
                        <a:off x="2601806" y="3485072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57" name="Google Shape;7257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58" name="Google Shape;7258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59" name="Google Shape;7259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0" name="Google Shape;7260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1" name="Google Shape;7261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2" name="Google Shape;7262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3" name="Google Shape;7263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4" name="Google Shape;7264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65" name="Google Shape;7265;p72"/>
                          <p:cNvCxnSpPr>
                            <a:endCxn id="7260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66" name="Google Shape;7266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67" name="Google Shape;7267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28460" cy="369332"/>
                          <a:chOff x="667045" y="1708643"/>
                          <a:chExt cx="428460" cy="369332"/>
                        </a:xfrm>
                      </p:grpSpPr>
                      <p:sp>
                        <p:nvSpPr>
                          <p:cNvPr id="7268" name="Google Shape;7268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69" name="Google Shape;7269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28460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1c</a:t>
                            </a:r>
                            <a:endParaRPr/>
                          </a:p>
                        </p:txBody>
                      </p:sp>
                    </p:grpSp>
                  </p:grpSp>
                  <p:grpSp>
                    <p:nvGrpSpPr>
                      <p:cNvPr id="7270" name="Google Shape;7270;p72"/>
                      <p:cNvGrpSpPr/>
                      <p:nvPr/>
                    </p:nvGrpSpPr>
                    <p:grpSpPr>
                      <a:xfrm>
                        <a:off x="833331" y="3478719"/>
                        <a:ext cx="565150" cy="369332"/>
                        <a:chOff x="1736090" y="2873352"/>
                        <a:chExt cx="565150" cy="369332"/>
                      </a:xfrm>
                    </p:grpSpPr>
                    <p:grpSp>
                      <p:nvGrpSpPr>
                        <p:cNvPr id="7271" name="Google Shape;7271;p72"/>
                        <p:cNvGrpSpPr/>
                        <p:nvPr/>
                      </p:nvGrpSpPr>
                      <p:grpSpPr>
                        <a:xfrm>
                          <a:off x="1736090" y="2893762"/>
                          <a:ext cx="565150" cy="292100"/>
                          <a:chOff x="1871277" y="1576300"/>
                          <a:chExt cx="1128371" cy="437861"/>
                        </a:xfrm>
                      </p:grpSpPr>
                      <p:sp>
                        <p:nvSpPr>
                          <p:cNvPr id="7272" name="Google Shape;7272;p72"/>
                          <p:cNvSpPr/>
                          <p:nvPr/>
                        </p:nvSpPr>
                        <p:spPr>
                          <a:xfrm flipH="1" rot="10800000">
                            <a:off x="1874446" y="1692905"/>
                            <a:ext cx="1125202" cy="321256"/>
                          </a:xfrm>
                          <a:prstGeom prst="ellipse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0" scaled="0"/>
                          </a:gra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3" name="Google Shape;7273;p72"/>
                          <p:cNvSpPr/>
                          <p:nvPr/>
                        </p:nvSpPr>
                        <p:spPr>
                          <a:xfrm>
                            <a:off x="1871277" y="1740499"/>
                            <a:ext cx="1128371" cy="114225"/>
                          </a:xfrm>
                          <a:prstGeom prst="rect">
                            <a:avLst/>
                          </a:prstGeom>
                          <a:gradFill>
                            <a:gsLst>
                              <a:gs pos="0">
                                <a:srgbClr val="262699"/>
                              </a:gs>
                              <a:gs pos="52999">
                                <a:srgbClr val="8383E0"/>
                              </a:gs>
                              <a:gs pos="100000">
                                <a:srgbClr val="262699"/>
                              </a:gs>
                            </a:gsLst>
                            <a:lin ang="10800000" scaled="0"/>
                          </a:gra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4" name="Google Shape;7274;p72"/>
                          <p:cNvSpPr/>
                          <p:nvPr/>
                        </p:nvSpPr>
                        <p:spPr>
                          <a:xfrm flipH="1" rot="10800000">
                            <a:off x="1871277" y="1576300"/>
                            <a:ext cx="1125200" cy="321257"/>
                          </a:xfrm>
                          <a:prstGeom prst="ellipse">
                            <a:avLst/>
                          </a:prstGeom>
                          <a:solidFill>
                            <a:srgbClr val="BFBFBF"/>
                          </a:solidFill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5" name="Google Shape;7275;p72"/>
                          <p:cNvSpPr/>
                          <p:nvPr/>
                        </p:nvSpPr>
                        <p:spPr>
                          <a:xfrm>
                            <a:off x="2159708" y="1673868"/>
                            <a:ext cx="548339" cy="159438"/>
                          </a:xfrm>
                          <a:custGeom>
                            <a:rect b="b" l="l" r="r" t="t"/>
                            <a:pathLst>
                              <a:path extrusionOk="0" h="1321259" w="3076069">
                                <a:moveTo>
                                  <a:pt x="1537780" y="750825"/>
                                </a:moveTo>
                                <a:lnTo>
                                  <a:pt x="313981" y="1321259"/>
                                </a:lnTo>
                                <a:lnTo>
                                  <a:pt x="0" y="1228607"/>
                                </a:lnTo>
                                <a:lnTo>
                                  <a:pt x="962613" y="837478"/>
                                </a:lnTo>
                                <a:lnTo>
                                  <a:pt x="935005" y="450949"/>
                                </a:lnTo>
                                <a:lnTo>
                                  <a:pt x="212596" y="119640"/>
                                </a:lnTo>
                                <a:lnTo>
                                  <a:pt x="456466" y="50617"/>
                                </a:lnTo>
                                <a:lnTo>
                                  <a:pt x="1528577" y="501566"/>
                                </a:lnTo>
                                <a:lnTo>
                                  <a:pt x="2623695" y="0"/>
                                </a:lnTo>
                                <a:lnTo>
                                  <a:pt x="2927383" y="96632"/>
                                </a:lnTo>
                                <a:lnTo>
                                  <a:pt x="2131352" y="432543"/>
                                </a:lnTo>
                                <a:lnTo>
                                  <a:pt x="2292399" y="920305"/>
                                </a:lnTo>
                                <a:lnTo>
                                  <a:pt x="3076069" y="1228607"/>
                                </a:lnTo>
                                <a:lnTo>
                                  <a:pt x="2808172" y="1316375"/>
                                </a:lnTo>
                                <a:lnTo>
                                  <a:pt x="1537780" y="75082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8383E0"/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6" name="Google Shape;7276;p72"/>
                          <p:cNvSpPr/>
                          <p:nvPr/>
                        </p:nvSpPr>
                        <p:spPr>
                          <a:xfrm>
                            <a:off x="2102655" y="1633412"/>
                            <a:ext cx="662444" cy="111846"/>
                          </a:xfrm>
                          <a:custGeom>
                            <a:rect b="b" l="l" r="r" t="t"/>
                            <a:pathLst>
                              <a:path extrusionOk="0" h="932950" w="3723451">
                                <a:moveTo>
                                  <a:pt x="0" y="228246"/>
                                </a:moveTo>
                                <a:lnTo>
                                  <a:pt x="655168" y="2690"/>
                                </a:lnTo>
                                <a:lnTo>
                                  <a:pt x="1855778" y="520562"/>
                                </a:lnTo>
                                <a:lnTo>
                                  <a:pt x="3001174" y="0"/>
                                </a:lnTo>
                                <a:lnTo>
                                  <a:pt x="3723451" y="207149"/>
                                </a:lnTo>
                                <a:lnTo>
                                  <a:pt x="3186079" y="461874"/>
                                </a:lnTo>
                                <a:lnTo>
                                  <a:pt x="3013067" y="393200"/>
                                </a:lnTo>
                                <a:lnTo>
                                  <a:pt x="1876873" y="932950"/>
                                </a:lnTo>
                                <a:lnTo>
                                  <a:pt x="711613" y="413055"/>
                                </a:lnTo>
                                <a:lnTo>
                                  <a:pt x="523214" y="469166"/>
                                </a:lnTo>
                                <a:lnTo>
                                  <a:pt x="0" y="228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7" name="Google Shape;7277;p72"/>
                          <p:cNvSpPr/>
                          <p:nvPr/>
                        </p:nvSpPr>
                        <p:spPr>
                          <a:xfrm>
                            <a:off x="2536889" y="1728599"/>
                            <a:ext cx="244057" cy="97568"/>
                          </a:xfrm>
                          <a:custGeom>
                            <a:rect b="b" l="l" r="r" t="t"/>
                            <a:pathLst>
                              <a:path extrusionOk="0" h="809868" w="1366596">
                                <a:moveTo>
                                  <a:pt x="0" y="0"/>
                                </a:moveTo>
                                <a:lnTo>
                                  <a:pt x="1366596" y="625807"/>
                                </a:lnTo>
                                <a:lnTo>
                                  <a:pt x="865050" y="809868"/>
                                </a:lnTo>
                                <a:lnTo>
                                  <a:pt x="4601" y="427942"/>
                                </a:lnTo>
                                <a:cubicBezTo>
                                  <a:pt x="-1535" y="105836"/>
                                  <a:pt x="1534" y="142647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78" name="Google Shape;7278;p72"/>
                          <p:cNvSpPr/>
                          <p:nvPr/>
                        </p:nvSpPr>
                        <p:spPr>
                          <a:xfrm>
                            <a:off x="2089977" y="1730980"/>
                            <a:ext cx="240888" cy="95187"/>
                          </a:xfrm>
                          <a:custGeom>
                            <a:rect b="b" l="l" r="r" t="t"/>
                            <a:pathLst>
                              <a:path extrusionOk="0" h="791462" w="1348191">
                                <a:moveTo>
                                  <a:pt x="1329786" y="0"/>
                                </a:moveTo>
                                <a:lnTo>
                                  <a:pt x="1348191" y="381926"/>
                                </a:lnTo>
                                <a:lnTo>
                                  <a:pt x="487742" y="791462"/>
                                </a:lnTo>
                                <a:lnTo>
                                  <a:pt x="0" y="612002"/>
                                </a:lnTo>
                                <a:lnTo>
                                  <a:pt x="1329786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262699"/>
                          </a:solidFill>
                          <a:ln>
                            <a:noFill/>
                          </a:ln>
                          <a:effectLst>
                            <a:outerShdw blurRad="40000" rotWithShape="0" dir="5400000" dist="23000">
                              <a:srgbClr val="000000">
                                <a:alpha val="34901"/>
                              </a:srgbClr>
                            </a:outerShdw>
                          </a:effectLst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cxnSp>
                        <p:nvCxnSpPr>
                          <p:cNvPr id="7279" name="Google Shape;7279;p72"/>
                          <p:cNvCxnSpPr>
                            <a:endCxn id="7274" idx="2"/>
                          </p:cNvCxnSpPr>
                          <p:nvPr/>
                        </p:nvCxnSpPr>
                        <p:spPr>
                          <a:xfrm rot="10800000">
                            <a:off x="1871277" y="1736929"/>
                            <a:ext cx="3300" cy="123600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  <p:cxnSp>
                        <p:nvCxnSpPr>
                          <p:cNvPr id="7280" name="Google Shape;7280;p72"/>
                          <p:cNvCxnSpPr/>
                          <p:nvPr/>
                        </p:nvCxnSpPr>
                        <p:spPr>
                          <a:xfrm rot="10800000">
                            <a:off x="2996477" y="1733359"/>
                            <a:ext cx="3171" cy="123743"/>
                          </a:xfrm>
                          <a:prstGeom prst="straightConnector1">
                            <a:avLst/>
                          </a:prstGeom>
                          <a:noFill/>
                          <a:ln cap="flat" cmpd="sng" w="9525">
                            <a:solidFill>
                              <a:srgbClr val="000000"/>
                            </a:solidFill>
                            <a:prstDash val="solid"/>
                            <a:round/>
                            <a:headEnd len="sm" w="sm" type="none"/>
                            <a:tailEnd len="sm" w="sm" type="none"/>
                          </a:ln>
                          <a:effectLst>
                            <a:outerShdw blurRad="40005" rotWithShape="0" algn="tl" dir="5400000" dist="19939">
                              <a:srgbClr val="000000">
                                <a:alpha val="37647"/>
                              </a:srgbClr>
                            </a:outerShdw>
                          </a:effectLst>
                        </p:spPr>
                      </p:cxnSp>
                    </p:grpSp>
                    <p:grpSp>
                      <p:nvGrpSpPr>
                        <p:cNvPr id="7281" name="Google Shape;7281;p72"/>
                        <p:cNvGrpSpPr/>
                        <p:nvPr/>
                      </p:nvGrpSpPr>
                      <p:grpSpPr>
                        <a:xfrm>
                          <a:off x="1770362" y="2873352"/>
                          <a:ext cx="441422" cy="369332"/>
                          <a:chOff x="667045" y="1708643"/>
                          <a:chExt cx="441422" cy="369332"/>
                        </a:xfrm>
                      </p:grpSpPr>
                      <p:sp>
                        <p:nvSpPr>
                          <p:cNvPr id="7282" name="Google Shape;7282;p72"/>
                          <p:cNvSpPr/>
                          <p:nvPr/>
                        </p:nvSpPr>
                        <p:spPr>
                          <a:xfrm>
                            <a:off x="725417" y="1787240"/>
                            <a:ext cx="356365" cy="231962"/>
                          </a:xfrm>
                          <a:prstGeom prst="ellipse">
                            <a:avLst/>
                          </a:prstGeom>
                          <a:solidFill>
                            <a:srgbClr val="FFFFFF">
                              <a:alpha val="75686"/>
                            </a:srgbClr>
                          </a:solidFill>
                          <a:ln>
                            <a:noFill/>
                          </a:ln>
                        </p:spPr>
                        <p:txBody>
                          <a:bodyPr anchorCtr="0" anchor="ctr" bIns="45700" lIns="91425" spcFirstLastPara="1" rIns="91425" wrap="square" tIns="45700">
                            <a:noAutofit/>
                          </a:bodyPr>
                          <a:lstStyle/>
                          <a:p>
                            <a:pPr indent="0" lvl="0" marL="0" marR="0" rtl="0" algn="ctr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00"/>
                              <a:buFont typeface="Calibri"/>
                              <a:buNone/>
                            </a:pPr>
                            <a:r>
                              <a:t/>
                            </a:r>
                            <a:endParaRPr b="0" i="0" sz="1800" u="none" cap="none" strike="noStrike">
                              <a:solidFill>
                                <a:srgbClr val="FFFFFF"/>
                              </a:solidFill>
                              <a:latin typeface="Gill Sans"/>
                              <a:ea typeface="Gill Sans"/>
                              <a:cs typeface="Gill Sans"/>
                              <a:sym typeface="Gill Sans"/>
                            </a:endParaRPr>
                          </a:p>
                        </p:txBody>
                      </p:sp>
                      <p:sp>
                        <p:nvSpPr>
                          <p:cNvPr id="7283" name="Google Shape;7283;p72"/>
                          <p:cNvSpPr txBox="1"/>
                          <p:nvPr/>
                        </p:nvSpPr>
                        <p:spPr>
                          <a:xfrm>
                            <a:off x="667045" y="1708643"/>
                            <a:ext cx="441422" cy="3693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anchorCtr="0" anchor="t" bIns="45700" lIns="91425" spcFirstLastPara="1" rIns="91425" wrap="square" tIns="45700">
                            <a:spAutoFit/>
                          </a:bodyPr>
                          <a:lstStyle/>
                          <a:p>
                            <a:pPr indent="0" lvl="0" marL="0" marR="0" rtl="0" algn="l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rgbClr val="000000"/>
                              </a:buClr>
                              <a:buSzPts val="1800"/>
                              <a:buFont typeface="Arial"/>
                              <a:buNone/>
                            </a:pPr>
                            <a:r>
                              <a:rPr b="0" i="0" lang="en-US" sz="1800" u="none" cap="none" strike="noStrike">
                                <a:solidFill>
                                  <a:srgbClr val="000000"/>
                                </a:solidFill>
                                <a:latin typeface="Arial"/>
                                <a:ea typeface="Arial"/>
                                <a:cs typeface="Arial"/>
                                <a:sym typeface="Arial"/>
                              </a:rPr>
                              <a:t>1a</a:t>
                            </a:r>
                            <a:endParaRPr/>
                          </a:p>
                        </p:txBody>
                      </p:sp>
                    </p:grpSp>
                  </p:grpSp>
                  <p:cxnSp>
                    <p:nvCxnSpPr>
                      <p:cNvPr id="7284" name="Google Shape;7284;p72"/>
                      <p:cNvCxnSpPr>
                        <a:stCxn id="7230" idx="7"/>
                      </p:cNvCxnSpPr>
                      <p:nvPr/>
                    </p:nvCxnSpPr>
                    <p:spPr>
                      <a:xfrm>
                        <a:off x="2218708" y="3154477"/>
                        <a:ext cx="480000" cy="36990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5" name="Google Shape;7285;p72"/>
                      <p:cNvCxnSpPr/>
                      <p:nvPr/>
                    </p:nvCxnSpPr>
                    <p:spPr>
                      <a:xfrm>
                        <a:off x="1300073" y="3786304"/>
                        <a:ext cx="477927" cy="357071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6" name="Google Shape;7286;p72"/>
                      <p:cNvCxnSpPr/>
                      <p:nvPr/>
                    </p:nvCxnSpPr>
                    <p:spPr>
                      <a:xfrm flipH="1">
                        <a:off x="2196042" y="3783542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  <p:cxnSp>
                    <p:nvCxnSpPr>
                      <p:cNvPr id="7287" name="Google Shape;7287;p72"/>
                      <p:cNvCxnSpPr/>
                      <p:nvPr/>
                    </p:nvCxnSpPr>
                    <p:spPr>
                      <a:xfrm flipH="1">
                        <a:off x="1287553" y="3166946"/>
                        <a:ext cx="508002" cy="349250"/>
                      </a:xfrm>
                      <a:prstGeom prst="straightConnector1">
                        <a:avLst/>
                      </a:prstGeom>
                      <a:solidFill>
                        <a:srgbClr val="00CC99"/>
                      </a:solidFill>
                      <a:ln cap="flat" cmpd="sng" w="19050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</p:cxnSp>
                </p:grpSp>
              </p:grpSp>
              <p:sp>
                <p:nvSpPr>
                  <p:cNvPr id="7288" name="Google Shape;7288;p72"/>
                  <p:cNvSpPr txBox="1"/>
                  <p:nvPr/>
                </p:nvSpPr>
                <p:spPr>
                  <a:xfrm>
                    <a:off x="1430686" y="4247082"/>
                    <a:ext cx="753532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000">
                        <a:solidFill>
                          <a:srgbClr val="00009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AS 1</a:t>
                    </a:r>
                    <a:endParaRPr/>
                  </a:p>
                </p:txBody>
              </p:sp>
              <p:cxnSp>
                <p:nvCxnSpPr>
                  <p:cNvPr id="7289" name="Google Shape;7289;p72"/>
                  <p:cNvCxnSpPr>
                    <a:stCxn id="7153" idx="1"/>
                  </p:cNvCxnSpPr>
                  <p:nvPr/>
                </p:nvCxnSpPr>
                <p:spPr>
                  <a:xfrm rot="10800000">
                    <a:off x="3848240" y="5024779"/>
                    <a:ext cx="1030800" cy="699000"/>
                  </a:xfrm>
                  <a:prstGeom prst="straightConnector1">
                    <a:avLst/>
                  </a:prstGeom>
                  <a:solidFill>
                    <a:srgbClr val="00CC99"/>
                  </a:solidFill>
                  <a:ln cap="flat" cmpd="sng" w="381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7290" name="Google Shape;7290;p72"/>
                <p:cNvCxnSpPr>
                  <a:stCxn id="7130" idx="5"/>
                  <a:endCxn id="7217" idx="1"/>
                </p:cNvCxnSpPr>
                <p:nvPr/>
              </p:nvCxnSpPr>
              <p:spPr>
                <a:xfrm flipH="1" rot="10800000">
                  <a:off x="6957825" y="4543451"/>
                  <a:ext cx="1398900" cy="1062900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291" name="Google Shape;7291;p72"/>
              <p:cNvGrpSpPr/>
              <p:nvPr/>
            </p:nvGrpSpPr>
            <p:grpSpPr>
              <a:xfrm>
                <a:off x="9525929" y="4809915"/>
                <a:ext cx="1701734" cy="616172"/>
                <a:chOff x="6935906" y="5482318"/>
                <a:chExt cx="1701734" cy="616172"/>
              </a:xfrm>
            </p:grpSpPr>
            <p:grpSp>
              <p:nvGrpSpPr>
                <p:cNvPr id="7292" name="Google Shape;7292;p72"/>
                <p:cNvGrpSpPr/>
                <p:nvPr/>
              </p:nvGrpSpPr>
              <p:grpSpPr>
                <a:xfrm>
                  <a:off x="6935906" y="5482318"/>
                  <a:ext cx="1701734" cy="616172"/>
                  <a:chOff x="6808463" y="5108795"/>
                  <a:chExt cx="1701734" cy="616172"/>
                </a:xfrm>
              </p:grpSpPr>
              <p:sp>
                <p:nvSpPr>
                  <p:cNvPr id="7293" name="Google Shape;7293;p72"/>
                  <p:cNvSpPr/>
                  <p:nvPr/>
                </p:nvSpPr>
                <p:spPr>
                  <a:xfrm>
                    <a:off x="6808463" y="5108795"/>
                    <a:ext cx="1701734" cy="616172"/>
                  </a:xfrm>
                  <a:custGeom>
                    <a:rect b="b" l="l" r="r" t="t"/>
                    <a:pathLst>
                      <a:path extrusionOk="0" h="11127" w="11293">
                        <a:moveTo>
                          <a:pt x="40" y="9082"/>
                        </a:moveTo>
                        <a:cubicBezTo>
                          <a:pt x="352" y="7566"/>
                          <a:pt x="3280" y="1761"/>
                          <a:pt x="4577" y="470"/>
                        </a:cubicBezTo>
                        <a:cubicBezTo>
                          <a:pt x="5874" y="-821"/>
                          <a:pt x="6795" y="914"/>
                          <a:pt x="7822" y="1336"/>
                        </a:cubicBezTo>
                        <a:cubicBezTo>
                          <a:pt x="8849" y="1758"/>
                          <a:pt x="10193" y="1947"/>
                          <a:pt x="10740" y="3004"/>
                        </a:cubicBezTo>
                        <a:cubicBezTo>
                          <a:pt x="11287" y="4061"/>
                          <a:pt x="11468" y="6337"/>
                          <a:pt x="11102" y="7683"/>
                        </a:cubicBezTo>
                        <a:cubicBezTo>
                          <a:pt x="10736" y="9030"/>
                          <a:pt x="9940" y="10771"/>
                          <a:pt x="8541" y="11085"/>
                        </a:cubicBezTo>
                        <a:cubicBezTo>
                          <a:pt x="7141" y="11398"/>
                          <a:pt x="4122" y="9898"/>
                          <a:pt x="2705" y="9564"/>
                        </a:cubicBezTo>
                        <a:cubicBezTo>
                          <a:pt x="1288" y="9230"/>
                          <a:pt x="-272" y="10598"/>
                          <a:pt x="40" y="9082"/>
                        </a:cubicBezTo>
                        <a:close/>
                      </a:path>
                    </a:pathLst>
                  </a:custGeom>
                  <a:solidFill>
                    <a:srgbClr val="9CE0F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294" name="Google Shape;7294;p72"/>
                  <p:cNvGrpSpPr/>
                  <p:nvPr/>
                </p:nvGrpSpPr>
                <p:grpSpPr>
                  <a:xfrm>
                    <a:off x="7908175" y="5241780"/>
                    <a:ext cx="536554" cy="263548"/>
                    <a:chOff x="1871277" y="1576300"/>
                    <a:chExt cx="1128371" cy="437861"/>
                  </a:xfrm>
                </p:grpSpPr>
                <p:sp>
                  <p:nvSpPr>
                    <p:cNvPr id="7295" name="Google Shape;7295;p72"/>
                    <p:cNvSpPr/>
                    <p:nvPr/>
                  </p:nvSpPr>
                  <p:spPr>
                    <a:xfrm flipH="1" rot="10800000">
                      <a:off x="1874446" y="1692905"/>
                      <a:ext cx="1125202" cy="321256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0" scaled="0"/>
                    </a:gra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6" name="Google Shape;7296;p72"/>
                    <p:cNvSpPr/>
                    <p:nvPr/>
                  </p:nvSpPr>
                  <p:spPr>
                    <a:xfrm>
                      <a:off x="1871277" y="1740499"/>
                      <a:ext cx="1128371" cy="114225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262699"/>
                        </a:gs>
                        <a:gs pos="52999">
                          <a:srgbClr val="8383E0"/>
                        </a:gs>
                        <a:gs pos="100000">
                          <a:srgbClr val="262699"/>
                        </a:gs>
                      </a:gsLst>
                      <a:lin ang="10800000" scaled="0"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7" name="Google Shape;7297;p72"/>
                    <p:cNvSpPr/>
                    <p:nvPr/>
                  </p:nvSpPr>
                  <p:spPr>
                    <a:xfrm flipH="1" rot="10800000">
                      <a:off x="1871277" y="1576300"/>
                      <a:ext cx="1125200" cy="321257"/>
                    </a:xfrm>
                    <a:prstGeom prst="ellipse">
                      <a:avLst/>
                    </a:prstGeom>
                    <a:solidFill>
                      <a:srgbClr val="BFBFBF"/>
                    </a:solidFill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8" name="Google Shape;7298;p72"/>
                    <p:cNvSpPr/>
                    <p:nvPr/>
                  </p:nvSpPr>
                  <p:spPr>
                    <a:xfrm>
                      <a:off x="2159708" y="1673868"/>
                      <a:ext cx="548339" cy="159438"/>
                    </a:xfrm>
                    <a:custGeom>
                      <a:rect b="b" l="l" r="r" t="t"/>
                      <a:pathLst>
                        <a:path extrusionOk="0" h="1321259" w="3076069">
                          <a:moveTo>
                            <a:pt x="1537780" y="750825"/>
                          </a:moveTo>
                          <a:lnTo>
                            <a:pt x="313981" y="1321259"/>
                          </a:lnTo>
                          <a:lnTo>
                            <a:pt x="0" y="1228607"/>
                          </a:lnTo>
                          <a:lnTo>
                            <a:pt x="962613" y="837478"/>
                          </a:lnTo>
                          <a:lnTo>
                            <a:pt x="935005" y="450949"/>
                          </a:lnTo>
                          <a:lnTo>
                            <a:pt x="212596" y="119640"/>
                          </a:lnTo>
                          <a:lnTo>
                            <a:pt x="456466" y="50617"/>
                          </a:lnTo>
                          <a:lnTo>
                            <a:pt x="1528577" y="501566"/>
                          </a:lnTo>
                          <a:lnTo>
                            <a:pt x="2623695" y="0"/>
                          </a:lnTo>
                          <a:lnTo>
                            <a:pt x="2927383" y="96632"/>
                          </a:lnTo>
                          <a:lnTo>
                            <a:pt x="2131352" y="432543"/>
                          </a:lnTo>
                          <a:lnTo>
                            <a:pt x="2292399" y="920305"/>
                          </a:lnTo>
                          <a:lnTo>
                            <a:pt x="3076069" y="1228607"/>
                          </a:lnTo>
                          <a:lnTo>
                            <a:pt x="2808172" y="1316375"/>
                          </a:lnTo>
                          <a:lnTo>
                            <a:pt x="1537780" y="750825"/>
                          </a:lnTo>
                          <a:close/>
                        </a:path>
                      </a:pathLst>
                    </a:custGeom>
                    <a:solidFill>
                      <a:srgbClr val="8383E0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299" name="Google Shape;7299;p72"/>
                    <p:cNvSpPr/>
                    <p:nvPr/>
                  </p:nvSpPr>
                  <p:spPr>
                    <a:xfrm>
                      <a:off x="2102655" y="1633412"/>
                      <a:ext cx="662444" cy="111846"/>
                    </a:xfrm>
                    <a:custGeom>
                      <a:rect b="b" l="l" r="r" t="t"/>
                      <a:pathLst>
                        <a:path extrusionOk="0" h="932950" w="3723451">
                          <a:moveTo>
                            <a:pt x="0" y="228246"/>
                          </a:moveTo>
                          <a:lnTo>
                            <a:pt x="655168" y="2690"/>
                          </a:lnTo>
                          <a:lnTo>
                            <a:pt x="1855778" y="520562"/>
                          </a:lnTo>
                          <a:lnTo>
                            <a:pt x="3001174" y="0"/>
                          </a:lnTo>
                          <a:lnTo>
                            <a:pt x="3723451" y="207149"/>
                          </a:lnTo>
                          <a:lnTo>
                            <a:pt x="3186079" y="461874"/>
                          </a:lnTo>
                          <a:lnTo>
                            <a:pt x="3013067" y="393200"/>
                          </a:lnTo>
                          <a:lnTo>
                            <a:pt x="1876873" y="932950"/>
                          </a:lnTo>
                          <a:lnTo>
                            <a:pt x="711613" y="413055"/>
                          </a:lnTo>
                          <a:lnTo>
                            <a:pt x="523214" y="469166"/>
                          </a:lnTo>
                          <a:lnTo>
                            <a:pt x="0" y="228246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0" name="Google Shape;7300;p72"/>
                    <p:cNvSpPr/>
                    <p:nvPr/>
                  </p:nvSpPr>
                  <p:spPr>
                    <a:xfrm>
                      <a:off x="2536889" y="1728599"/>
                      <a:ext cx="244057" cy="97568"/>
                    </a:xfrm>
                    <a:custGeom>
                      <a:rect b="b" l="l" r="r" t="t"/>
                      <a:pathLst>
                        <a:path extrusionOk="0" h="809868" w="1366596">
                          <a:moveTo>
                            <a:pt x="0" y="0"/>
                          </a:moveTo>
                          <a:lnTo>
                            <a:pt x="1366596" y="625807"/>
                          </a:lnTo>
                          <a:lnTo>
                            <a:pt x="865050" y="809868"/>
                          </a:lnTo>
                          <a:lnTo>
                            <a:pt x="4601" y="427942"/>
                          </a:lnTo>
                          <a:cubicBezTo>
                            <a:pt x="-1535" y="105836"/>
                            <a:pt x="1534" y="142647"/>
                            <a:pt x="0" y="0"/>
                          </a:cubicBez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1" name="Google Shape;7301;p72"/>
                    <p:cNvSpPr/>
                    <p:nvPr/>
                  </p:nvSpPr>
                  <p:spPr>
                    <a:xfrm>
                      <a:off x="2089977" y="1730980"/>
                      <a:ext cx="240888" cy="95187"/>
                    </a:xfrm>
                    <a:custGeom>
                      <a:rect b="b" l="l" r="r" t="t"/>
                      <a:pathLst>
                        <a:path extrusionOk="0" h="791462" w="1348191">
                          <a:moveTo>
                            <a:pt x="1329786" y="0"/>
                          </a:moveTo>
                          <a:lnTo>
                            <a:pt x="1348191" y="381926"/>
                          </a:lnTo>
                          <a:lnTo>
                            <a:pt x="487742" y="791462"/>
                          </a:lnTo>
                          <a:lnTo>
                            <a:pt x="0" y="612002"/>
                          </a:lnTo>
                          <a:lnTo>
                            <a:pt x="1329786" y="0"/>
                          </a:lnTo>
                          <a:close/>
                        </a:path>
                      </a:pathLst>
                    </a:custGeom>
                    <a:solidFill>
                      <a:srgbClr val="262699"/>
                    </a:solidFill>
                    <a:ln>
                      <a:noFill/>
                    </a:ln>
                    <a:effectLst>
                      <a:outerShdw blurRad="40000" rotWithShape="0" dir="5400000" dist="23000">
                        <a:srgbClr val="000000">
                          <a:alpha val="34901"/>
                        </a:srgbClr>
                      </a:outerShdw>
                    </a:effectLst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cxnSp>
                  <p:nvCxnSpPr>
                    <p:cNvPr id="7302" name="Google Shape;7302;p72"/>
                    <p:cNvCxnSpPr>
                      <a:endCxn id="7297" idx="2"/>
                    </p:cNvCxnSpPr>
                    <p:nvPr/>
                  </p:nvCxnSpPr>
                  <p:spPr>
                    <a:xfrm rot="10800000">
                      <a:off x="1871277" y="1736929"/>
                      <a:ext cx="3300" cy="1236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  <p:cxnSp>
                  <p:nvCxnSpPr>
                    <p:cNvPr id="7303" name="Google Shape;7303;p72"/>
                    <p:cNvCxnSpPr/>
                    <p:nvPr/>
                  </p:nvCxnSpPr>
                  <p:spPr>
                    <a:xfrm rot="10800000">
                      <a:off x="2996477" y="1733359"/>
                      <a:ext cx="3171" cy="123743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  <a:effectLst>
                      <a:outerShdw blurRad="40005" rotWithShape="0" algn="tl" dir="5400000" dist="19939">
                        <a:srgbClr val="000000">
                          <a:alpha val="37647"/>
                        </a:srgbClr>
                      </a:outerShdw>
                    </a:effectLst>
                  </p:spPr>
                </p:cxnSp>
              </p:grpSp>
              <p:grpSp>
                <p:nvGrpSpPr>
                  <p:cNvPr id="7304" name="Google Shape;7304;p72"/>
                  <p:cNvGrpSpPr/>
                  <p:nvPr/>
                </p:nvGrpSpPr>
                <p:grpSpPr>
                  <a:xfrm>
                    <a:off x="7876581" y="5223365"/>
                    <a:ext cx="466894" cy="369332"/>
                    <a:chOff x="599495" y="1708643"/>
                    <a:chExt cx="491778" cy="409344"/>
                  </a:xfrm>
                </p:grpSpPr>
                <p:sp>
                  <p:nvSpPr>
                    <p:cNvPr id="7305" name="Google Shape;7305;p72"/>
                    <p:cNvSpPr/>
                    <p:nvPr/>
                  </p:nvSpPr>
                  <p:spPr>
                    <a:xfrm>
                      <a:off x="725417" y="1787240"/>
                      <a:ext cx="356365" cy="231962"/>
                    </a:xfrm>
                    <a:prstGeom prst="ellipse">
                      <a:avLst/>
                    </a:prstGeom>
                    <a:solidFill>
                      <a:srgbClr val="FFFFFF">
                        <a:alpha val="75686"/>
                      </a:srgbClr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rgbClr val="FFFFFF"/>
                        </a:solidFill>
                        <a:latin typeface="Gill Sans"/>
                        <a:ea typeface="Gill Sans"/>
                        <a:cs typeface="Gill Sans"/>
                        <a:sym typeface="Gill Sans"/>
                      </a:endParaRPr>
                    </a:p>
                  </p:txBody>
                </p:sp>
                <p:sp>
                  <p:nvSpPr>
                    <p:cNvPr id="7306" name="Google Shape;7306;p72"/>
                    <p:cNvSpPr txBox="1"/>
                    <p:nvPr/>
                  </p:nvSpPr>
                  <p:spPr>
                    <a:xfrm>
                      <a:off x="599495" y="1708643"/>
                      <a:ext cx="491778" cy="4093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X</a:t>
                      </a:r>
                      <a:endParaRPr/>
                    </a:p>
                  </p:txBody>
                </p:sp>
              </p:grpSp>
            </p:grpSp>
            <p:cxnSp>
              <p:nvCxnSpPr>
                <p:cNvPr id="7307" name="Google Shape;7307;p72"/>
                <p:cNvCxnSpPr/>
                <p:nvPr/>
              </p:nvCxnSpPr>
              <p:spPr>
                <a:xfrm flipH="1">
                  <a:off x="7158742" y="5764030"/>
                  <a:ext cx="870024" cy="9999"/>
                </a:xfrm>
                <a:prstGeom prst="straightConnector1">
                  <a:avLst/>
                </a:prstGeom>
                <a:solidFill>
                  <a:srgbClr val="00CC99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cxnSp>
          <p:nvCxnSpPr>
            <p:cNvPr id="7308" name="Google Shape;7308;p72"/>
            <p:cNvCxnSpPr/>
            <p:nvPr/>
          </p:nvCxnSpPr>
          <p:spPr>
            <a:xfrm flipH="1" rot="10800000">
              <a:off x="3540307" y="1929008"/>
              <a:ext cx="4451299" cy="422665"/>
            </a:xfrm>
            <a:prstGeom prst="straightConnector1">
              <a:avLst/>
            </a:prstGeom>
            <a:solidFill>
              <a:srgbClr val="00CC99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09" name="Google Shape;7309;p72"/>
          <p:cNvSpPr txBox="1"/>
          <p:nvPr>
            <p:ph type="title"/>
          </p:nvPr>
        </p:nvSpPr>
        <p:spPr>
          <a:xfrm>
            <a:off x="838200" y="38919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Hot potato routing</a:t>
            </a:r>
            <a:endParaRPr/>
          </a:p>
        </p:txBody>
      </p:sp>
      <p:sp>
        <p:nvSpPr>
          <p:cNvPr id="7310" name="Google Shape;731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1" name="Google Shape;7311;p72"/>
          <p:cNvSpPr txBox="1"/>
          <p:nvPr/>
        </p:nvSpPr>
        <p:spPr>
          <a:xfrm>
            <a:off x="1102290" y="4634378"/>
            <a:ext cx="10809962" cy="18666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2d learns (via iBGP) it can route to X via 2a or 2c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hot potato routing: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choose local gateway that has least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intra-domain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cost (e.g., 2d chooses 2a, even though more AS hops to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): don’t worry about inter-domain cost!</a:t>
            </a:r>
            <a:endParaRPr b="0" i="0" sz="2800" u="none" cap="none" strike="noStrike">
              <a:solidFill>
                <a:srgbClr val="212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12" name="Google Shape;7312;p72"/>
          <p:cNvCxnSpPr/>
          <p:nvPr/>
        </p:nvCxnSpPr>
        <p:spPr>
          <a:xfrm rot="10800000">
            <a:off x="6000873" y="3328637"/>
            <a:ext cx="424979" cy="441697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A8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13" name="Google Shape;7313;p72"/>
          <p:cNvGrpSpPr/>
          <p:nvPr/>
        </p:nvGrpSpPr>
        <p:grpSpPr>
          <a:xfrm>
            <a:off x="7095664" y="2270946"/>
            <a:ext cx="880328" cy="893287"/>
            <a:chOff x="5705275" y="2274698"/>
            <a:chExt cx="880328" cy="893287"/>
          </a:xfrm>
        </p:grpSpPr>
        <p:sp>
          <p:nvSpPr>
            <p:cNvPr id="7314" name="Google Shape;7314;p72"/>
            <p:cNvSpPr/>
            <p:nvPr/>
          </p:nvSpPr>
          <p:spPr>
            <a:xfrm rot="-2370343">
              <a:off x="5705376" y="2487543"/>
              <a:ext cx="768350" cy="276226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5" name="Google Shape;7315;p72"/>
            <p:cNvSpPr txBox="1"/>
            <p:nvPr/>
          </p:nvSpPr>
          <p:spPr>
            <a:xfrm>
              <a:off x="5848435" y="2887139"/>
              <a:ext cx="737168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AS3,X </a:t>
              </a:r>
              <a:endParaRPr/>
            </a:p>
          </p:txBody>
        </p:sp>
      </p:grpSp>
      <p:grpSp>
        <p:nvGrpSpPr>
          <p:cNvPr id="7316" name="Google Shape;7316;p72"/>
          <p:cNvGrpSpPr/>
          <p:nvPr/>
        </p:nvGrpSpPr>
        <p:grpSpPr>
          <a:xfrm>
            <a:off x="2970239" y="2493000"/>
            <a:ext cx="1366999" cy="725753"/>
            <a:chOff x="2143521" y="2484227"/>
            <a:chExt cx="1366999" cy="725753"/>
          </a:xfrm>
        </p:grpSpPr>
        <p:sp>
          <p:nvSpPr>
            <p:cNvPr id="7317" name="Google Shape;7317;p72"/>
            <p:cNvSpPr txBox="1"/>
            <p:nvPr/>
          </p:nvSpPr>
          <p:spPr>
            <a:xfrm>
              <a:off x="2143521" y="2929134"/>
              <a:ext cx="1126397" cy="2808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AS1,AS3,X </a:t>
              </a:r>
              <a:endParaRPr/>
            </a:p>
          </p:txBody>
        </p:sp>
        <p:sp>
          <p:nvSpPr>
            <p:cNvPr id="7318" name="Google Shape;7318;p72"/>
            <p:cNvSpPr/>
            <p:nvPr/>
          </p:nvSpPr>
          <p:spPr>
            <a:xfrm rot="-8624927">
              <a:off x="2734864" y="2684666"/>
              <a:ext cx="768350" cy="276225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19" name="Google Shape;7319;p72"/>
          <p:cNvSpPr txBox="1"/>
          <p:nvPr/>
        </p:nvSpPr>
        <p:spPr>
          <a:xfrm>
            <a:off x="6375649" y="3642958"/>
            <a:ext cx="18609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OSPF link weights</a:t>
            </a:r>
            <a:endParaRPr/>
          </a:p>
        </p:txBody>
      </p:sp>
      <p:sp>
        <p:nvSpPr>
          <p:cNvPr id="7320" name="Google Shape;7320;p72"/>
          <p:cNvSpPr txBox="1"/>
          <p:nvPr/>
        </p:nvSpPr>
        <p:spPr>
          <a:xfrm>
            <a:off x="5162685" y="3108488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1" name="Google Shape;7321;p72"/>
          <p:cNvSpPr txBox="1"/>
          <p:nvPr/>
        </p:nvSpPr>
        <p:spPr>
          <a:xfrm>
            <a:off x="5952201" y="2502930"/>
            <a:ext cx="46948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2" name="Google Shape;7322;p72"/>
          <p:cNvSpPr txBox="1"/>
          <p:nvPr/>
        </p:nvSpPr>
        <p:spPr>
          <a:xfrm>
            <a:off x="5702048" y="3095306"/>
            <a:ext cx="4828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263</a:t>
            </a:r>
            <a:endParaRPr i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3" name="Google Shape;7323;p72"/>
          <p:cNvSpPr/>
          <p:nvPr/>
        </p:nvSpPr>
        <p:spPr>
          <a:xfrm>
            <a:off x="5334000" y="3352800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7" name="Shape 7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8" name="Google Shape;7328;p73"/>
          <p:cNvSpPr txBox="1"/>
          <p:nvPr>
            <p:ph type="title"/>
          </p:nvPr>
        </p:nvSpPr>
        <p:spPr>
          <a:xfrm>
            <a:off x="838200" y="389191"/>
            <a:ext cx="1089868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</a:t>
            </a:r>
            <a:endParaRPr/>
          </a:p>
        </p:txBody>
      </p:sp>
      <p:sp>
        <p:nvSpPr>
          <p:cNvPr id="7329" name="Google Shape;7329;p73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0" name="Google Shape;7330;p73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31" name="Google Shape;7331;p73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32" name="Google Shape;7332;p73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3" name="Google Shape;7333;p73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34" name="Google Shape;7334;p73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5" name="Google Shape;7335;p73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6" name="Google Shape;7336;p73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7" name="Google Shape;7337;p73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38" name="Google Shape;7338;p73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339" name="Google Shape;7339;p73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340" name="Google Shape;7340;p73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1" name="Google Shape;7341;p73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2" name="Google Shape;7342;p73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3" name="Google Shape;7343;p73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4" name="Google Shape;7344;p73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5" name="Google Shape;7345;p73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6" name="Google Shape;7346;p73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7" name="Google Shape;7347;p73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8" name="Google Shape;7348;p73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9" name="Google Shape;7349;p73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0" name="Google Shape;7350;p73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1" name="Google Shape;7351;p73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2" name="Google Shape;7352;p73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3" name="Google Shape;7353;p73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54" name="Google Shape;7354;p73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5" name="Google Shape;7355;p73"/>
          <p:cNvSpPr/>
          <p:nvPr/>
        </p:nvSpPr>
        <p:spPr>
          <a:xfrm>
            <a:off x="1107929" y="4358794"/>
            <a:ext cx="10802636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advertises path Aw to B and to C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</a:t>
            </a:r>
            <a:r>
              <a:rPr i="1" lang="en-US" sz="24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chooses not to advertise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BAw to C!  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gets no “revenue” for routing CBAw, since none of  C, A, w are B’s customers</a:t>
            </a:r>
            <a:endParaRPr/>
          </a:p>
          <a:p>
            <a:pPr indent="-342900" lvl="1" marL="8001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does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learn about CBAw path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will route CAw (not using B) to get to w</a:t>
            </a:r>
            <a:endParaRPr/>
          </a:p>
        </p:txBody>
      </p:sp>
      <p:sp>
        <p:nvSpPr>
          <p:cNvPr id="7356" name="Google Shape;7356;p73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57" name="Google Shape;7357;p73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58" name="Google Shape;7358;p73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9" name="Google Shape;7359;p73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0" name="Google Shape;7360;p73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1" name="Google Shape;7361;p73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362" name="Google Shape;7362;p73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3" name="Google Shape;7363;p73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364" name="Google Shape;7364;p73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65" name="Google Shape;7365;p73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6" name="Google Shape;7366;p73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67" name="Google Shape;7367;p73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368" name="Google Shape;7368;p73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9" name="Google Shape;7369;p73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370" name="Google Shape;7370;p73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71" name="Google Shape;7371;p73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372" name="Google Shape;7372;p73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3" name="Google Shape;7373;p73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grpSp>
        <p:nvGrpSpPr>
          <p:cNvPr id="7374" name="Google Shape;7374;p73"/>
          <p:cNvGrpSpPr/>
          <p:nvPr/>
        </p:nvGrpSpPr>
        <p:grpSpPr>
          <a:xfrm>
            <a:off x="3351904" y="2513644"/>
            <a:ext cx="742613" cy="487557"/>
            <a:chOff x="2552896" y="2671126"/>
            <a:chExt cx="742613" cy="487557"/>
          </a:xfrm>
        </p:grpSpPr>
        <p:sp>
          <p:nvSpPr>
            <p:cNvPr id="7375" name="Google Shape;7375;p73"/>
            <p:cNvSpPr txBox="1"/>
            <p:nvPr/>
          </p:nvSpPr>
          <p:spPr>
            <a:xfrm>
              <a:off x="2552896" y="2883223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6" name="Google Shape;7376;p73"/>
            <p:cNvSpPr/>
            <p:nvPr/>
          </p:nvSpPr>
          <p:spPr>
            <a:xfrm rot="-8624927">
              <a:off x="2824952" y="2786969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77" name="Google Shape;7377;p73"/>
          <p:cNvGrpSpPr/>
          <p:nvPr/>
        </p:nvGrpSpPr>
        <p:grpSpPr>
          <a:xfrm>
            <a:off x="3297703" y="1578748"/>
            <a:ext cx="735306" cy="453401"/>
            <a:chOff x="2656196" y="2854042"/>
            <a:chExt cx="735306" cy="453401"/>
          </a:xfrm>
        </p:grpSpPr>
        <p:sp>
          <p:nvSpPr>
            <p:cNvPr id="7378" name="Google Shape;7378;p73"/>
            <p:cNvSpPr txBox="1"/>
            <p:nvPr/>
          </p:nvSpPr>
          <p:spPr>
            <a:xfrm>
              <a:off x="2656196" y="2871746"/>
              <a:ext cx="484428" cy="2754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A,w</a:t>
              </a:r>
              <a:endParaRPr b="0" i="1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9" name="Google Shape;7379;p73"/>
            <p:cNvSpPr/>
            <p:nvPr/>
          </p:nvSpPr>
          <p:spPr>
            <a:xfrm rot="8256763">
              <a:off x="2928253" y="2982091"/>
              <a:ext cx="456394" cy="197302"/>
            </a:xfrm>
            <a:prstGeom prst="leftArrow">
              <a:avLst>
                <a:gd fmla="val 50000" name="adj1"/>
                <a:gd fmla="val 69540" name="adj2"/>
              </a:avLst>
            </a:prstGeom>
            <a:gradFill>
              <a:gsLst>
                <a:gs pos="0">
                  <a:srgbClr val="C0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3" name="Shape 7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4" name="Google Shape;7384;p74"/>
          <p:cNvSpPr txBox="1"/>
          <p:nvPr>
            <p:ph type="title"/>
          </p:nvPr>
        </p:nvSpPr>
        <p:spPr>
          <a:xfrm>
            <a:off x="838200" y="389191"/>
            <a:ext cx="1124941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BGP: achieving policy via advertisements </a:t>
            </a:r>
            <a:r>
              <a:rPr lang="en-US" sz="4000"/>
              <a:t>(more)</a:t>
            </a:r>
            <a:endParaRPr/>
          </a:p>
        </p:txBody>
      </p:sp>
      <p:sp>
        <p:nvSpPr>
          <p:cNvPr id="7385" name="Google Shape;7385;p74"/>
          <p:cNvSpPr txBox="1"/>
          <p:nvPr>
            <p:ph idx="12" type="sldNum"/>
          </p:nvPr>
        </p:nvSpPr>
        <p:spPr>
          <a:xfrm>
            <a:off x="9169512" y="644903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5-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6" name="Google Shape;7386;p74"/>
          <p:cNvSpPr/>
          <p:nvPr/>
        </p:nvSpPr>
        <p:spPr>
          <a:xfrm>
            <a:off x="1916743" y="1048794"/>
            <a:ext cx="7539038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87" name="Google Shape;7387;p74"/>
          <p:cNvGrpSpPr/>
          <p:nvPr/>
        </p:nvGrpSpPr>
        <p:grpSpPr>
          <a:xfrm>
            <a:off x="3983668" y="1440907"/>
            <a:ext cx="893763" cy="577850"/>
            <a:chOff x="3983668" y="1440907"/>
            <a:chExt cx="893763" cy="577850"/>
          </a:xfrm>
        </p:grpSpPr>
        <p:sp>
          <p:nvSpPr>
            <p:cNvPr id="7388" name="Google Shape;7388;p74"/>
            <p:cNvSpPr/>
            <p:nvPr/>
          </p:nvSpPr>
          <p:spPr>
            <a:xfrm>
              <a:off x="3983668" y="1440907"/>
              <a:ext cx="893763" cy="577850"/>
            </a:xfrm>
            <a:custGeom>
              <a:rect b="b" l="l" r="r" t="t"/>
              <a:pathLst>
                <a:path extrusionOk="0" h="364" w="563">
                  <a:moveTo>
                    <a:pt x="175" y="0"/>
                  </a:moveTo>
                  <a:lnTo>
                    <a:pt x="148" y="5"/>
                  </a:lnTo>
                  <a:lnTo>
                    <a:pt x="132" y="8"/>
                  </a:lnTo>
                  <a:lnTo>
                    <a:pt x="119" y="10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1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4" y="104"/>
                  </a:lnTo>
                  <a:lnTo>
                    <a:pt x="8" y="120"/>
                  </a:lnTo>
                  <a:lnTo>
                    <a:pt x="3" y="128"/>
                  </a:lnTo>
                  <a:lnTo>
                    <a:pt x="3" y="136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82"/>
                  </a:lnTo>
                  <a:lnTo>
                    <a:pt x="8" y="195"/>
                  </a:lnTo>
                  <a:lnTo>
                    <a:pt x="16" y="212"/>
                  </a:lnTo>
                  <a:lnTo>
                    <a:pt x="27" y="228"/>
                  </a:lnTo>
                  <a:lnTo>
                    <a:pt x="35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5"/>
                  </a:lnTo>
                  <a:lnTo>
                    <a:pt x="103" y="319"/>
                  </a:lnTo>
                  <a:lnTo>
                    <a:pt x="111" y="321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5" y="335"/>
                  </a:lnTo>
                  <a:lnTo>
                    <a:pt x="146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8"/>
                  </a:lnTo>
                  <a:lnTo>
                    <a:pt x="191" y="348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6"/>
                  </a:lnTo>
                  <a:lnTo>
                    <a:pt x="261" y="356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4"/>
                  </a:lnTo>
                  <a:lnTo>
                    <a:pt x="385" y="364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7" y="354"/>
                  </a:lnTo>
                  <a:lnTo>
                    <a:pt x="495" y="348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20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1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5" y="276"/>
                  </a:lnTo>
                  <a:lnTo>
                    <a:pt x="557" y="257"/>
                  </a:lnTo>
                  <a:lnTo>
                    <a:pt x="560" y="238"/>
                  </a:lnTo>
                  <a:lnTo>
                    <a:pt x="563" y="217"/>
                  </a:lnTo>
                  <a:lnTo>
                    <a:pt x="563" y="195"/>
                  </a:lnTo>
                  <a:lnTo>
                    <a:pt x="563" y="174"/>
                  </a:lnTo>
                  <a:lnTo>
                    <a:pt x="560" y="155"/>
                  </a:lnTo>
                  <a:lnTo>
                    <a:pt x="557" y="134"/>
                  </a:lnTo>
                  <a:lnTo>
                    <a:pt x="557" y="115"/>
                  </a:lnTo>
                  <a:lnTo>
                    <a:pt x="555" y="96"/>
                  </a:lnTo>
                  <a:lnTo>
                    <a:pt x="552" y="80"/>
                  </a:lnTo>
                  <a:lnTo>
                    <a:pt x="549" y="67"/>
                  </a:lnTo>
                  <a:lnTo>
                    <a:pt x="546" y="61"/>
                  </a:lnTo>
                  <a:lnTo>
                    <a:pt x="546" y="56"/>
                  </a:lnTo>
                  <a:lnTo>
                    <a:pt x="544" y="48"/>
                  </a:lnTo>
                  <a:lnTo>
                    <a:pt x="541" y="40"/>
                  </a:lnTo>
                  <a:lnTo>
                    <a:pt x="538" y="32"/>
                  </a:lnTo>
                  <a:lnTo>
                    <a:pt x="536" y="29"/>
                  </a:lnTo>
                  <a:lnTo>
                    <a:pt x="533" y="24"/>
                  </a:lnTo>
                  <a:lnTo>
                    <a:pt x="528" y="21"/>
                  </a:lnTo>
                  <a:lnTo>
                    <a:pt x="522" y="18"/>
                  </a:lnTo>
                  <a:lnTo>
                    <a:pt x="520" y="18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50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4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2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2"/>
                  </a:lnTo>
                  <a:lnTo>
                    <a:pt x="199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9" name="Google Shape;7389;p74"/>
            <p:cNvSpPr/>
            <p:nvPr/>
          </p:nvSpPr>
          <p:spPr>
            <a:xfrm>
              <a:off x="4346086" y="1490773"/>
              <a:ext cx="22281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cxnSp>
        <p:nvCxnSpPr>
          <p:cNvPr id="7390" name="Google Shape;7390;p74"/>
          <p:cNvCxnSpPr/>
          <p:nvPr/>
        </p:nvCxnSpPr>
        <p:spPr>
          <a:xfrm>
            <a:off x="4877431" y="1734594"/>
            <a:ext cx="665163" cy="276225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1" name="Google Shape;7391;p74"/>
          <p:cNvCxnSpPr/>
          <p:nvPr/>
        </p:nvCxnSpPr>
        <p:spPr>
          <a:xfrm flipH="1" rot="10800000">
            <a:off x="4920293" y="2117182"/>
            <a:ext cx="669925" cy="566738"/>
          </a:xfrm>
          <a:prstGeom prst="straightConnector1">
            <a:avLst/>
          </a:prstGeom>
          <a:noFill/>
          <a:ln cap="flat" cmpd="sng" w="174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2" name="Google Shape;7392;p74"/>
          <p:cNvCxnSpPr/>
          <p:nvPr/>
        </p:nvCxnSpPr>
        <p:spPr>
          <a:xfrm flipH="1" rot="10800000">
            <a:off x="3791581" y="1874294"/>
            <a:ext cx="290513" cy="23495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3" name="Google Shape;7393;p74"/>
          <p:cNvCxnSpPr/>
          <p:nvPr/>
        </p:nvCxnSpPr>
        <p:spPr>
          <a:xfrm rot="10800000">
            <a:off x="4664705" y="2002882"/>
            <a:ext cx="1423" cy="538612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4" name="Google Shape;7394;p74"/>
          <p:cNvCxnSpPr/>
          <p:nvPr/>
        </p:nvCxnSpPr>
        <p:spPr>
          <a:xfrm>
            <a:off x="3816981" y="2428332"/>
            <a:ext cx="265113" cy="165100"/>
          </a:xfrm>
          <a:prstGeom prst="straightConnector1">
            <a:avLst/>
          </a:prstGeom>
          <a:noFill/>
          <a:ln cap="flat" cmpd="sng" w="555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5" name="Google Shape;7395;p74"/>
          <p:cNvSpPr/>
          <p:nvPr/>
        </p:nvSpPr>
        <p:spPr>
          <a:xfrm>
            <a:off x="1181100" y="3581400"/>
            <a:ext cx="6401562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6" name="Google Shape;7396;p74"/>
          <p:cNvSpPr txBox="1"/>
          <p:nvPr/>
        </p:nvSpPr>
        <p:spPr>
          <a:xfrm>
            <a:off x="655786" y="3397142"/>
            <a:ext cx="1107361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 only wants to route traffic to/from its customer networks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(does not want to carry transit traffic between other ISPs – a typical “real world” policy)</a:t>
            </a:r>
            <a:endParaRPr/>
          </a:p>
        </p:txBody>
      </p:sp>
      <p:cxnSp>
        <p:nvCxnSpPr>
          <p:cNvPr id="7397" name="Google Shape;7397;p74"/>
          <p:cNvCxnSpPr/>
          <p:nvPr/>
        </p:nvCxnSpPr>
        <p:spPr>
          <a:xfrm rot="10800000">
            <a:off x="2407023" y="22322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398" name="Google Shape;7398;p74"/>
          <p:cNvSpPr/>
          <p:nvPr/>
        </p:nvSpPr>
        <p:spPr>
          <a:xfrm>
            <a:off x="2143756" y="2044157"/>
            <a:ext cx="346075" cy="341313"/>
          </a:xfrm>
          <a:custGeom>
            <a:rect b="b" l="l" r="r" t="t"/>
            <a:pathLst>
              <a:path extrusionOk="0" h="215" w="218">
                <a:moveTo>
                  <a:pt x="110" y="0"/>
                </a:moveTo>
                <a:lnTo>
                  <a:pt x="99" y="0"/>
                </a:lnTo>
                <a:lnTo>
                  <a:pt x="88" y="3"/>
                </a:lnTo>
                <a:lnTo>
                  <a:pt x="78" y="6"/>
                </a:lnTo>
                <a:lnTo>
                  <a:pt x="67" y="9"/>
                </a:lnTo>
                <a:lnTo>
                  <a:pt x="56" y="14"/>
                </a:lnTo>
                <a:lnTo>
                  <a:pt x="48" y="19"/>
                </a:lnTo>
                <a:lnTo>
                  <a:pt x="40" y="25"/>
                </a:lnTo>
                <a:lnTo>
                  <a:pt x="32" y="33"/>
                </a:lnTo>
                <a:lnTo>
                  <a:pt x="24" y="41"/>
                </a:lnTo>
                <a:lnTo>
                  <a:pt x="18" y="49"/>
                </a:lnTo>
                <a:lnTo>
                  <a:pt x="13" y="57"/>
                </a:lnTo>
                <a:lnTo>
                  <a:pt x="8" y="65"/>
                </a:lnTo>
                <a:lnTo>
                  <a:pt x="5" y="76"/>
                </a:lnTo>
                <a:lnTo>
                  <a:pt x="2" y="86"/>
                </a:lnTo>
                <a:lnTo>
                  <a:pt x="0" y="97"/>
                </a:lnTo>
                <a:lnTo>
                  <a:pt x="0" y="108"/>
                </a:lnTo>
                <a:lnTo>
                  <a:pt x="0" y="118"/>
                </a:lnTo>
                <a:lnTo>
                  <a:pt x="2" y="129"/>
                </a:lnTo>
                <a:lnTo>
                  <a:pt x="5" y="140"/>
                </a:lnTo>
                <a:lnTo>
                  <a:pt x="8" y="151"/>
                </a:lnTo>
                <a:lnTo>
                  <a:pt x="13" y="159"/>
                </a:lnTo>
                <a:lnTo>
                  <a:pt x="18" y="167"/>
                </a:lnTo>
                <a:lnTo>
                  <a:pt x="24" y="175"/>
                </a:lnTo>
                <a:lnTo>
                  <a:pt x="32" y="183"/>
                </a:lnTo>
                <a:lnTo>
                  <a:pt x="40" y="191"/>
                </a:lnTo>
                <a:lnTo>
                  <a:pt x="48" y="196"/>
                </a:lnTo>
                <a:lnTo>
                  <a:pt x="56" y="202"/>
                </a:lnTo>
                <a:lnTo>
                  <a:pt x="67" y="207"/>
                </a:lnTo>
                <a:lnTo>
                  <a:pt x="78" y="210"/>
                </a:lnTo>
                <a:lnTo>
                  <a:pt x="88" y="212"/>
                </a:lnTo>
                <a:lnTo>
                  <a:pt x="99" y="215"/>
                </a:lnTo>
                <a:lnTo>
                  <a:pt x="110" y="215"/>
                </a:lnTo>
                <a:lnTo>
                  <a:pt x="121" y="215"/>
                </a:lnTo>
                <a:lnTo>
                  <a:pt x="131" y="212"/>
                </a:lnTo>
                <a:lnTo>
                  <a:pt x="142" y="210"/>
                </a:lnTo>
                <a:lnTo>
                  <a:pt x="153" y="207"/>
                </a:lnTo>
                <a:lnTo>
                  <a:pt x="161" y="202"/>
                </a:lnTo>
                <a:lnTo>
                  <a:pt x="169" y="196"/>
                </a:lnTo>
                <a:lnTo>
                  <a:pt x="177" y="191"/>
                </a:lnTo>
                <a:lnTo>
                  <a:pt x="185" y="183"/>
                </a:lnTo>
                <a:lnTo>
                  <a:pt x="193" y="175"/>
                </a:lnTo>
                <a:lnTo>
                  <a:pt x="199" y="167"/>
                </a:lnTo>
                <a:lnTo>
                  <a:pt x="204" y="159"/>
                </a:lnTo>
                <a:lnTo>
                  <a:pt x="209" y="151"/>
                </a:lnTo>
                <a:lnTo>
                  <a:pt x="212" y="140"/>
                </a:lnTo>
                <a:lnTo>
                  <a:pt x="215" y="129"/>
                </a:lnTo>
                <a:lnTo>
                  <a:pt x="218" y="118"/>
                </a:lnTo>
                <a:lnTo>
                  <a:pt x="218" y="108"/>
                </a:lnTo>
                <a:lnTo>
                  <a:pt x="218" y="97"/>
                </a:lnTo>
                <a:lnTo>
                  <a:pt x="215" y="86"/>
                </a:lnTo>
                <a:lnTo>
                  <a:pt x="212" y="76"/>
                </a:lnTo>
                <a:lnTo>
                  <a:pt x="209" y="65"/>
                </a:lnTo>
                <a:lnTo>
                  <a:pt x="204" y="57"/>
                </a:lnTo>
                <a:lnTo>
                  <a:pt x="199" y="49"/>
                </a:lnTo>
                <a:lnTo>
                  <a:pt x="193" y="41"/>
                </a:lnTo>
                <a:lnTo>
                  <a:pt x="185" y="33"/>
                </a:lnTo>
                <a:lnTo>
                  <a:pt x="177" y="25"/>
                </a:lnTo>
                <a:lnTo>
                  <a:pt x="169" y="19"/>
                </a:lnTo>
                <a:lnTo>
                  <a:pt x="161" y="14"/>
                </a:lnTo>
                <a:lnTo>
                  <a:pt x="153" y="9"/>
                </a:lnTo>
                <a:lnTo>
                  <a:pt x="142" y="6"/>
                </a:lnTo>
                <a:lnTo>
                  <a:pt x="131" y="3"/>
                </a:lnTo>
                <a:lnTo>
                  <a:pt x="121" y="0"/>
                </a:lnTo>
                <a:lnTo>
                  <a:pt x="110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9" name="Google Shape;7399;p74"/>
          <p:cNvSpPr/>
          <p:nvPr/>
        </p:nvSpPr>
        <p:spPr>
          <a:xfrm>
            <a:off x="2196237" y="2009324"/>
            <a:ext cx="2292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0" name="Google Shape;7400;p74"/>
          <p:cNvSpPr/>
          <p:nvPr/>
        </p:nvSpPr>
        <p:spPr>
          <a:xfrm>
            <a:off x="2419981" y="2083844"/>
            <a:ext cx="49213" cy="212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1" name="Google Shape;7401;p74"/>
          <p:cNvGrpSpPr/>
          <p:nvPr/>
        </p:nvGrpSpPr>
        <p:grpSpPr>
          <a:xfrm>
            <a:off x="2950206" y="1990648"/>
            <a:ext cx="892175" cy="579438"/>
            <a:chOff x="2950206" y="1990648"/>
            <a:chExt cx="892175" cy="579438"/>
          </a:xfrm>
        </p:grpSpPr>
        <p:sp>
          <p:nvSpPr>
            <p:cNvPr id="7402" name="Google Shape;7402;p74"/>
            <p:cNvSpPr/>
            <p:nvPr/>
          </p:nvSpPr>
          <p:spPr>
            <a:xfrm>
              <a:off x="2950206" y="1990648"/>
              <a:ext cx="892175" cy="579438"/>
            </a:xfrm>
            <a:custGeom>
              <a:rect b="b" l="l" r="r" t="t"/>
              <a:pathLst>
                <a:path extrusionOk="0" h="365" w="562">
                  <a:moveTo>
                    <a:pt x="178" y="0"/>
                  </a:moveTo>
                  <a:lnTo>
                    <a:pt x="148" y="5"/>
                  </a:lnTo>
                  <a:lnTo>
                    <a:pt x="135" y="8"/>
                  </a:lnTo>
                  <a:lnTo>
                    <a:pt x="121" y="11"/>
                  </a:lnTo>
                  <a:lnTo>
                    <a:pt x="108" y="16"/>
                  </a:lnTo>
                  <a:lnTo>
                    <a:pt x="94" y="21"/>
                  </a:lnTo>
                  <a:lnTo>
                    <a:pt x="81" y="29"/>
                  </a:lnTo>
                  <a:lnTo>
                    <a:pt x="70" y="37"/>
                  </a:lnTo>
                  <a:lnTo>
                    <a:pt x="59" y="48"/>
                  </a:lnTo>
                  <a:lnTo>
                    <a:pt x="46" y="62"/>
                  </a:lnTo>
                  <a:lnTo>
                    <a:pt x="35" y="75"/>
                  </a:lnTo>
                  <a:lnTo>
                    <a:pt x="24" y="91"/>
                  </a:lnTo>
                  <a:lnTo>
                    <a:pt x="16" y="104"/>
                  </a:lnTo>
                  <a:lnTo>
                    <a:pt x="8" y="121"/>
                  </a:lnTo>
                  <a:lnTo>
                    <a:pt x="6" y="129"/>
                  </a:lnTo>
                  <a:lnTo>
                    <a:pt x="3" y="137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0" y="166"/>
                  </a:lnTo>
                  <a:lnTo>
                    <a:pt x="3" y="174"/>
                  </a:lnTo>
                  <a:lnTo>
                    <a:pt x="3" y="182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4"/>
                  </a:lnTo>
                  <a:lnTo>
                    <a:pt x="49" y="257"/>
                  </a:lnTo>
                  <a:lnTo>
                    <a:pt x="59" y="271"/>
                  </a:lnTo>
                  <a:lnTo>
                    <a:pt x="70" y="284"/>
                  </a:lnTo>
                  <a:lnTo>
                    <a:pt x="81" y="295"/>
                  </a:lnTo>
                  <a:lnTo>
                    <a:pt x="92" y="306"/>
                  </a:lnTo>
                  <a:lnTo>
                    <a:pt x="105" y="319"/>
                  </a:lnTo>
                  <a:lnTo>
                    <a:pt x="110" y="322"/>
                  </a:lnTo>
                  <a:lnTo>
                    <a:pt x="119" y="327"/>
                  </a:lnTo>
                  <a:lnTo>
                    <a:pt x="127" y="332"/>
                  </a:lnTo>
                  <a:lnTo>
                    <a:pt x="137" y="335"/>
                  </a:lnTo>
                  <a:lnTo>
                    <a:pt x="145" y="340"/>
                  </a:lnTo>
                  <a:lnTo>
                    <a:pt x="156" y="343"/>
                  </a:lnTo>
                  <a:lnTo>
                    <a:pt x="170" y="346"/>
                  </a:lnTo>
                  <a:lnTo>
                    <a:pt x="183" y="349"/>
                  </a:lnTo>
                  <a:lnTo>
                    <a:pt x="191" y="349"/>
                  </a:lnTo>
                  <a:lnTo>
                    <a:pt x="199" y="351"/>
                  </a:lnTo>
                  <a:lnTo>
                    <a:pt x="218" y="354"/>
                  </a:lnTo>
                  <a:lnTo>
                    <a:pt x="240" y="357"/>
                  </a:lnTo>
                  <a:lnTo>
                    <a:pt x="261" y="357"/>
                  </a:lnTo>
                  <a:lnTo>
                    <a:pt x="285" y="359"/>
                  </a:lnTo>
                  <a:lnTo>
                    <a:pt x="310" y="362"/>
                  </a:lnTo>
                  <a:lnTo>
                    <a:pt x="334" y="362"/>
                  </a:lnTo>
                  <a:lnTo>
                    <a:pt x="361" y="365"/>
                  </a:lnTo>
                  <a:lnTo>
                    <a:pt x="385" y="365"/>
                  </a:lnTo>
                  <a:lnTo>
                    <a:pt x="409" y="362"/>
                  </a:lnTo>
                  <a:lnTo>
                    <a:pt x="433" y="362"/>
                  </a:lnTo>
                  <a:lnTo>
                    <a:pt x="458" y="359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6"/>
                  </a:lnTo>
                  <a:lnTo>
                    <a:pt x="511" y="340"/>
                  </a:lnTo>
                  <a:lnTo>
                    <a:pt x="519" y="338"/>
                  </a:lnTo>
                  <a:lnTo>
                    <a:pt x="525" y="332"/>
                  </a:lnTo>
                  <a:lnTo>
                    <a:pt x="530" y="327"/>
                  </a:lnTo>
                  <a:lnTo>
                    <a:pt x="536" y="322"/>
                  </a:lnTo>
                  <a:lnTo>
                    <a:pt x="544" y="308"/>
                  </a:lnTo>
                  <a:lnTo>
                    <a:pt x="549" y="295"/>
                  </a:lnTo>
                  <a:lnTo>
                    <a:pt x="554" y="276"/>
                  </a:lnTo>
                  <a:lnTo>
                    <a:pt x="557" y="257"/>
                  </a:lnTo>
                  <a:lnTo>
                    <a:pt x="560" y="239"/>
                  </a:lnTo>
                  <a:lnTo>
                    <a:pt x="562" y="217"/>
                  </a:lnTo>
                  <a:lnTo>
                    <a:pt x="562" y="196"/>
                  </a:lnTo>
                  <a:lnTo>
                    <a:pt x="562" y="174"/>
                  </a:lnTo>
                  <a:lnTo>
                    <a:pt x="560" y="155"/>
                  </a:lnTo>
                  <a:lnTo>
                    <a:pt x="560" y="134"/>
                  </a:lnTo>
                  <a:lnTo>
                    <a:pt x="557" y="115"/>
                  </a:lnTo>
                  <a:lnTo>
                    <a:pt x="554" y="96"/>
                  </a:lnTo>
                  <a:lnTo>
                    <a:pt x="552" y="80"/>
                  </a:lnTo>
                  <a:lnTo>
                    <a:pt x="552" y="67"/>
                  </a:lnTo>
                  <a:lnTo>
                    <a:pt x="549" y="62"/>
                  </a:lnTo>
                  <a:lnTo>
                    <a:pt x="549" y="56"/>
                  </a:lnTo>
                  <a:lnTo>
                    <a:pt x="546" y="48"/>
                  </a:lnTo>
                  <a:lnTo>
                    <a:pt x="544" y="40"/>
                  </a:lnTo>
                  <a:lnTo>
                    <a:pt x="541" y="32"/>
                  </a:lnTo>
                  <a:lnTo>
                    <a:pt x="538" y="29"/>
                  </a:lnTo>
                  <a:lnTo>
                    <a:pt x="533" y="24"/>
                  </a:lnTo>
                  <a:lnTo>
                    <a:pt x="530" y="21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9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6" y="16"/>
                  </a:lnTo>
                  <a:lnTo>
                    <a:pt x="458" y="16"/>
                  </a:lnTo>
                  <a:lnTo>
                    <a:pt x="449" y="13"/>
                  </a:lnTo>
                  <a:lnTo>
                    <a:pt x="431" y="13"/>
                  </a:lnTo>
                  <a:lnTo>
                    <a:pt x="409" y="13"/>
                  </a:lnTo>
                  <a:lnTo>
                    <a:pt x="388" y="13"/>
                  </a:lnTo>
                  <a:lnTo>
                    <a:pt x="363" y="16"/>
                  </a:lnTo>
                  <a:lnTo>
                    <a:pt x="342" y="16"/>
                  </a:lnTo>
                  <a:lnTo>
                    <a:pt x="320" y="16"/>
                  </a:lnTo>
                  <a:lnTo>
                    <a:pt x="301" y="16"/>
                  </a:lnTo>
                  <a:lnTo>
                    <a:pt x="283" y="13"/>
                  </a:lnTo>
                  <a:lnTo>
                    <a:pt x="264" y="13"/>
                  </a:lnTo>
                  <a:lnTo>
                    <a:pt x="248" y="8"/>
                  </a:lnTo>
                  <a:lnTo>
                    <a:pt x="229" y="5"/>
                  </a:lnTo>
                  <a:lnTo>
                    <a:pt x="213" y="3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3" name="Google Shape;7403;p74"/>
            <p:cNvSpPr/>
            <p:nvPr/>
          </p:nvSpPr>
          <p:spPr>
            <a:xfrm flipH="1">
              <a:off x="3314700" y="2056297"/>
              <a:ext cx="333025" cy="430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cxnSp>
        <p:nvCxnSpPr>
          <p:cNvPr id="7404" name="Google Shape;7404;p74"/>
          <p:cNvCxnSpPr/>
          <p:nvPr/>
        </p:nvCxnSpPr>
        <p:spPr>
          <a:xfrm rot="10800000">
            <a:off x="4921623" y="2841812"/>
            <a:ext cx="618565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05" name="Google Shape;7405;p74"/>
          <p:cNvSpPr/>
          <p:nvPr/>
        </p:nvSpPr>
        <p:spPr>
          <a:xfrm>
            <a:off x="5503279" y="2665056"/>
            <a:ext cx="346075" cy="336550"/>
          </a:xfrm>
          <a:custGeom>
            <a:rect b="b" l="l" r="r" t="t"/>
            <a:pathLst>
              <a:path extrusionOk="0" h="212" w="218">
                <a:moveTo>
                  <a:pt x="108" y="0"/>
                </a:moveTo>
                <a:lnTo>
                  <a:pt x="97" y="0"/>
                </a:lnTo>
                <a:lnTo>
                  <a:pt x="86" y="3"/>
                </a:lnTo>
                <a:lnTo>
                  <a:pt x="75" y="6"/>
                </a:lnTo>
                <a:lnTo>
                  <a:pt x="65" y="8"/>
                </a:lnTo>
                <a:lnTo>
                  <a:pt x="56" y="14"/>
                </a:lnTo>
                <a:lnTo>
                  <a:pt x="48" y="19"/>
                </a:lnTo>
                <a:lnTo>
                  <a:pt x="40" y="24"/>
                </a:lnTo>
                <a:lnTo>
                  <a:pt x="32" y="30"/>
                </a:lnTo>
                <a:lnTo>
                  <a:pt x="24" y="38"/>
                </a:lnTo>
                <a:lnTo>
                  <a:pt x="19" y="46"/>
                </a:lnTo>
                <a:lnTo>
                  <a:pt x="13" y="54"/>
                </a:lnTo>
                <a:lnTo>
                  <a:pt x="8" y="65"/>
                </a:lnTo>
                <a:lnTo>
                  <a:pt x="5" y="73"/>
                </a:lnTo>
                <a:lnTo>
                  <a:pt x="3" y="83"/>
                </a:lnTo>
                <a:lnTo>
                  <a:pt x="0" y="94"/>
                </a:lnTo>
                <a:lnTo>
                  <a:pt x="0" y="105"/>
                </a:lnTo>
                <a:lnTo>
                  <a:pt x="0" y="116"/>
                </a:lnTo>
                <a:lnTo>
                  <a:pt x="3" y="126"/>
                </a:lnTo>
                <a:lnTo>
                  <a:pt x="5" y="137"/>
                </a:lnTo>
                <a:lnTo>
                  <a:pt x="8" y="148"/>
                </a:lnTo>
                <a:lnTo>
                  <a:pt x="13" y="156"/>
                </a:lnTo>
                <a:lnTo>
                  <a:pt x="19" y="164"/>
                </a:lnTo>
                <a:lnTo>
                  <a:pt x="24" y="172"/>
                </a:lnTo>
                <a:lnTo>
                  <a:pt x="32" y="180"/>
                </a:lnTo>
                <a:lnTo>
                  <a:pt x="40" y="188"/>
                </a:lnTo>
                <a:lnTo>
                  <a:pt x="48" y="193"/>
                </a:lnTo>
                <a:lnTo>
                  <a:pt x="56" y="199"/>
                </a:lnTo>
                <a:lnTo>
                  <a:pt x="65" y="204"/>
                </a:lnTo>
                <a:lnTo>
                  <a:pt x="75" y="207"/>
                </a:lnTo>
                <a:lnTo>
                  <a:pt x="86" y="209"/>
                </a:lnTo>
                <a:lnTo>
                  <a:pt x="97" y="212"/>
                </a:lnTo>
                <a:lnTo>
                  <a:pt x="108" y="212"/>
                </a:lnTo>
                <a:lnTo>
                  <a:pt x="118" y="212"/>
                </a:lnTo>
                <a:lnTo>
                  <a:pt x="129" y="209"/>
                </a:lnTo>
                <a:lnTo>
                  <a:pt x="140" y="207"/>
                </a:lnTo>
                <a:lnTo>
                  <a:pt x="151" y="204"/>
                </a:lnTo>
                <a:lnTo>
                  <a:pt x="161" y="199"/>
                </a:lnTo>
                <a:lnTo>
                  <a:pt x="169" y="193"/>
                </a:lnTo>
                <a:lnTo>
                  <a:pt x="178" y="188"/>
                </a:lnTo>
                <a:lnTo>
                  <a:pt x="186" y="180"/>
                </a:lnTo>
                <a:lnTo>
                  <a:pt x="194" y="172"/>
                </a:lnTo>
                <a:lnTo>
                  <a:pt x="199" y="164"/>
                </a:lnTo>
                <a:lnTo>
                  <a:pt x="204" y="156"/>
                </a:lnTo>
                <a:lnTo>
                  <a:pt x="210" y="148"/>
                </a:lnTo>
                <a:lnTo>
                  <a:pt x="213" y="137"/>
                </a:lnTo>
                <a:lnTo>
                  <a:pt x="215" y="126"/>
                </a:lnTo>
                <a:lnTo>
                  <a:pt x="218" y="116"/>
                </a:lnTo>
                <a:lnTo>
                  <a:pt x="218" y="105"/>
                </a:lnTo>
                <a:lnTo>
                  <a:pt x="218" y="94"/>
                </a:lnTo>
                <a:lnTo>
                  <a:pt x="215" y="83"/>
                </a:lnTo>
                <a:lnTo>
                  <a:pt x="213" y="73"/>
                </a:lnTo>
                <a:lnTo>
                  <a:pt x="210" y="65"/>
                </a:lnTo>
                <a:lnTo>
                  <a:pt x="204" y="54"/>
                </a:lnTo>
                <a:lnTo>
                  <a:pt x="199" y="46"/>
                </a:lnTo>
                <a:lnTo>
                  <a:pt x="194" y="38"/>
                </a:lnTo>
                <a:lnTo>
                  <a:pt x="186" y="30"/>
                </a:lnTo>
                <a:lnTo>
                  <a:pt x="178" y="24"/>
                </a:lnTo>
                <a:lnTo>
                  <a:pt x="169" y="19"/>
                </a:lnTo>
                <a:lnTo>
                  <a:pt x="161" y="14"/>
                </a:lnTo>
                <a:lnTo>
                  <a:pt x="151" y="8"/>
                </a:lnTo>
                <a:lnTo>
                  <a:pt x="140" y="6"/>
                </a:lnTo>
                <a:lnTo>
                  <a:pt x="129" y="3"/>
                </a:lnTo>
                <a:lnTo>
                  <a:pt x="118" y="0"/>
                </a:lnTo>
                <a:lnTo>
                  <a:pt x="108" y="0"/>
                </a:lnTo>
                <a:close/>
              </a:path>
            </a:pathLst>
          </a:custGeom>
          <a:solidFill>
            <a:srgbClr val="33CC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6" name="Google Shape;7406;p74"/>
          <p:cNvSpPr/>
          <p:nvPr/>
        </p:nvSpPr>
        <p:spPr>
          <a:xfrm>
            <a:off x="5611789" y="2615657"/>
            <a:ext cx="1458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07" name="Google Shape;7407;p74"/>
          <p:cNvGrpSpPr/>
          <p:nvPr/>
        </p:nvGrpSpPr>
        <p:grpSpPr>
          <a:xfrm>
            <a:off x="4043993" y="2436269"/>
            <a:ext cx="896938" cy="574675"/>
            <a:chOff x="4043993" y="2436269"/>
            <a:chExt cx="896938" cy="574675"/>
          </a:xfrm>
        </p:grpSpPr>
        <p:sp>
          <p:nvSpPr>
            <p:cNvPr id="7408" name="Google Shape;7408;p74"/>
            <p:cNvSpPr/>
            <p:nvPr/>
          </p:nvSpPr>
          <p:spPr>
            <a:xfrm>
              <a:off x="4043993" y="2436269"/>
              <a:ext cx="896938" cy="574675"/>
            </a:xfrm>
            <a:custGeom>
              <a:rect b="b" l="l" r="r" t="t"/>
              <a:pathLst>
                <a:path extrusionOk="0" h="362" w="565">
                  <a:moveTo>
                    <a:pt x="178" y="0"/>
                  </a:moveTo>
                  <a:lnTo>
                    <a:pt x="164" y="0"/>
                  </a:lnTo>
                  <a:lnTo>
                    <a:pt x="148" y="3"/>
                  </a:lnTo>
                  <a:lnTo>
                    <a:pt x="134" y="6"/>
                  </a:lnTo>
                  <a:lnTo>
                    <a:pt x="121" y="11"/>
                  </a:lnTo>
                  <a:lnTo>
                    <a:pt x="108" y="14"/>
                  </a:lnTo>
                  <a:lnTo>
                    <a:pt x="94" y="22"/>
                  </a:lnTo>
                  <a:lnTo>
                    <a:pt x="83" y="30"/>
                  </a:lnTo>
                  <a:lnTo>
                    <a:pt x="73" y="38"/>
                  </a:lnTo>
                  <a:lnTo>
                    <a:pt x="62" y="48"/>
                  </a:lnTo>
                  <a:lnTo>
                    <a:pt x="48" y="59"/>
                  </a:lnTo>
                  <a:lnTo>
                    <a:pt x="38" y="73"/>
                  </a:lnTo>
                  <a:lnTo>
                    <a:pt x="27" y="89"/>
                  </a:lnTo>
                  <a:lnTo>
                    <a:pt x="16" y="105"/>
                  </a:lnTo>
                  <a:lnTo>
                    <a:pt x="8" y="118"/>
                  </a:lnTo>
                  <a:lnTo>
                    <a:pt x="5" y="126"/>
                  </a:lnTo>
                  <a:lnTo>
                    <a:pt x="3" y="134"/>
                  </a:lnTo>
                  <a:lnTo>
                    <a:pt x="0" y="142"/>
                  </a:lnTo>
                  <a:lnTo>
                    <a:pt x="0" y="150"/>
                  </a:lnTo>
                  <a:lnTo>
                    <a:pt x="0" y="158"/>
                  </a:lnTo>
                  <a:lnTo>
                    <a:pt x="3" y="164"/>
                  </a:lnTo>
                  <a:lnTo>
                    <a:pt x="5" y="180"/>
                  </a:lnTo>
                  <a:lnTo>
                    <a:pt x="11" y="196"/>
                  </a:lnTo>
                  <a:lnTo>
                    <a:pt x="19" y="212"/>
                  </a:lnTo>
                  <a:lnTo>
                    <a:pt x="27" y="228"/>
                  </a:lnTo>
                  <a:lnTo>
                    <a:pt x="38" y="242"/>
                  </a:lnTo>
                  <a:lnTo>
                    <a:pt x="48" y="255"/>
                  </a:lnTo>
                  <a:lnTo>
                    <a:pt x="59" y="268"/>
                  </a:lnTo>
                  <a:lnTo>
                    <a:pt x="70" y="282"/>
                  </a:lnTo>
                  <a:lnTo>
                    <a:pt x="81" y="295"/>
                  </a:lnTo>
                  <a:lnTo>
                    <a:pt x="94" y="306"/>
                  </a:lnTo>
                  <a:lnTo>
                    <a:pt x="105" y="317"/>
                  </a:lnTo>
                  <a:lnTo>
                    <a:pt x="113" y="322"/>
                  </a:lnTo>
                  <a:lnTo>
                    <a:pt x="121" y="327"/>
                  </a:lnTo>
                  <a:lnTo>
                    <a:pt x="129" y="333"/>
                  </a:lnTo>
                  <a:lnTo>
                    <a:pt x="137" y="335"/>
                  </a:lnTo>
                  <a:lnTo>
                    <a:pt x="148" y="341"/>
                  </a:lnTo>
                  <a:lnTo>
                    <a:pt x="159" y="343"/>
                  </a:lnTo>
                  <a:lnTo>
                    <a:pt x="172" y="346"/>
                  </a:lnTo>
                  <a:lnTo>
                    <a:pt x="186" y="349"/>
                  </a:lnTo>
                  <a:lnTo>
                    <a:pt x="194" y="349"/>
                  </a:lnTo>
                  <a:lnTo>
                    <a:pt x="202" y="351"/>
                  </a:lnTo>
                  <a:lnTo>
                    <a:pt x="221" y="354"/>
                  </a:lnTo>
                  <a:lnTo>
                    <a:pt x="239" y="354"/>
                  </a:lnTo>
                  <a:lnTo>
                    <a:pt x="261" y="357"/>
                  </a:lnTo>
                  <a:lnTo>
                    <a:pt x="285" y="360"/>
                  </a:lnTo>
                  <a:lnTo>
                    <a:pt x="309" y="362"/>
                  </a:lnTo>
                  <a:lnTo>
                    <a:pt x="334" y="362"/>
                  </a:lnTo>
                  <a:lnTo>
                    <a:pt x="360" y="362"/>
                  </a:lnTo>
                  <a:lnTo>
                    <a:pt x="385" y="362"/>
                  </a:lnTo>
                  <a:lnTo>
                    <a:pt x="409" y="362"/>
                  </a:lnTo>
                  <a:lnTo>
                    <a:pt x="433" y="360"/>
                  </a:lnTo>
                  <a:lnTo>
                    <a:pt x="457" y="357"/>
                  </a:lnTo>
                  <a:lnTo>
                    <a:pt x="476" y="354"/>
                  </a:lnTo>
                  <a:lnTo>
                    <a:pt x="495" y="349"/>
                  </a:lnTo>
                  <a:lnTo>
                    <a:pt x="503" y="343"/>
                  </a:lnTo>
                  <a:lnTo>
                    <a:pt x="511" y="341"/>
                  </a:lnTo>
                  <a:lnTo>
                    <a:pt x="519" y="338"/>
                  </a:lnTo>
                  <a:lnTo>
                    <a:pt x="525" y="333"/>
                  </a:lnTo>
                  <a:lnTo>
                    <a:pt x="530" y="327"/>
                  </a:lnTo>
                  <a:lnTo>
                    <a:pt x="535" y="322"/>
                  </a:lnTo>
                  <a:lnTo>
                    <a:pt x="543" y="309"/>
                  </a:lnTo>
                  <a:lnTo>
                    <a:pt x="552" y="292"/>
                  </a:lnTo>
                  <a:lnTo>
                    <a:pt x="557" y="276"/>
                  </a:lnTo>
                  <a:lnTo>
                    <a:pt x="560" y="258"/>
                  </a:lnTo>
                  <a:lnTo>
                    <a:pt x="562" y="236"/>
                  </a:lnTo>
                  <a:lnTo>
                    <a:pt x="565" y="217"/>
                  </a:lnTo>
                  <a:lnTo>
                    <a:pt x="565" y="196"/>
                  </a:lnTo>
                  <a:lnTo>
                    <a:pt x="562" y="174"/>
                  </a:lnTo>
                  <a:lnTo>
                    <a:pt x="562" y="153"/>
                  </a:lnTo>
                  <a:lnTo>
                    <a:pt x="560" y="132"/>
                  </a:lnTo>
                  <a:lnTo>
                    <a:pt x="560" y="113"/>
                  </a:lnTo>
                  <a:lnTo>
                    <a:pt x="557" y="97"/>
                  </a:lnTo>
                  <a:lnTo>
                    <a:pt x="554" y="78"/>
                  </a:lnTo>
                  <a:lnTo>
                    <a:pt x="552" y="65"/>
                  </a:lnTo>
                  <a:lnTo>
                    <a:pt x="549" y="59"/>
                  </a:lnTo>
                  <a:lnTo>
                    <a:pt x="549" y="54"/>
                  </a:lnTo>
                  <a:lnTo>
                    <a:pt x="546" y="46"/>
                  </a:lnTo>
                  <a:lnTo>
                    <a:pt x="543" y="38"/>
                  </a:lnTo>
                  <a:lnTo>
                    <a:pt x="541" y="32"/>
                  </a:lnTo>
                  <a:lnTo>
                    <a:pt x="538" y="27"/>
                  </a:lnTo>
                  <a:lnTo>
                    <a:pt x="533" y="24"/>
                  </a:lnTo>
                  <a:lnTo>
                    <a:pt x="530" y="22"/>
                  </a:lnTo>
                  <a:lnTo>
                    <a:pt x="525" y="19"/>
                  </a:lnTo>
                  <a:lnTo>
                    <a:pt x="519" y="19"/>
                  </a:lnTo>
                  <a:lnTo>
                    <a:pt x="508" y="16"/>
                  </a:lnTo>
                  <a:lnTo>
                    <a:pt x="495" y="16"/>
                  </a:lnTo>
                  <a:lnTo>
                    <a:pt x="482" y="16"/>
                  </a:lnTo>
                  <a:lnTo>
                    <a:pt x="468" y="14"/>
                  </a:lnTo>
                  <a:lnTo>
                    <a:pt x="460" y="14"/>
                  </a:lnTo>
                  <a:lnTo>
                    <a:pt x="452" y="11"/>
                  </a:lnTo>
                  <a:lnTo>
                    <a:pt x="430" y="11"/>
                  </a:lnTo>
                  <a:lnTo>
                    <a:pt x="409" y="11"/>
                  </a:lnTo>
                  <a:lnTo>
                    <a:pt x="387" y="14"/>
                  </a:lnTo>
                  <a:lnTo>
                    <a:pt x="363" y="14"/>
                  </a:lnTo>
                  <a:lnTo>
                    <a:pt x="342" y="14"/>
                  </a:lnTo>
                  <a:lnTo>
                    <a:pt x="320" y="14"/>
                  </a:lnTo>
                  <a:lnTo>
                    <a:pt x="301" y="14"/>
                  </a:lnTo>
                  <a:lnTo>
                    <a:pt x="282" y="11"/>
                  </a:lnTo>
                  <a:lnTo>
                    <a:pt x="264" y="11"/>
                  </a:lnTo>
                  <a:lnTo>
                    <a:pt x="247" y="6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199" y="0"/>
                  </a:lnTo>
                  <a:lnTo>
                    <a:pt x="188" y="0"/>
                  </a:lnTo>
                  <a:lnTo>
                    <a:pt x="183" y="0"/>
                  </a:lnTo>
                  <a:lnTo>
                    <a:pt x="178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9" name="Google Shape;7409;p74"/>
            <p:cNvSpPr/>
            <p:nvPr/>
          </p:nvSpPr>
          <p:spPr>
            <a:xfrm>
              <a:off x="4378675" y="2470168"/>
              <a:ext cx="218008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7410" name="Google Shape;7410;p74"/>
            <p:cNvSpPr/>
            <p:nvPr/>
          </p:nvSpPr>
          <p:spPr>
            <a:xfrm>
              <a:off x="4556756" y="2555332"/>
              <a:ext cx="49213" cy="212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11" name="Google Shape;7411;p74"/>
          <p:cNvGrpSpPr/>
          <p:nvPr/>
        </p:nvGrpSpPr>
        <p:grpSpPr>
          <a:xfrm>
            <a:off x="5542593" y="1820692"/>
            <a:ext cx="346075" cy="377452"/>
            <a:chOff x="5542593" y="1820692"/>
            <a:chExt cx="346075" cy="377452"/>
          </a:xfrm>
        </p:grpSpPr>
        <p:sp>
          <p:nvSpPr>
            <p:cNvPr id="7412" name="Google Shape;7412;p74"/>
            <p:cNvSpPr/>
            <p:nvPr/>
          </p:nvSpPr>
          <p:spPr>
            <a:xfrm>
              <a:off x="5542593" y="1861594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8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4"/>
                  </a:lnTo>
                  <a:lnTo>
                    <a:pt x="33" y="30"/>
                  </a:lnTo>
                  <a:lnTo>
                    <a:pt x="25" y="38"/>
                  </a:lnTo>
                  <a:lnTo>
                    <a:pt x="19" y="46"/>
                  </a:lnTo>
                  <a:lnTo>
                    <a:pt x="14" y="54"/>
                  </a:lnTo>
                  <a:lnTo>
                    <a:pt x="8" y="65"/>
                  </a:lnTo>
                  <a:lnTo>
                    <a:pt x="6" y="73"/>
                  </a:lnTo>
                  <a:lnTo>
                    <a:pt x="3" y="83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5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5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8" y="204"/>
                  </a:lnTo>
                  <a:lnTo>
                    <a:pt x="78" y="207"/>
                  </a:lnTo>
                  <a:lnTo>
                    <a:pt x="89" y="209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09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6" y="126"/>
                  </a:lnTo>
                  <a:lnTo>
                    <a:pt x="218" y="115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6" y="83"/>
                  </a:lnTo>
                  <a:lnTo>
                    <a:pt x="213" y="73"/>
                  </a:lnTo>
                  <a:lnTo>
                    <a:pt x="210" y="65"/>
                  </a:lnTo>
                  <a:lnTo>
                    <a:pt x="205" y="54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0"/>
                  </a:lnTo>
                  <a:lnTo>
                    <a:pt x="178" y="24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3" name="Google Shape;7413;p74"/>
            <p:cNvSpPr/>
            <p:nvPr/>
          </p:nvSpPr>
          <p:spPr>
            <a:xfrm>
              <a:off x="5651010" y="1820692"/>
              <a:ext cx="1410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x</a:t>
              </a:r>
              <a:endParaRPr/>
            </a:p>
          </p:txBody>
        </p:sp>
      </p:grpSp>
      <p:sp>
        <p:nvSpPr>
          <p:cNvPr id="7414" name="Google Shape;7414;p74"/>
          <p:cNvSpPr/>
          <p:nvPr/>
        </p:nvSpPr>
        <p:spPr>
          <a:xfrm>
            <a:off x="1734926" y="4425878"/>
            <a:ext cx="8229600" cy="205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2575" lvl="0" marL="2825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A,B,C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provider networks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x,w,y are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(of provider networks)</a:t>
            </a:r>
            <a:endParaRPr/>
          </a:p>
          <a:p>
            <a:pPr indent="-282575" lvl="0" marL="282575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is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dual-homed: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two networks</a:t>
            </a:r>
            <a:endParaRPr/>
          </a:p>
          <a:p>
            <a:pPr indent="-228600" lvl="0" marL="2286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policy to enforce: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does not want to route from B to C via x </a:t>
            </a:r>
            <a:endParaRPr/>
          </a:p>
          <a:p>
            <a:pPr indent="-228600" lvl="1" marL="6858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so x will not advertise to B a route to C</a:t>
            </a:r>
            <a:endParaRPr/>
          </a:p>
          <a:p>
            <a:pPr indent="-24384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7415" name="Google Shape;7415;p74"/>
          <p:cNvGrpSpPr/>
          <p:nvPr/>
        </p:nvGrpSpPr>
        <p:grpSpPr>
          <a:xfrm>
            <a:off x="6282368" y="1597639"/>
            <a:ext cx="3162301" cy="1711325"/>
            <a:chOff x="6282368" y="1597639"/>
            <a:chExt cx="3162301" cy="1711325"/>
          </a:xfrm>
        </p:grpSpPr>
        <p:sp>
          <p:nvSpPr>
            <p:cNvPr id="7416" name="Google Shape;7416;p74"/>
            <p:cNvSpPr/>
            <p:nvPr/>
          </p:nvSpPr>
          <p:spPr>
            <a:xfrm>
              <a:off x="6282368" y="1597639"/>
              <a:ext cx="965200" cy="4508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7" name="Google Shape;7417;p74"/>
            <p:cNvSpPr/>
            <p:nvPr/>
          </p:nvSpPr>
          <p:spPr>
            <a:xfrm>
              <a:off x="6757320" y="2261646"/>
              <a:ext cx="8350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legend</a:t>
              </a:r>
              <a:r>
                <a:rPr b="1"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8" name="Google Shape;7418;p74"/>
            <p:cNvSpPr/>
            <p:nvPr/>
          </p:nvSpPr>
          <p:spPr>
            <a:xfrm>
              <a:off x="7072943" y="1669076"/>
              <a:ext cx="60325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9" name="Google Shape;7419;p74"/>
            <p:cNvSpPr/>
            <p:nvPr/>
          </p:nvSpPr>
          <p:spPr>
            <a:xfrm>
              <a:off x="8204831" y="2516801"/>
              <a:ext cx="1160463" cy="792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0" name="Google Shape;7420;p74"/>
            <p:cNvSpPr/>
            <p:nvPr/>
          </p:nvSpPr>
          <p:spPr>
            <a:xfrm>
              <a:off x="8331831" y="2580301"/>
              <a:ext cx="11128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customer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1" name="Google Shape;7421;p74"/>
            <p:cNvSpPr/>
            <p:nvPr/>
          </p:nvSpPr>
          <p:spPr>
            <a:xfrm>
              <a:off x="8331831" y="2831126"/>
              <a:ext cx="958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network: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2" name="Google Shape;7422;p74"/>
            <p:cNvSpPr/>
            <p:nvPr/>
          </p:nvSpPr>
          <p:spPr>
            <a:xfrm>
              <a:off x="9097006" y="2831126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3" name="Google Shape;7423;p74"/>
            <p:cNvSpPr/>
            <p:nvPr/>
          </p:nvSpPr>
          <p:spPr>
            <a:xfrm>
              <a:off x="8204831" y="1623039"/>
              <a:ext cx="1106488" cy="673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4" name="Google Shape;7424;p74"/>
            <p:cNvSpPr/>
            <p:nvPr/>
          </p:nvSpPr>
          <p:spPr>
            <a:xfrm>
              <a:off x="8331831" y="1686539"/>
              <a:ext cx="917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provider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5" name="Google Shape;7425;p74"/>
            <p:cNvSpPr/>
            <p:nvPr/>
          </p:nvSpPr>
          <p:spPr>
            <a:xfrm>
              <a:off x="9054143" y="1686539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6" name="Google Shape;7426;p74"/>
            <p:cNvSpPr/>
            <p:nvPr/>
          </p:nvSpPr>
          <p:spPr>
            <a:xfrm>
              <a:off x="8331831" y="1932601"/>
              <a:ext cx="889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7" name="Google Shape;7427;p74"/>
            <p:cNvSpPr/>
            <p:nvPr/>
          </p:nvSpPr>
          <p:spPr>
            <a:xfrm>
              <a:off x="9036681" y="1932601"/>
              <a:ext cx="698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8" name="Google Shape;7428;p74"/>
            <p:cNvSpPr/>
            <p:nvPr/>
          </p:nvSpPr>
          <p:spPr>
            <a:xfrm>
              <a:off x="7392031" y="1673839"/>
              <a:ext cx="893763" cy="574675"/>
            </a:xfrm>
            <a:custGeom>
              <a:rect b="b" l="l" r="r" t="t"/>
              <a:pathLst>
                <a:path extrusionOk="0" h="362" w="563">
                  <a:moveTo>
                    <a:pt x="175" y="0"/>
                  </a:moveTo>
                  <a:lnTo>
                    <a:pt x="162" y="0"/>
                  </a:lnTo>
                  <a:lnTo>
                    <a:pt x="148" y="3"/>
                  </a:lnTo>
                  <a:lnTo>
                    <a:pt x="132" y="5"/>
                  </a:lnTo>
                  <a:lnTo>
                    <a:pt x="119" y="11"/>
                  </a:lnTo>
                  <a:lnTo>
                    <a:pt x="108" y="13"/>
                  </a:lnTo>
                  <a:lnTo>
                    <a:pt x="95" y="22"/>
                  </a:lnTo>
                  <a:lnTo>
                    <a:pt x="81" y="30"/>
                  </a:lnTo>
                  <a:lnTo>
                    <a:pt x="70" y="38"/>
                  </a:lnTo>
                  <a:lnTo>
                    <a:pt x="60" y="48"/>
                  </a:lnTo>
                  <a:lnTo>
                    <a:pt x="46" y="59"/>
                  </a:lnTo>
                  <a:lnTo>
                    <a:pt x="35" y="72"/>
                  </a:lnTo>
                  <a:lnTo>
                    <a:pt x="25" y="89"/>
                  </a:lnTo>
                  <a:lnTo>
                    <a:pt x="14" y="102"/>
                  </a:lnTo>
                  <a:lnTo>
                    <a:pt x="8" y="118"/>
                  </a:lnTo>
                  <a:lnTo>
                    <a:pt x="3" y="126"/>
                  </a:lnTo>
                  <a:lnTo>
                    <a:pt x="3" y="134"/>
                  </a:lnTo>
                  <a:lnTo>
                    <a:pt x="0" y="140"/>
                  </a:lnTo>
                  <a:lnTo>
                    <a:pt x="0" y="148"/>
                  </a:lnTo>
                  <a:lnTo>
                    <a:pt x="0" y="156"/>
                  </a:lnTo>
                  <a:lnTo>
                    <a:pt x="0" y="164"/>
                  </a:lnTo>
                  <a:lnTo>
                    <a:pt x="3" y="180"/>
                  </a:lnTo>
                  <a:lnTo>
                    <a:pt x="8" y="196"/>
                  </a:lnTo>
                  <a:lnTo>
                    <a:pt x="17" y="212"/>
                  </a:lnTo>
                  <a:lnTo>
                    <a:pt x="27" y="225"/>
                  </a:lnTo>
                  <a:lnTo>
                    <a:pt x="35" y="241"/>
                  </a:lnTo>
                  <a:lnTo>
                    <a:pt x="49" y="255"/>
                  </a:lnTo>
                  <a:lnTo>
                    <a:pt x="60" y="268"/>
                  </a:lnTo>
                  <a:lnTo>
                    <a:pt x="70" y="282"/>
                  </a:lnTo>
                  <a:lnTo>
                    <a:pt x="81" y="292"/>
                  </a:lnTo>
                  <a:lnTo>
                    <a:pt x="92" y="306"/>
                  </a:lnTo>
                  <a:lnTo>
                    <a:pt x="103" y="316"/>
                  </a:lnTo>
                  <a:lnTo>
                    <a:pt x="111" y="322"/>
                  </a:lnTo>
                  <a:lnTo>
                    <a:pt x="119" y="327"/>
                  </a:lnTo>
                  <a:lnTo>
                    <a:pt x="127" y="330"/>
                  </a:lnTo>
                  <a:lnTo>
                    <a:pt x="135" y="335"/>
                  </a:lnTo>
                  <a:lnTo>
                    <a:pt x="146" y="338"/>
                  </a:lnTo>
                  <a:lnTo>
                    <a:pt x="156" y="341"/>
                  </a:lnTo>
                  <a:lnTo>
                    <a:pt x="170" y="343"/>
                  </a:lnTo>
                  <a:lnTo>
                    <a:pt x="183" y="346"/>
                  </a:lnTo>
                  <a:lnTo>
                    <a:pt x="191" y="346"/>
                  </a:lnTo>
                  <a:lnTo>
                    <a:pt x="200" y="349"/>
                  </a:lnTo>
                  <a:lnTo>
                    <a:pt x="218" y="351"/>
                  </a:lnTo>
                  <a:lnTo>
                    <a:pt x="240" y="354"/>
                  </a:lnTo>
                  <a:lnTo>
                    <a:pt x="261" y="354"/>
                  </a:lnTo>
                  <a:lnTo>
                    <a:pt x="286" y="357"/>
                  </a:lnTo>
                  <a:lnTo>
                    <a:pt x="310" y="359"/>
                  </a:lnTo>
                  <a:lnTo>
                    <a:pt x="334" y="359"/>
                  </a:lnTo>
                  <a:lnTo>
                    <a:pt x="361" y="362"/>
                  </a:lnTo>
                  <a:lnTo>
                    <a:pt x="385" y="362"/>
                  </a:lnTo>
                  <a:lnTo>
                    <a:pt x="409" y="359"/>
                  </a:lnTo>
                  <a:lnTo>
                    <a:pt x="434" y="359"/>
                  </a:lnTo>
                  <a:lnTo>
                    <a:pt x="455" y="357"/>
                  </a:lnTo>
                  <a:lnTo>
                    <a:pt x="477" y="351"/>
                  </a:lnTo>
                  <a:lnTo>
                    <a:pt x="493" y="346"/>
                  </a:lnTo>
                  <a:lnTo>
                    <a:pt x="504" y="343"/>
                  </a:lnTo>
                  <a:lnTo>
                    <a:pt x="509" y="338"/>
                  </a:lnTo>
                  <a:lnTo>
                    <a:pt x="517" y="335"/>
                  </a:lnTo>
                  <a:lnTo>
                    <a:pt x="522" y="330"/>
                  </a:lnTo>
                  <a:lnTo>
                    <a:pt x="528" y="325"/>
                  </a:lnTo>
                  <a:lnTo>
                    <a:pt x="533" y="319"/>
                  </a:lnTo>
                  <a:lnTo>
                    <a:pt x="541" y="306"/>
                  </a:lnTo>
                  <a:lnTo>
                    <a:pt x="549" y="292"/>
                  </a:lnTo>
                  <a:lnTo>
                    <a:pt x="555" y="274"/>
                  </a:lnTo>
                  <a:lnTo>
                    <a:pt x="557" y="255"/>
                  </a:lnTo>
                  <a:lnTo>
                    <a:pt x="560" y="236"/>
                  </a:lnTo>
                  <a:lnTo>
                    <a:pt x="563" y="215"/>
                  </a:lnTo>
                  <a:lnTo>
                    <a:pt x="563" y="193"/>
                  </a:lnTo>
                  <a:lnTo>
                    <a:pt x="560" y="172"/>
                  </a:lnTo>
                  <a:lnTo>
                    <a:pt x="560" y="153"/>
                  </a:lnTo>
                  <a:lnTo>
                    <a:pt x="557" y="131"/>
                  </a:lnTo>
                  <a:lnTo>
                    <a:pt x="557" y="113"/>
                  </a:lnTo>
                  <a:lnTo>
                    <a:pt x="555" y="94"/>
                  </a:lnTo>
                  <a:lnTo>
                    <a:pt x="552" y="78"/>
                  </a:lnTo>
                  <a:lnTo>
                    <a:pt x="549" y="64"/>
                  </a:lnTo>
                  <a:lnTo>
                    <a:pt x="547" y="59"/>
                  </a:lnTo>
                  <a:lnTo>
                    <a:pt x="547" y="54"/>
                  </a:lnTo>
                  <a:lnTo>
                    <a:pt x="544" y="46"/>
                  </a:lnTo>
                  <a:lnTo>
                    <a:pt x="541" y="38"/>
                  </a:lnTo>
                  <a:lnTo>
                    <a:pt x="539" y="30"/>
                  </a:lnTo>
                  <a:lnTo>
                    <a:pt x="536" y="27"/>
                  </a:lnTo>
                  <a:lnTo>
                    <a:pt x="533" y="22"/>
                  </a:lnTo>
                  <a:lnTo>
                    <a:pt x="528" y="19"/>
                  </a:lnTo>
                  <a:lnTo>
                    <a:pt x="522" y="19"/>
                  </a:lnTo>
                  <a:lnTo>
                    <a:pt x="520" y="16"/>
                  </a:lnTo>
                  <a:lnTo>
                    <a:pt x="506" y="16"/>
                  </a:lnTo>
                  <a:lnTo>
                    <a:pt x="495" y="16"/>
                  </a:lnTo>
                  <a:lnTo>
                    <a:pt x="479" y="16"/>
                  </a:lnTo>
                  <a:lnTo>
                    <a:pt x="474" y="13"/>
                  </a:lnTo>
                  <a:lnTo>
                    <a:pt x="466" y="13"/>
                  </a:lnTo>
                  <a:lnTo>
                    <a:pt x="458" y="13"/>
                  </a:lnTo>
                  <a:lnTo>
                    <a:pt x="450" y="11"/>
                  </a:lnTo>
                  <a:lnTo>
                    <a:pt x="431" y="11"/>
                  </a:lnTo>
                  <a:lnTo>
                    <a:pt x="409" y="11"/>
                  </a:lnTo>
                  <a:lnTo>
                    <a:pt x="388" y="13"/>
                  </a:lnTo>
                  <a:lnTo>
                    <a:pt x="364" y="13"/>
                  </a:lnTo>
                  <a:lnTo>
                    <a:pt x="342" y="13"/>
                  </a:lnTo>
                  <a:lnTo>
                    <a:pt x="321" y="13"/>
                  </a:lnTo>
                  <a:lnTo>
                    <a:pt x="302" y="13"/>
                  </a:lnTo>
                  <a:lnTo>
                    <a:pt x="283" y="11"/>
                  </a:lnTo>
                  <a:lnTo>
                    <a:pt x="264" y="11"/>
                  </a:lnTo>
                  <a:lnTo>
                    <a:pt x="248" y="5"/>
                  </a:lnTo>
                  <a:lnTo>
                    <a:pt x="229" y="3"/>
                  </a:lnTo>
                  <a:lnTo>
                    <a:pt x="213" y="0"/>
                  </a:lnTo>
                  <a:lnTo>
                    <a:pt x="200" y="0"/>
                  </a:lnTo>
                  <a:lnTo>
                    <a:pt x="186" y="0"/>
                  </a:lnTo>
                  <a:lnTo>
                    <a:pt x="181" y="0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9" name="Google Shape;7429;p74"/>
            <p:cNvSpPr/>
            <p:nvPr/>
          </p:nvSpPr>
          <p:spPr>
            <a:xfrm>
              <a:off x="7892093" y="2631101"/>
              <a:ext cx="346075" cy="336550"/>
            </a:xfrm>
            <a:custGeom>
              <a:rect b="b" l="l" r="r" t="t"/>
              <a:pathLst>
                <a:path extrusionOk="0" h="212" w="218">
                  <a:moveTo>
                    <a:pt x="111" y="0"/>
                  </a:moveTo>
                  <a:lnTo>
                    <a:pt x="100" y="0"/>
                  </a:lnTo>
                  <a:lnTo>
                    <a:pt x="89" y="3"/>
                  </a:lnTo>
                  <a:lnTo>
                    <a:pt x="78" y="6"/>
                  </a:lnTo>
                  <a:lnTo>
                    <a:pt x="67" y="8"/>
                  </a:lnTo>
                  <a:lnTo>
                    <a:pt x="57" y="14"/>
                  </a:lnTo>
                  <a:lnTo>
                    <a:pt x="49" y="19"/>
                  </a:lnTo>
                  <a:lnTo>
                    <a:pt x="41" y="25"/>
                  </a:lnTo>
                  <a:lnTo>
                    <a:pt x="33" y="33"/>
                  </a:lnTo>
                  <a:lnTo>
                    <a:pt x="24" y="38"/>
                  </a:lnTo>
                  <a:lnTo>
                    <a:pt x="19" y="46"/>
                  </a:lnTo>
                  <a:lnTo>
                    <a:pt x="14" y="57"/>
                  </a:lnTo>
                  <a:lnTo>
                    <a:pt x="8" y="65"/>
                  </a:lnTo>
                  <a:lnTo>
                    <a:pt x="6" y="76"/>
                  </a:lnTo>
                  <a:lnTo>
                    <a:pt x="3" y="84"/>
                  </a:lnTo>
                  <a:lnTo>
                    <a:pt x="0" y="94"/>
                  </a:lnTo>
                  <a:lnTo>
                    <a:pt x="0" y="105"/>
                  </a:lnTo>
                  <a:lnTo>
                    <a:pt x="0" y="116"/>
                  </a:lnTo>
                  <a:lnTo>
                    <a:pt x="3" y="126"/>
                  </a:lnTo>
                  <a:lnTo>
                    <a:pt x="6" y="137"/>
                  </a:lnTo>
                  <a:lnTo>
                    <a:pt x="8" y="148"/>
                  </a:lnTo>
                  <a:lnTo>
                    <a:pt x="14" y="156"/>
                  </a:lnTo>
                  <a:lnTo>
                    <a:pt x="19" y="164"/>
                  </a:lnTo>
                  <a:lnTo>
                    <a:pt x="24" y="172"/>
                  </a:lnTo>
                  <a:lnTo>
                    <a:pt x="33" y="180"/>
                  </a:lnTo>
                  <a:lnTo>
                    <a:pt x="41" y="188"/>
                  </a:lnTo>
                  <a:lnTo>
                    <a:pt x="49" y="193"/>
                  </a:lnTo>
                  <a:lnTo>
                    <a:pt x="57" y="199"/>
                  </a:lnTo>
                  <a:lnTo>
                    <a:pt x="67" y="204"/>
                  </a:lnTo>
                  <a:lnTo>
                    <a:pt x="78" y="207"/>
                  </a:lnTo>
                  <a:lnTo>
                    <a:pt x="89" y="210"/>
                  </a:lnTo>
                  <a:lnTo>
                    <a:pt x="100" y="212"/>
                  </a:lnTo>
                  <a:lnTo>
                    <a:pt x="111" y="212"/>
                  </a:lnTo>
                  <a:lnTo>
                    <a:pt x="121" y="212"/>
                  </a:lnTo>
                  <a:lnTo>
                    <a:pt x="132" y="210"/>
                  </a:lnTo>
                  <a:lnTo>
                    <a:pt x="143" y="207"/>
                  </a:lnTo>
                  <a:lnTo>
                    <a:pt x="154" y="204"/>
                  </a:lnTo>
                  <a:lnTo>
                    <a:pt x="162" y="199"/>
                  </a:lnTo>
                  <a:lnTo>
                    <a:pt x="170" y="193"/>
                  </a:lnTo>
                  <a:lnTo>
                    <a:pt x="178" y="188"/>
                  </a:lnTo>
                  <a:lnTo>
                    <a:pt x="186" y="180"/>
                  </a:lnTo>
                  <a:lnTo>
                    <a:pt x="194" y="172"/>
                  </a:lnTo>
                  <a:lnTo>
                    <a:pt x="199" y="164"/>
                  </a:lnTo>
                  <a:lnTo>
                    <a:pt x="205" y="156"/>
                  </a:lnTo>
                  <a:lnTo>
                    <a:pt x="210" y="148"/>
                  </a:lnTo>
                  <a:lnTo>
                    <a:pt x="213" y="137"/>
                  </a:lnTo>
                  <a:lnTo>
                    <a:pt x="215" y="126"/>
                  </a:lnTo>
                  <a:lnTo>
                    <a:pt x="218" y="116"/>
                  </a:lnTo>
                  <a:lnTo>
                    <a:pt x="218" y="105"/>
                  </a:lnTo>
                  <a:lnTo>
                    <a:pt x="218" y="94"/>
                  </a:lnTo>
                  <a:lnTo>
                    <a:pt x="215" y="84"/>
                  </a:lnTo>
                  <a:lnTo>
                    <a:pt x="213" y="76"/>
                  </a:lnTo>
                  <a:lnTo>
                    <a:pt x="210" y="65"/>
                  </a:lnTo>
                  <a:lnTo>
                    <a:pt x="205" y="57"/>
                  </a:lnTo>
                  <a:lnTo>
                    <a:pt x="199" y="46"/>
                  </a:lnTo>
                  <a:lnTo>
                    <a:pt x="194" y="38"/>
                  </a:lnTo>
                  <a:lnTo>
                    <a:pt x="186" y="33"/>
                  </a:lnTo>
                  <a:lnTo>
                    <a:pt x="178" y="25"/>
                  </a:lnTo>
                  <a:lnTo>
                    <a:pt x="170" y="19"/>
                  </a:lnTo>
                  <a:lnTo>
                    <a:pt x="162" y="14"/>
                  </a:lnTo>
                  <a:lnTo>
                    <a:pt x="154" y="8"/>
                  </a:lnTo>
                  <a:lnTo>
                    <a:pt x="143" y="6"/>
                  </a:lnTo>
                  <a:lnTo>
                    <a:pt x="132" y="3"/>
                  </a:lnTo>
                  <a:lnTo>
                    <a:pt x="121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33CC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30" name="Google Shape;7430;p74"/>
          <p:cNvSpPr/>
          <p:nvPr/>
        </p:nvSpPr>
        <p:spPr>
          <a:xfrm>
            <a:off x="5361709" y="1704109"/>
            <a:ext cx="720436" cy="678873"/>
          </a:xfrm>
          <a:prstGeom prst="ellipse">
            <a:avLst/>
          </a:prstGeom>
          <a:noFill/>
          <a:ln cap="flat" cmpd="sng" w="2857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4" name="Shape 7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5" name="Google Shape;7435;p75"/>
          <p:cNvSpPr txBox="1"/>
          <p:nvPr>
            <p:ph idx="1" type="body"/>
          </p:nvPr>
        </p:nvSpPr>
        <p:spPr>
          <a:xfrm>
            <a:off x="813148" y="157371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3460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router may learn about more than one route to destination AS, selects route based on: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local preference value attribute: policy decision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shortest AS-PATH 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closest NEXT-HOP router: hot potato routing</a:t>
            </a:r>
            <a:endParaRPr/>
          </a:p>
          <a:p>
            <a:pPr indent="-457200" lvl="1" marL="10842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AutoNum type="arabicPeriod"/>
            </a:pPr>
            <a:r>
              <a:rPr lang="en-US" sz="2800"/>
              <a:t>additional criteria 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36" name="Google Shape;7436;p7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BGP route selection</a:t>
            </a:r>
            <a:endParaRPr/>
          </a:p>
        </p:txBody>
      </p:sp>
      <p:sp>
        <p:nvSpPr>
          <p:cNvPr id="7437" name="Google Shape;7437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1" name="Shape 7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2" name="Google Shape;7442;p76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https://blog.cloudflare.com/october-2021-facebook-outage/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https://engineering.fb.com/2021/10/04/networking-traffic/outage/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https://engineering.fb.com/2021/10/05/networking-traffic/outage-details/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43" name="Google Shape;7443;p7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Facebook Outage on Oct/ 04/ 2021</a:t>
            </a:r>
            <a:endParaRPr/>
          </a:p>
        </p:txBody>
      </p:sp>
      <p:sp>
        <p:nvSpPr>
          <p:cNvPr id="7444" name="Google Shape;7444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9" name="Shape 7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0" name="Google Shape;7450;p7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451" name="Google Shape;745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7452" name="Google Shape;7452;p7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3" name="Google Shape;7453;p77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4" name="Google Shape;7454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8" name="Shape 7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9" name="Google Shape;7459;p7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Internet network layer: historically implemented via distributed, per-router control approach</a:t>
            </a:r>
            <a:r>
              <a:rPr lang="en-US"/>
              <a:t>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>
                <a:solidFill>
                  <a:srgbClr val="000090"/>
                </a:solidFill>
              </a:rPr>
              <a:t>monolithic</a:t>
            </a:r>
            <a:r>
              <a:rPr lang="en-US" sz="2800"/>
              <a:t> router contains switching hardware, runs proprietary implementation of Internet standard protocols (IP, RIP, IS-IS, OSPF, BGP) in proprietary router OS (e.g., Cisco IOS)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different “middleboxes” for different network layer functions: firewalls, load balancers, NAT boxes, ..</a:t>
            </a:r>
            <a:endParaRPr/>
          </a:p>
          <a:p>
            <a:pPr indent="-29051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~2005: renewed interest in rethinking network control plane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460" name="Google Shape;7460;p7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7461" name="Google Shape;7461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66" name="Shape 7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7" name="Google Shape;7467;p79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7468" name="Google Shape;7468;p79"/>
          <p:cNvSpPr txBox="1"/>
          <p:nvPr/>
        </p:nvSpPr>
        <p:spPr>
          <a:xfrm>
            <a:off x="780773" y="1101105"/>
            <a:ext cx="1110642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 to computer forwarding tables</a:t>
            </a:r>
            <a:endParaRPr/>
          </a:p>
        </p:txBody>
      </p:sp>
      <p:sp>
        <p:nvSpPr>
          <p:cNvPr id="7469" name="Google Shape;7469;p79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70" name="Google Shape;7470;p79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1" name="Google Shape;7471;p79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2" name="Google Shape;7472;p79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3" name="Google Shape;7473;p79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4" name="Google Shape;7474;p79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5" name="Google Shape;7475;p79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6" name="Google Shape;7476;p79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7" name="Google Shape;7477;p79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478" name="Google Shape;7478;p79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7479" name="Google Shape;7479;p79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0" name="Google Shape;7480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1" name="Google Shape;7481;p79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2" name="Google Shape;7482;p79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83" name="Google Shape;7483;p79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4" name="Google Shape;7484;p79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5" name="Google Shape;7485;p79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86" name="Google Shape;7486;p79"/>
            <p:cNvCxnSpPr>
              <a:endCxn id="748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87" name="Google Shape;7487;p79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88" name="Google Shape;7488;p79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7489" name="Google Shape;7489;p79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0" name="Google Shape;7490;p79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1" name="Google Shape;7491;p79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2" name="Google Shape;7492;p79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493" name="Google Shape;7493;p79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4" name="Google Shape;7494;p79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5" name="Google Shape;7495;p79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96" name="Google Shape;7496;p79"/>
            <p:cNvCxnSpPr>
              <a:endCxn id="7491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497" name="Google Shape;7497;p79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498" name="Google Shape;7498;p79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7499" name="Google Shape;7499;p79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0" name="Google Shape;750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1" name="Google Shape;7501;p79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2" name="Google Shape;7502;p79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03" name="Google Shape;7503;p79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4" name="Google Shape;7504;p79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5" name="Google Shape;7505;p79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06" name="Google Shape;7506;p79"/>
            <p:cNvCxnSpPr>
              <a:endCxn id="750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07" name="Google Shape;7507;p79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08" name="Google Shape;7508;p79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7509" name="Google Shape;7509;p79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0" name="Google Shape;7510;p79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1" name="Google Shape;7511;p79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2" name="Google Shape;7512;p79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13" name="Google Shape;7513;p79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4" name="Google Shape;7514;p79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5" name="Google Shape;7515;p79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516" name="Google Shape;7516;p79"/>
            <p:cNvCxnSpPr>
              <a:endCxn id="7511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517" name="Google Shape;7517;p79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518" name="Google Shape;7518;p79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7519" name="Google Shape;7519;p79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0" name="Google Shape;7520;p79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1" name="Google Shape;7521;p79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2" name="Google Shape;7522;p79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523" name="Google Shape;7523;p79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524" name="Google Shape;7524;p79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7525" name="Google Shape;7525;p79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526" name="Google Shape;7526;p79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7527" name="Google Shape;7527;p79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8" name="Google Shape;7528;p79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29" name="Google Shape;7529;p79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30" name="Google Shape;7530;p79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31" name="Google Shape;7531;p79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32" name="Google Shape;7532;p79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33" name="Google Shape;7533;p79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34" name="Google Shape;7534;p79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35" name="Google Shape;7535;p79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7536" name="Google Shape;7536;p79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7" name="Google Shape;7537;p79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8" name="Google Shape;7538;p79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39" name="Google Shape;7539;p79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40" name="Google Shape;7540;p79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1" name="Google Shape;7541;p79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42" name="Google Shape;7542;p79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43" name="Google Shape;7543;p79"/>
                <p:cNvCxnSpPr>
                  <a:endCxn id="7538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44" name="Google Shape;7544;p79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45" name="Google Shape;7545;p79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7546" name="Google Shape;7546;p79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47" name="Google Shape;7547;p79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48" name="Google Shape;7548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49" name="Google Shape;7549;p79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7550" name="Google Shape;7550;p79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1" name="Google Shape;7551;p79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2" name="Google Shape;7552;p79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53" name="Google Shape;7553;p79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54" name="Google Shape;7554;p79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55" name="Google Shape;7555;p79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56" name="Google Shape;7556;p79"/>
              <p:cNvCxnSpPr>
                <a:stCxn id="7557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58" name="Google Shape;7558;p79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7559" name="Google Shape;7559;p79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0" name="Google Shape;7560;p79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57" name="Google Shape;7557;p79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1" name="Google Shape;7561;p79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62" name="Google Shape;7562;p79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3" name="Google Shape;7563;p79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64" name="Google Shape;7564;p79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65" name="Google Shape;7565;p79"/>
                <p:cNvCxnSpPr>
                  <a:endCxn id="7557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66" name="Google Shape;7566;p79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67" name="Google Shape;7567;p79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7568" name="Google Shape;7568;p79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69" name="Google Shape;7569;p79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0" name="Google Shape;7570;p79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7571" name="Google Shape;7571;p79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2" name="Google Shape;7572;p79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73" name="Google Shape;7573;p79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74" name="Google Shape;7574;p79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75" name="Google Shape;7575;p79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76" name="Google Shape;7576;p79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77" name="Google Shape;7577;p79"/>
              <p:cNvCxnSpPr>
                <a:stCxn id="7578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579" name="Google Shape;7579;p79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7578" name="Google Shape;7578;p79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0" name="Google Shape;7580;p79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1" name="Google Shape;7581;p79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2" name="Google Shape;7582;p79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83" name="Google Shape;7583;p79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4" name="Google Shape;7584;p79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5" name="Google Shape;7585;p79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586" name="Google Shape;7586;p79"/>
                <p:cNvCxnSpPr>
                  <a:endCxn id="7581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587" name="Google Shape;7587;p79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588" name="Google Shape;7588;p79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7589" name="Google Shape;7589;p79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590" name="Google Shape;7590;p79"/>
              <p:cNvCxnSpPr>
                <a:stCxn id="7591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7592" name="Google Shape;7592;p7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7593" name="Google Shape;7593;p79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7594" name="Google Shape;7594;p79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5" name="Google Shape;7595;p79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6" name="Google Shape;7596;p79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597" name="Google Shape;7597;p79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98" name="Google Shape;7598;p79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99" name="Google Shape;7599;p79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00" name="Google Shape;7600;p79"/>
              <p:cNvCxnSpPr>
                <a:stCxn id="7592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01" name="Google Shape;7601;p79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7602" name="Google Shape;7602;p79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3" name="Google Shape;7603;p79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591" name="Google Shape;7591;p79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4" name="Google Shape;7604;p79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05" name="Google Shape;7605;p79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6" name="Google Shape;7606;p79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7" name="Google Shape;7607;p79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08" name="Google Shape;7608;p79"/>
                <p:cNvCxnSpPr>
                  <a:endCxn id="7591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09" name="Google Shape;7609;p79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610" name="Google Shape;7610;p79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7611" name="Google Shape;7611;p79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12" name="Google Shape;7612;p79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13" name="Google Shape;7613;p79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7614" name="Google Shape;7614;p79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5" name="Google Shape;7615;p79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16" name="Google Shape;7616;p79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17" name="Google Shape;7617;p79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18" name="Google Shape;7618;p79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619" name="Google Shape;7619;p79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620" name="Google Shape;7620;p79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621" name="Google Shape;7621;p79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7622" name="Google Shape;7622;p79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3" name="Google Shape;7623;p79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4" name="Google Shape;7624;p79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5" name="Google Shape;7625;p79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626" name="Google Shape;7626;p79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7" name="Google Shape;7627;p79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8" name="Google Shape;7628;p79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629" name="Google Shape;7629;p79"/>
                <p:cNvCxnSpPr>
                  <a:endCxn id="7624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630" name="Google Shape;7630;p79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631" name="Google Shape;7631;p79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7632" name="Google Shape;7632;p79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3" name="Google Shape;7633;p79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7634" name="Google Shape;7634;p79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5" name="Google Shape;7635;p79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6" name="Google Shape;7636;p79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37" name="Google Shape;7637;p79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7638" name="Google Shape;7638;p79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39" name="Google Shape;7639;p79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0" name="Google Shape;7640;p79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41" name="Google Shape;7641;p79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642" name="Google Shape;7642;p79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3" name="Google Shape;7643;p79"/>
            <p:cNvCxnSpPr>
              <a:endCxn id="7638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4" name="Google Shape;7644;p79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645" name="Google Shape;7645;p79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646" name="Google Shape;7646;p79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7647" name="Google Shape;7647;p79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648" name="Google Shape;7648;p79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649" name="Google Shape;7649;p79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650" name="Google Shape;7650;p79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7651" name="Google Shape;7651;p7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7652" name="Google Shape;7652;p79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7653" name="Google Shape;7653;p79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7654" name="Google Shape;7654;p79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55" name="Google Shape;7655;p79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6" name="Google Shape;7656;p79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57" name="Google Shape;7657;p79"/>
                <p:cNvCxnSpPr>
                  <a:stCxn id="7654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58" name="Google Shape;7658;p79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7659" name="Google Shape;7659;p79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0" name="Google Shape;7660;p79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1" name="Google Shape;7661;p79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2" name="Google Shape;7662;p79"/>
                <p:cNvCxnSpPr>
                  <a:stCxn id="7659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3" name="Google Shape;7663;p79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7664" name="Google Shape;7664;p79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65" name="Google Shape;7665;p79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6" name="Google Shape;7666;p79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67" name="Google Shape;7667;p79"/>
                <p:cNvCxnSpPr>
                  <a:stCxn id="7664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7668" name="Google Shape;7668;p79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7669" name="Google Shape;7669;p79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670" name="Google Shape;7670;p79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1" name="Google Shape;7671;p79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672" name="Google Shape;7672;p79"/>
                <p:cNvCxnSpPr>
                  <a:stCxn id="7669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7673" name="Google Shape;7673;p79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7674" name="Google Shape;7674;p79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675" name="Google Shape;7675;p79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6" name="Google Shape;7676;p79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7" name="Google Shape;7677;p79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678" name="Google Shape;7678;p79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7679" name="Google Shape;7679;p79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0" name="Google Shape;7680;p79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7681" name="Google Shape;7681;p79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7682" name="Google Shape;7682;p79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7683" name="Google Shape;7683;p79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84" name="Google Shape;7684;p79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85" name="Google Shape;7685;p79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6" name="Google Shape;7686;p79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7687" name="Google Shape;7687;p79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7688" name="Google Shape;7688;p79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89" name="Google Shape;7689;p79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7690" name="Google Shape;7690;p79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1" name="Google Shape;7691;p79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2" name="Google Shape;7692;p79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3" name="Google Shape;7693;p79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694" name="Google Shape;7694;p79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5" name="Google Shape;7695;p79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6" name="Google Shape;7696;p79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697" name="Google Shape;7697;p79"/>
            <p:cNvCxnSpPr>
              <a:endCxn id="7692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698" name="Google Shape;7698;p79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7699" name="Google Shape;7699;p79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0" name="Google Shape;7700;p79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7701" name="Google Shape;770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6" name="Shape 7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7" name="Google Shape;7707;p80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7708" name="Google Shape;7708;p80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7709" name="Google Shape;7709;p80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7710" name="Google Shape;7710;p80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1" name="Google Shape;7711;p80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712" name="Google Shape;7712;p80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713" name="Google Shape;7713;p80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7714" name="Google Shape;7714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5" name="Google Shape;7715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6" name="Google Shape;7716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7" name="Google Shape;7717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8" name="Google Shape;7718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19" name="Google Shape;7719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20" name="Google Shape;7720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1" name="Google Shape;7721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2" name="Google Shape;7722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3" name="Google Shape;7723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24" name="Google Shape;7724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5" name="Google Shape;7725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26" name="Google Shape;7726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7" name="Google Shape;7727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8" name="Google Shape;7728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29" name="Google Shape;7729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0" name="Google Shape;7730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1" name="Google Shape;7731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32" name="Google Shape;7732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33" name="Google Shape;7733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4" name="Google Shape;7734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35" name="Google Shape;7735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6" name="Google Shape;7736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7" name="Google Shape;7737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8" name="Google Shape;7738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9" name="Google Shape;7739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0" name="Google Shape;7740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1" name="Google Shape;7741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2" name="Google Shape;7742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3" name="Google Shape;7743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4" name="Google Shape;7744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5" name="Google Shape;7745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6" name="Google Shape;7746;p80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7747" name="Google Shape;7747;p80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8" name="Google Shape;7748;p80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9" name="Google Shape;7749;p80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0" name="Google Shape;7750;p80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1" name="Google Shape;7751;p80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2" name="Google Shape;7752;p80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7753" name="Google Shape;7753;p80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4" name="Google Shape;7754;p80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5" name="Google Shape;7755;p80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56" name="Google Shape;7756;p80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7757" name="Google Shape;7757;p80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8" name="Google Shape;7758;p80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9" name="Google Shape;7759;p80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0" name="Google Shape;7760;p80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1" name="Google Shape;7761;p80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7762" name="Google Shape;7762;p80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3" name="Google Shape;7763;p80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4" name="Google Shape;7764;p80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5" name="Google Shape;7765;p80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7766" name="Google Shape;7766;p80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7" name="Google Shape;7767;p80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68" name="Google Shape;7768;p80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9" name="Google Shape;7769;p80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0" name="Google Shape;7770;p80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1" name="Google Shape;7771;p80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2" name="Google Shape;7772;p80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3" name="Google Shape;7773;p80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4" name="Google Shape;7774;p80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5" name="Google Shape;7775;p80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6" name="Google Shape;7776;p80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7" name="Google Shape;7777;p80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8" name="Google Shape;7778;p80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79" name="Google Shape;7779;p80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80" name="Google Shape;7780;p80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1" name="Google Shape;7781;p80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2" name="Google Shape;7782;p80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3" name="Google Shape;7783;p80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4" name="Google Shape;7784;p80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5" name="Google Shape;7785;p80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6" name="Google Shape;7786;p80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7" name="Google Shape;7787;p80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788" name="Google Shape;7788;p80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7789" name="Google Shape;7789;p80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7790" name="Google Shape;7790;p80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7791" name="Google Shape;7791;p80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7792" name="Google Shape;7792;p80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7793" name="Google Shape;7793;p80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7794" name="Google Shape;7794;p80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795" name="Google Shape;7795;p80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6" name="Google Shape;7796;p80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7" name="Google Shape;7797;p80"/>
              <p:cNvCxnSpPr>
                <a:stCxn id="7794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798" name="Google Shape;7798;p80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7799" name="Google Shape;7799;p80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0" name="Google Shape;7800;p80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1" name="Google Shape;7801;p80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2" name="Google Shape;7802;p80"/>
              <p:cNvCxnSpPr>
                <a:stCxn id="7799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3" name="Google Shape;7803;p80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7804" name="Google Shape;7804;p80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05" name="Google Shape;7805;p80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6" name="Google Shape;7806;p80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7" name="Google Shape;7807;p80"/>
              <p:cNvCxnSpPr>
                <a:stCxn id="7804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08" name="Google Shape;7808;p80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7809" name="Google Shape;7809;p80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0" name="Google Shape;7810;p80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1" name="Google Shape;7811;p80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2" name="Google Shape;7812;p80"/>
              <p:cNvCxnSpPr>
                <a:stCxn id="7809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13" name="Google Shape;7813;p80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7814" name="Google Shape;7814;p80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15" name="Google Shape;7815;p80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6" name="Google Shape;7816;p80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7" name="Google Shape;7817;p80"/>
              <p:cNvCxnSpPr>
                <a:stCxn id="7814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818" name="Google Shape;7818;p80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7819" name="Google Shape;7819;p80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0" name="Google Shape;7820;p80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1" name="Google Shape;7821;p80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2" name="Google Shape;7822;p80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823" name="Google Shape;7823;p80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7824" name="Google Shape;7824;p80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7825" name="Google Shape;7825;p80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7826" name="Google Shape;7826;p80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7827" name="Google Shape;7827;p80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8" name="Google Shape;7828;p80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29" name="Google Shape;7829;p80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30" name="Google Shape;7830;p80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31" name="Google Shape;7831;p80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32" name="Google Shape;7832;p80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33" name="Google Shape;7833;p80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4" name="Google Shape;7834;p80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35" name="Google Shape;7835;p80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7836" name="Google Shape;7836;p80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7" name="Google Shape;7837;p80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8" name="Google Shape;7838;p80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39" name="Google Shape;7839;p80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40" name="Google Shape;7840;p80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1" name="Google Shape;7841;p80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2" name="Google Shape;7842;p80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43" name="Google Shape;7843;p80"/>
                <p:cNvCxnSpPr>
                  <a:endCxn id="7838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44" name="Google Shape;7844;p80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45" name="Google Shape;7845;p80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7846" name="Google Shape;7846;p80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47" name="Google Shape;7847;p80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48" name="Google Shape;7848;p80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7849" name="Google Shape;7849;p80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0" name="Google Shape;7850;p80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1" name="Google Shape;7851;p80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52" name="Google Shape;7852;p80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53" name="Google Shape;7853;p80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54" name="Google Shape;7854;p80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55" name="Google Shape;7855;p80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56" name="Google Shape;7856;p80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7857" name="Google Shape;7857;p80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8" name="Google Shape;7858;p80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59" name="Google Shape;7859;p80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0" name="Google Shape;7860;p80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61" name="Google Shape;7861;p80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2" name="Google Shape;7862;p80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3" name="Google Shape;7863;p80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64" name="Google Shape;7864;p80"/>
                <p:cNvCxnSpPr>
                  <a:endCxn id="7859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65" name="Google Shape;7865;p80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66" name="Google Shape;7866;p80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7867" name="Google Shape;7867;p80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68" name="Google Shape;7868;p80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69" name="Google Shape;7869;p80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7870" name="Google Shape;7870;p80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1" name="Google Shape;7871;p80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2" name="Google Shape;7872;p80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73" name="Google Shape;7873;p80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74" name="Google Shape;7874;p80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75" name="Google Shape;7875;p80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76" name="Google Shape;7876;p80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77" name="Google Shape;7877;p80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7878" name="Google Shape;7878;p80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79" name="Google Shape;7879;p80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0" name="Google Shape;7880;p80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1" name="Google Shape;7881;p80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82" name="Google Shape;7882;p80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3" name="Google Shape;7883;p80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4" name="Google Shape;7884;p80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885" name="Google Shape;7885;p80"/>
                <p:cNvCxnSpPr>
                  <a:endCxn id="7880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886" name="Google Shape;7886;p80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887" name="Google Shape;7887;p80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7888" name="Google Shape;7888;p80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89" name="Google Shape;7889;p80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0" name="Google Shape;7890;p80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7891" name="Google Shape;7891;p80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2" name="Google Shape;7892;p80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893" name="Google Shape;7893;p80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894" name="Google Shape;7894;p80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895" name="Google Shape;7895;p80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896" name="Google Shape;7896;p80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897" name="Google Shape;7897;p80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898" name="Google Shape;7898;p80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7899" name="Google Shape;7899;p80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0" name="Google Shape;7900;p80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1" name="Google Shape;7901;p80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2" name="Google Shape;7902;p80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03" name="Google Shape;7903;p80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4" name="Google Shape;7904;p80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5" name="Google Shape;7905;p80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06" name="Google Shape;7906;p80"/>
                <p:cNvCxnSpPr>
                  <a:endCxn id="7901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07" name="Google Shape;7907;p80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7908" name="Google Shape;7908;p80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7909" name="Google Shape;7909;p80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0" name="Google Shape;7910;p80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1" name="Google Shape;7911;p80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7912" name="Google Shape;7912;p80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3" name="Google Shape;7913;p80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14" name="Google Shape;7914;p80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7915" name="Google Shape;7915;p80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916" name="Google Shape;7916;p80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917" name="Google Shape;7917;p80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18" name="Google Shape;7918;p80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7919" name="Google Shape;7919;p80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7920" name="Google Shape;7920;p80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1" name="Google Shape;7921;p80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2" name="Google Shape;7922;p80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3" name="Google Shape;7923;p80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7924" name="Google Shape;7924;p80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5" name="Google Shape;7925;p80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6" name="Google Shape;7926;p80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7927" name="Google Shape;7927;p80"/>
                <p:cNvCxnSpPr>
                  <a:endCxn id="7922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7928" name="Google Shape;7928;p80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7929" name="Google Shape;7929;p80"/>
          <p:cNvGrpSpPr/>
          <p:nvPr/>
        </p:nvGrpSpPr>
        <p:grpSpPr>
          <a:xfrm>
            <a:off x="4130530" y="2423492"/>
            <a:ext cx="4416425" cy="2314575"/>
            <a:chOff x="2381956" y="2435173"/>
            <a:chExt cx="4415330" cy="2315048"/>
          </a:xfrm>
        </p:grpSpPr>
        <p:sp>
          <p:nvSpPr>
            <p:cNvPr id="7930" name="Google Shape;7930;p80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31" name="Google Shape;7931;p80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7932" name="Google Shape;7932;p80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3" name="Google Shape;7933;p80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934" name="Google Shape;7934;p80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7935" name="Google Shape;7935;p80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7936" name="Google Shape;7936;p80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7937" name="Google Shape;7937;p80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38" name="Google Shape;7938;p80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9" name="Google Shape;7939;p80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0" name="Google Shape;7940;p80"/>
              <p:cNvCxnSpPr>
                <a:stCxn id="7937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1" name="Google Shape;7941;p80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7942" name="Google Shape;7942;p80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3" name="Google Shape;7943;p80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4" name="Google Shape;7944;p80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5" name="Google Shape;7945;p80"/>
              <p:cNvCxnSpPr>
                <a:stCxn id="7942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46" name="Google Shape;7946;p80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7947" name="Google Shape;7947;p80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48" name="Google Shape;7948;p80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9" name="Google Shape;7949;p80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0" name="Google Shape;7950;p80"/>
              <p:cNvCxnSpPr>
                <a:stCxn id="7947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1" name="Google Shape;7951;p80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7952" name="Google Shape;7952;p80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3" name="Google Shape;7953;p80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4" name="Google Shape;7954;p80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5" name="Google Shape;7955;p80"/>
              <p:cNvCxnSpPr>
                <a:stCxn id="7952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56" name="Google Shape;7956;p80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7957" name="Google Shape;7957;p80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7958" name="Google Shape;7958;p80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9" name="Google Shape;7959;p80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0" name="Google Shape;7960;p80"/>
              <p:cNvCxnSpPr>
                <a:stCxn id="7957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7961" name="Google Shape;7961;p80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7962" name="Google Shape;7962;p80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3" name="Google Shape;7963;p80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4" name="Google Shape;7964;p80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5" name="Google Shape;7965;p80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66" name="Google Shape;7966;p80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7" name="Google Shape;7967;p80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8" name="Google Shape;7968;p80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9" name="Google Shape;7969;p80"/>
            <p:cNvCxnSpPr>
              <a:endCxn id="796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70" name="Google Shape;7970;p80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71" name="Google Shape;7971;p80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7972" name="Google Shape;7972;p80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3" name="Google Shape;797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4" name="Google Shape;7974;p80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5" name="Google Shape;7975;p80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76" name="Google Shape;7976;p80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7" name="Google Shape;7977;p80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8" name="Google Shape;7978;p80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9" name="Google Shape;7979;p80"/>
            <p:cNvCxnSpPr>
              <a:endCxn id="797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80" name="Google Shape;7980;p80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81" name="Google Shape;7981;p80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7982" name="Google Shape;798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3" name="Google Shape;798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4" name="Google Shape;798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5" name="Google Shape;798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86" name="Google Shape;798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7" name="Google Shape;798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8" name="Google Shape;798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89" name="Google Shape;7989;p80"/>
            <p:cNvCxnSpPr>
              <a:endCxn id="798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7990" name="Google Shape;799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7991" name="Google Shape;7991;p80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7992" name="Google Shape;7992;p80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3" name="Google Shape;7993;p80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4" name="Google Shape;7994;p80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5" name="Google Shape;7995;p80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7996" name="Google Shape;7996;p80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7" name="Google Shape;7997;p80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8" name="Google Shape;7998;p80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99" name="Google Shape;7999;p80"/>
            <p:cNvCxnSpPr>
              <a:endCxn id="7994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8000" name="Google Shape;8000;p80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8001" name="Google Shape;8001;p80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8002" name="Google Shape;8002;p80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3" name="Google Shape;8003;p80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8004" name="Google Shape;8004;p80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8005" name="Google Shape;8005;p80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8006" name="Google Shape;8006;p80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8007" name="Google Shape;8007;p80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8" name="Google Shape;8008;p80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09" name="Google Shape;8009;p80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8010" name="Google Shape;8010;p80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8011" name="Google Shape;8011;p80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8012" name="Google Shape;8012;p80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3" name="Google Shape;8013;p80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4" name="Google Shape;801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5" name="Google Shape;8015;p80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8016" name="Google Shape;8016;p80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8017" name="Google Shape;8017;p80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18" name="Google Shape;8018;p80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19" name="Google Shape;801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0" name="Google Shape;8020;p80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8021" name="Google Shape;8021;p80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8022" name="Google Shape;8022;p80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3" name="Google Shape;8023;p80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4" name="Google Shape;8024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25" name="Google Shape;8025;p80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8026" name="Google Shape;8026;p80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8027" name="Google Shape;8027;p80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028" name="Google Shape;8028;p80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8029" name="Google Shape;8029;p80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30" name="Google Shape;8030;p80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8031" name="Google Shape;8031;p80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32" name="Google Shape;8032;p80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8033" name="Google Shape;8033;p80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8034" name="Google Shape;8034;p80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8035" name="Google Shape;8035;p80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36" name="Google Shape;8036;p80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037" name="Google Shape;8037;p80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8" name="Google Shape;8038;p80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8039" name="Google Shape;8039;p80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8040" name="Google Shape;8040;p80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41" name="Google Shape;8041;p80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8042" name="Google Shape;8042;p80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3" name="Google Shape;8043;p8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4" name="Google Shape;8044;p80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5" name="Google Shape;8045;p80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046" name="Google Shape;8046;p80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7" name="Google Shape;8047;p80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48" name="Google Shape;8048;p80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49" name="Google Shape;8049;p80"/>
              <p:cNvCxnSpPr>
                <a:endCxn id="8044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8050" name="Google Shape;8050;p80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8051" name="Google Shape;8051;p80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8052" name="Google Shape;8052;p80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53" name="Google Shape;8053;p80"/>
          <p:cNvGrpSpPr/>
          <p:nvPr/>
        </p:nvGrpSpPr>
        <p:grpSpPr>
          <a:xfrm>
            <a:off x="4390906" y="2898842"/>
            <a:ext cx="4051268" cy="2367063"/>
            <a:chOff x="-3855475" y="3644638"/>
            <a:chExt cx="4051268" cy="2367866"/>
          </a:xfrm>
        </p:grpSpPr>
        <p:cxnSp>
          <p:nvCxnSpPr>
            <p:cNvPr id="8054" name="Google Shape;8054;p80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055" name="Google Shape;8055;p80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6" name="Google Shape;8056;p80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7" name="Google Shape;8057;p80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8058" name="Google Shape;8058;p80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8059" name="Google Shape;8059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Network Layer: 4-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3" name="Shape 8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4" name="Google Shape;8064;p81"/>
          <p:cNvSpPr txBox="1"/>
          <p:nvPr>
            <p:ph idx="1" type="body"/>
          </p:nvPr>
        </p:nvSpPr>
        <p:spPr>
          <a:xfrm>
            <a:off x="813148" y="158624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-US" sz="3200">
                <a:solidFill>
                  <a:srgbClr val="CC0000"/>
                </a:solidFill>
              </a:rPr>
              <a:t>Why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lang="en-US" sz="3200"/>
              <a:t>a</a:t>
            </a:r>
            <a:r>
              <a:rPr lang="en-US" sz="3200">
                <a:solidFill>
                  <a:srgbClr val="CC0000"/>
                </a:solidFill>
              </a:rPr>
              <a:t> </a:t>
            </a:r>
            <a:r>
              <a:rPr i="1" lang="en-US" sz="3200">
                <a:solidFill>
                  <a:srgbClr val="CC0000"/>
                </a:solidFill>
              </a:rPr>
              <a:t>logically centralized </a:t>
            </a:r>
            <a:r>
              <a:rPr lang="en-US" sz="3200">
                <a:solidFill>
                  <a:srgbClr val="000000"/>
                </a:solidFill>
              </a:rPr>
              <a:t>control plane?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easier network management: avoid router misconfigurations, greater flexibility of traffic flows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table-based forwarding (recall OpenFlow API) allows “programming” routers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centralized “programming” easier: compute tables centrally and distribute</a:t>
            </a:r>
            <a:endParaRPr/>
          </a:p>
          <a:p>
            <a:pPr indent="-176212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distributed “programming” more difficult: compute tables as result of distributed algorithm (protocol) implemented in each-and-every router </a:t>
            </a:r>
            <a:endParaRPr/>
          </a:p>
          <a:p>
            <a:pPr indent="-400050" lvl="0" marL="635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open (non-proprietary) implementation of control plane</a:t>
            </a:r>
            <a:endParaRPr/>
          </a:p>
          <a:p>
            <a:pPr indent="-400050" lvl="1" marL="977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foster innovation: let 1000 flowers bloom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065" name="Google Shape;8065;p8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066" name="Google Shape;8066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0" name="Shape 8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Journey Inside℠: Curriculum for Microprocessor" id="8071" name="Google Shape;8071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043" y="4454675"/>
            <a:ext cx="847596" cy="475791"/>
          </a:xfrm>
          <a:prstGeom prst="rect">
            <a:avLst/>
          </a:prstGeom>
          <a:noFill/>
          <a:ln>
            <a:noFill/>
          </a:ln>
        </p:spPr>
      </p:pic>
      <p:sp>
        <p:nvSpPr>
          <p:cNvPr id="8072" name="Google Shape;8072;p82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 analogy: mainframe to PC revolution</a:t>
            </a:r>
            <a:endParaRPr/>
          </a:p>
        </p:txBody>
      </p:sp>
      <p:sp>
        <p:nvSpPr>
          <p:cNvPr id="8073" name="Google Shape;807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74" name="Google Shape;8074;p82"/>
          <p:cNvSpPr txBox="1"/>
          <p:nvPr/>
        </p:nvSpPr>
        <p:spPr>
          <a:xfrm>
            <a:off x="1555315" y="5097880"/>
            <a:ext cx="3276600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Vertically integrated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Closed, proprietary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Slow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Small industry</a:t>
            </a:r>
            <a:endParaRPr/>
          </a:p>
        </p:txBody>
      </p:sp>
      <p:pic>
        <p:nvPicPr>
          <p:cNvPr id="8075" name="Google Shape;8075;p82"/>
          <p:cNvPicPr preferRelativeResize="0"/>
          <p:nvPr/>
        </p:nvPicPr>
        <p:blipFill rotWithShape="1">
          <a:blip r:embed="rId4">
            <a:alphaModFix/>
          </a:blip>
          <a:srcRect b="5498" l="6148" r="3650" t="1500"/>
          <a:stretch/>
        </p:blipFill>
        <p:spPr>
          <a:xfrm>
            <a:off x="1971094" y="1538451"/>
            <a:ext cx="2496173" cy="3517336"/>
          </a:xfrm>
          <a:prstGeom prst="rect">
            <a:avLst/>
          </a:prstGeom>
          <a:noFill/>
          <a:ln>
            <a:noFill/>
          </a:ln>
        </p:spPr>
      </p:pic>
      <p:sp>
        <p:nvSpPr>
          <p:cNvPr id="8076" name="Google Shape;8076;p82"/>
          <p:cNvSpPr/>
          <p:nvPr/>
        </p:nvSpPr>
        <p:spPr>
          <a:xfrm>
            <a:off x="2212931" y="2734793"/>
            <a:ext cx="1905000" cy="965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</p:txBody>
      </p:sp>
      <p:sp>
        <p:nvSpPr>
          <p:cNvPr id="8077" name="Google Shape;8077;p82"/>
          <p:cNvSpPr/>
          <p:nvPr/>
        </p:nvSpPr>
        <p:spPr>
          <a:xfrm>
            <a:off x="2212931" y="3776193"/>
            <a:ext cx="1905000" cy="8382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</a:t>
            </a:r>
            <a:endParaRPr/>
          </a:p>
        </p:txBody>
      </p:sp>
      <p:grpSp>
        <p:nvGrpSpPr>
          <p:cNvPr id="8078" name="Google Shape;8078;p82"/>
          <p:cNvGrpSpPr/>
          <p:nvPr/>
        </p:nvGrpSpPr>
        <p:grpSpPr>
          <a:xfrm>
            <a:off x="7244562" y="1743791"/>
            <a:ext cx="3048000" cy="417900"/>
            <a:chOff x="5334000" y="1371600"/>
            <a:chExt cx="3657600" cy="685800"/>
          </a:xfrm>
        </p:grpSpPr>
        <p:sp>
          <p:nvSpPr>
            <p:cNvPr id="8079" name="Google Shape;8079;p82"/>
            <p:cNvSpPr/>
            <p:nvPr/>
          </p:nvSpPr>
          <p:spPr>
            <a:xfrm>
              <a:off x="8382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0" name="Google Shape;8080;p82"/>
            <p:cNvSpPr/>
            <p:nvPr/>
          </p:nvSpPr>
          <p:spPr>
            <a:xfrm>
              <a:off x="8077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1" name="Google Shape;8081;p82"/>
            <p:cNvSpPr/>
            <p:nvPr/>
          </p:nvSpPr>
          <p:spPr>
            <a:xfrm>
              <a:off x="7772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2" name="Google Shape;8082;p82"/>
            <p:cNvSpPr/>
            <p:nvPr/>
          </p:nvSpPr>
          <p:spPr>
            <a:xfrm>
              <a:off x="7467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3" name="Google Shape;8083;p82"/>
            <p:cNvSpPr/>
            <p:nvPr/>
          </p:nvSpPr>
          <p:spPr>
            <a:xfrm>
              <a:off x="7162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4" name="Google Shape;8084;p82"/>
            <p:cNvSpPr/>
            <p:nvPr/>
          </p:nvSpPr>
          <p:spPr>
            <a:xfrm>
              <a:off x="68580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5" name="Google Shape;8085;p82"/>
            <p:cNvSpPr/>
            <p:nvPr/>
          </p:nvSpPr>
          <p:spPr>
            <a:xfrm>
              <a:off x="65532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6" name="Google Shape;8086;p82"/>
            <p:cNvSpPr/>
            <p:nvPr/>
          </p:nvSpPr>
          <p:spPr>
            <a:xfrm>
              <a:off x="62484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7" name="Google Shape;8087;p82"/>
            <p:cNvSpPr/>
            <p:nvPr/>
          </p:nvSpPr>
          <p:spPr>
            <a:xfrm>
              <a:off x="59436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8" name="Google Shape;8088;p82"/>
            <p:cNvSpPr/>
            <p:nvPr/>
          </p:nvSpPr>
          <p:spPr>
            <a:xfrm>
              <a:off x="5638800" y="1371600"/>
              <a:ext cx="6096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CC66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  <p:sp>
          <p:nvSpPr>
            <p:cNvPr id="8089" name="Google Shape;8089;p82"/>
            <p:cNvSpPr/>
            <p:nvPr/>
          </p:nvSpPr>
          <p:spPr>
            <a:xfrm>
              <a:off x="5334000" y="1371600"/>
              <a:ext cx="914400" cy="685800"/>
            </a:xfrm>
            <a:prstGeom prst="roundRect">
              <a:avLst>
                <a:gd fmla="val 16667" name="adj"/>
              </a:avLst>
            </a:prstGeom>
            <a:solidFill>
              <a:srgbClr val="FFCC66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</a:t>
              </a:r>
              <a:endParaRPr/>
            </a:p>
          </p:txBody>
        </p:sp>
      </p:grpSp>
      <p:sp>
        <p:nvSpPr>
          <p:cNvPr id="8090" name="Google Shape;8090;p82"/>
          <p:cNvSpPr/>
          <p:nvPr/>
        </p:nvSpPr>
        <p:spPr>
          <a:xfrm>
            <a:off x="2212931" y="1896593"/>
            <a:ext cx="1905000" cy="736600"/>
          </a:xfrm>
          <a:prstGeom prst="roundRect">
            <a:avLst>
              <a:gd fmla="val 16667" name="adj"/>
            </a:avLst>
          </a:prstGeom>
          <a:solidFill>
            <a:srgbClr val="000090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Specialized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/>
          </a:p>
        </p:txBody>
      </p:sp>
      <p:sp>
        <p:nvSpPr>
          <p:cNvPr id="8091" name="Google Shape;8091;p82"/>
          <p:cNvSpPr txBox="1"/>
          <p:nvPr/>
        </p:nvSpPr>
        <p:spPr>
          <a:xfrm>
            <a:off x="6685766" y="5101088"/>
            <a:ext cx="417221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Horizontal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interfaces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Rapid innovation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Huge industry</a:t>
            </a:r>
            <a:endParaRPr/>
          </a:p>
        </p:txBody>
      </p:sp>
      <p:grpSp>
        <p:nvGrpSpPr>
          <p:cNvPr id="8092" name="Google Shape;8092;p82"/>
          <p:cNvGrpSpPr/>
          <p:nvPr/>
        </p:nvGrpSpPr>
        <p:grpSpPr>
          <a:xfrm>
            <a:off x="7513486" y="3922880"/>
            <a:ext cx="2532996" cy="1044813"/>
            <a:chOff x="5308190" y="3212068"/>
            <a:chExt cx="3212311" cy="1359931"/>
          </a:xfrm>
        </p:grpSpPr>
        <p:sp>
          <p:nvSpPr>
            <p:cNvPr id="8093" name="Google Shape;8093;p82"/>
            <p:cNvSpPr/>
            <p:nvPr/>
          </p:nvSpPr>
          <p:spPr>
            <a:xfrm>
              <a:off x="6096000" y="3874196"/>
              <a:ext cx="2424501" cy="697803"/>
            </a:xfrm>
            <a:prstGeom prst="roundRect">
              <a:avLst>
                <a:gd fmla="val 16667" name="adj"/>
              </a:avLst>
            </a:prstGeom>
            <a:solidFill>
              <a:srgbClr val="000090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Microprocessor</a:t>
              </a:r>
              <a:endParaRPr/>
            </a:p>
          </p:txBody>
        </p:sp>
        <p:grpSp>
          <p:nvGrpSpPr>
            <p:cNvPr id="8094" name="Google Shape;8094;p82"/>
            <p:cNvGrpSpPr/>
            <p:nvPr/>
          </p:nvGrpSpPr>
          <p:grpSpPr>
            <a:xfrm>
              <a:off x="5308190" y="3212068"/>
              <a:ext cx="3121640" cy="440663"/>
              <a:chOff x="5384390" y="3200400"/>
              <a:chExt cx="3121640" cy="440663"/>
            </a:xfrm>
          </p:grpSpPr>
          <p:cxnSp>
            <p:nvCxnSpPr>
              <p:cNvPr id="8095" name="Google Shape;8095;p82"/>
              <p:cNvCxnSpPr/>
              <p:nvPr/>
            </p:nvCxnSpPr>
            <p:spPr>
              <a:xfrm>
                <a:off x="5384390" y="3424423"/>
                <a:ext cx="3121640" cy="450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96" name="Google Shape;8096;p82"/>
              <p:cNvSpPr txBox="1"/>
              <p:nvPr/>
            </p:nvSpPr>
            <p:spPr>
              <a:xfrm>
                <a:off x="5761913" y="3200400"/>
                <a:ext cx="2465881" cy="4406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</p:grpSp>
      <p:sp>
        <p:nvSpPr>
          <p:cNvPr id="8097" name="Google Shape;8097;p82"/>
          <p:cNvSpPr txBox="1"/>
          <p:nvPr/>
        </p:nvSpPr>
        <p:spPr>
          <a:xfrm>
            <a:off x="152871" y="6550399"/>
            <a:ext cx="225441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Slide  courtesy: N. McKeown</a:t>
            </a:r>
            <a:endParaRPr/>
          </a:p>
        </p:txBody>
      </p:sp>
      <p:grpSp>
        <p:nvGrpSpPr>
          <p:cNvPr id="8098" name="Google Shape;8098;p82"/>
          <p:cNvGrpSpPr/>
          <p:nvPr/>
        </p:nvGrpSpPr>
        <p:grpSpPr>
          <a:xfrm>
            <a:off x="7027102" y="2344247"/>
            <a:ext cx="3575135" cy="1597091"/>
            <a:chOff x="6751530" y="2043623"/>
            <a:chExt cx="3575135" cy="1597091"/>
          </a:xfrm>
        </p:grpSpPr>
        <p:sp>
          <p:nvSpPr>
            <p:cNvPr id="8099" name="Google Shape;8099;p82"/>
            <p:cNvSpPr txBox="1"/>
            <p:nvPr/>
          </p:nvSpPr>
          <p:spPr>
            <a:xfrm>
              <a:off x="7864926" y="2718201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sp>
          <p:nvSpPr>
            <p:cNvPr id="8100" name="Google Shape;8100;p82"/>
            <p:cNvSpPr txBox="1"/>
            <p:nvPr/>
          </p:nvSpPr>
          <p:spPr>
            <a:xfrm>
              <a:off x="9007926" y="2706533"/>
              <a:ext cx="412292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or</a:t>
              </a:r>
              <a:endParaRPr/>
            </a:p>
          </p:txBody>
        </p:sp>
        <p:grpSp>
          <p:nvGrpSpPr>
            <p:cNvPr id="8101" name="Google Shape;8101;p82"/>
            <p:cNvGrpSpPr/>
            <p:nvPr/>
          </p:nvGrpSpPr>
          <p:grpSpPr>
            <a:xfrm>
              <a:off x="7216411" y="2043623"/>
              <a:ext cx="2590800" cy="338554"/>
              <a:chOff x="5806858" y="3260868"/>
              <a:chExt cx="2590800" cy="338554"/>
            </a:xfrm>
          </p:grpSpPr>
          <p:cxnSp>
            <p:nvCxnSpPr>
              <p:cNvPr id="8102" name="Google Shape;8102;p82"/>
              <p:cNvCxnSpPr/>
              <p:nvPr/>
            </p:nvCxnSpPr>
            <p:spPr>
              <a:xfrm>
                <a:off x="5806858" y="3427413"/>
                <a:ext cx="2590800" cy="158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03" name="Google Shape;8103;p82"/>
              <p:cNvSpPr txBox="1"/>
              <p:nvPr/>
            </p:nvSpPr>
            <p:spPr>
              <a:xfrm>
                <a:off x="6287547" y="3260868"/>
                <a:ext cx="1621357" cy="3385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Open Interface</a:t>
                </a:r>
                <a:endParaRPr/>
              </a:p>
            </p:txBody>
          </p:sp>
        </p:grpSp>
        <p:grpSp>
          <p:nvGrpSpPr>
            <p:cNvPr id="8104" name="Google Shape;8104;p82"/>
            <p:cNvGrpSpPr/>
            <p:nvPr/>
          </p:nvGrpSpPr>
          <p:grpSpPr>
            <a:xfrm>
              <a:off x="6751530" y="2505206"/>
              <a:ext cx="1060162" cy="1108367"/>
              <a:chOff x="6914368" y="2467628"/>
              <a:chExt cx="1060162" cy="1108367"/>
            </a:xfrm>
          </p:grpSpPr>
          <p:pic>
            <p:nvPicPr>
              <p:cNvPr id="8105" name="Google Shape;8105;p8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6930000" y="2467628"/>
                <a:ext cx="1026811" cy="78844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6" name="Google Shape;8106;p82"/>
              <p:cNvSpPr txBox="1"/>
              <p:nvPr/>
            </p:nvSpPr>
            <p:spPr>
              <a:xfrm>
                <a:off x="6914368" y="3206663"/>
                <a:ext cx="106016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Windows</a:t>
                </a:r>
                <a:endParaRPr/>
              </a:p>
            </p:txBody>
          </p:sp>
        </p:grpSp>
        <p:grpSp>
          <p:nvGrpSpPr>
            <p:cNvPr id="8107" name="Google Shape;8107;p82"/>
            <p:cNvGrpSpPr/>
            <p:nvPr/>
          </p:nvGrpSpPr>
          <p:grpSpPr>
            <a:xfrm>
              <a:off x="8166970" y="2450566"/>
              <a:ext cx="763916" cy="1190148"/>
              <a:chOff x="5173249" y="6258478"/>
              <a:chExt cx="763916" cy="1190148"/>
            </a:xfrm>
          </p:grpSpPr>
          <p:pic>
            <p:nvPicPr>
              <p:cNvPr descr="A picture containing table, toy, yellow&#10;&#10;Description automatically generated" id="8108" name="Google Shape;8108;p8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5173249" y="6258478"/>
                <a:ext cx="763916" cy="90014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09" name="Google Shape;8109;p82"/>
              <p:cNvSpPr txBox="1"/>
              <p:nvPr/>
            </p:nvSpPr>
            <p:spPr>
              <a:xfrm>
                <a:off x="5187864" y="7079294"/>
                <a:ext cx="67839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Linux</a:t>
                </a:r>
                <a:endParaRPr/>
              </a:p>
            </p:txBody>
          </p:sp>
        </p:grpSp>
        <p:grpSp>
          <p:nvGrpSpPr>
            <p:cNvPr id="8110" name="Google Shape;8110;p82"/>
            <p:cNvGrpSpPr/>
            <p:nvPr/>
          </p:nvGrpSpPr>
          <p:grpSpPr>
            <a:xfrm>
              <a:off x="9331890" y="2343411"/>
              <a:ext cx="994775" cy="1274338"/>
              <a:chOff x="6125227" y="6163850"/>
              <a:chExt cx="994775" cy="1274338"/>
            </a:xfrm>
          </p:grpSpPr>
          <p:pic>
            <p:nvPicPr>
              <p:cNvPr descr="How to reset the Mac Os 9 password" id="8111" name="Google Shape;8111;p8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125227" y="6163850"/>
                <a:ext cx="994775" cy="9947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12" name="Google Shape;8112;p82"/>
              <p:cNvSpPr txBox="1"/>
              <p:nvPr/>
            </p:nvSpPr>
            <p:spPr>
              <a:xfrm>
                <a:off x="6129404" y="7068856"/>
                <a:ext cx="94763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OS</a:t>
                </a:r>
                <a:endParaRPr/>
              </a:p>
            </p:txBody>
          </p:sp>
        </p:grpSp>
      </p:grpSp>
      <p:sp>
        <p:nvSpPr>
          <p:cNvPr id="8113" name="Google Shape;8113;p82"/>
          <p:cNvSpPr/>
          <p:nvPr/>
        </p:nvSpPr>
        <p:spPr>
          <a:xfrm>
            <a:off x="5273457" y="5336087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4" name="Google Shape;8114;p82"/>
          <p:cNvSpPr/>
          <p:nvPr/>
        </p:nvSpPr>
        <p:spPr>
          <a:xfrm>
            <a:off x="5275544" y="2845494"/>
            <a:ext cx="1178825" cy="764088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8" name="Shape 8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9" name="Google Shape;8119;p83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120" name="Google Shape;8120;p83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121" name="Google Shape;8121;p8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22" name="Google Shape;8122;p83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123" name="Google Shape;8123;p83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4" name="Google Shape;8124;p83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5" name="Google Shape;8125;p83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6" name="Google Shape;8126;p83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7" name="Google Shape;8127;p83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8" name="Google Shape;8128;p83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9" name="Google Shape;8129;p83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0" name="Google Shape;8130;p83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1" name="Google Shape;8131;p83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2" name="Google Shape;8132;p83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3" name="Google Shape;8133;p83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4" name="Google Shape;8134;p83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5" name="Google Shape;8135;p83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6" name="Google Shape;8136;p83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7" name="Google Shape;8137;p83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8" name="Google Shape;8138;p83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9" name="Google Shape;8139;p83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0" name="Google Shape;8140;p83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1" name="Google Shape;8141;p83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2" name="Google Shape;8142;p83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3" name="Google Shape;8143;p83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44" name="Google Shape;8144;p83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145" name="Google Shape;8145;p8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6" name="Google Shape;8146;p8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7" name="Google Shape;8147;p8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8" name="Google Shape;8148;p8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9" name="Google Shape;8149;p8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0" name="Google Shape;8150;p8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151" name="Google Shape;8151;p8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2" name="Google Shape;8152;p8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3" name="Google Shape;8153;p8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4" name="Google Shape;8154;p8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155" name="Google Shape;8155;p8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6" name="Google Shape;8156;p8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57" name="Google Shape;8157;p8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8" name="Google Shape;8158;p8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59" name="Google Shape;8159;p83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160" name="Google Shape;8160;p83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1" name="Google Shape;8161;p8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2" name="Google Shape;8162;p8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63" name="Google Shape;8163;p8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164" name="Google Shape;8164;p8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5" name="Google Shape;8165;p8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166" name="Google Shape;8166;p8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7" name="Google Shape;8167;p8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8" name="Google Shape;8168;p8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9" name="Google Shape;8169;p8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0" name="Google Shape;8170;p8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1" name="Google Shape;8171;p8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2" name="Google Shape;8172;p8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3" name="Google Shape;8173;p8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4" name="Google Shape;8174;p8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5" name="Google Shape;8175;p8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6" name="Google Shape;8176;p8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177" name="Google Shape;8177;p83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78" name="Google Shape;8178;p83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179" name="Google Shape;8179;p83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180" name="Google Shape;818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81" name="Google Shape;818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2" name="Google Shape;818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3" name="Google Shape;818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4" name="Google Shape;818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5" name="Google Shape;818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6" name="Google Shape;818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87" name="Google Shape;818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188" name="Google Shape;8188;p83"/>
                <p:cNvCxnSpPr>
                  <a:endCxn id="818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189" name="Google Shape;818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190" name="Google Shape;8190;p83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191" name="Google Shape;819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2" name="Google Shape;8192;p83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193" name="Google Shape;8193;p83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194" name="Google Shape;8194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195" name="Google Shape;8195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6" name="Google Shape;8196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7" name="Google Shape;8197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8" name="Google Shape;8198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199" name="Google Shape;8199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0" name="Google Shape;8200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1" name="Google Shape;8201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02" name="Google Shape;8202;p83"/>
                <p:cNvCxnSpPr>
                  <a:endCxn id="819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03" name="Google Shape;8203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04" name="Google Shape;8204;p83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205" name="Google Shape;8205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06" name="Google Shape;8206;p83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207" name="Google Shape;8207;p83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208" name="Google Shape;8208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09" name="Google Shape;8209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0" name="Google Shape;8210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1" name="Google Shape;8211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2" name="Google Shape;8212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3" name="Google Shape;8213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4" name="Google Shape;8214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15" name="Google Shape;8215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16" name="Google Shape;8216;p83"/>
                <p:cNvCxnSpPr>
                  <a:endCxn id="821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17" name="Google Shape;8217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18" name="Google Shape;8218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19" name="Google Shape;8219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0" name="Google Shape;8220;p83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221" name="Google Shape;8221;p83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222" name="Google Shape;8222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23" name="Google Shape;8223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4" name="Google Shape;8224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5" name="Google Shape;8225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6" name="Google Shape;8226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7" name="Google Shape;8227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8" name="Google Shape;8228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29" name="Google Shape;8229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30" name="Google Shape;8230;p83"/>
                <p:cNvCxnSpPr>
                  <a:endCxn id="822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31" name="Google Shape;8231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32" name="Google Shape;8232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33" name="Google Shape;8233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4" name="Google Shape;8234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235" name="Google Shape;8235;p83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236" name="Google Shape;8236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37" name="Google Shape;8237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8" name="Google Shape;8238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39" name="Google Shape;8239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0" name="Google Shape;8240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1" name="Google Shape;8241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2" name="Google Shape;8242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3" name="Google Shape;8243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44" name="Google Shape;8244;p83"/>
                <p:cNvCxnSpPr>
                  <a:endCxn id="823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45" name="Google Shape;8245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46" name="Google Shape;8246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47" name="Google Shape;8247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48" name="Google Shape;8248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249" name="Google Shape;8249;p83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250" name="Google Shape;8250;p83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251" name="Google Shape;8251;p83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2" name="Google Shape;8252;p83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3" name="Google Shape;8253;p83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4" name="Google Shape;8254;p83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5" name="Google Shape;8255;p83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6" name="Google Shape;8256;p83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57" name="Google Shape;8257;p83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258" name="Google Shape;8258;p83"/>
                <p:cNvCxnSpPr>
                  <a:endCxn id="825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259" name="Google Shape;8259;p83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260" name="Google Shape;8260;p83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261" name="Google Shape;8261;p83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262" name="Google Shape;8262;p83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263" name="Google Shape;8263;p83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264" name="Google Shape;8264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65" name="Google Shape;8265;p83"/>
          <p:cNvSpPr txBox="1"/>
          <p:nvPr/>
        </p:nvSpPr>
        <p:spPr>
          <a:xfrm>
            <a:off x="1728591" y="3928028"/>
            <a:ext cx="9727879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u-to-z traffic to flow along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uvw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z, rather than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uxyz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need to re-define link weights so traffic routing algorithm computes routes accordingly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(or need a new routing algorithm)!</a:t>
            </a:r>
            <a:endParaRPr/>
          </a:p>
        </p:txBody>
      </p:sp>
      <p:sp>
        <p:nvSpPr>
          <p:cNvPr id="8266" name="Google Shape;8266;p83"/>
          <p:cNvSpPr txBox="1"/>
          <p:nvPr/>
        </p:nvSpPr>
        <p:spPr>
          <a:xfrm>
            <a:off x="2003306" y="5938073"/>
            <a:ext cx="82760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 weights are only control “knobs”: not much control!</a:t>
            </a:r>
            <a:endParaRPr/>
          </a:p>
        </p:txBody>
      </p:sp>
      <p:sp>
        <p:nvSpPr>
          <p:cNvPr id="8267" name="Google Shape;8267;p83"/>
          <p:cNvSpPr/>
          <p:nvPr/>
        </p:nvSpPr>
        <p:spPr>
          <a:xfrm>
            <a:off x="3283003" y="2063149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8" name="Google Shape;8268;p83"/>
          <p:cNvSpPr/>
          <p:nvPr/>
        </p:nvSpPr>
        <p:spPr>
          <a:xfrm flipH="1" rot="10800000">
            <a:off x="3247513" y="2729116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2" name="Shape 8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73" name="Google Shape;8273;p84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274" name="Google Shape;8274;p84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275" name="Google Shape;8275;p8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76" name="Google Shape;8276;p84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7" name="Google Shape;8277;p84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8" name="Google Shape;8278;p84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9" name="Google Shape;8279;p84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0" name="Google Shape;8280;p84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1" name="Google Shape;8281;p84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2" name="Google Shape;8282;p84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3" name="Google Shape;8283;p84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4" name="Google Shape;8284;p84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5" name="Google Shape;8285;p84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6" name="Google Shape;8286;p84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7" name="Google Shape;8287;p84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8" name="Google Shape;8288;p84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9" name="Google Shape;8289;p84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0" name="Google Shape;8290;p84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1" name="Google Shape;8291;p84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2" name="Google Shape;8292;p84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3" name="Google Shape;8293;p84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4" name="Google Shape;8294;p84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5" name="Google Shape;8295;p84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6" name="Google Shape;8296;p84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7" name="Google Shape;8297;p84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98" name="Google Shape;8298;p84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299" name="Google Shape;8299;p84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0" name="Google Shape;8300;p84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1" name="Google Shape;8301;p84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2" name="Google Shape;8302;p84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3" name="Google Shape;8303;p84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4" name="Google Shape;8304;p84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305" name="Google Shape;8305;p84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6" name="Google Shape;8306;p84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07" name="Google Shape;8307;p84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08" name="Google Shape;8308;p84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309" name="Google Shape;8309;p84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0" name="Google Shape;8310;p84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1" name="Google Shape;8311;p84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2" name="Google Shape;8312;p84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3" name="Google Shape;8313;p84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314" name="Google Shape;8314;p84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5" name="Google Shape;8315;p84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16" name="Google Shape;8316;p84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17" name="Google Shape;8317;p84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318" name="Google Shape;8318;p84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19" name="Google Shape;8319;p84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320" name="Google Shape;8320;p84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1" name="Google Shape;8321;p84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2" name="Google Shape;8322;p84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3" name="Google Shape;8323;p84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4" name="Google Shape;8324;p84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5" name="Google Shape;8325;p84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6" name="Google Shape;8326;p84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7" name="Google Shape;8327;p84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8" name="Google Shape;8328;p84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9" name="Google Shape;8329;p84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30" name="Google Shape;8330;p84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331" name="Google Shape;8331;p84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32" name="Google Shape;8332;p84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33" name="Google Shape;8333;p84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334" name="Google Shape;833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35" name="Google Shape;833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6" name="Google Shape;833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7" name="Google Shape;833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8" name="Google Shape;833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39" name="Google Shape;833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0" name="Google Shape;834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1" name="Google Shape;834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42" name="Google Shape;8342;p84"/>
                <p:cNvCxnSpPr>
                  <a:endCxn id="833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43" name="Google Shape;834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44" name="Google Shape;8344;p84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345" name="Google Shape;834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46" name="Google Shape;8346;p84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347" name="Google Shape;8347;p84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348" name="Google Shape;8348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49" name="Google Shape;8349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0" name="Google Shape;8350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1" name="Google Shape;8351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2" name="Google Shape;8352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3" name="Google Shape;8353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4" name="Google Shape;8354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55" name="Google Shape;8355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56" name="Google Shape;8356;p84"/>
                <p:cNvCxnSpPr>
                  <a:endCxn id="8351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57" name="Google Shape;8357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58" name="Google Shape;8358;p84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359" name="Google Shape;8359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0" name="Google Shape;8360;p84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361" name="Google Shape;8361;p84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362" name="Google Shape;8362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63" name="Google Shape;8363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4" name="Google Shape;8364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5" name="Google Shape;8365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6" name="Google Shape;8366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7" name="Google Shape;8367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8" name="Google Shape;8368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69" name="Google Shape;8369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70" name="Google Shape;8370;p84"/>
                <p:cNvCxnSpPr>
                  <a:endCxn id="8365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71" name="Google Shape;8371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72" name="Google Shape;8372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73" name="Google Shape;8373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4" name="Google Shape;8374;p84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375" name="Google Shape;8375;p84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376" name="Google Shape;8376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77" name="Google Shape;8377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8" name="Google Shape;8378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79" name="Google Shape;8379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0" name="Google Shape;8380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1" name="Google Shape;8381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2" name="Google Shape;8382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3" name="Google Shape;8383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84" name="Google Shape;8384;p84"/>
                <p:cNvCxnSpPr>
                  <a:endCxn id="8379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85" name="Google Shape;8385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386" name="Google Shape;8386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387" name="Google Shape;8387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88" name="Google Shape;8388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389" name="Google Shape;8389;p84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390" name="Google Shape;8390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391" name="Google Shape;8391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2" name="Google Shape;8392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3" name="Google Shape;8393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4" name="Google Shape;8394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5" name="Google Shape;8395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6" name="Google Shape;8396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397" name="Google Shape;8397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398" name="Google Shape;8398;p84"/>
                <p:cNvCxnSpPr>
                  <a:endCxn id="8393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399" name="Google Shape;8399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00" name="Google Shape;8400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01" name="Google Shape;8401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2" name="Google Shape;8402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403" name="Google Shape;8403;p84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404" name="Google Shape;8404;p84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05" name="Google Shape;8405;p84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6" name="Google Shape;8406;p84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7" name="Google Shape;8407;p84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8" name="Google Shape;8408;p84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09" name="Google Shape;8409;p84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0" name="Google Shape;8410;p84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1" name="Google Shape;8411;p84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12" name="Google Shape;8412;p84"/>
                <p:cNvCxnSpPr>
                  <a:endCxn id="8407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413" name="Google Shape;8413;p84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414" name="Google Shape;8414;p84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415" name="Google Shape;8415;p84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16" name="Google Shape;8416;p84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417" name="Google Shape;8417;p84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18" name="Google Shape;8418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19" name="Google Shape;8419;p84"/>
          <p:cNvSpPr txBox="1"/>
          <p:nvPr/>
        </p:nvSpPr>
        <p:spPr>
          <a:xfrm>
            <a:off x="2623386" y="4329157"/>
            <a:ext cx="7417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network operator wants to split  u-to-z traffic along uvwz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uxyz (load balancing)?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(or need a new routing algorithm)</a:t>
            </a:r>
            <a:endParaRPr/>
          </a:p>
        </p:txBody>
      </p:sp>
      <p:grpSp>
        <p:nvGrpSpPr>
          <p:cNvPr id="8420" name="Google Shape;8420;p84"/>
          <p:cNvGrpSpPr/>
          <p:nvPr/>
        </p:nvGrpSpPr>
        <p:grpSpPr>
          <a:xfrm>
            <a:off x="3389946" y="2087513"/>
            <a:ext cx="1838752" cy="1207922"/>
            <a:chOff x="1800839" y="2199110"/>
            <a:chExt cx="1838752" cy="1207922"/>
          </a:xfrm>
        </p:grpSpPr>
        <p:sp>
          <p:nvSpPr>
            <p:cNvPr id="8421" name="Google Shape;8421;p84"/>
            <p:cNvSpPr/>
            <p:nvPr/>
          </p:nvSpPr>
          <p:spPr>
            <a:xfrm>
              <a:off x="1800839" y="2199110"/>
              <a:ext cx="1838752" cy="549777"/>
            </a:xfrm>
            <a:custGeom>
              <a:rect b="b" l="l" r="r" t="t"/>
              <a:pathLst>
                <a:path extrusionOk="0" h="630627" w="1802341">
                  <a:moveTo>
                    <a:pt x="0" y="630627"/>
                  </a:moveTo>
                  <a:lnTo>
                    <a:pt x="818495" y="611670"/>
                  </a:lnTo>
                  <a:lnTo>
                    <a:pt x="1802341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2" name="Google Shape;8422;p84"/>
            <p:cNvSpPr/>
            <p:nvPr/>
          </p:nvSpPr>
          <p:spPr>
            <a:xfrm flipH="1" rot="10800000">
              <a:off x="1801588" y="2749626"/>
              <a:ext cx="1741891" cy="657406"/>
            </a:xfrm>
            <a:custGeom>
              <a:rect b="b" l="l" r="r" t="t"/>
              <a:pathLst>
                <a:path extrusionOk="0" h="754084" w="1707398">
                  <a:moveTo>
                    <a:pt x="0" y="754084"/>
                  </a:moveTo>
                  <a:lnTo>
                    <a:pt x="818495" y="735127"/>
                  </a:lnTo>
                  <a:lnTo>
                    <a:pt x="1707398" y="0"/>
                  </a:lnTo>
                </a:path>
              </a:pathLst>
            </a:custGeom>
            <a:noFill/>
            <a:ln cap="flat" cmpd="sng" w="508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6" name="Shape 8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" name="Google Shape;8427;p85"/>
          <p:cNvSpPr txBox="1"/>
          <p:nvPr>
            <p:ph type="title"/>
          </p:nvPr>
        </p:nvSpPr>
        <p:spPr>
          <a:xfrm>
            <a:off x="838199" y="364139"/>
            <a:ext cx="1071079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Traffic engineering: difficult with traditional routing</a:t>
            </a:r>
            <a:endParaRPr/>
          </a:p>
        </p:txBody>
      </p:sp>
      <p:sp>
        <p:nvSpPr>
          <p:cNvPr id="8428" name="Google Shape;8428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29" name="Google Shape;8429;p85"/>
          <p:cNvSpPr txBox="1"/>
          <p:nvPr/>
        </p:nvSpPr>
        <p:spPr>
          <a:xfrm>
            <a:off x="1207432" y="4302204"/>
            <a:ext cx="1051351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if w wants to route blue and red traffic differently from w to z?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800" u="sng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can’t do it (with destination-based forwarding, and LS, DV routing)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30" name="Google Shape;8430;p85"/>
          <p:cNvGrpSpPr/>
          <p:nvPr/>
        </p:nvGrpSpPr>
        <p:grpSpPr>
          <a:xfrm>
            <a:off x="2509218" y="1275410"/>
            <a:ext cx="6875191" cy="2404002"/>
            <a:chOff x="943464" y="1363093"/>
            <a:chExt cx="6875191" cy="2404002"/>
          </a:xfrm>
        </p:grpSpPr>
        <p:grpSp>
          <p:nvGrpSpPr>
            <p:cNvPr id="8431" name="Google Shape;8431;p85"/>
            <p:cNvGrpSpPr/>
            <p:nvPr/>
          </p:nvGrpSpPr>
          <p:grpSpPr>
            <a:xfrm flipH="1">
              <a:off x="943464" y="2441244"/>
              <a:ext cx="855053" cy="655887"/>
              <a:chOff x="2839" y="3501"/>
              <a:chExt cx="755" cy="803"/>
            </a:xfrm>
          </p:grpSpPr>
          <p:pic>
            <p:nvPicPr>
              <p:cNvPr descr="desktop_computer_stylized_medium" id="8432" name="Google Shape;8432;p8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33" name="Google Shape;8433;p85"/>
              <p:cNvSpPr/>
              <p:nvPr/>
            </p:nvSpPr>
            <p:spPr>
              <a:xfrm>
                <a:off x="2916" y="3578"/>
                <a:ext cx="356" cy="368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34" name="Google Shape;8434;p85"/>
            <p:cNvSpPr/>
            <p:nvPr/>
          </p:nvSpPr>
          <p:spPr>
            <a:xfrm>
              <a:off x="2059747" y="1363093"/>
              <a:ext cx="5142041" cy="2404002"/>
            </a:xfrm>
            <a:custGeom>
              <a:rect b="b" l="l" r="r" t="t"/>
              <a:pathLst>
                <a:path extrusionOk="0" h="1409" w="2250">
                  <a:moveTo>
                    <a:pt x="0" y="624"/>
                  </a:moveTo>
                  <a:cubicBezTo>
                    <a:pt x="5" y="506"/>
                    <a:pt x="131" y="419"/>
                    <a:pt x="219" y="321"/>
                  </a:cubicBezTo>
                  <a:cubicBezTo>
                    <a:pt x="307" y="223"/>
                    <a:pt x="307" y="70"/>
                    <a:pt x="529" y="35"/>
                  </a:cubicBezTo>
                  <a:cubicBezTo>
                    <a:pt x="751" y="0"/>
                    <a:pt x="1311" y="36"/>
                    <a:pt x="1551" y="111"/>
                  </a:cubicBezTo>
                  <a:cubicBezTo>
                    <a:pt x="1791" y="186"/>
                    <a:pt x="1860" y="351"/>
                    <a:pt x="1968" y="483"/>
                  </a:cubicBezTo>
                  <a:cubicBezTo>
                    <a:pt x="2076" y="615"/>
                    <a:pt x="2250" y="767"/>
                    <a:pt x="2199" y="906"/>
                  </a:cubicBezTo>
                  <a:cubicBezTo>
                    <a:pt x="2148" y="1045"/>
                    <a:pt x="1860" y="1234"/>
                    <a:pt x="1659" y="1314"/>
                  </a:cubicBezTo>
                  <a:cubicBezTo>
                    <a:pt x="1458" y="1394"/>
                    <a:pt x="1192" y="1379"/>
                    <a:pt x="993" y="1386"/>
                  </a:cubicBezTo>
                  <a:cubicBezTo>
                    <a:pt x="794" y="1393"/>
                    <a:pt x="613" y="1409"/>
                    <a:pt x="465" y="1356"/>
                  </a:cubicBezTo>
                  <a:cubicBezTo>
                    <a:pt x="317" y="1303"/>
                    <a:pt x="180" y="1190"/>
                    <a:pt x="102" y="1068"/>
                  </a:cubicBezTo>
                  <a:cubicBezTo>
                    <a:pt x="24" y="946"/>
                    <a:pt x="21" y="716"/>
                    <a:pt x="0" y="624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5" name="Google Shape;8435;p85"/>
            <p:cNvSpPr/>
            <p:nvPr/>
          </p:nvSpPr>
          <p:spPr>
            <a:xfrm>
              <a:off x="2834105" y="2267385"/>
              <a:ext cx="781590" cy="317349"/>
            </a:xfrm>
            <a:custGeom>
              <a:rect b="b" l="l" r="r" t="t"/>
              <a:pathLst>
                <a:path extrusionOk="0" h="186" w="342">
                  <a:moveTo>
                    <a:pt x="0" y="186"/>
                  </a:moveTo>
                  <a:lnTo>
                    <a:pt x="342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6" name="Google Shape;8436;p85"/>
            <p:cNvSpPr/>
            <p:nvPr/>
          </p:nvSpPr>
          <p:spPr>
            <a:xfrm>
              <a:off x="5254292" y="2313451"/>
              <a:ext cx="2285" cy="890624"/>
            </a:xfrm>
            <a:custGeom>
              <a:rect b="b" l="l" r="r" t="t"/>
              <a:pathLst>
                <a:path extrusionOk="0" h="522" w="1">
                  <a:moveTo>
                    <a:pt x="0" y="0"/>
                  </a:moveTo>
                  <a:lnTo>
                    <a:pt x="0" y="522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7" name="Google Shape;8437;p85"/>
            <p:cNvSpPr/>
            <p:nvPr/>
          </p:nvSpPr>
          <p:spPr>
            <a:xfrm>
              <a:off x="3670544" y="2323688"/>
              <a:ext cx="2285" cy="916217"/>
            </a:xfrm>
            <a:custGeom>
              <a:rect b="b" l="l" r="r" t="t"/>
              <a:pathLst>
                <a:path extrusionOk="0" h="537" w="1">
                  <a:moveTo>
                    <a:pt x="0" y="0"/>
                  </a:moveTo>
                  <a:lnTo>
                    <a:pt x="0" y="537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8" name="Google Shape;8438;p85"/>
            <p:cNvSpPr/>
            <p:nvPr/>
          </p:nvSpPr>
          <p:spPr>
            <a:xfrm>
              <a:off x="3736497" y="2298095"/>
              <a:ext cx="1462948" cy="1050313"/>
            </a:xfrm>
            <a:custGeom>
              <a:rect b="b" l="l" r="r" t="t"/>
              <a:pathLst>
                <a:path extrusionOk="0" h="174" w="378">
                  <a:moveTo>
                    <a:pt x="0" y="174"/>
                  </a:moveTo>
                  <a:lnTo>
                    <a:pt x="378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9" name="Google Shape;8439;p85"/>
            <p:cNvSpPr/>
            <p:nvPr/>
          </p:nvSpPr>
          <p:spPr>
            <a:xfrm>
              <a:off x="5292247" y="2891845"/>
              <a:ext cx="1161856" cy="455711"/>
            </a:xfrm>
            <a:custGeom>
              <a:rect b="b" l="l" r="r" t="t"/>
              <a:pathLst>
                <a:path extrusionOk="0" h="270" w="366">
                  <a:moveTo>
                    <a:pt x="0" y="270"/>
                  </a:moveTo>
                  <a:lnTo>
                    <a:pt x="366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0" name="Google Shape;8440;p85"/>
            <p:cNvSpPr/>
            <p:nvPr/>
          </p:nvSpPr>
          <p:spPr>
            <a:xfrm flipH="1" rot="10800000">
              <a:off x="4022465" y="3327268"/>
              <a:ext cx="908330" cy="45719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1" name="Google Shape;8441;p85"/>
            <p:cNvSpPr/>
            <p:nvPr/>
          </p:nvSpPr>
          <p:spPr>
            <a:xfrm>
              <a:off x="2710696" y="2820186"/>
              <a:ext cx="630757" cy="450430"/>
            </a:xfrm>
            <a:custGeom>
              <a:rect b="b" l="l" r="r" t="t"/>
              <a:pathLst>
                <a:path extrusionOk="0" h="264" w="276">
                  <a:moveTo>
                    <a:pt x="276" y="264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2" name="Google Shape;8442;p85"/>
            <p:cNvSpPr/>
            <p:nvPr/>
          </p:nvSpPr>
          <p:spPr>
            <a:xfrm>
              <a:off x="4047627" y="2195725"/>
              <a:ext cx="836439" cy="1706"/>
            </a:xfrm>
            <a:custGeom>
              <a:rect b="b" l="l" r="r" t="t"/>
              <a:pathLst>
                <a:path extrusionOk="0" h="1" w="366">
                  <a:moveTo>
                    <a:pt x="366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3" name="Google Shape;8443;p85"/>
            <p:cNvSpPr/>
            <p:nvPr/>
          </p:nvSpPr>
          <p:spPr>
            <a:xfrm>
              <a:off x="5572253" y="2248471"/>
              <a:ext cx="922986" cy="397685"/>
            </a:xfrm>
            <a:custGeom>
              <a:rect b="b" l="l" r="r" t="t"/>
              <a:pathLst>
                <a:path extrusionOk="0" h="267" w="396">
                  <a:moveTo>
                    <a:pt x="396" y="267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4" name="Google Shape;8444;p85"/>
            <p:cNvSpPr/>
            <p:nvPr/>
          </p:nvSpPr>
          <p:spPr>
            <a:xfrm>
              <a:off x="2580431" y="1458657"/>
              <a:ext cx="2536740" cy="1100484"/>
            </a:xfrm>
            <a:custGeom>
              <a:rect b="b" l="l" r="r" t="t"/>
              <a:pathLst>
                <a:path extrusionOk="0" h="645" w="1110">
                  <a:moveTo>
                    <a:pt x="1110" y="342"/>
                  </a:moveTo>
                  <a:cubicBezTo>
                    <a:pt x="1104" y="0"/>
                    <a:pt x="21" y="63"/>
                    <a:pt x="0" y="645"/>
                  </a:cubicBez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5" name="Google Shape;8445;p85"/>
            <p:cNvSpPr txBox="1"/>
            <p:nvPr/>
          </p:nvSpPr>
          <p:spPr>
            <a:xfrm>
              <a:off x="2822678" y="2178663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6" name="Google Shape;8446;p85"/>
            <p:cNvSpPr txBox="1"/>
            <p:nvPr/>
          </p:nvSpPr>
          <p:spPr>
            <a:xfrm>
              <a:off x="3617981" y="255231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7" name="Google Shape;8447;p85"/>
            <p:cNvSpPr txBox="1"/>
            <p:nvPr/>
          </p:nvSpPr>
          <p:spPr>
            <a:xfrm>
              <a:off x="2623853" y="2915732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8" name="Google Shape;8448;p85"/>
            <p:cNvSpPr txBox="1"/>
            <p:nvPr/>
          </p:nvSpPr>
          <p:spPr>
            <a:xfrm>
              <a:off x="4495556" y="2710990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9" name="Google Shape;8449;p85"/>
            <p:cNvSpPr txBox="1"/>
            <p:nvPr/>
          </p:nvSpPr>
          <p:spPr>
            <a:xfrm>
              <a:off x="4351579" y="331497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0" name="Google Shape;8450;p85"/>
            <p:cNvSpPr txBox="1"/>
            <p:nvPr/>
          </p:nvSpPr>
          <p:spPr>
            <a:xfrm>
              <a:off x="5174305" y="2583027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1" name="Google Shape;8451;p85"/>
            <p:cNvSpPr txBox="1"/>
            <p:nvPr/>
          </p:nvSpPr>
          <p:spPr>
            <a:xfrm>
              <a:off x="5997032" y="3033458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2" name="Google Shape;8452;p85"/>
            <p:cNvSpPr txBox="1"/>
            <p:nvPr/>
          </p:nvSpPr>
          <p:spPr>
            <a:xfrm>
              <a:off x="5935327" y="2117241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3" name="Google Shape;8453;p85"/>
            <p:cNvSpPr txBox="1"/>
            <p:nvPr/>
          </p:nvSpPr>
          <p:spPr>
            <a:xfrm>
              <a:off x="4255594" y="1861315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4" name="Google Shape;8454;p85"/>
            <p:cNvSpPr txBox="1"/>
            <p:nvPr/>
          </p:nvSpPr>
          <p:spPr>
            <a:xfrm>
              <a:off x="3453435" y="1405766"/>
              <a:ext cx="447929" cy="3941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5" name="Google Shape;8455;p85"/>
            <p:cNvGrpSpPr/>
            <p:nvPr/>
          </p:nvGrpSpPr>
          <p:grpSpPr>
            <a:xfrm>
              <a:off x="7391175" y="2426604"/>
              <a:ext cx="427480" cy="711995"/>
              <a:chOff x="4140" y="429"/>
              <a:chExt cx="1425" cy="2396"/>
            </a:xfrm>
          </p:grpSpPr>
          <p:sp>
            <p:nvSpPr>
              <p:cNvPr id="8456" name="Google Shape;8456;p8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7" name="Google Shape;8457;p85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8" name="Google Shape;8458;p8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9" name="Google Shape;8459;p8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0" name="Google Shape;8460;p85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1" name="Google Shape;8461;p85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8462" name="Google Shape;8462;p85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3" name="Google Shape;8463;p85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4" name="Google Shape;8464;p85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65" name="Google Shape;8465;p85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8466" name="Google Shape;8466;p85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67" name="Google Shape;8467;p85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68" name="Google Shape;8468;p85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9" name="Google Shape;8469;p85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0" name="Google Shape;8470;p85"/>
              <p:cNvGrpSpPr/>
              <p:nvPr/>
            </p:nvGrpSpPr>
            <p:grpSpPr>
              <a:xfrm>
                <a:off x="4738" y="1639"/>
                <a:ext cx="578" cy="142"/>
                <a:chOff x="618" y="2579"/>
                <a:chExt cx="720" cy="131"/>
              </a:xfrm>
            </p:grpSpPr>
            <p:sp>
              <p:nvSpPr>
                <p:cNvPr id="8471" name="Google Shape;8471;p85"/>
                <p:cNvSpPr/>
                <p:nvPr/>
              </p:nvSpPr>
              <p:spPr>
                <a:xfrm>
                  <a:off x="618" y="2579"/>
                  <a:ext cx="720" cy="131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2" name="Google Shape;8472;p85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3" name="Google Shape;8473;p8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474" name="Google Shape;8474;p85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8475" name="Google Shape;8475;p85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76" name="Google Shape;8476;p85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477" name="Google Shape;8477;p85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8" name="Google Shape;8478;p8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9" name="Google Shape;8479;p8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0" name="Google Shape;8480;p85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1" name="Google Shape;8481;p8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2" name="Google Shape;8482;p85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3" name="Google Shape;8483;p85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4" name="Google Shape;8484;p85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5" name="Google Shape;8485;p85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6" name="Google Shape;8486;p85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7" name="Google Shape;8487;p85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488" name="Google Shape;8488;p85"/>
            <p:cNvCxnSpPr/>
            <p:nvPr/>
          </p:nvCxnSpPr>
          <p:spPr>
            <a:xfrm>
              <a:off x="1682405" y="2744686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9" name="Google Shape;8489;p85"/>
            <p:cNvCxnSpPr/>
            <p:nvPr/>
          </p:nvCxnSpPr>
          <p:spPr>
            <a:xfrm>
              <a:off x="6895267" y="2779855"/>
              <a:ext cx="526774" cy="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90" name="Google Shape;8490;p85"/>
            <p:cNvGrpSpPr/>
            <p:nvPr/>
          </p:nvGrpSpPr>
          <p:grpSpPr>
            <a:xfrm>
              <a:off x="3414626" y="1982945"/>
              <a:ext cx="687402" cy="571677"/>
              <a:chOff x="1736090" y="2893762"/>
              <a:chExt cx="565150" cy="413310"/>
            </a:xfrm>
          </p:grpSpPr>
          <p:grpSp>
            <p:nvGrpSpPr>
              <p:cNvPr id="8491" name="Google Shape;849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492" name="Google Shape;849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3" name="Google Shape;849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4" name="Google Shape;849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5" name="Google Shape;849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6" name="Google Shape;849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7" name="Google Shape;849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498" name="Google Shape;849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499" name="Google Shape;8499;p85"/>
                <p:cNvCxnSpPr>
                  <a:endCxn id="849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00" name="Google Shape;850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01" name="Google Shape;8501;p85"/>
              <p:cNvGrpSpPr/>
              <p:nvPr/>
            </p:nvGrpSpPr>
            <p:grpSpPr>
              <a:xfrm>
                <a:off x="1844715" y="2907714"/>
                <a:ext cx="356365" cy="399358"/>
                <a:chOff x="741398" y="1743005"/>
                <a:chExt cx="356365" cy="399358"/>
              </a:xfrm>
            </p:grpSpPr>
            <p:sp>
              <p:nvSpPr>
                <p:cNvPr id="8502" name="Google Shape;850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3" name="Google Shape;8503;p85"/>
                <p:cNvSpPr txBox="1"/>
                <p:nvPr/>
              </p:nvSpPr>
              <p:spPr>
                <a:xfrm>
                  <a:off x="783895" y="1743005"/>
                  <a:ext cx="288887" cy="3993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v</a:t>
                  </a:r>
                  <a:endParaRPr/>
                </a:p>
              </p:txBody>
            </p:sp>
          </p:grpSp>
        </p:grpSp>
        <p:grpSp>
          <p:nvGrpSpPr>
            <p:cNvPr id="8504" name="Google Shape;8504;p85"/>
            <p:cNvGrpSpPr/>
            <p:nvPr/>
          </p:nvGrpSpPr>
          <p:grpSpPr>
            <a:xfrm>
              <a:off x="4888811" y="1979830"/>
              <a:ext cx="687402" cy="480963"/>
              <a:chOff x="1736090" y="2893762"/>
              <a:chExt cx="565150" cy="347726"/>
            </a:xfrm>
          </p:grpSpPr>
          <p:grpSp>
            <p:nvGrpSpPr>
              <p:cNvPr id="8505" name="Google Shape;8505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06" name="Google Shape;8506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7" name="Google Shape;8507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8" name="Google Shape;8508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09" name="Google Shape;8509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0" name="Google Shape;8510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1" name="Google Shape;8511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2" name="Google Shape;8512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13" name="Google Shape;8513;p85"/>
                <p:cNvCxnSpPr>
                  <a:endCxn id="8508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14" name="Google Shape;8514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15" name="Google Shape;8515;p85"/>
              <p:cNvGrpSpPr/>
              <p:nvPr/>
            </p:nvGrpSpPr>
            <p:grpSpPr>
              <a:xfrm>
                <a:off x="1844715" y="2907714"/>
                <a:ext cx="378664" cy="333774"/>
                <a:chOff x="741398" y="1743005"/>
                <a:chExt cx="378664" cy="333774"/>
              </a:xfrm>
            </p:grpSpPr>
            <p:sp>
              <p:nvSpPr>
                <p:cNvPr id="8516" name="Google Shape;8516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17" name="Google Shape;8517;p85"/>
                <p:cNvSpPr txBox="1"/>
                <p:nvPr/>
              </p:nvSpPr>
              <p:spPr>
                <a:xfrm>
                  <a:off x="767915" y="1743005"/>
                  <a:ext cx="352147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</a:t>
                  </a:r>
                  <a:endParaRPr/>
                </a:p>
              </p:txBody>
            </p:sp>
          </p:grpSp>
        </p:grpSp>
        <p:grpSp>
          <p:nvGrpSpPr>
            <p:cNvPr id="8518" name="Google Shape;8518;p85"/>
            <p:cNvGrpSpPr/>
            <p:nvPr/>
          </p:nvGrpSpPr>
          <p:grpSpPr>
            <a:xfrm>
              <a:off x="2206359" y="2517647"/>
              <a:ext cx="687402" cy="480963"/>
              <a:chOff x="1736090" y="2893762"/>
              <a:chExt cx="565150" cy="347726"/>
            </a:xfrm>
          </p:grpSpPr>
          <p:grpSp>
            <p:nvGrpSpPr>
              <p:cNvPr id="8519" name="Google Shape;8519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20" name="Google Shape;8520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1" name="Google Shape;8521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2" name="Google Shape;8522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3" name="Google Shape;8523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4" name="Google Shape;8524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5" name="Google Shape;8525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26" name="Google Shape;8526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27" name="Google Shape;8527;p85"/>
                <p:cNvCxnSpPr>
                  <a:endCxn id="8522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28" name="Google Shape;8528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29" name="Google Shape;8529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30" name="Google Shape;8530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1" name="Google Shape;8531;p85"/>
                <p:cNvSpPr txBox="1"/>
                <p:nvPr/>
              </p:nvSpPr>
              <p:spPr>
                <a:xfrm>
                  <a:off x="783895" y="1743005"/>
                  <a:ext cx="29255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</a:t>
                  </a:r>
                  <a:endParaRPr/>
                </a:p>
              </p:txBody>
            </p:sp>
          </p:grpSp>
        </p:grpSp>
        <p:grpSp>
          <p:nvGrpSpPr>
            <p:cNvPr id="8532" name="Google Shape;8532;p85"/>
            <p:cNvGrpSpPr/>
            <p:nvPr/>
          </p:nvGrpSpPr>
          <p:grpSpPr>
            <a:xfrm>
              <a:off x="6285253" y="2579331"/>
              <a:ext cx="687402" cy="480963"/>
              <a:chOff x="1736090" y="2893762"/>
              <a:chExt cx="565150" cy="347726"/>
            </a:xfrm>
          </p:grpSpPr>
          <p:grpSp>
            <p:nvGrpSpPr>
              <p:cNvPr id="8533" name="Google Shape;8533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34" name="Google Shape;8534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5" name="Google Shape;8535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6" name="Google Shape;8536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7" name="Google Shape;8537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8" name="Google Shape;8538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39" name="Google Shape;8539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0" name="Google Shape;8540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41" name="Google Shape;8541;p85"/>
                <p:cNvCxnSpPr>
                  <a:endCxn id="8536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42" name="Google Shape;8542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43" name="Google Shape;8543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44" name="Google Shape;8544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5" name="Google Shape;8545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z</a:t>
                  </a:r>
                  <a:endParaRPr/>
                </a:p>
              </p:txBody>
            </p:sp>
          </p:grpSp>
        </p:grpSp>
        <p:grpSp>
          <p:nvGrpSpPr>
            <p:cNvPr id="8546" name="Google Shape;8546;p85"/>
            <p:cNvGrpSpPr/>
            <p:nvPr/>
          </p:nvGrpSpPr>
          <p:grpSpPr>
            <a:xfrm>
              <a:off x="4927962" y="3152913"/>
              <a:ext cx="687402" cy="480963"/>
              <a:chOff x="1736090" y="2893762"/>
              <a:chExt cx="565150" cy="347726"/>
            </a:xfrm>
          </p:grpSpPr>
          <p:grpSp>
            <p:nvGrpSpPr>
              <p:cNvPr id="8547" name="Google Shape;8547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48" name="Google Shape;8548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49" name="Google Shape;8549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0" name="Google Shape;8550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1" name="Google Shape;8551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2" name="Google Shape;8552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3" name="Google Shape;8553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4" name="Google Shape;8554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55" name="Google Shape;8555;p85"/>
                <p:cNvCxnSpPr>
                  <a:endCxn id="8550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56" name="Google Shape;8556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57" name="Google Shape;8557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58" name="Google Shape;8558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59" name="Google Shape;8559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y</a:t>
                  </a:r>
                  <a:endParaRPr/>
                </a:p>
              </p:txBody>
            </p:sp>
          </p:grpSp>
        </p:grpSp>
        <p:grpSp>
          <p:nvGrpSpPr>
            <p:cNvPr id="8560" name="Google Shape;8560;p85"/>
            <p:cNvGrpSpPr/>
            <p:nvPr/>
          </p:nvGrpSpPr>
          <p:grpSpPr>
            <a:xfrm>
              <a:off x="3337414" y="3136841"/>
              <a:ext cx="687402" cy="480963"/>
              <a:chOff x="1736090" y="2893762"/>
              <a:chExt cx="565150" cy="347726"/>
            </a:xfrm>
          </p:grpSpPr>
          <p:grpSp>
            <p:nvGrpSpPr>
              <p:cNvPr id="8561" name="Google Shape;8561;p85"/>
              <p:cNvGrpSpPr/>
              <p:nvPr/>
            </p:nvGrpSpPr>
            <p:grpSpPr>
              <a:xfrm>
                <a:off x="1736090" y="2893762"/>
                <a:ext cx="565150" cy="292100"/>
                <a:chOff x="1871277" y="1576300"/>
                <a:chExt cx="1128371" cy="437861"/>
              </a:xfrm>
            </p:grpSpPr>
            <p:sp>
              <p:nvSpPr>
                <p:cNvPr id="8562" name="Google Shape;8562;p85"/>
                <p:cNvSpPr/>
                <p:nvPr/>
              </p:nvSpPr>
              <p:spPr>
                <a:xfrm flipH="1" rot="10800000">
                  <a:off x="1874446" y="1692905"/>
                  <a:ext cx="1125202" cy="321256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3" name="Google Shape;8563;p85"/>
                <p:cNvSpPr/>
                <p:nvPr/>
              </p:nvSpPr>
              <p:spPr>
                <a:xfrm>
                  <a:off x="1871277" y="1740499"/>
                  <a:ext cx="1128371" cy="114225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4" name="Google Shape;8564;p85"/>
                <p:cNvSpPr/>
                <p:nvPr/>
              </p:nvSpPr>
              <p:spPr>
                <a:xfrm flipH="1" rot="10800000">
                  <a:off x="1871277" y="1576300"/>
                  <a:ext cx="1125200" cy="3212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5" name="Google Shape;8565;p85"/>
                <p:cNvSpPr/>
                <p:nvPr/>
              </p:nvSpPr>
              <p:spPr>
                <a:xfrm>
                  <a:off x="2159708" y="1673868"/>
                  <a:ext cx="548339" cy="159438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6" name="Google Shape;8566;p85"/>
                <p:cNvSpPr/>
                <p:nvPr/>
              </p:nvSpPr>
              <p:spPr>
                <a:xfrm>
                  <a:off x="2102655" y="1633412"/>
                  <a:ext cx="662444" cy="1118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7" name="Google Shape;8567;p85"/>
                <p:cNvSpPr/>
                <p:nvPr/>
              </p:nvSpPr>
              <p:spPr>
                <a:xfrm>
                  <a:off x="2536889" y="1728599"/>
                  <a:ext cx="244057" cy="9756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68" name="Google Shape;8568;p85"/>
                <p:cNvSpPr/>
                <p:nvPr/>
              </p:nvSpPr>
              <p:spPr>
                <a:xfrm>
                  <a:off x="2089977" y="1730980"/>
                  <a:ext cx="240888" cy="95187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569" name="Google Shape;8569;p85"/>
                <p:cNvCxnSpPr>
                  <a:endCxn id="8564" idx="2"/>
                </p:cNvCxnSpPr>
                <p:nvPr/>
              </p:nvCxnSpPr>
              <p:spPr>
                <a:xfrm rot="10800000">
                  <a:off x="1871277" y="1736929"/>
                  <a:ext cx="3300" cy="1236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570" name="Google Shape;8570;p85"/>
                <p:cNvCxnSpPr/>
                <p:nvPr/>
              </p:nvCxnSpPr>
              <p:spPr>
                <a:xfrm rot="10800000">
                  <a:off x="2996477" y="1733359"/>
                  <a:ext cx="3171" cy="12374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571" name="Google Shape;8571;p85"/>
              <p:cNvGrpSpPr/>
              <p:nvPr/>
            </p:nvGrpSpPr>
            <p:grpSpPr>
              <a:xfrm>
                <a:off x="1844715" y="2907714"/>
                <a:ext cx="356365" cy="333774"/>
                <a:chOff x="741398" y="1743005"/>
                <a:chExt cx="356365" cy="333774"/>
              </a:xfrm>
            </p:grpSpPr>
            <p:sp>
              <p:nvSpPr>
                <p:cNvPr id="8572" name="Google Shape;8572;p85"/>
                <p:cNvSpPr/>
                <p:nvPr/>
              </p:nvSpPr>
              <p:spPr>
                <a:xfrm>
                  <a:off x="741398" y="1850752"/>
                  <a:ext cx="356365" cy="168450"/>
                </a:xfrm>
                <a:prstGeom prst="ellipse">
                  <a:avLst/>
                </a:prstGeom>
                <a:solidFill>
                  <a:srgbClr val="FFFFFF">
                    <a:alpha val="7568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573" name="Google Shape;8573;p85"/>
                <p:cNvSpPr txBox="1"/>
                <p:nvPr/>
              </p:nvSpPr>
              <p:spPr>
                <a:xfrm>
                  <a:off x="783895" y="1743005"/>
                  <a:ext cx="278343" cy="33377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rPr b="0" i="0" lang="en-US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/>
                </a:p>
              </p:txBody>
            </p:sp>
          </p:grpSp>
        </p:grpSp>
      </p:grpSp>
      <p:sp>
        <p:nvSpPr>
          <p:cNvPr id="8574" name="Google Shape;8574;p85"/>
          <p:cNvSpPr/>
          <p:nvPr/>
        </p:nvSpPr>
        <p:spPr>
          <a:xfrm>
            <a:off x="3283003" y="2075675"/>
            <a:ext cx="5676290" cy="537233"/>
          </a:xfrm>
          <a:custGeom>
            <a:rect b="b" l="l" r="r" t="t"/>
            <a:pathLst>
              <a:path extrusionOk="0" h="537233" w="5676290">
                <a:moveTo>
                  <a:pt x="0" y="528658"/>
                </a:moveTo>
                <a:lnTo>
                  <a:pt x="834417" y="524911"/>
                </a:lnTo>
                <a:lnTo>
                  <a:pt x="2052521" y="0"/>
                </a:lnTo>
                <a:lnTo>
                  <a:pt x="3637117" y="1282"/>
                </a:lnTo>
                <a:lnTo>
                  <a:pt x="4909124" y="536359"/>
                </a:lnTo>
                <a:lnTo>
                  <a:pt x="5676290" y="537233"/>
                </a:lnTo>
              </a:path>
            </a:pathLst>
          </a:custGeom>
          <a:noFill/>
          <a:ln cap="flat" cmpd="sng" w="57150">
            <a:solidFill>
              <a:srgbClr val="C00000"/>
            </a:solidFill>
            <a:prstDash val="solid"/>
            <a:miter lim="800000"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5" name="Google Shape;8575;p85"/>
          <p:cNvSpPr/>
          <p:nvPr/>
        </p:nvSpPr>
        <p:spPr>
          <a:xfrm>
            <a:off x="5246494" y="2202412"/>
            <a:ext cx="3684951" cy="1712667"/>
          </a:xfrm>
          <a:custGeom>
            <a:rect b="b" l="l" r="r" t="t"/>
            <a:pathLst>
              <a:path extrusionOk="0" h="1712667" w="3684951">
                <a:moveTo>
                  <a:pt x="0" y="1712667"/>
                </a:moveTo>
                <a:cubicBezTo>
                  <a:pt x="1652" y="1503016"/>
                  <a:pt x="130" y="1261615"/>
                  <a:pt x="1782" y="1051964"/>
                </a:cubicBezTo>
                <a:lnTo>
                  <a:pt x="1568460" y="0"/>
                </a:lnTo>
                <a:cubicBezTo>
                  <a:pt x="1567493" y="355040"/>
                  <a:pt x="1566525" y="710080"/>
                  <a:pt x="1565558" y="1065120"/>
                </a:cubicBezTo>
                <a:lnTo>
                  <a:pt x="2912870" y="564639"/>
                </a:lnTo>
                <a:lnTo>
                  <a:pt x="3684951" y="577165"/>
                </a:lnTo>
              </a:path>
            </a:pathLst>
          </a:custGeom>
          <a:noFill/>
          <a:ln cap="flat" cmpd="sng" w="47625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6" name="Google Shape;8576;p85"/>
          <p:cNvSpPr txBox="1"/>
          <p:nvPr/>
        </p:nvSpPr>
        <p:spPr>
          <a:xfrm>
            <a:off x="1351953" y="5524714"/>
            <a:ext cx="978368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 learned in Chapter 4 that generalized forwarding and SDN can be used to achieve 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routing desired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0" name="Shape 8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1" name="Google Shape;8581;p86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582" name="Google Shape;8582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8583" name="Google Shape;8583;p86"/>
          <p:cNvGrpSpPr/>
          <p:nvPr/>
        </p:nvGrpSpPr>
        <p:grpSpPr>
          <a:xfrm>
            <a:off x="3056815" y="1998116"/>
            <a:ext cx="7050773" cy="4668701"/>
            <a:chOff x="1453484" y="1555350"/>
            <a:chExt cx="7050773" cy="4668701"/>
          </a:xfrm>
        </p:grpSpPr>
        <p:grpSp>
          <p:nvGrpSpPr>
            <p:cNvPr id="8584" name="Google Shape;8584;p86"/>
            <p:cNvGrpSpPr/>
            <p:nvPr/>
          </p:nvGrpSpPr>
          <p:grpSpPr>
            <a:xfrm>
              <a:off x="1453484" y="1555350"/>
              <a:ext cx="6027737" cy="1440135"/>
              <a:chOff x="1492879" y="2061336"/>
              <a:chExt cx="6027737" cy="1440135"/>
            </a:xfrm>
          </p:grpSpPr>
          <p:sp>
            <p:nvSpPr>
              <p:cNvPr id="8585" name="Google Shape;8585;p86"/>
              <p:cNvSpPr/>
              <p:nvPr/>
            </p:nvSpPr>
            <p:spPr>
              <a:xfrm>
                <a:off x="1929251" y="2064703"/>
                <a:ext cx="504348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6" name="Google Shape;8586;p86"/>
              <p:cNvSpPr/>
              <p:nvPr/>
            </p:nvSpPr>
            <p:spPr>
              <a:xfrm>
                <a:off x="1739747" y="2067585"/>
                <a:ext cx="198437" cy="1385888"/>
              </a:xfrm>
              <a:custGeom>
                <a:rect b="b" l="l" r="r" t="t"/>
                <a:pathLst>
                  <a:path extrusionOk="0" h="1385496" w="199855">
                    <a:moveTo>
                      <a:pt x="0" y="745656"/>
                    </a:moveTo>
                    <a:lnTo>
                      <a:pt x="193920" y="0"/>
                    </a:lnTo>
                    <a:cubicBezTo>
                      <a:pt x="195898" y="342623"/>
                      <a:pt x="197877" y="685246"/>
                      <a:pt x="199855" y="1027869"/>
                    </a:cubicBezTo>
                    <a:lnTo>
                      <a:pt x="4471" y="1385496"/>
                    </a:lnTo>
                    <a:cubicBezTo>
                      <a:pt x="2981" y="1172216"/>
                      <a:pt x="1490" y="958936"/>
                      <a:pt x="0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587" name="Google Shape;8587;p86"/>
              <p:cNvSpPr/>
              <p:nvPr/>
            </p:nvSpPr>
            <p:spPr>
              <a:xfrm flipH="1">
                <a:off x="6969078" y="2061336"/>
                <a:ext cx="220427" cy="1370587"/>
              </a:xfrm>
              <a:custGeom>
                <a:rect b="b" l="l" r="r" t="t"/>
                <a:pathLst>
                  <a:path extrusionOk="0" h="1370199" w="220239">
                    <a:moveTo>
                      <a:pt x="0" y="730359"/>
                    </a:moveTo>
                    <a:cubicBezTo>
                      <a:pt x="64640" y="481807"/>
                      <a:pt x="154761" y="248552"/>
                      <a:pt x="219401" y="0"/>
                    </a:cubicBezTo>
                    <a:cubicBezTo>
                      <a:pt x="221379" y="342623"/>
                      <a:pt x="218261" y="664850"/>
                      <a:pt x="220239" y="1007473"/>
                    </a:cubicBezTo>
                    <a:lnTo>
                      <a:pt x="4471" y="1370199"/>
                    </a:lnTo>
                    <a:cubicBezTo>
                      <a:pt x="2981" y="1156919"/>
                      <a:pt x="1490" y="943639"/>
                      <a:pt x="0" y="730359"/>
                    </a:cubicBezTo>
                    <a:close/>
                  </a:path>
                </a:pathLst>
              </a:custGeom>
              <a:gradFill>
                <a:gsLst>
                  <a:gs pos="0">
                    <a:srgbClr val="D0D0F4"/>
                  </a:gs>
                  <a:gs pos="100000">
                    <a:srgbClr val="FFFFFF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588" name="Google Shape;8588;p86"/>
              <p:cNvGrpSpPr/>
              <p:nvPr/>
            </p:nvGrpSpPr>
            <p:grpSpPr>
              <a:xfrm>
                <a:off x="1492879" y="2820676"/>
                <a:ext cx="338137" cy="653816"/>
                <a:chOff x="4140" y="429"/>
                <a:chExt cx="1425" cy="2396"/>
              </a:xfrm>
            </p:grpSpPr>
            <p:sp>
              <p:nvSpPr>
                <p:cNvPr id="8589" name="Google Shape;8589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0" name="Google Shape;8590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1" name="Google Shape;8591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2" name="Google Shape;8592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3" name="Google Shape;8593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4" name="Google Shape;8594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595" name="Google Shape;8595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596" name="Google Shape;8596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597" name="Google Shape;8597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98" name="Google Shape;8598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599" name="Google Shape;8599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0" name="Google Shape;8600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1" name="Google Shape;8601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02" name="Google Shape;8602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3" name="Google Shape;8603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04" name="Google Shape;8604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5" name="Google Shape;8605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06" name="Google Shape;8606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07" name="Google Shape;8607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08" name="Google Shape;8608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09" name="Google Shape;8609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10" name="Google Shape;8610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1" name="Google Shape;8611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2" name="Google Shape;8612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3" name="Google Shape;8613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4" name="Google Shape;8614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5" name="Google Shape;8615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6" name="Google Shape;8616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7" name="Google Shape;8617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8" name="Google Shape;8618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19" name="Google Shape;8619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0" name="Google Shape;8620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621" name="Google Shape;8621;p86"/>
              <p:cNvGrpSpPr/>
              <p:nvPr/>
            </p:nvGrpSpPr>
            <p:grpSpPr>
              <a:xfrm>
                <a:off x="7182479" y="2847655"/>
                <a:ext cx="338137" cy="653816"/>
                <a:chOff x="4140" y="429"/>
                <a:chExt cx="1425" cy="2396"/>
              </a:xfrm>
            </p:grpSpPr>
            <p:sp>
              <p:nvSpPr>
                <p:cNvPr id="8622" name="Google Shape;8622;p86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3" name="Google Shape;8623;p86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4" name="Google Shape;8624;p86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5" name="Google Shape;8625;p86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26" name="Google Shape;8626;p86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27" name="Google Shape;8627;p86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8628" name="Google Shape;8628;p86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29" name="Google Shape;8629;p86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0" name="Google Shape;8630;p86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1" name="Google Shape;8631;p86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8632" name="Google Shape;8632;p86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3" name="Google Shape;8633;p86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4" name="Google Shape;8634;p86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35" name="Google Shape;8635;p86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36" name="Google Shape;8636;p86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8637" name="Google Shape;8637;p86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38" name="Google Shape;8638;p86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39" name="Google Shape;8639;p86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640" name="Google Shape;8640;p86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8641" name="Google Shape;8641;p86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2" name="Google Shape;8642;p86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643" name="Google Shape;8643;p86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4" name="Google Shape;8644;p86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5" name="Google Shape;8645;p86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6" name="Google Shape;8646;p86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7" name="Google Shape;8647;p86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8" name="Google Shape;8648;p86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49" name="Google Shape;8649;p86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0" name="Google Shape;8650;p86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1" name="Google Shape;8651;p86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2" name="Google Shape;8652;p86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53" name="Google Shape;8653;p86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8654" name="Google Shape;8654;p86"/>
            <p:cNvSpPr/>
            <p:nvPr/>
          </p:nvSpPr>
          <p:spPr>
            <a:xfrm>
              <a:off x="2592388" y="5284251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55" name="Google Shape;8655;p86"/>
            <p:cNvCxnSpPr/>
            <p:nvPr/>
          </p:nvCxnSpPr>
          <p:spPr>
            <a:xfrm flipH="1" rot="10800000">
              <a:off x="3262941" y="5435064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6" name="Google Shape;8656;p86"/>
            <p:cNvCxnSpPr/>
            <p:nvPr/>
          </p:nvCxnSpPr>
          <p:spPr>
            <a:xfrm>
              <a:off x="3151816" y="5622389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7" name="Google Shape;8657;p86"/>
            <p:cNvCxnSpPr/>
            <p:nvPr/>
          </p:nvCxnSpPr>
          <p:spPr>
            <a:xfrm>
              <a:off x="3164516" y="5727164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8" name="Google Shape;8658;p86"/>
            <p:cNvCxnSpPr/>
            <p:nvPr/>
          </p:nvCxnSpPr>
          <p:spPr>
            <a:xfrm flipH="1" rot="10800000">
              <a:off x="4182104" y="5920839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59" name="Google Shape;8659;p86"/>
            <p:cNvCxnSpPr/>
            <p:nvPr/>
          </p:nvCxnSpPr>
          <p:spPr>
            <a:xfrm>
              <a:off x="4842504" y="5468401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0" name="Google Shape;8660;p86"/>
            <p:cNvCxnSpPr/>
            <p:nvPr/>
          </p:nvCxnSpPr>
          <p:spPr>
            <a:xfrm flipH="1" rot="10800000">
              <a:off x="4126541" y="5622389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1" name="Google Shape;8661;p86"/>
            <p:cNvCxnSpPr/>
            <p:nvPr/>
          </p:nvCxnSpPr>
          <p:spPr>
            <a:xfrm flipH="1" rot="10800000">
              <a:off x="5453691" y="5650964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62" name="Google Shape;8662;p86"/>
            <p:cNvCxnSpPr/>
            <p:nvPr/>
          </p:nvCxnSpPr>
          <p:spPr>
            <a:xfrm>
              <a:off x="4596441" y="5435064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63" name="Google Shape;8663;p86"/>
            <p:cNvGrpSpPr/>
            <p:nvPr/>
          </p:nvGrpSpPr>
          <p:grpSpPr>
            <a:xfrm>
              <a:off x="1526216" y="2537824"/>
              <a:ext cx="6978041" cy="1096962"/>
              <a:chOff x="1526216" y="3003498"/>
              <a:chExt cx="6978041" cy="1096962"/>
            </a:xfrm>
          </p:grpSpPr>
          <p:sp>
            <p:nvSpPr>
              <p:cNvPr id="8664" name="Google Shape;8664;p86"/>
              <p:cNvSpPr txBox="1"/>
              <p:nvPr/>
            </p:nvSpPr>
            <p:spPr>
              <a:xfrm>
                <a:off x="7714291" y="3628973"/>
                <a:ext cx="595313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sp>
            <p:nvSpPr>
              <p:cNvPr id="8665" name="Google Shape;8665;p86"/>
              <p:cNvSpPr txBox="1"/>
              <p:nvPr/>
            </p:nvSpPr>
            <p:spPr>
              <a:xfrm>
                <a:off x="7728579" y="3003498"/>
                <a:ext cx="709612" cy="4714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  <a:p>
                <a:pPr indent="0" lvl="0" marL="0" marR="0" rtl="0" algn="ctr">
                  <a:lnSpc>
                    <a:spcPct val="104499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plane</a:t>
                </a:r>
                <a:endParaRPr/>
              </a:p>
            </p:txBody>
          </p:sp>
          <p:cxnSp>
            <p:nvCxnSpPr>
              <p:cNvPr id="8666" name="Google Shape;8666;p86"/>
              <p:cNvCxnSpPr/>
              <p:nvPr/>
            </p:nvCxnSpPr>
            <p:spPr>
              <a:xfrm flipH="1" rot="10800000">
                <a:off x="1526216" y="3579342"/>
                <a:ext cx="6978041" cy="12155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67" name="Google Shape;8667;p86"/>
            <p:cNvGrpSpPr/>
            <p:nvPr/>
          </p:nvGrpSpPr>
          <p:grpSpPr>
            <a:xfrm>
              <a:off x="2436115" y="2269683"/>
              <a:ext cx="4296530" cy="320675"/>
              <a:chOff x="2433511" y="2792360"/>
              <a:chExt cx="4296530" cy="320675"/>
            </a:xfrm>
          </p:grpSpPr>
          <p:grpSp>
            <p:nvGrpSpPr>
              <p:cNvPr id="8668" name="Google Shape;8668;p86"/>
              <p:cNvGrpSpPr/>
              <p:nvPr/>
            </p:nvGrpSpPr>
            <p:grpSpPr>
              <a:xfrm>
                <a:off x="2433511" y="2794329"/>
                <a:ext cx="349250" cy="317500"/>
                <a:chOff x="2931664" y="3912858"/>
                <a:chExt cx="430450" cy="329431"/>
              </a:xfrm>
            </p:grpSpPr>
            <p:sp>
              <p:nvSpPr>
                <p:cNvPr id="8669" name="Google Shape;8669;p86"/>
                <p:cNvSpPr/>
                <p:nvPr/>
              </p:nvSpPr>
              <p:spPr>
                <a:xfrm>
                  <a:off x="2937534" y="3912858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0" name="Google Shape;8670;p86"/>
                <p:cNvCxnSpPr/>
                <p:nvPr/>
              </p:nvCxnSpPr>
              <p:spPr>
                <a:xfrm>
                  <a:off x="2931664" y="4005099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1" name="Google Shape;8671;p86"/>
                <p:cNvCxnSpPr/>
                <p:nvPr/>
              </p:nvCxnSpPr>
              <p:spPr>
                <a:xfrm>
                  <a:off x="2931664" y="4067691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2" name="Google Shape;8672;p86"/>
                <p:cNvCxnSpPr>
                  <a:stCxn id="8669" idx="2"/>
                </p:cNvCxnSpPr>
                <p:nvPr/>
              </p:nvCxnSpPr>
              <p:spPr>
                <a:xfrm rot="10800000">
                  <a:off x="3149824" y="4004989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3" name="Google Shape;8673;p86"/>
              <p:cNvGrpSpPr/>
              <p:nvPr/>
            </p:nvGrpSpPr>
            <p:grpSpPr>
              <a:xfrm>
                <a:off x="3348666" y="2792360"/>
                <a:ext cx="350838" cy="317500"/>
                <a:chOff x="2931664" y="3912861"/>
                <a:chExt cx="430450" cy="329431"/>
              </a:xfrm>
            </p:grpSpPr>
            <p:sp>
              <p:nvSpPr>
                <p:cNvPr id="8674" name="Google Shape;8674;p86"/>
                <p:cNvSpPr/>
                <p:nvPr/>
              </p:nvSpPr>
              <p:spPr>
                <a:xfrm>
                  <a:off x="2937508" y="3912861"/>
                  <a:ext cx="424606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75" name="Google Shape;8675;p86"/>
                <p:cNvCxnSpPr/>
                <p:nvPr/>
              </p:nvCxnSpPr>
              <p:spPr>
                <a:xfrm>
                  <a:off x="2931664" y="4005102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6" name="Google Shape;8676;p86"/>
                <p:cNvCxnSpPr/>
                <p:nvPr/>
              </p:nvCxnSpPr>
              <p:spPr>
                <a:xfrm>
                  <a:off x="2931664" y="4067694"/>
                  <a:ext cx="42460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77" name="Google Shape;8677;p86"/>
                <p:cNvCxnSpPr>
                  <a:stCxn id="8674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78" name="Google Shape;8678;p86"/>
              <p:cNvGrpSpPr/>
              <p:nvPr/>
            </p:nvGrpSpPr>
            <p:grpSpPr>
              <a:xfrm>
                <a:off x="41821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79" name="Google Shape;867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0" name="Google Shape;868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1" name="Google Shape;868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2" name="Google Shape;8682;p86"/>
                <p:cNvCxnSpPr>
                  <a:stCxn id="867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3" name="Google Shape;8683;p86"/>
              <p:cNvGrpSpPr/>
              <p:nvPr/>
            </p:nvGrpSpPr>
            <p:grpSpPr>
              <a:xfrm>
                <a:off x="5374316" y="2795535"/>
                <a:ext cx="349250" cy="317500"/>
                <a:chOff x="2931664" y="3912862"/>
                <a:chExt cx="430450" cy="329431"/>
              </a:xfrm>
            </p:grpSpPr>
            <p:sp>
              <p:nvSpPr>
                <p:cNvPr id="8684" name="Google Shape;8684;p86"/>
                <p:cNvSpPr/>
                <p:nvPr/>
              </p:nvSpPr>
              <p:spPr>
                <a:xfrm>
                  <a:off x="2937534" y="3912862"/>
                  <a:ext cx="424580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85" name="Google Shape;8685;p86"/>
                <p:cNvCxnSpPr/>
                <p:nvPr/>
              </p:nvCxnSpPr>
              <p:spPr>
                <a:xfrm>
                  <a:off x="2931664" y="4005103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6" name="Google Shape;8686;p86"/>
                <p:cNvCxnSpPr/>
                <p:nvPr/>
              </p:nvCxnSpPr>
              <p:spPr>
                <a:xfrm>
                  <a:off x="2931664" y="4067695"/>
                  <a:ext cx="424581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87" name="Google Shape;8687;p86"/>
                <p:cNvCxnSpPr>
                  <a:stCxn id="8684" idx="2"/>
                </p:cNvCxnSpPr>
                <p:nvPr/>
              </p:nvCxnSpPr>
              <p:spPr>
                <a:xfrm rot="10800000">
                  <a:off x="3149824" y="4004993"/>
                  <a:ext cx="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688" name="Google Shape;8688;p86"/>
              <p:cNvGrpSpPr/>
              <p:nvPr/>
            </p:nvGrpSpPr>
            <p:grpSpPr>
              <a:xfrm>
                <a:off x="6379204" y="2792360"/>
                <a:ext cx="350837" cy="317500"/>
                <a:chOff x="2931664" y="3912861"/>
                <a:chExt cx="430450" cy="329431"/>
              </a:xfrm>
            </p:grpSpPr>
            <p:sp>
              <p:nvSpPr>
                <p:cNvPr id="8689" name="Google Shape;8689;p86"/>
                <p:cNvSpPr/>
                <p:nvPr/>
              </p:nvSpPr>
              <p:spPr>
                <a:xfrm>
                  <a:off x="2937507" y="3912861"/>
                  <a:ext cx="424607" cy="329431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690" name="Google Shape;8690;p86"/>
                <p:cNvCxnSpPr/>
                <p:nvPr/>
              </p:nvCxnSpPr>
              <p:spPr>
                <a:xfrm>
                  <a:off x="2931664" y="4005102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1" name="Google Shape;8691;p86"/>
                <p:cNvCxnSpPr/>
                <p:nvPr/>
              </p:nvCxnSpPr>
              <p:spPr>
                <a:xfrm>
                  <a:off x="2931664" y="4067694"/>
                  <a:ext cx="424607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692" name="Google Shape;8692;p86"/>
                <p:cNvCxnSpPr>
                  <a:stCxn id="8689" idx="2"/>
                </p:cNvCxnSpPr>
                <p:nvPr/>
              </p:nvCxnSpPr>
              <p:spPr>
                <a:xfrm rot="10800000">
                  <a:off x="3148011" y="4004992"/>
                  <a:ext cx="1800" cy="2373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8693" name="Google Shape;8693;p86"/>
            <p:cNvGrpSpPr/>
            <p:nvPr/>
          </p:nvGrpSpPr>
          <p:grpSpPr>
            <a:xfrm>
              <a:off x="1856416" y="3244261"/>
              <a:ext cx="5211763" cy="2739614"/>
              <a:chOff x="1856416" y="3709935"/>
              <a:chExt cx="5211763" cy="2739614"/>
            </a:xfrm>
          </p:grpSpPr>
          <p:sp>
            <p:nvSpPr>
              <p:cNvPr id="8694" name="Google Shape;8694;p86"/>
              <p:cNvSpPr/>
              <p:nvPr/>
            </p:nvSpPr>
            <p:spPr>
              <a:xfrm>
                <a:off x="1876731" y="5330139"/>
                <a:ext cx="1280789" cy="759087"/>
              </a:xfrm>
              <a:custGeom>
                <a:rect b="b" l="l" r="r" t="t"/>
                <a:pathLst>
                  <a:path extrusionOk="0" h="759828" w="1280499">
                    <a:moveTo>
                      <a:pt x="965179" y="759828"/>
                    </a:moveTo>
                    <a:cubicBezTo>
                      <a:pt x="301565" y="231725"/>
                      <a:pt x="628999" y="498939"/>
                      <a:pt x="0" y="0"/>
                    </a:cubicBezTo>
                    <a:lnTo>
                      <a:pt x="999231" y="13701"/>
                    </a:lnTo>
                    <a:cubicBezTo>
                      <a:pt x="1112985" y="379881"/>
                      <a:pt x="1055867" y="236107"/>
                      <a:pt x="1280499" y="723135"/>
                    </a:cubicBezTo>
                    <a:cubicBezTo>
                      <a:pt x="1186079" y="728668"/>
                      <a:pt x="1127207" y="701414"/>
                      <a:pt x="965179" y="759828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5" name="Google Shape;8695;p86"/>
              <p:cNvSpPr/>
              <p:nvPr/>
            </p:nvSpPr>
            <p:spPr>
              <a:xfrm>
                <a:off x="6202668" y="5429198"/>
                <a:ext cx="865511" cy="553828"/>
              </a:xfrm>
              <a:custGeom>
                <a:rect b="b" l="l" r="r" t="t"/>
                <a:pathLst>
                  <a:path extrusionOk="0" h="553361" w="866251">
                    <a:moveTo>
                      <a:pt x="0" y="540783"/>
                    </a:moveTo>
                    <a:cubicBezTo>
                      <a:pt x="274887" y="134762"/>
                      <a:pt x="159176" y="337938"/>
                      <a:pt x="345787" y="13939"/>
                    </a:cubicBezTo>
                    <a:cubicBezTo>
                      <a:pt x="520528" y="18247"/>
                      <a:pt x="691510" y="-3745"/>
                      <a:pt x="866251" y="563"/>
                    </a:cubicBezTo>
                    <a:cubicBezTo>
                      <a:pt x="252709" y="502795"/>
                      <a:pt x="640047" y="209256"/>
                      <a:pt x="173695" y="553361"/>
                    </a:cubicBezTo>
                    <a:cubicBezTo>
                      <a:pt x="39410" y="524725"/>
                      <a:pt x="196198" y="539317"/>
                      <a:pt x="0" y="54078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6" name="Google Shape;8696;p86"/>
              <p:cNvSpPr/>
              <p:nvPr/>
            </p:nvSpPr>
            <p:spPr>
              <a:xfrm>
                <a:off x="5378281" y="5449835"/>
                <a:ext cx="675485" cy="896777"/>
              </a:xfrm>
              <a:custGeom>
                <a:rect b="b" l="l" r="r" t="t"/>
                <a:pathLst>
                  <a:path extrusionOk="0" h="896577" w="675040">
                    <a:moveTo>
                      <a:pt x="0" y="894029"/>
                    </a:moveTo>
                    <a:cubicBezTo>
                      <a:pt x="95638" y="409857"/>
                      <a:pt x="76811" y="618448"/>
                      <a:pt x="186623" y="1724"/>
                    </a:cubicBezTo>
                    <a:cubicBezTo>
                      <a:pt x="431451" y="14348"/>
                      <a:pt x="449377" y="35256"/>
                      <a:pt x="675040" y="0"/>
                    </a:cubicBezTo>
                    <a:cubicBezTo>
                      <a:pt x="276172" y="749497"/>
                      <a:pt x="462801" y="344746"/>
                      <a:pt x="179079" y="886531"/>
                    </a:cubicBezTo>
                    <a:cubicBezTo>
                      <a:pt x="44794" y="857895"/>
                      <a:pt x="92525" y="908114"/>
                      <a:pt x="0" y="894029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7" name="Google Shape;8697;p86"/>
              <p:cNvSpPr/>
              <p:nvPr/>
            </p:nvSpPr>
            <p:spPr>
              <a:xfrm>
                <a:off x="4340854" y="5470471"/>
                <a:ext cx="514350" cy="401843"/>
              </a:xfrm>
              <a:custGeom>
                <a:rect b="b" l="l" r="r" t="t"/>
                <a:pathLst>
                  <a:path extrusionOk="0" h="402193" w="514180">
                    <a:moveTo>
                      <a:pt x="100781" y="402193"/>
                    </a:moveTo>
                    <a:cubicBezTo>
                      <a:pt x="60584" y="194221"/>
                      <a:pt x="96631" y="442038"/>
                      <a:pt x="0" y="0"/>
                    </a:cubicBezTo>
                    <a:lnTo>
                      <a:pt x="514180" y="10891"/>
                    </a:lnTo>
                    <a:cubicBezTo>
                      <a:pt x="417353" y="348331"/>
                      <a:pt x="491637" y="89943"/>
                      <a:pt x="404259" y="386400"/>
                    </a:cubicBezTo>
                    <a:cubicBezTo>
                      <a:pt x="357814" y="390704"/>
                      <a:pt x="168880" y="400727"/>
                      <a:pt x="100781" y="402193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698" name="Google Shape;8698;p86"/>
              <p:cNvSpPr/>
              <p:nvPr/>
            </p:nvSpPr>
            <p:spPr>
              <a:xfrm>
                <a:off x="3561391" y="5433960"/>
                <a:ext cx="573725" cy="1015589"/>
              </a:xfrm>
              <a:custGeom>
                <a:rect b="b" l="l" r="r" t="t"/>
                <a:pathLst>
                  <a:path extrusionOk="0" h="1015244" w="574100">
                    <a:moveTo>
                      <a:pt x="333190" y="985695"/>
                    </a:moveTo>
                    <a:cubicBezTo>
                      <a:pt x="153901" y="433090"/>
                      <a:pt x="295574" y="908506"/>
                      <a:pt x="0" y="4757"/>
                    </a:cubicBezTo>
                    <a:cubicBezTo>
                      <a:pt x="166537" y="861"/>
                      <a:pt x="336246" y="3896"/>
                      <a:pt x="502783" y="0"/>
                    </a:cubicBezTo>
                    <a:cubicBezTo>
                      <a:pt x="555943" y="995541"/>
                      <a:pt x="537473" y="350120"/>
                      <a:pt x="574100" y="1014877"/>
                    </a:cubicBezTo>
                    <a:cubicBezTo>
                      <a:pt x="476415" y="1019182"/>
                      <a:pt x="529388" y="984229"/>
                      <a:pt x="333190" y="985695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>
                      <a:alpha val="54901"/>
                    </a:srgbClr>
                  </a:gs>
                  <a:gs pos="100000">
                    <a:srgbClr val="BFBFBF"/>
                  </a:gs>
                </a:gsLst>
                <a:lin ang="16200000" scaled="0"/>
              </a:gradFill>
              <a:ln cap="flat" cmpd="sng" w="9525">
                <a:solidFill>
                  <a:srgbClr val="BFBFB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8699" name="Google Shape;8699;p86"/>
              <p:cNvGrpSpPr/>
              <p:nvPr/>
            </p:nvGrpSpPr>
            <p:grpSpPr>
              <a:xfrm>
                <a:off x="1856416" y="3709935"/>
                <a:ext cx="1049338" cy="1739900"/>
                <a:chOff x="1856416" y="3709935"/>
                <a:chExt cx="1049338" cy="1739900"/>
              </a:xfrm>
            </p:grpSpPr>
            <p:sp>
              <p:nvSpPr>
                <p:cNvPr id="8700" name="Google Shape;8700;p86"/>
                <p:cNvSpPr/>
                <p:nvPr/>
              </p:nvSpPr>
              <p:spPr>
                <a:xfrm rot="10800000">
                  <a:off x="1867529" y="3957585"/>
                  <a:ext cx="1027112" cy="61109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grpSp>
              <p:nvGrpSpPr>
                <p:cNvPr id="8701" name="Google Shape;8701;p86"/>
                <p:cNvGrpSpPr/>
                <p:nvPr/>
              </p:nvGrpSpPr>
              <p:grpSpPr>
                <a:xfrm>
                  <a:off x="1859590" y="5089473"/>
                  <a:ext cx="1035050" cy="360362"/>
                  <a:chOff x="4129067" y="3607161"/>
                  <a:chExt cx="567968" cy="338095"/>
                </a:xfrm>
              </p:grpSpPr>
              <p:sp>
                <p:nvSpPr>
                  <p:cNvPr id="8702" name="Google Shape;8702;p86"/>
                  <p:cNvSpPr/>
                  <p:nvPr/>
                </p:nvSpPr>
                <p:spPr>
                  <a:xfrm>
                    <a:off x="4129067" y="3720356"/>
                    <a:ext cx="567968" cy="224900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3" name="Google Shape;8703;p86"/>
                  <p:cNvSpPr/>
                  <p:nvPr/>
                </p:nvSpPr>
                <p:spPr>
                  <a:xfrm>
                    <a:off x="4129067" y="3720356"/>
                    <a:ext cx="567968" cy="111705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04" name="Google Shape;8704;p86"/>
                  <p:cNvSpPr/>
                  <p:nvPr/>
                </p:nvSpPr>
                <p:spPr>
                  <a:xfrm>
                    <a:off x="4129067" y="3607161"/>
                    <a:ext cx="567968" cy="224900"/>
                  </a:xfrm>
                  <a:prstGeom prst="ellipse">
                    <a:avLst/>
                  </a:prstGeom>
                  <a:solidFill>
                    <a:srgbClr val="8383E0">
                      <a:alpha val="69803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05" name="Google Shape;8705;p86"/>
                  <p:cNvCxnSpPr/>
                  <p:nvPr/>
                </p:nvCxnSpPr>
                <p:spPr>
                  <a:xfrm>
                    <a:off x="4697035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06" name="Google Shape;8706;p86"/>
                  <p:cNvCxnSpPr/>
                  <p:nvPr/>
                </p:nvCxnSpPr>
                <p:spPr>
                  <a:xfrm>
                    <a:off x="4129067" y="3720356"/>
                    <a:ext cx="0" cy="11170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07" name="Google Shape;8707;p86"/>
                <p:cNvSpPr/>
                <p:nvPr/>
              </p:nvSpPr>
              <p:spPr>
                <a:xfrm>
                  <a:off x="1877054" y="4704509"/>
                  <a:ext cx="1028700" cy="523075"/>
                </a:xfrm>
                <a:prstGeom prst="rect">
                  <a:avLst/>
                </a:prstGeom>
                <a:gradFill>
                  <a:gsLst>
                    <a:gs pos="0">
                      <a:srgbClr val="8383E0">
                        <a:alpha val="61960"/>
                      </a:srgbClr>
                    </a:gs>
                    <a:gs pos="54000">
                      <a:srgbClr val="ACACEA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08" name="Google Shape;8708;p86"/>
                <p:cNvCxnSpPr/>
                <p:nvPr/>
              </p:nvCxnSpPr>
              <p:spPr>
                <a:xfrm>
                  <a:off x="1861179" y="3981398"/>
                  <a:ext cx="17462" cy="13017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709" name="Google Shape;8709;p86"/>
                <p:cNvCxnSpPr/>
                <p:nvPr/>
              </p:nvCxnSpPr>
              <p:spPr>
                <a:xfrm flipH="1">
                  <a:off x="2894641" y="3971873"/>
                  <a:ext cx="6350" cy="1270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10" name="Google Shape;8710;p86"/>
                <p:cNvGrpSpPr/>
                <p:nvPr/>
              </p:nvGrpSpPr>
              <p:grpSpPr>
                <a:xfrm>
                  <a:off x="1856416" y="3709935"/>
                  <a:ext cx="1044574" cy="398463"/>
                  <a:chOff x="2183302" y="1574638"/>
                  <a:chExt cx="1199996" cy="429571"/>
                </a:xfrm>
              </p:grpSpPr>
              <p:sp>
                <p:nvSpPr>
                  <p:cNvPr id="8711" name="Google Shape;8711;p86"/>
                  <p:cNvSpPr/>
                  <p:nvPr/>
                </p:nvSpPr>
                <p:spPr>
                  <a:xfrm flipH="1" rot="10800000">
                    <a:off x="2185126" y="1689305"/>
                    <a:ext cx="1196349" cy="314904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D5D5F4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2" name="Google Shape;8712;p86"/>
                  <p:cNvSpPr/>
                  <p:nvPr/>
                </p:nvSpPr>
                <p:spPr>
                  <a:xfrm>
                    <a:off x="2183302" y="1735513"/>
                    <a:ext cx="1198173" cy="112955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3" name="Google Shape;8713;p86"/>
                  <p:cNvSpPr/>
                  <p:nvPr/>
                </p:nvSpPr>
                <p:spPr>
                  <a:xfrm flipH="1" rot="10800000">
                    <a:off x="2183302" y="1574638"/>
                    <a:ext cx="1196349" cy="314904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4" name="Google Shape;8714;p86"/>
                  <p:cNvSpPr/>
                  <p:nvPr/>
                </p:nvSpPr>
                <p:spPr>
                  <a:xfrm>
                    <a:off x="2489684" y="1670478"/>
                    <a:ext cx="581762" cy="157452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5" name="Google Shape;8715;p86"/>
                  <p:cNvSpPr/>
                  <p:nvPr/>
                </p:nvSpPr>
                <p:spPr>
                  <a:xfrm>
                    <a:off x="2429502" y="1629404"/>
                    <a:ext cx="703949" cy="11124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6" name="Google Shape;8716;p86"/>
                  <p:cNvSpPr/>
                  <p:nvPr/>
                </p:nvSpPr>
                <p:spPr>
                  <a:xfrm>
                    <a:off x="2892723" y="1723534"/>
                    <a:ext cx="257142" cy="95840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17" name="Google Shape;8717;p86"/>
                  <p:cNvSpPr/>
                  <p:nvPr/>
                </p:nvSpPr>
                <p:spPr>
                  <a:xfrm>
                    <a:off x="2416736" y="1725244"/>
                    <a:ext cx="255318" cy="94130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18" name="Google Shape;8718;p86"/>
                  <p:cNvCxnSpPr>
                    <a:endCxn id="8713" idx="2"/>
                  </p:cNvCxnSpPr>
                  <p:nvPr/>
                </p:nvCxnSpPr>
                <p:spPr>
                  <a:xfrm rot="10800000">
                    <a:off x="2183302" y="1732090"/>
                    <a:ext cx="1800" cy="1215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19" name="Google Shape;8719;p86"/>
                  <p:cNvCxnSpPr/>
                  <p:nvPr/>
                </p:nvCxnSpPr>
                <p:spPr>
                  <a:xfrm rot="10800000">
                    <a:off x="3381475" y="1728667"/>
                    <a:ext cx="1823" cy="121513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20" name="Google Shape;8720;p86"/>
              <p:cNvGrpSpPr/>
              <p:nvPr/>
            </p:nvGrpSpPr>
            <p:grpSpPr>
              <a:xfrm>
                <a:off x="3566154" y="3862335"/>
                <a:ext cx="514350" cy="1670050"/>
                <a:chOff x="3566154" y="3862335"/>
                <a:chExt cx="514350" cy="1670050"/>
              </a:xfrm>
            </p:grpSpPr>
            <p:sp>
              <p:nvSpPr>
                <p:cNvPr id="8721" name="Google Shape;8721;p86"/>
                <p:cNvSpPr/>
                <p:nvPr/>
              </p:nvSpPr>
              <p:spPr>
                <a:xfrm rot="10800000">
                  <a:off x="3569201" y="39460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22" name="Google Shape;8722;p86"/>
                <p:cNvCxnSpPr/>
                <p:nvPr/>
              </p:nvCxnSpPr>
              <p:spPr>
                <a:xfrm flipH="1">
                  <a:off x="4078916" y="4019498"/>
                  <a:ext cx="1588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23" name="Google Shape;8723;p86"/>
                <p:cNvGrpSpPr/>
                <p:nvPr/>
              </p:nvGrpSpPr>
              <p:grpSpPr>
                <a:xfrm>
                  <a:off x="3570916" y="5310135"/>
                  <a:ext cx="508000" cy="222250"/>
                  <a:chOff x="4128204" y="3605744"/>
                  <a:chExt cx="568606" cy="339512"/>
                </a:xfrm>
              </p:grpSpPr>
              <p:sp>
                <p:nvSpPr>
                  <p:cNvPr id="8724" name="Google Shape;8724;p86"/>
                  <p:cNvSpPr/>
                  <p:nvPr/>
                </p:nvSpPr>
                <p:spPr>
                  <a:xfrm>
                    <a:off x="4128204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5" name="Google Shape;8725;p86"/>
                  <p:cNvSpPr/>
                  <p:nvPr/>
                </p:nvSpPr>
                <p:spPr>
                  <a:xfrm>
                    <a:off x="4128204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26" name="Google Shape;8726;p86"/>
                  <p:cNvSpPr/>
                  <p:nvPr/>
                </p:nvSpPr>
                <p:spPr>
                  <a:xfrm>
                    <a:off x="4128204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27" name="Google Shape;8727;p86"/>
                  <p:cNvCxnSpPr/>
                  <p:nvPr/>
                </p:nvCxnSpPr>
                <p:spPr>
                  <a:xfrm>
                    <a:off x="4696810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28" name="Google Shape;8728;p86"/>
                  <p:cNvCxnSpPr/>
                  <p:nvPr/>
                </p:nvCxnSpPr>
                <p:spPr>
                  <a:xfrm>
                    <a:off x="4128204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29" name="Google Shape;8729;p86"/>
                <p:cNvSpPr/>
                <p:nvPr/>
              </p:nvSpPr>
              <p:spPr>
                <a:xfrm>
                  <a:off x="3572504" y="4575123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30" name="Google Shape;8730;p86"/>
                <p:cNvCxnSpPr/>
                <p:nvPr/>
              </p:nvCxnSpPr>
              <p:spPr>
                <a:xfrm flipH="1">
                  <a:off x="3566154" y="40274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31" name="Google Shape;8731;p86"/>
                <p:cNvGrpSpPr/>
                <p:nvPr/>
              </p:nvGrpSpPr>
              <p:grpSpPr>
                <a:xfrm>
                  <a:off x="3569329" y="3862335"/>
                  <a:ext cx="503237" cy="247650"/>
                  <a:chOff x="2184879" y="1564542"/>
                  <a:chExt cx="1198746" cy="439251"/>
                </a:xfrm>
              </p:grpSpPr>
              <p:sp>
                <p:nvSpPr>
                  <p:cNvPr id="8732" name="Google Shape;8732;p86"/>
                  <p:cNvSpPr/>
                  <p:nvPr/>
                </p:nvSpPr>
                <p:spPr>
                  <a:xfrm flipH="1" rot="10800000">
                    <a:off x="2188659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3" name="Google Shape;8733;p86"/>
                  <p:cNvSpPr/>
                  <p:nvPr/>
                </p:nvSpPr>
                <p:spPr>
                  <a:xfrm>
                    <a:off x="2184879" y="1736302"/>
                    <a:ext cx="1198746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4" name="Google Shape;8734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5" name="Google Shape;8735;p86"/>
                  <p:cNvSpPr/>
                  <p:nvPr/>
                </p:nvSpPr>
                <p:spPr>
                  <a:xfrm>
                    <a:off x="2491182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6" name="Google Shape;8736;p86"/>
                  <p:cNvSpPr/>
                  <p:nvPr/>
                </p:nvSpPr>
                <p:spPr>
                  <a:xfrm>
                    <a:off x="2430678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7" name="Google Shape;8737;p86"/>
                  <p:cNvSpPr/>
                  <p:nvPr/>
                </p:nvSpPr>
                <p:spPr>
                  <a:xfrm>
                    <a:off x="2892025" y="1722222"/>
                    <a:ext cx="260927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38" name="Google Shape;8738;p86"/>
                  <p:cNvSpPr/>
                  <p:nvPr/>
                </p:nvSpPr>
                <p:spPr>
                  <a:xfrm>
                    <a:off x="2419334" y="1725039"/>
                    <a:ext cx="253362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39" name="Google Shape;8739;p86"/>
                  <p:cNvCxnSpPr>
                    <a:endCxn id="8734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40" name="Google Shape;8740;p86"/>
                  <p:cNvCxnSpPr/>
                  <p:nvPr/>
                </p:nvCxnSpPr>
                <p:spPr>
                  <a:xfrm rot="10800000">
                    <a:off x="3379845" y="1727853"/>
                    <a:ext cx="3780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41" name="Google Shape;8741;p86"/>
              <p:cNvGrpSpPr/>
              <p:nvPr/>
            </p:nvGrpSpPr>
            <p:grpSpPr>
              <a:xfrm>
                <a:off x="4348791" y="3867098"/>
                <a:ext cx="514350" cy="1670050"/>
                <a:chOff x="4348791" y="3867098"/>
                <a:chExt cx="514350" cy="1670050"/>
              </a:xfrm>
            </p:grpSpPr>
            <p:sp>
              <p:nvSpPr>
                <p:cNvPr id="8742" name="Google Shape;8742;p86"/>
                <p:cNvSpPr/>
                <p:nvPr/>
              </p:nvSpPr>
              <p:spPr>
                <a:xfrm rot="10800000">
                  <a:off x="4351838" y="3950855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43" name="Google Shape;8743;p86"/>
                <p:cNvCxnSpPr/>
                <p:nvPr/>
              </p:nvCxnSpPr>
              <p:spPr>
                <a:xfrm flipH="1">
                  <a:off x="4861554" y="4024260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44" name="Google Shape;8744;p86"/>
                <p:cNvGrpSpPr/>
                <p:nvPr/>
              </p:nvGrpSpPr>
              <p:grpSpPr>
                <a:xfrm>
                  <a:off x="4353554" y="5314898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45" name="Google Shape;8745;p86"/>
                  <p:cNvSpPr/>
                  <p:nvPr/>
                </p:nvSpPr>
                <p:spPr>
                  <a:xfrm>
                    <a:off x="4128205" y="3719722"/>
                    <a:ext cx="568606" cy="225534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6" name="Google Shape;8746;p86"/>
                  <p:cNvSpPr/>
                  <p:nvPr/>
                </p:nvSpPr>
                <p:spPr>
                  <a:xfrm>
                    <a:off x="4128205" y="3719722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47" name="Google Shape;8747;p86"/>
                  <p:cNvSpPr/>
                  <p:nvPr/>
                </p:nvSpPr>
                <p:spPr>
                  <a:xfrm>
                    <a:off x="4128205" y="3605744"/>
                    <a:ext cx="568606" cy="225532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48" name="Google Shape;8748;p86"/>
                  <p:cNvCxnSpPr/>
                  <p:nvPr/>
                </p:nvCxnSpPr>
                <p:spPr>
                  <a:xfrm>
                    <a:off x="4696811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49" name="Google Shape;8749;p86"/>
                  <p:cNvCxnSpPr/>
                  <p:nvPr/>
                </p:nvCxnSpPr>
                <p:spPr>
                  <a:xfrm>
                    <a:off x="4128205" y="3719722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50" name="Google Shape;8750;p86"/>
                <p:cNvSpPr/>
                <p:nvPr/>
              </p:nvSpPr>
              <p:spPr>
                <a:xfrm>
                  <a:off x="4355141" y="4579885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51" name="Google Shape;8751;p86"/>
                <p:cNvCxnSpPr/>
                <p:nvPr/>
              </p:nvCxnSpPr>
              <p:spPr>
                <a:xfrm flipH="1">
                  <a:off x="4348791" y="4032198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52" name="Google Shape;8752;p86"/>
                <p:cNvGrpSpPr/>
                <p:nvPr/>
              </p:nvGrpSpPr>
              <p:grpSpPr>
                <a:xfrm>
                  <a:off x="4351966" y="3867098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53" name="Google Shape;8753;p86"/>
                  <p:cNvSpPr/>
                  <p:nvPr/>
                </p:nvSpPr>
                <p:spPr>
                  <a:xfrm flipH="1" rot="10800000">
                    <a:off x="2188662" y="1691248"/>
                    <a:ext cx="1194966" cy="312545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4" name="Google Shape;8754;p86"/>
                  <p:cNvSpPr/>
                  <p:nvPr/>
                </p:nvSpPr>
                <p:spPr>
                  <a:xfrm>
                    <a:off x="2184879" y="1736300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5" name="Google Shape;8755;p86"/>
                  <p:cNvSpPr/>
                  <p:nvPr/>
                </p:nvSpPr>
                <p:spPr>
                  <a:xfrm flipH="1" rot="10800000">
                    <a:off x="2184879" y="1564542"/>
                    <a:ext cx="1194966" cy="312543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6" name="Google Shape;8756;p86"/>
                  <p:cNvSpPr/>
                  <p:nvPr/>
                </p:nvSpPr>
                <p:spPr>
                  <a:xfrm>
                    <a:off x="2491185" y="1671539"/>
                    <a:ext cx="582357" cy="154863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7" name="Google Shape;8757;p86"/>
                  <p:cNvSpPr/>
                  <p:nvPr/>
                </p:nvSpPr>
                <p:spPr>
                  <a:xfrm>
                    <a:off x="2430680" y="1629303"/>
                    <a:ext cx="703366" cy="109814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8" name="Google Shape;8758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59" name="Google Shape;8759;p86"/>
                  <p:cNvSpPr/>
                  <p:nvPr/>
                </p:nvSpPr>
                <p:spPr>
                  <a:xfrm>
                    <a:off x="2419334" y="1725037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0" name="Google Shape;8760;p86"/>
                  <p:cNvCxnSpPr>
                    <a:endCxn id="8755" idx="2"/>
                  </p:cNvCxnSpPr>
                  <p:nvPr/>
                </p:nvCxnSpPr>
                <p:spPr>
                  <a:xfrm rot="10800000">
                    <a:off x="2184879" y="1720813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61" name="Google Shape;8761;p86"/>
                  <p:cNvCxnSpPr/>
                  <p:nvPr/>
                </p:nvCxnSpPr>
                <p:spPr>
                  <a:xfrm rot="10800000">
                    <a:off x="3379845" y="1727853"/>
                    <a:ext cx="3783" cy="121075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62" name="Google Shape;8762;p86"/>
              <p:cNvGrpSpPr/>
              <p:nvPr/>
            </p:nvGrpSpPr>
            <p:grpSpPr>
              <a:xfrm>
                <a:off x="5552116" y="3849635"/>
                <a:ext cx="514350" cy="1670050"/>
                <a:chOff x="5552116" y="3849635"/>
                <a:chExt cx="514350" cy="1670050"/>
              </a:xfrm>
            </p:grpSpPr>
            <p:sp>
              <p:nvSpPr>
                <p:cNvPr id="8763" name="Google Shape;8763;p86"/>
                <p:cNvSpPr/>
                <p:nvPr/>
              </p:nvSpPr>
              <p:spPr>
                <a:xfrm rot="10800000">
                  <a:off x="5555163" y="3933392"/>
                  <a:ext cx="498084" cy="628647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64" name="Google Shape;8764;p86"/>
                <p:cNvCxnSpPr/>
                <p:nvPr/>
              </p:nvCxnSpPr>
              <p:spPr>
                <a:xfrm flipH="1">
                  <a:off x="6064879" y="4006798"/>
                  <a:ext cx="1587" cy="13652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65" name="Google Shape;8765;p86"/>
                <p:cNvGrpSpPr/>
                <p:nvPr/>
              </p:nvGrpSpPr>
              <p:grpSpPr>
                <a:xfrm>
                  <a:off x="5556879" y="5297435"/>
                  <a:ext cx="508000" cy="222250"/>
                  <a:chOff x="4128205" y="3605744"/>
                  <a:chExt cx="568606" cy="339512"/>
                </a:xfrm>
              </p:grpSpPr>
              <p:sp>
                <p:nvSpPr>
                  <p:cNvPr id="8766" name="Google Shape;8766;p86"/>
                  <p:cNvSpPr/>
                  <p:nvPr/>
                </p:nvSpPr>
                <p:spPr>
                  <a:xfrm>
                    <a:off x="4128205" y="3719724"/>
                    <a:ext cx="568606" cy="225532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7" name="Google Shape;8767;p86"/>
                  <p:cNvSpPr/>
                  <p:nvPr/>
                </p:nvSpPr>
                <p:spPr>
                  <a:xfrm>
                    <a:off x="4128205" y="3719724"/>
                    <a:ext cx="568606" cy="111554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68" name="Google Shape;8768;p86"/>
                  <p:cNvSpPr/>
                  <p:nvPr/>
                </p:nvSpPr>
                <p:spPr>
                  <a:xfrm>
                    <a:off x="4128205" y="3605744"/>
                    <a:ext cx="568606" cy="225534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69" name="Google Shape;8769;p86"/>
                  <p:cNvCxnSpPr/>
                  <p:nvPr/>
                </p:nvCxnSpPr>
                <p:spPr>
                  <a:xfrm>
                    <a:off x="4696811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70" name="Google Shape;8770;p86"/>
                  <p:cNvCxnSpPr/>
                  <p:nvPr/>
                </p:nvCxnSpPr>
                <p:spPr>
                  <a:xfrm>
                    <a:off x="4128205" y="3719724"/>
                    <a:ext cx="0" cy="111554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71" name="Google Shape;8771;p86"/>
                <p:cNvSpPr/>
                <p:nvPr/>
              </p:nvSpPr>
              <p:spPr>
                <a:xfrm>
                  <a:off x="5558466" y="4562423"/>
                  <a:ext cx="496888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72" name="Google Shape;8772;p86"/>
                <p:cNvCxnSpPr/>
                <p:nvPr/>
              </p:nvCxnSpPr>
              <p:spPr>
                <a:xfrm flipH="1">
                  <a:off x="5552116" y="4014735"/>
                  <a:ext cx="3175" cy="145097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73" name="Google Shape;8773;p86"/>
                <p:cNvGrpSpPr/>
                <p:nvPr/>
              </p:nvGrpSpPr>
              <p:grpSpPr>
                <a:xfrm>
                  <a:off x="5555291" y="3849635"/>
                  <a:ext cx="503238" cy="247650"/>
                  <a:chOff x="2184879" y="1564542"/>
                  <a:chExt cx="1198749" cy="439251"/>
                </a:xfrm>
              </p:grpSpPr>
              <p:sp>
                <p:nvSpPr>
                  <p:cNvPr id="8774" name="Google Shape;8774;p86"/>
                  <p:cNvSpPr/>
                  <p:nvPr/>
                </p:nvSpPr>
                <p:spPr>
                  <a:xfrm flipH="1" rot="10800000">
                    <a:off x="2188662" y="1691250"/>
                    <a:ext cx="1194966" cy="312543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5" name="Google Shape;8775;p86"/>
                  <p:cNvSpPr/>
                  <p:nvPr/>
                </p:nvSpPr>
                <p:spPr>
                  <a:xfrm>
                    <a:off x="2184879" y="1736302"/>
                    <a:ext cx="1198749" cy="112629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6" name="Google Shape;8776;p86"/>
                  <p:cNvSpPr/>
                  <p:nvPr/>
                </p:nvSpPr>
                <p:spPr>
                  <a:xfrm flipH="1" rot="10800000">
                    <a:off x="2184879" y="1564542"/>
                    <a:ext cx="1194966" cy="312545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7" name="Google Shape;8777;p86"/>
                  <p:cNvSpPr/>
                  <p:nvPr/>
                </p:nvSpPr>
                <p:spPr>
                  <a:xfrm>
                    <a:off x="2491185" y="1671539"/>
                    <a:ext cx="582357" cy="154865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8" name="Google Shape;8778;p86"/>
                  <p:cNvSpPr/>
                  <p:nvPr/>
                </p:nvSpPr>
                <p:spPr>
                  <a:xfrm>
                    <a:off x="2430680" y="1629304"/>
                    <a:ext cx="703366" cy="10981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79" name="Google Shape;8779;p86"/>
                  <p:cNvSpPr/>
                  <p:nvPr/>
                </p:nvSpPr>
                <p:spPr>
                  <a:xfrm>
                    <a:off x="2892028" y="1722222"/>
                    <a:ext cx="260925" cy="95734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0" name="Google Shape;8780;p86"/>
                  <p:cNvSpPr/>
                  <p:nvPr/>
                </p:nvSpPr>
                <p:spPr>
                  <a:xfrm>
                    <a:off x="2419334" y="1725039"/>
                    <a:ext cx="253364" cy="95734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81" name="Google Shape;8781;p86"/>
                  <p:cNvCxnSpPr>
                    <a:endCxn id="8776" idx="2"/>
                  </p:cNvCxnSpPr>
                  <p:nvPr/>
                </p:nvCxnSpPr>
                <p:spPr>
                  <a:xfrm rot="10800000">
                    <a:off x="2184879" y="1720815"/>
                    <a:ext cx="3900" cy="1212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782" name="Google Shape;8782;p86"/>
                  <p:cNvCxnSpPr/>
                  <p:nvPr/>
                </p:nvCxnSpPr>
                <p:spPr>
                  <a:xfrm rot="10800000">
                    <a:off x="3379845" y="1727853"/>
                    <a:ext cx="3783" cy="121077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  <p:grpSp>
            <p:nvGrpSpPr>
              <p:cNvPr id="8783" name="Google Shape;8783;p86"/>
              <p:cNvGrpSpPr/>
              <p:nvPr/>
            </p:nvGrpSpPr>
            <p:grpSpPr>
              <a:xfrm>
                <a:off x="6547479" y="3836935"/>
                <a:ext cx="514350" cy="1671638"/>
                <a:chOff x="6547479" y="3836935"/>
                <a:chExt cx="514350" cy="1671638"/>
              </a:xfrm>
            </p:grpSpPr>
            <p:sp>
              <p:nvSpPr>
                <p:cNvPr id="8784" name="Google Shape;8784;p86"/>
                <p:cNvSpPr/>
                <p:nvPr/>
              </p:nvSpPr>
              <p:spPr>
                <a:xfrm rot="10800000">
                  <a:off x="6550526" y="3920772"/>
                  <a:ext cx="498084" cy="629245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100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85" name="Google Shape;8785;p86"/>
                <p:cNvCxnSpPr/>
                <p:nvPr/>
              </p:nvCxnSpPr>
              <p:spPr>
                <a:xfrm flipH="1">
                  <a:off x="7060241" y="3994098"/>
                  <a:ext cx="1588" cy="13668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86" name="Google Shape;8786;p86"/>
                <p:cNvGrpSpPr/>
                <p:nvPr/>
              </p:nvGrpSpPr>
              <p:grpSpPr>
                <a:xfrm>
                  <a:off x="6552241" y="5286323"/>
                  <a:ext cx="508000" cy="222250"/>
                  <a:chOff x="4128204" y="3606067"/>
                  <a:chExt cx="568606" cy="339189"/>
                </a:xfrm>
              </p:grpSpPr>
              <p:sp>
                <p:nvSpPr>
                  <p:cNvPr id="8787" name="Google Shape;8787;p86"/>
                  <p:cNvSpPr/>
                  <p:nvPr/>
                </p:nvSpPr>
                <p:spPr>
                  <a:xfrm>
                    <a:off x="4128204" y="3719937"/>
                    <a:ext cx="568606" cy="225319"/>
                  </a:xfrm>
                  <a:prstGeom prst="ellipse">
                    <a:avLst/>
                  </a:prstGeom>
                  <a:solidFill>
                    <a:srgbClr val="262699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8" name="Google Shape;8788;p86"/>
                  <p:cNvSpPr/>
                  <p:nvPr/>
                </p:nvSpPr>
                <p:spPr>
                  <a:xfrm>
                    <a:off x="4128204" y="3719937"/>
                    <a:ext cx="568606" cy="111448"/>
                  </a:xfrm>
                  <a:prstGeom prst="rect">
                    <a:avLst/>
                  </a:prstGeom>
                  <a:solidFill>
                    <a:srgbClr val="2626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89" name="Google Shape;8789;p86"/>
                  <p:cNvSpPr/>
                  <p:nvPr/>
                </p:nvSpPr>
                <p:spPr>
                  <a:xfrm>
                    <a:off x="4128204" y="3606067"/>
                    <a:ext cx="568606" cy="225318"/>
                  </a:xfrm>
                  <a:prstGeom prst="ellipse">
                    <a:avLst/>
                  </a:prstGeom>
                  <a:solidFill>
                    <a:srgbClr val="ACACEA">
                      <a:alpha val="54901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790" name="Google Shape;8790;p86"/>
                  <p:cNvCxnSpPr/>
                  <p:nvPr/>
                </p:nvCxnSpPr>
                <p:spPr>
                  <a:xfrm>
                    <a:off x="4696810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8791" name="Google Shape;8791;p86"/>
                  <p:cNvCxnSpPr/>
                  <p:nvPr/>
                </p:nvCxnSpPr>
                <p:spPr>
                  <a:xfrm>
                    <a:off x="4128204" y="3719937"/>
                    <a:ext cx="0" cy="111448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8792" name="Google Shape;8792;p86"/>
                <p:cNvSpPr/>
                <p:nvPr/>
              </p:nvSpPr>
              <p:spPr>
                <a:xfrm>
                  <a:off x="6553829" y="4551310"/>
                  <a:ext cx="496887" cy="812800"/>
                </a:xfrm>
                <a:prstGeom prst="rect">
                  <a:avLst/>
                </a:prstGeom>
                <a:gradFill>
                  <a:gsLst>
                    <a:gs pos="0">
                      <a:srgbClr val="262699">
                        <a:alpha val="61960"/>
                      </a:srgbClr>
                    </a:gs>
                    <a:gs pos="54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793" name="Google Shape;8793;p86"/>
                <p:cNvCxnSpPr/>
                <p:nvPr/>
              </p:nvCxnSpPr>
              <p:spPr>
                <a:xfrm flipH="1">
                  <a:off x="6547479" y="4002035"/>
                  <a:ext cx="3175" cy="145256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8794" name="Google Shape;8794;p86"/>
                <p:cNvGrpSpPr/>
                <p:nvPr/>
              </p:nvGrpSpPr>
              <p:grpSpPr>
                <a:xfrm>
                  <a:off x="6550654" y="3836935"/>
                  <a:ext cx="503237" cy="249238"/>
                  <a:chOff x="2184879" y="1564542"/>
                  <a:chExt cx="1198746" cy="441649"/>
                </a:xfrm>
              </p:grpSpPr>
              <p:sp>
                <p:nvSpPr>
                  <p:cNvPr id="8795" name="Google Shape;8795;p86"/>
                  <p:cNvSpPr/>
                  <p:nvPr/>
                </p:nvSpPr>
                <p:spPr>
                  <a:xfrm flipH="1" rot="10800000">
                    <a:off x="2188659" y="1691130"/>
                    <a:ext cx="1194966" cy="31506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262699"/>
                      </a:gs>
                      <a:gs pos="31000">
                        <a:srgbClr val="8383E0"/>
                      </a:gs>
                      <a:gs pos="100000">
                        <a:srgbClr val="FFFFFF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6" name="Google Shape;8796;p86"/>
                  <p:cNvSpPr/>
                  <p:nvPr/>
                </p:nvSpPr>
                <p:spPr>
                  <a:xfrm>
                    <a:off x="2184879" y="1736138"/>
                    <a:ext cx="1198746" cy="112522"/>
                  </a:xfrm>
                  <a:prstGeom prst="rect">
                    <a:avLst/>
                  </a:prstGeom>
                  <a:gradFill>
                    <a:gsLst>
                      <a:gs pos="0">
                        <a:srgbClr val="ACACEA"/>
                      </a:gs>
                      <a:gs pos="54000">
                        <a:srgbClr val="8383E0"/>
                      </a:gs>
                      <a:gs pos="100000">
                        <a:srgbClr val="262699"/>
                      </a:gs>
                    </a:gsLst>
                    <a:lin ang="1620000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7" name="Google Shape;8797;p86"/>
                  <p:cNvSpPr/>
                  <p:nvPr/>
                </p:nvSpPr>
                <p:spPr>
                  <a:xfrm flipH="1" rot="10800000">
                    <a:off x="2184879" y="1564542"/>
                    <a:ext cx="1194966" cy="315061"/>
                  </a:xfrm>
                  <a:prstGeom prst="ellipse">
                    <a:avLst/>
                  </a:prstGeom>
                  <a:solidFill>
                    <a:srgbClr val="BFBFBF"/>
                  </a:solidFill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8" name="Google Shape;8798;p86"/>
                  <p:cNvSpPr/>
                  <p:nvPr/>
                </p:nvSpPr>
                <p:spPr>
                  <a:xfrm>
                    <a:off x="2491182" y="1671438"/>
                    <a:ext cx="582357" cy="157530"/>
                  </a:xfrm>
                  <a:custGeom>
                    <a:rect b="b" l="l" r="r" t="t"/>
                    <a:pathLst>
                      <a:path extrusionOk="0" h="1321259" w="3076069">
                        <a:moveTo>
                          <a:pt x="1537780" y="750825"/>
                        </a:moveTo>
                        <a:lnTo>
                          <a:pt x="313981" y="1321259"/>
                        </a:lnTo>
                        <a:lnTo>
                          <a:pt x="0" y="1228607"/>
                        </a:lnTo>
                        <a:lnTo>
                          <a:pt x="962613" y="837478"/>
                        </a:lnTo>
                        <a:lnTo>
                          <a:pt x="935005" y="450949"/>
                        </a:lnTo>
                        <a:lnTo>
                          <a:pt x="212596" y="119640"/>
                        </a:lnTo>
                        <a:lnTo>
                          <a:pt x="456466" y="50617"/>
                        </a:lnTo>
                        <a:lnTo>
                          <a:pt x="1528577" y="501566"/>
                        </a:lnTo>
                        <a:lnTo>
                          <a:pt x="2623695" y="0"/>
                        </a:lnTo>
                        <a:lnTo>
                          <a:pt x="2927383" y="96632"/>
                        </a:lnTo>
                        <a:lnTo>
                          <a:pt x="2131352" y="432543"/>
                        </a:lnTo>
                        <a:lnTo>
                          <a:pt x="2292399" y="920305"/>
                        </a:lnTo>
                        <a:lnTo>
                          <a:pt x="3076069" y="1228607"/>
                        </a:lnTo>
                        <a:lnTo>
                          <a:pt x="2808172" y="1316375"/>
                        </a:lnTo>
                        <a:lnTo>
                          <a:pt x="1537780" y="750825"/>
                        </a:lnTo>
                        <a:close/>
                      </a:path>
                    </a:pathLst>
                  </a:custGeom>
                  <a:solidFill>
                    <a:srgbClr val="8383E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799" name="Google Shape;8799;p86"/>
                  <p:cNvSpPr/>
                  <p:nvPr/>
                </p:nvSpPr>
                <p:spPr>
                  <a:xfrm>
                    <a:off x="2430678" y="1629243"/>
                    <a:ext cx="703366" cy="112522"/>
                  </a:xfrm>
                  <a:custGeom>
                    <a:rect b="b" l="l" r="r" t="t"/>
                    <a:pathLst>
                      <a:path extrusionOk="0" h="932950" w="3723451">
                        <a:moveTo>
                          <a:pt x="0" y="228246"/>
                        </a:moveTo>
                        <a:lnTo>
                          <a:pt x="655168" y="2690"/>
                        </a:lnTo>
                        <a:lnTo>
                          <a:pt x="1855778" y="520562"/>
                        </a:lnTo>
                        <a:lnTo>
                          <a:pt x="3001174" y="0"/>
                        </a:lnTo>
                        <a:lnTo>
                          <a:pt x="3723451" y="207149"/>
                        </a:lnTo>
                        <a:lnTo>
                          <a:pt x="3186079" y="461874"/>
                        </a:lnTo>
                        <a:lnTo>
                          <a:pt x="3013067" y="393200"/>
                        </a:lnTo>
                        <a:lnTo>
                          <a:pt x="1876873" y="932950"/>
                        </a:lnTo>
                        <a:lnTo>
                          <a:pt x="711613" y="413055"/>
                        </a:lnTo>
                        <a:lnTo>
                          <a:pt x="523214" y="469166"/>
                        </a:lnTo>
                        <a:lnTo>
                          <a:pt x="0" y="228246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0" name="Google Shape;8800;p86"/>
                  <p:cNvSpPr/>
                  <p:nvPr/>
                </p:nvSpPr>
                <p:spPr>
                  <a:xfrm>
                    <a:off x="2892025" y="1724886"/>
                    <a:ext cx="260927" cy="95643"/>
                  </a:xfrm>
                  <a:custGeom>
                    <a:rect b="b" l="l" r="r" t="t"/>
                    <a:pathLst>
                      <a:path extrusionOk="0" h="809868" w="1366596">
                        <a:moveTo>
                          <a:pt x="0" y="0"/>
                        </a:moveTo>
                        <a:lnTo>
                          <a:pt x="1366596" y="625807"/>
                        </a:lnTo>
                        <a:lnTo>
                          <a:pt x="865050" y="809868"/>
                        </a:lnTo>
                        <a:lnTo>
                          <a:pt x="4601" y="427942"/>
                        </a:lnTo>
                        <a:cubicBezTo>
                          <a:pt x="-1535" y="105836"/>
                          <a:pt x="1534" y="142647"/>
                          <a:pt x="0" y="0"/>
                        </a:cubicBez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01" name="Google Shape;8801;p86"/>
                  <p:cNvSpPr/>
                  <p:nvPr/>
                </p:nvSpPr>
                <p:spPr>
                  <a:xfrm>
                    <a:off x="2419334" y="1727698"/>
                    <a:ext cx="253362" cy="92831"/>
                  </a:xfrm>
                  <a:custGeom>
                    <a:rect b="b" l="l" r="r" t="t"/>
                    <a:pathLst>
                      <a:path extrusionOk="0" h="791462" w="1348191">
                        <a:moveTo>
                          <a:pt x="1329786" y="0"/>
                        </a:moveTo>
                        <a:lnTo>
                          <a:pt x="1348191" y="381926"/>
                        </a:lnTo>
                        <a:lnTo>
                          <a:pt x="487742" y="791462"/>
                        </a:lnTo>
                        <a:lnTo>
                          <a:pt x="0" y="612002"/>
                        </a:lnTo>
                        <a:lnTo>
                          <a:pt x="1329786" y="0"/>
                        </a:lnTo>
                        <a:close/>
                      </a:path>
                    </a:pathLst>
                  </a:custGeom>
                  <a:solidFill>
                    <a:srgbClr val="262699"/>
                  </a:solidFill>
                  <a:ln>
                    <a:noFill/>
                  </a:ln>
                  <a:effectLst>
                    <a:outerShdw blurRad="40000" rotWithShape="0" dir="5400000" dist="23000">
                      <a:srgbClr val="000000">
                        <a:alpha val="34901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cxnSp>
                <p:nvCxnSpPr>
                  <p:cNvPr id="8802" name="Google Shape;8802;p86"/>
                  <p:cNvCxnSpPr>
                    <a:endCxn id="8797" idx="2"/>
                  </p:cNvCxnSpPr>
                  <p:nvPr/>
                </p:nvCxnSpPr>
                <p:spPr>
                  <a:xfrm rot="10800000">
                    <a:off x="2184879" y="1722072"/>
                    <a:ext cx="3900" cy="1209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  <p:cxnSp>
                <p:nvCxnSpPr>
                  <p:cNvPr id="8803" name="Google Shape;8803;p86"/>
                  <p:cNvCxnSpPr/>
                  <p:nvPr/>
                </p:nvCxnSpPr>
                <p:spPr>
                  <a:xfrm rot="10800000">
                    <a:off x="3379845" y="1730512"/>
                    <a:ext cx="3780" cy="12096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00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  <a:effectLst>
                    <a:outerShdw blurRad="40005" rotWithShape="0" algn="tl" dir="5400000" dist="19939">
                      <a:srgbClr val="000000">
                        <a:alpha val="37647"/>
                      </a:srgbClr>
                    </a:outerShdw>
                  </a:effectLst>
                </p:spPr>
              </p:cxnSp>
            </p:grpSp>
          </p:grpSp>
        </p:grpSp>
        <p:grpSp>
          <p:nvGrpSpPr>
            <p:cNvPr id="8804" name="Google Shape;8804;p86"/>
            <p:cNvGrpSpPr/>
            <p:nvPr/>
          </p:nvGrpSpPr>
          <p:grpSpPr>
            <a:xfrm>
              <a:off x="2381956" y="2010251"/>
              <a:ext cx="4415330" cy="2315048"/>
              <a:chOff x="2381956" y="2435173"/>
              <a:chExt cx="4415330" cy="2315048"/>
            </a:xfrm>
          </p:grpSpPr>
          <p:sp>
            <p:nvSpPr>
              <p:cNvPr id="8805" name="Google Shape;8805;p86"/>
              <p:cNvSpPr/>
              <p:nvPr/>
            </p:nvSpPr>
            <p:spPr>
              <a:xfrm>
                <a:off x="2381956" y="2439629"/>
                <a:ext cx="297540" cy="1743187"/>
              </a:xfrm>
              <a:custGeom>
                <a:rect b="b" l="l" r="r" t="t"/>
                <a:pathLst>
                  <a:path extrusionOk="0" h="2022548" w="228538">
                    <a:moveTo>
                      <a:pt x="228538" y="0"/>
                    </a:moveTo>
                    <a:lnTo>
                      <a:pt x="0" y="6607"/>
                    </a:lnTo>
                    <a:lnTo>
                      <a:pt x="0" y="2022548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CC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06" name="Google Shape;8806;p86"/>
              <p:cNvSpPr/>
              <p:nvPr/>
            </p:nvSpPr>
            <p:spPr>
              <a:xfrm flipH="1">
                <a:off x="6411524" y="2435173"/>
                <a:ext cx="385762" cy="2300562"/>
              </a:xfrm>
              <a:custGeom>
                <a:rect b="b" l="l" r="r" t="t"/>
                <a:pathLst>
                  <a:path extrusionOk="0" h="2117725" w="307275">
                    <a:moveTo>
                      <a:pt x="307275" y="0"/>
                    </a:moveTo>
                    <a:lnTo>
                      <a:pt x="0" y="0"/>
                    </a:lnTo>
                    <a:lnTo>
                      <a:pt x="0" y="2117725"/>
                    </a:lnTo>
                  </a:path>
                </a:pathLst>
              </a:cu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07" name="Google Shape;8807;p86"/>
              <p:cNvCxnSpPr/>
              <p:nvPr/>
            </p:nvCxnSpPr>
            <p:spPr>
              <a:xfrm flipH="1" rot="10800000">
                <a:off x="5791457" y="2687586"/>
                <a:ext cx="8309" cy="2062635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8" name="Google Shape;8808;p86"/>
              <p:cNvCxnSpPr/>
              <p:nvPr/>
            </p:nvCxnSpPr>
            <p:spPr>
              <a:xfrm flipH="1" rot="10800000">
                <a:off x="4598735" y="2708225"/>
                <a:ext cx="18344" cy="2037167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  <p:cxnSp>
            <p:nvCxnSpPr>
              <p:cNvPr id="8809" name="Google Shape;8809;p86"/>
              <p:cNvCxnSpPr/>
              <p:nvPr/>
            </p:nvCxnSpPr>
            <p:spPr>
              <a:xfrm rot="10800000">
                <a:off x="3807455" y="2762199"/>
                <a:ext cx="9009" cy="1983193"/>
              </a:xfrm>
              <a:prstGeom prst="straightConnector1">
                <a:avLst/>
              </a:prstGeom>
              <a:noFill/>
              <a:ln cap="flat" cmpd="sng" w="31750">
                <a:solidFill>
                  <a:srgbClr val="CC0000"/>
                </a:solidFill>
                <a:prstDash val="solid"/>
                <a:round/>
                <a:headEnd len="med" w="med" type="triangle"/>
                <a:tailEnd len="med" w="med" type="triangle"/>
              </a:ln>
            </p:spPr>
          </p:cxnSp>
        </p:grpSp>
        <p:grpSp>
          <p:nvGrpSpPr>
            <p:cNvPr id="8810" name="Google Shape;8810;p86"/>
            <p:cNvGrpSpPr/>
            <p:nvPr/>
          </p:nvGrpSpPr>
          <p:grpSpPr>
            <a:xfrm>
              <a:off x="5856401" y="5478592"/>
              <a:ext cx="588970" cy="242608"/>
              <a:chOff x="1871277" y="1576300"/>
              <a:chExt cx="1128371" cy="437861"/>
            </a:xfrm>
          </p:grpSpPr>
          <p:sp>
            <p:nvSpPr>
              <p:cNvPr id="8811" name="Google Shape;881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2" name="Google Shape;881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3" name="Google Shape;881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4" name="Google Shape;881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5" name="Google Shape;881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6" name="Google Shape;881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17" name="Google Shape;881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18" name="Google Shape;8818;p86"/>
              <p:cNvCxnSpPr>
                <a:endCxn id="881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19" name="Google Shape;881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20" name="Google Shape;8820;p86"/>
            <p:cNvGrpSpPr/>
            <p:nvPr/>
          </p:nvGrpSpPr>
          <p:grpSpPr>
            <a:xfrm>
              <a:off x="4375328" y="5336495"/>
              <a:ext cx="588970" cy="242608"/>
              <a:chOff x="1871277" y="1576300"/>
              <a:chExt cx="1128371" cy="437861"/>
            </a:xfrm>
          </p:grpSpPr>
          <p:sp>
            <p:nvSpPr>
              <p:cNvPr id="8821" name="Google Shape;882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2" name="Google Shape;882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3" name="Google Shape;882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4" name="Google Shape;882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5" name="Google Shape;882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6" name="Google Shape;882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27" name="Google Shape;882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28" name="Google Shape;8828;p86"/>
              <p:cNvCxnSpPr>
                <a:endCxn id="882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29" name="Google Shape;882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30" name="Google Shape;8830;p86"/>
            <p:cNvGrpSpPr/>
            <p:nvPr/>
          </p:nvGrpSpPr>
          <p:grpSpPr>
            <a:xfrm>
              <a:off x="2848241" y="5530308"/>
              <a:ext cx="588970" cy="242608"/>
              <a:chOff x="1871277" y="1576300"/>
              <a:chExt cx="1128371" cy="437861"/>
            </a:xfrm>
          </p:grpSpPr>
          <p:sp>
            <p:nvSpPr>
              <p:cNvPr id="8831" name="Google Shape;883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2" name="Google Shape;883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3" name="Google Shape;883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4" name="Google Shape;883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5" name="Google Shape;883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6" name="Google Shape;883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37" name="Google Shape;883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38" name="Google Shape;8838;p86"/>
              <p:cNvCxnSpPr>
                <a:endCxn id="883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39" name="Google Shape;883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40" name="Google Shape;8840;p86"/>
            <p:cNvGrpSpPr/>
            <p:nvPr/>
          </p:nvGrpSpPr>
          <p:grpSpPr>
            <a:xfrm>
              <a:off x="5166757" y="5796647"/>
              <a:ext cx="588970" cy="242608"/>
              <a:chOff x="1871277" y="1576300"/>
              <a:chExt cx="1128371" cy="437861"/>
            </a:xfrm>
          </p:grpSpPr>
          <p:sp>
            <p:nvSpPr>
              <p:cNvPr id="8841" name="Google Shape;884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2" name="Google Shape;884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3" name="Google Shape;884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4" name="Google Shape;884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5" name="Google Shape;884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6" name="Google Shape;884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47" name="Google Shape;884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48" name="Google Shape;8848;p86"/>
              <p:cNvCxnSpPr>
                <a:endCxn id="884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49" name="Google Shape;884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50" name="Google Shape;8850;p86"/>
            <p:cNvGrpSpPr/>
            <p:nvPr/>
          </p:nvGrpSpPr>
          <p:grpSpPr>
            <a:xfrm>
              <a:off x="3704088" y="5889227"/>
              <a:ext cx="588970" cy="242608"/>
              <a:chOff x="1871277" y="1576300"/>
              <a:chExt cx="1128371" cy="437861"/>
            </a:xfrm>
          </p:grpSpPr>
          <p:sp>
            <p:nvSpPr>
              <p:cNvPr id="8851" name="Google Shape;8851;p86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2" name="Google Shape;8852;p86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3" name="Google Shape;8853;p86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4" name="Google Shape;8854;p86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5" name="Google Shape;8855;p86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6" name="Google Shape;8856;p86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8857" name="Google Shape;8857;p86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8858" name="Google Shape;8858;p86"/>
              <p:cNvCxnSpPr>
                <a:endCxn id="8853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8859" name="Google Shape;8859;p86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8860" name="Google Shape;8860;p86"/>
            <p:cNvGrpSpPr/>
            <p:nvPr/>
          </p:nvGrpSpPr>
          <p:grpSpPr>
            <a:xfrm>
              <a:off x="1925875" y="1754513"/>
              <a:ext cx="5095391" cy="2833288"/>
              <a:chOff x="1925876" y="2212958"/>
              <a:chExt cx="5095391" cy="2833288"/>
            </a:xfrm>
          </p:grpSpPr>
          <p:grpSp>
            <p:nvGrpSpPr>
              <p:cNvPr id="8861" name="Google Shape;8861;p86"/>
              <p:cNvGrpSpPr/>
              <p:nvPr/>
            </p:nvGrpSpPr>
            <p:grpSpPr>
              <a:xfrm>
                <a:off x="2745416" y="2212958"/>
                <a:ext cx="3597533" cy="493677"/>
                <a:chOff x="2705100" y="2011398"/>
                <a:chExt cx="3597533" cy="493677"/>
              </a:xfrm>
            </p:grpSpPr>
            <p:sp>
              <p:nvSpPr>
                <p:cNvPr id="8862" name="Google Shape;8862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3" name="Google Shape;8863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4" name="Google Shape;8864;p86"/>
                <p:cNvSpPr txBox="1"/>
                <p:nvPr/>
              </p:nvSpPr>
              <p:spPr>
                <a:xfrm>
                  <a:off x="3452664" y="2127167"/>
                  <a:ext cx="2057700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Remote Controller</a:t>
                  </a:r>
                  <a:endParaRPr/>
                </a:p>
              </p:txBody>
            </p:sp>
          </p:grpSp>
          <p:grpSp>
            <p:nvGrpSpPr>
              <p:cNvPr id="8865" name="Google Shape;8865;p86"/>
              <p:cNvGrpSpPr/>
              <p:nvPr/>
            </p:nvGrpSpPr>
            <p:grpSpPr>
              <a:xfrm>
                <a:off x="1925876" y="4223509"/>
                <a:ext cx="923540" cy="405953"/>
                <a:chOff x="2705100" y="2011398"/>
                <a:chExt cx="3597533" cy="493677"/>
              </a:xfrm>
            </p:grpSpPr>
            <p:sp>
              <p:nvSpPr>
                <p:cNvPr id="8866" name="Google Shape;8866;p86"/>
                <p:cNvSpPr/>
                <p:nvPr/>
              </p:nvSpPr>
              <p:spPr>
                <a:xfrm>
                  <a:off x="2722820" y="2011398"/>
                  <a:ext cx="3579813" cy="492125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7" name="Google Shape;8867;p86"/>
                <p:cNvSpPr/>
                <p:nvPr/>
              </p:nvSpPr>
              <p:spPr>
                <a:xfrm>
                  <a:off x="2705100" y="2012950"/>
                  <a:ext cx="3579813" cy="492125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868" name="Google Shape;8868;p86"/>
                <p:cNvSpPr txBox="1"/>
                <p:nvPr/>
              </p:nvSpPr>
              <p:spPr>
                <a:xfrm>
                  <a:off x="3901810" y="2127167"/>
                  <a:ext cx="1159411" cy="29612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81944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grpSp>
            <p:nvGrpSpPr>
              <p:cNvPr id="8869" name="Google Shape;8869;p86"/>
              <p:cNvGrpSpPr/>
              <p:nvPr/>
            </p:nvGrpSpPr>
            <p:grpSpPr>
              <a:xfrm>
                <a:off x="3589508" y="4760377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0" name="Google Shape;887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1" name="Google Shape;887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2" name="Google Shape;887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3" name="Google Shape;887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4" name="Google Shape;8874;p86"/>
              <p:cNvGrpSpPr/>
              <p:nvPr/>
            </p:nvGrpSpPr>
            <p:grpSpPr>
              <a:xfrm>
                <a:off x="4369656" y="4758258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75" name="Google Shape;887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76" name="Google Shape;887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77" name="Google Shape;887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78" name="Google Shape;887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79" name="Google Shape;8879;p86"/>
              <p:cNvGrpSpPr/>
              <p:nvPr/>
            </p:nvGrpSpPr>
            <p:grpSpPr>
              <a:xfrm>
                <a:off x="5569912" y="4756140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0" name="Google Shape;8880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1" name="Google Shape;8881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2" name="Google Shape;8882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3" name="Google Shape;8883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884" name="Google Shape;8884;p86"/>
              <p:cNvGrpSpPr/>
              <p:nvPr/>
            </p:nvGrpSpPr>
            <p:grpSpPr>
              <a:xfrm>
                <a:off x="6557699" y="4754022"/>
                <a:ext cx="463568" cy="285869"/>
                <a:chOff x="3558850" y="4573304"/>
                <a:chExt cx="463568" cy="285869"/>
              </a:xfrm>
            </p:grpSpPr>
            <p:grpSp>
              <p:nvGrpSpPr>
                <p:cNvPr id="8885" name="Google Shape;8885;p86"/>
                <p:cNvGrpSpPr/>
                <p:nvPr/>
              </p:nvGrpSpPr>
              <p:grpSpPr>
                <a:xfrm>
                  <a:off x="3558850" y="4577634"/>
                  <a:ext cx="463568" cy="262710"/>
                  <a:chOff x="3558850" y="4577634"/>
                  <a:chExt cx="463568" cy="262710"/>
                </a:xfrm>
              </p:grpSpPr>
              <p:sp>
                <p:nvSpPr>
                  <p:cNvPr id="8886" name="Google Shape;8886;p86"/>
                  <p:cNvSpPr/>
                  <p:nvPr/>
                </p:nvSpPr>
                <p:spPr>
                  <a:xfrm>
                    <a:off x="3573337" y="4577634"/>
                    <a:ext cx="439424" cy="261732"/>
                  </a:xfrm>
                  <a:prstGeom prst="ellipse">
                    <a:avLst/>
                  </a:prstGeom>
                  <a:solidFill>
                    <a:srgbClr val="FFFFFF">
                      <a:alpha val="41960"/>
                    </a:srgbClr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  <p:sp>
                <p:nvSpPr>
                  <p:cNvPr id="8887" name="Google Shape;8887;p86"/>
                  <p:cNvSpPr/>
                  <p:nvPr/>
                </p:nvSpPr>
                <p:spPr>
                  <a:xfrm>
                    <a:off x="3558850" y="4587291"/>
                    <a:ext cx="463568" cy="253053"/>
                  </a:xfrm>
                  <a:prstGeom prst="ellipse">
                    <a:avLst/>
                  </a:prstGeom>
                  <a:solidFill>
                    <a:srgbClr val="CC0000">
                      <a:alpha val="41960"/>
                    </a:srgbClr>
                  </a:solidFill>
                  <a:ln cap="flat" cmpd="sng" w="9525">
                    <a:solidFill>
                      <a:srgbClr val="CC000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Gill Sans"/>
                      <a:ea typeface="Gill Sans"/>
                      <a:cs typeface="Gill Sans"/>
                      <a:sym typeface="Gill Sans"/>
                    </a:endParaRPr>
                  </a:p>
                </p:txBody>
              </p:sp>
            </p:grpSp>
            <p:sp>
              <p:nvSpPr>
                <p:cNvPr id="8888" name="Google Shape;8888;p86"/>
                <p:cNvSpPr txBox="1"/>
                <p:nvPr/>
              </p:nvSpPr>
              <p:spPr>
                <a:xfrm>
                  <a:off x="3565935" y="4573304"/>
                  <a:ext cx="434071" cy="28586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5357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8889" name="Google Shape;8889;p86"/>
            <p:cNvGrpSpPr/>
            <p:nvPr/>
          </p:nvGrpSpPr>
          <p:grpSpPr>
            <a:xfrm>
              <a:off x="2050694" y="4240394"/>
              <a:ext cx="4962309" cy="697609"/>
              <a:chOff x="-3809141" y="1128902"/>
              <a:chExt cx="4962309" cy="697609"/>
            </a:xfrm>
          </p:grpSpPr>
          <p:grpSp>
            <p:nvGrpSpPr>
              <p:cNvPr id="8890" name="Google Shape;8890;p86"/>
              <p:cNvGrpSpPr/>
              <p:nvPr/>
            </p:nvGrpSpPr>
            <p:grpSpPr>
              <a:xfrm>
                <a:off x="-2259184" y="1493681"/>
                <a:ext cx="426647" cy="330722"/>
                <a:chOff x="2932185" y="3913304"/>
                <a:chExt cx="426963" cy="330885"/>
              </a:xfrm>
            </p:grpSpPr>
            <p:sp>
              <p:nvSpPr>
                <p:cNvPr id="8891" name="Google Shape;8891;p86"/>
                <p:cNvSpPr/>
                <p:nvPr/>
              </p:nvSpPr>
              <p:spPr>
                <a:xfrm>
                  <a:off x="293338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2" name="Google Shape;8892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3" name="Google Shape;8893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4" name="Google Shape;8894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5" name="Google Shape;8895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96" name="Google Shape;8896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897" name="Google Shape;8897;p86"/>
              <p:cNvGrpSpPr/>
              <p:nvPr/>
            </p:nvGrpSpPr>
            <p:grpSpPr>
              <a:xfrm>
                <a:off x="-3809141" y="1128902"/>
                <a:ext cx="675450" cy="526527"/>
                <a:chOff x="2932185" y="3913304"/>
                <a:chExt cx="430533" cy="332666"/>
              </a:xfrm>
            </p:grpSpPr>
            <p:sp>
              <p:nvSpPr>
                <p:cNvPr id="8898" name="Google Shape;8898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899" name="Google Shape;8899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0" name="Google Shape;8900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1" name="Google Shape;8901;p86"/>
                <p:cNvCxnSpPr/>
                <p:nvPr/>
              </p:nvCxnSpPr>
              <p:spPr>
                <a:xfrm rot="10800000">
                  <a:off x="3182588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2" name="Google Shape;8902;p86"/>
                <p:cNvCxnSpPr/>
                <p:nvPr/>
              </p:nvCxnSpPr>
              <p:spPr>
                <a:xfrm rot="10800000">
                  <a:off x="3093297" y="4009316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3" name="Google Shape;8903;p86"/>
                <p:cNvCxnSpPr/>
                <p:nvPr/>
              </p:nvCxnSpPr>
              <p:spPr>
                <a:xfrm rot="10800000">
                  <a:off x="3278747" y="4008109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04" name="Google Shape;8904;p86"/>
              <p:cNvGrpSpPr/>
              <p:nvPr/>
            </p:nvGrpSpPr>
            <p:grpSpPr>
              <a:xfrm>
                <a:off x="-1475553" y="1495789"/>
                <a:ext cx="430214" cy="330722"/>
                <a:chOff x="2932185" y="3913304"/>
                <a:chExt cx="430533" cy="330885"/>
              </a:xfrm>
            </p:grpSpPr>
            <p:sp>
              <p:nvSpPr>
                <p:cNvPr id="8905" name="Google Shape;8905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06" name="Google Shape;8906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7" name="Google Shape;8907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8" name="Google Shape;8908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09" name="Google Shape;8909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0" name="Google Shape;8910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1" name="Google Shape;8911;p86"/>
              <p:cNvGrpSpPr/>
              <p:nvPr/>
            </p:nvGrpSpPr>
            <p:grpSpPr>
              <a:xfrm>
                <a:off x="-271097" y="1490382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2" name="Google Shape;8912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13" name="Google Shape;8913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4" name="Google Shape;8914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5" name="Google Shape;8915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6" name="Google Shape;8916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17" name="Google Shape;8917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8918" name="Google Shape;8918;p86"/>
              <p:cNvGrpSpPr/>
              <p:nvPr/>
            </p:nvGrpSpPr>
            <p:grpSpPr>
              <a:xfrm>
                <a:off x="722954" y="1484975"/>
                <a:ext cx="430214" cy="330722"/>
                <a:chOff x="2932185" y="3913304"/>
                <a:chExt cx="430533" cy="330885"/>
              </a:xfrm>
            </p:grpSpPr>
            <p:sp>
              <p:nvSpPr>
                <p:cNvPr id="8919" name="Google Shape;8919;p86"/>
                <p:cNvSpPr/>
                <p:nvPr/>
              </p:nvSpPr>
              <p:spPr>
                <a:xfrm>
                  <a:off x="2936952" y="3913304"/>
                  <a:ext cx="425766" cy="328775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20" name="Google Shape;8920;p86"/>
                <p:cNvCxnSpPr/>
                <p:nvPr/>
              </p:nvCxnSpPr>
              <p:spPr>
                <a:xfrm>
                  <a:off x="2932185" y="4005425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1" name="Google Shape;8921;p86"/>
                <p:cNvCxnSpPr/>
                <p:nvPr/>
              </p:nvCxnSpPr>
              <p:spPr>
                <a:xfrm>
                  <a:off x="2932185" y="4068956"/>
                  <a:ext cx="425766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2" name="Google Shape;8922;p86"/>
                <p:cNvCxnSpPr/>
                <p:nvPr/>
              </p:nvCxnSpPr>
              <p:spPr>
                <a:xfrm rot="10800000">
                  <a:off x="3134122" y="400542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3" name="Google Shape;8923;p86"/>
                <p:cNvCxnSpPr/>
                <p:nvPr/>
              </p:nvCxnSpPr>
              <p:spPr>
                <a:xfrm rot="10800000">
                  <a:off x="3215190" y="4007535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924" name="Google Shape;8924;p86"/>
                <p:cNvCxnSpPr/>
                <p:nvPr/>
              </p:nvCxnSpPr>
              <p:spPr>
                <a:xfrm rot="10800000">
                  <a:off x="3290394" y="4007533"/>
                  <a:ext cx="1589" cy="23665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8925" name="Google Shape;8925;p86"/>
          <p:cNvGrpSpPr/>
          <p:nvPr/>
        </p:nvGrpSpPr>
        <p:grpSpPr>
          <a:xfrm>
            <a:off x="200416" y="5099464"/>
            <a:ext cx="4112251" cy="1370930"/>
            <a:chOff x="-1402915" y="4974203"/>
            <a:chExt cx="4112251" cy="1370930"/>
          </a:xfrm>
        </p:grpSpPr>
        <p:sp>
          <p:nvSpPr>
            <p:cNvPr id="8926" name="Google Shape;8926;p86"/>
            <p:cNvSpPr txBox="1"/>
            <p:nvPr/>
          </p:nvSpPr>
          <p:spPr>
            <a:xfrm>
              <a:off x="-1402915" y="5588003"/>
              <a:ext cx="4112251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1: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generalized “flow-based” forwarding (e.g., OpenFlow)</a:t>
              </a:r>
              <a:endParaRPr/>
            </a:p>
          </p:txBody>
        </p:sp>
        <p:cxnSp>
          <p:nvCxnSpPr>
            <p:cNvPr id="8927" name="Google Shape;8927;p86"/>
            <p:cNvCxnSpPr>
              <a:stCxn id="8926" idx="0"/>
            </p:cNvCxnSpPr>
            <p:nvPr/>
          </p:nvCxnSpPr>
          <p:spPr>
            <a:xfrm flipH="1" rot="10800000">
              <a:off x="653211" y="4974203"/>
              <a:ext cx="1505700" cy="6138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928" name="Google Shape;8928;p86"/>
          <p:cNvGrpSpPr/>
          <p:nvPr/>
        </p:nvGrpSpPr>
        <p:grpSpPr>
          <a:xfrm>
            <a:off x="9193527" y="3631477"/>
            <a:ext cx="2831459" cy="1311830"/>
            <a:chOff x="69488" y="5025983"/>
            <a:chExt cx="4347805" cy="1311830"/>
          </a:xfrm>
        </p:grpSpPr>
        <p:sp>
          <p:nvSpPr>
            <p:cNvPr id="8929" name="Google Shape;8929;p86"/>
            <p:cNvSpPr txBox="1"/>
            <p:nvPr/>
          </p:nvSpPr>
          <p:spPr>
            <a:xfrm>
              <a:off x="69488" y="5580683"/>
              <a:ext cx="4347805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2.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control, data plane separation</a:t>
              </a:r>
              <a:endParaRPr/>
            </a:p>
          </p:txBody>
        </p:sp>
        <p:cxnSp>
          <p:nvCxnSpPr>
            <p:cNvPr id="8930" name="Google Shape;8930;p86"/>
            <p:cNvCxnSpPr>
              <a:stCxn id="8929" idx="0"/>
            </p:cNvCxnSpPr>
            <p:nvPr/>
          </p:nvCxnSpPr>
          <p:spPr>
            <a:xfrm rot="10800000">
              <a:off x="1351790" y="5025983"/>
              <a:ext cx="891600" cy="554700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31" name="Google Shape;8931;p86"/>
          <p:cNvSpPr txBox="1"/>
          <p:nvPr/>
        </p:nvSpPr>
        <p:spPr>
          <a:xfrm>
            <a:off x="8661128" y="1214433"/>
            <a:ext cx="3326279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3363" lvl="0" marL="2333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1" lang="en-US" sz="24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i="1"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plane functions external to data-plane switches</a:t>
            </a:r>
            <a:endParaRPr i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2" name="Google Shape;8932;p86"/>
          <p:cNvCxnSpPr/>
          <p:nvPr/>
        </p:nvCxnSpPr>
        <p:spPr>
          <a:xfrm flipH="1" rot="10800000">
            <a:off x="8275367" y="1593599"/>
            <a:ext cx="618473" cy="645305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3" name="Google Shape;8933;p86"/>
          <p:cNvSpPr/>
          <p:nvPr/>
        </p:nvSpPr>
        <p:spPr>
          <a:xfrm>
            <a:off x="3619093" y="1435386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4" name="Google Shape;8934;p86"/>
          <p:cNvSpPr/>
          <p:nvPr/>
        </p:nvSpPr>
        <p:spPr>
          <a:xfrm>
            <a:off x="4618114" y="1426539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5" name="Google Shape;8935;p86"/>
          <p:cNvSpPr/>
          <p:nvPr/>
        </p:nvSpPr>
        <p:spPr>
          <a:xfrm>
            <a:off x="7431318" y="1417694"/>
            <a:ext cx="725674" cy="342648"/>
          </a:xfrm>
          <a:prstGeom prst="ellipse">
            <a:avLst/>
          </a:prstGeom>
          <a:solidFill>
            <a:srgbClr val="E1EFD8">
              <a:alpha val="69803"/>
            </a:srgbClr>
          </a:solidFill>
          <a:ln cap="flat" cmpd="sng" w="9525">
            <a:solidFill>
              <a:srgbClr val="008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36" name="Google Shape;8936;p86"/>
          <p:cNvSpPr txBox="1"/>
          <p:nvPr/>
        </p:nvSpPr>
        <p:spPr>
          <a:xfrm>
            <a:off x="6236542" y="1190791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cxnSp>
        <p:nvCxnSpPr>
          <p:cNvPr id="8937" name="Google Shape;8937;p86"/>
          <p:cNvCxnSpPr/>
          <p:nvPr/>
        </p:nvCxnSpPr>
        <p:spPr>
          <a:xfrm flipH="1" rot="10800000">
            <a:off x="8228340" y="1594833"/>
            <a:ext cx="663883" cy="1006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8" name="Google Shape;8938;p86"/>
          <p:cNvSpPr txBox="1"/>
          <p:nvPr/>
        </p:nvSpPr>
        <p:spPr>
          <a:xfrm>
            <a:off x="3617055" y="1431666"/>
            <a:ext cx="73361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sp>
        <p:nvSpPr>
          <p:cNvPr id="8939" name="Google Shape;8939;p86"/>
          <p:cNvSpPr txBox="1"/>
          <p:nvPr/>
        </p:nvSpPr>
        <p:spPr>
          <a:xfrm>
            <a:off x="4644492" y="1393402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 control</a:t>
            </a:r>
            <a:endParaRPr/>
          </a:p>
        </p:txBody>
      </p:sp>
      <p:sp>
        <p:nvSpPr>
          <p:cNvPr id="8940" name="Google Shape;8940;p86"/>
          <p:cNvSpPr txBox="1"/>
          <p:nvPr/>
        </p:nvSpPr>
        <p:spPr>
          <a:xfrm>
            <a:off x="7403572" y="1382879"/>
            <a:ext cx="809667" cy="41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grpSp>
        <p:nvGrpSpPr>
          <p:cNvPr id="8941" name="Google Shape;8941;p86"/>
          <p:cNvGrpSpPr/>
          <p:nvPr/>
        </p:nvGrpSpPr>
        <p:grpSpPr>
          <a:xfrm>
            <a:off x="363256" y="1413523"/>
            <a:ext cx="3169084" cy="1089529"/>
            <a:chOff x="363256" y="1413523"/>
            <a:chExt cx="3169084" cy="1089529"/>
          </a:xfrm>
        </p:grpSpPr>
        <p:sp>
          <p:nvSpPr>
            <p:cNvPr id="8942" name="Google Shape;8942;p86"/>
            <p:cNvSpPr txBox="1"/>
            <p:nvPr/>
          </p:nvSpPr>
          <p:spPr>
            <a:xfrm>
              <a:off x="363256" y="1413523"/>
              <a:ext cx="2748319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3363" lvl="0" marL="23336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0"/>
                </a:buClr>
                <a:buSzPts val="2400"/>
                <a:buFont typeface="Calibri"/>
                <a:buNone/>
              </a:pPr>
              <a:r>
                <a:rPr b="1" i="1" lang="en-US" sz="24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4.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programmable control applications</a:t>
              </a:r>
              <a:endParaRPr/>
            </a:p>
          </p:txBody>
        </p:sp>
        <p:cxnSp>
          <p:nvCxnSpPr>
            <p:cNvPr id="8943" name="Google Shape;8943;p86"/>
            <p:cNvCxnSpPr/>
            <p:nvPr/>
          </p:nvCxnSpPr>
          <p:spPr>
            <a:xfrm>
              <a:off x="2655518" y="1615858"/>
              <a:ext cx="876822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7" name="Shape 8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8" name="Google Shape;8948;p87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8949" name="Google Shape;8949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50" name="Google Shape;8950;p87"/>
          <p:cNvSpPr txBox="1"/>
          <p:nvPr/>
        </p:nvSpPr>
        <p:spPr>
          <a:xfrm>
            <a:off x="826718" y="1581355"/>
            <a:ext cx="5767982" cy="5096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b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Data-plane switches: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fast, simple, commodity switches implementing generalized data-plane forwarding (Section 4.4) in hardware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flow (forwarding)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table computed, installed under controller supervision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for table-based switch control (e.g., OpenFlow)</a:t>
            </a:r>
            <a:endParaRPr/>
          </a:p>
          <a:p>
            <a:pPr indent="-234950" lvl="1" marL="635000" marR="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defines what is controllable, what is not</a:t>
            </a:r>
            <a:endParaRPr/>
          </a:p>
          <a:p>
            <a:pPr indent="-342900" lvl="0" marL="342900" marR="0" rtl="0" algn="l">
              <a:lnSpc>
                <a:spcPct val="95000"/>
              </a:lnSpc>
              <a:spcBef>
                <a:spcPts val="520"/>
              </a:spcBef>
              <a:spcAft>
                <a:spcPts val="0"/>
              </a:spcAft>
              <a:buClr>
                <a:srgbClr val="000099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protocol for communicating with controller (e.g., OpenFlow)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951" name="Google Shape;8951;p87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8952" name="Google Shape;8952;p87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8953" name="Google Shape;8953;p87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8954" name="Google Shape;8954;p87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8955" name="Google Shape;8955;p87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8956" name="Google Shape;8956;p87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8957" name="Google Shape;8957;p87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958" name="Google Shape;8958;p87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59" name="Google Shape;8959;p87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0" name="Google Shape;8960;p87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1" name="Google Shape;8961;p87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2" name="Google Shape;8962;p87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3" name="Google Shape;8963;p87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4" name="Google Shape;8964;p87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65" name="Google Shape;8965;p87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8966" name="Google Shape;8966;p87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67" name="Google Shape;896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8" name="Google Shape;896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69" name="Google Shape;896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0" name="Google Shape;897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1" name="Google Shape;897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2" name="Google Shape;897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3" name="Google Shape;897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74" name="Google Shape;8974;p87"/>
                <p:cNvCxnSpPr>
                  <a:endCxn id="896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75" name="Google Shape;897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76" name="Google Shape;8976;p87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77" name="Google Shape;897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8" name="Google Shape;897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79" name="Google Shape;897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0" name="Google Shape;898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1" name="Google Shape;898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2" name="Google Shape;898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3" name="Google Shape;898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84" name="Google Shape;8984;p87"/>
                <p:cNvCxnSpPr>
                  <a:endCxn id="897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85" name="Google Shape;898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86" name="Google Shape;8986;p87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87" name="Google Shape;898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8" name="Google Shape;898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89" name="Google Shape;898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0" name="Google Shape;899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1" name="Google Shape;899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2" name="Google Shape;899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3" name="Google Shape;899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8994" name="Google Shape;8994;p87"/>
                <p:cNvCxnSpPr>
                  <a:endCxn id="898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8995" name="Google Shape;899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8996" name="Google Shape;8996;p87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8997" name="Google Shape;899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8" name="Google Shape;899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8999" name="Google Shape;899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0" name="Google Shape;900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1" name="Google Shape;900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2" name="Google Shape;900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3" name="Google Shape;900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04" name="Google Shape;9004;p87"/>
                <p:cNvCxnSpPr>
                  <a:endCxn id="899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05" name="Google Shape;900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006" name="Google Shape;9006;p87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07" name="Google Shape;9007;p87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8" name="Google Shape;9008;p87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09" name="Google Shape;9009;p87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0" name="Google Shape;9010;p87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1" name="Google Shape;9011;p87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2" name="Google Shape;9012;p87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13" name="Google Shape;9013;p87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014" name="Google Shape;9014;p87"/>
                <p:cNvCxnSpPr>
                  <a:endCxn id="9009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015" name="Google Shape;9015;p87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016" name="Google Shape;9016;p87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017" name="Google Shape;9017;p87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18" name="Google Shape;9018;p87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019" name="Google Shape;9019;p87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020" name="Google Shape;9020;p8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1" name="Google Shape;9021;p87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2" name="Google Shape;9022;p8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3" name="Google Shape;9023;p8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24" name="Google Shape;9024;p87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5" name="Google Shape;9025;p87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026" name="Google Shape;9026;p87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27" name="Google Shape;9027;p87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28" name="Google Shape;9028;p87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29" name="Google Shape;9029;p87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030" name="Google Shape;9030;p87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1" name="Google Shape;9031;p87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2" name="Google Shape;9032;p87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33" name="Google Shape;9033;p87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4" name="Google Shape;9034;p87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035" name="Google Shape;9035;p87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36" name="Google Shape;9036;p87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37" name="Google Shape;9037;p8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038" name="Google Shape;9038;p87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039" name="Google Shape;9039;p87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40" name="Google Shape;9040;p87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041" name="Google Shape;9041;p87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2" name="Google Shape;9042;p8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3" name="Google Shape;9043;p8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4" name="Google Shape;9044;p87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5" name="Google Shape;9045;p8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6" name="Google Shape;9046;p87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7" name="Google Shape;9047;p87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8" name="Google Shape;9048;p87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49" name="Google Shape;9049;p87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0" name="Google Shape;9050;p87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51" name="Google Shape;9051;p87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052" name="Google Shape;9052;p87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053" name="Google Shape;9053;p87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054" name="Google Shape;9054;p87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055" name="Google Shape;9055;p87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6" name="Google Shape;9056;p87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057" name="Google Shape;9057;p87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058" name="Google Shape;9058;p87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59" name="Google Shape;9059;p87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060" name="Google Shape;9060;p87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061" name="Google Shape;9061;p87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062" name="Google Shape;9062;p87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063" name="Google Shape;9063;p87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4" name="Google Shape;9064;p87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5" name="Google Shape;9065;p87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066" name="Google Shape;9066;p87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67" name="Google Shape;9067;p87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068" name="Google Shape;9068;p87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069" name="Google Shape;9069;p87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070" name="Google Shape;9070;p87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071" name="Google Shape;9071;p87"/>
          <p:cNvSpPr/>
          <p:nvPr/>
        </p:nvSpPr>
        <p:spPr>
          <a:xfrm>
            <a:off x="6602169" y="1221758"/>
            <a:ext cx="4134334" cy="3901387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5" name="Shape 9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6" name="Google Shape;9076;p8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077" name="Google Shape;9077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8" name="Google Shape;9078;p88"/>
          <p:cNvSpPr txBox="1"/>
          <p:nvPr/>
        </p:nvSpPr>
        <p:spPr>
          <a:xfrm>
            <a:off x="826717" y="1581356"/>
            <a:ext cx="5643355" cy="501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SDN controller (network OS): 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network state information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control applications “above” via northbound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interacts with network switches “below” via southbound API</a:t>
            </a:r>
            <a:endParaRPr/>
          </a:p>
          <a:p>
            <a:pPr indent="-274638" lvl="0" marL="342900" marR="0" rtl="0" algn="l">
              <a:lnSpc>
                <a:spcPct val="9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as distributed system for performance, scalability, fault-tolerance, robustness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079" name="Google Shape;9079;p88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080" name="Google Shape;9080;p88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081" name="Google Shape;9081;p88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082" name="Google Shape;9082;p88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083" name="Google Shape;9083;p88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084" name="Google Shape;9084;p88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085" name="Google Shape;9085;p88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086" name="Google Shape;9086;p88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7" name="Google Shape;9087;p88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8" name="Google Shape;9088;p88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89" name="Google Shape;9089;p88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0" name="Google Shape;9090;p88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1" name="Google Shape;9091;p88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2" name="Google Shape;9092;p88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93" name="Google Shape;9093;p88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094" name="Google Shape;9094;p88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095" name="Google Shape;909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6" name="Google Shape;909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7" name="Google Shape;909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8" name="Google Shape;909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099" name="Google Shape;909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0" name="Google Shape;910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1" name="Google Shape;910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02" name="Google Shape;9102;p88"/>
                <p:cNvCxnSpPr>
                  <a:endCxn id="909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03" name="Google Shape;910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04" name="Google Shape;9104;p88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05" name="Google Shape;910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6" name="Google Shape;910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7" name="Google Shape;910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8" name="Google Shape;910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09" name="Google Shape;910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0" name="Google Shape;911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1" name="Google Shape;911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12" name="Google Shape;9112;p88"/>
                <p:cNvCxnSpPr>
                  <a:endCxn id="910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13" name="Google Shape;911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14" name="Google Shape;9114;p88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15" name="Google Shape;911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6" name="Google Shape;911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7" name="Google Shape;911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8" name="Google Shape;911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19" name="Google Shape;911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0" name="Google Shape;912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1" name="Google Shape;912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22" name="Google Shape;9122;p88"/>
                <p:cNvCxnSpPr>
                  <a:endCxn id="911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23" name="Google Shape;912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24" name="Google Shape;9124;p88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25" name="Google Shape;912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6" name="Google Shape;912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7" name="Google Shape;912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8" name="Google Shape;912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29" name="Google Shape;912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0" name="Google Shape;913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1" name="Google Shape;913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32" name="Google Shape;9132;p88"/>
                <p:cNvCxnSpPr>
                  <a:endCxn id="912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33" name="Google Shape;913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134" name="Google Shape;9134;p88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135" name="Google Shape;9135;p88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6" name="Google Shape;9136;p88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7" name="Google Shape;9137;p88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8" name="Google Shape;9138;p88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39" name="Google Shape;9139;p88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0" name="Google Shape;9140;p88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141" name="Google Shape;9141;p88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142" name="Google Shape;9142;p88"/>
                <p:cNvCxnSpPr>
                  <a:endCxn id="9137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143" name="Google Shape;9143;p88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144" name="Google Shape;9144;p88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145" name="Google Shape;9145;p88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46" name="Google Shape;9146;p88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147" name="Google Shape;9147;p88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148" name="Google Shape;9148;p88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49" name="Google Shape;9149;p88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0" name="Google Shape;9150;p88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1" name="Google Shape;9151;p88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52" name="Google Shape;9152;p88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3" name="Google Shape;9153;p88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154" name="Google Shape;9154;p88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5" name="Google Shape;9155;p88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56" name="Google Shape;9156;p88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57" name="Google Shape;9157;p88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158" name="Google Shape;9158;p88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9" name="Google Shape;9159;p88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0" name="Google Shape;9160;p88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61" name="Google Shape;9161;p88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2" name="Google Shape;9162;p88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163" name="Google Shape;9163;p88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4" name="Google Shape;9164;p88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5" name="Google Shape;9165;p88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166" name="Google Shape;9166;p88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167" name="Google Shape;9167;p88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68" name="Google Shape;9168;p88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9" name="Google Shape;9169;p88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0" name="Google Shape;9170;p88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1" name="Google Shape;9171;p88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2" name="Google Shape;9172;p88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3" name="Google Shape;9173;p88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4" name="Google Shape;9174;p88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5" name="Google Shape;9175;p88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6" name="Google Shape;9176;p88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7" name="Google Shape;9177;p88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8" name="Google Shape;9178;p88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9" name="Google Shape;9179;p88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80" name="Google Shape;9180;p88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181" name="Google Shape;9181;p88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182" name="Google Shape;9182;p88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183" name="Google Shape;9183;p88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4" name="Google Shape;9184;p88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185" name="Google Shape;9185;p88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186" name="Google Shape;9186;p88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87" name="Google Shape;9187;p88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188" name="Google Shape;9188;p88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189" name="Google Shape;9189;p88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008000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190" name="Google Shape;9190;p88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191" name="Google Shape;9191;p88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2" name="Google Shape;9192;p88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3" name="Google Shape;9193;p88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94" name="Google Shape;9194;p88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195" name="Google Shape;9195;p88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196" name="Google Shape;9196;p88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197" name="Google Shape;9197;p88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198" name="Google Shape;9198;p88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199" name="Google Shape;9199;p88"/>
          <p:cNvSpPr/>
          <p:nvPr/>
        </p:nvSpPr>
        <p:spPr>
          <a:xfrm>
            <a:off x="6602169" y="1209232"/>
            <a:ext cx="4134334" cy="179701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200" name="Google Shape;9200;p88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4" name="Shape 9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" name="Google Shape;9205;p89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Software defined networking (SDN)</a:t>
            </a:r>
            <a:endParaRPr/>
          </a:p>
        </p:txBody>
      </p:sp>
      <p:sp>
        <p:nvSpPr>
          <p:cNvPr id="9206" name="Google Shape;920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07" name="Google Shape;9207;p89"/>
          <p:cNvSpPr txBox="1"/>
          <p:nvPr/>
        </p:nvSpPr>
        <p:spPr>
          <a:xfrm>
            <a:off x="826718" y="1581356"/>
            <a:ext cx="5010411" cy="3614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network-control apps: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“brains” of control:  implement control functions using lower-level services, API provided by SDN controller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unbundled: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be provided by 3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party: distinct from routing vendor, or SDN controller</a:t>
            </a:r>
            <a:endParaRPr/>
          </a:p>
          <a:p>
            <a:pPr indent="-16510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208" name="Google Shape;9208;p89"/>
          <p:cNvGrpSpPr/>
          <p:nvPr/>
        </p:nvGrpSpPr>
        <p:grpSpPr>
          <a:xfrm>
            <a:off x="6806501" y="1476134"/>
            <a:ext cx="3846765" cy="5169840"/>
            <a:chOff x="4990227" y="910464"/>
            <a:chExt cx="3846765" cy="5169840"/>
          </a:xfrm>
        </p:grpSpPr>
        <p:sp>
          <p:nvSpPr>
            <p:cNvPr id="9209" name="Google Shape;9209;p89"/>
            <p:cNvSpPr txBox="1"/>
            <p:nvPr/>
          </p:nvSpPr>
          <p:spPr>
            <a:xfrm>
              <a:off x="8518490" y="4936685"/>
              <a:ext cx="28693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9210" name="Google Shape;9210;p89"/>
            <p:cNvSpPr txBox="1"/>
            <p:nvPr/>
          </p:nvSpPr>
          <p:spPr>
            <a:xfrm>
              <a:off x="8494972" y="2474327"/>
              <a:ext cx="342020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9211" name="Google Shape;9211;p89"/>
            <p:cNvCxnSpPr/>
            <p:nvPr/>
          </p:nvCxnSpPr>
          <p:spPr>
            <a:xfrm flipH="1" rot="10800000">
              <a:off x="5272718" y="4529666"/>
              <a:ext cx="2791783" cy="14329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9212" name="Google Shape;9212;p89"/>
            <p:cNvCxnSpPr/>
            <p:nvPr/>
          </p:nvCxnSpPr>
          <p:spPr>
            <a:xfrm flipH="1" rot="10800000">
              <a:off x="5192283" y="2709335"/>
              <a:ext cx="3041550" cy="18563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grpSp>
          <p:nvGrpSpPr>
            <p:cNvPr id="9213" name="Google Shape;9213;p89"/>
            <p:cNvGrpSpPr/>
            <p:nvPr/>
          </p:nvGrpSpPr>
          <p:grpSpPr>
            <a:xfrm>
              <a:off x="5164667" y="4826000"/>
              <a:ext cx="2979208" cy="973667"/>
              <a:chOff x="2592388" y="5601756"/>
              <a:chExt cx="4027487" cy="939800"/>
            </a:xfrm>
          </p:grpSpPr>
          <p:sp>
            <p:nvSpPr>
              <p:cNvPr id="9214" name="Google Shape;9214;p89"/>
              <p:cNvSpPr/>
              <p:nvPr/>
            </p:nvSpPr>
            <p:spPr>
              <a:xfrm>
                <a:off x="2592388" y="5601756"/>
                <a:ext cx="4027487" cy="939800"/>
              </a:xfrm>
              <a:custGeom>
                <a:rect b="b" l="l" r="r" t="t"/>
                <a:pathLst>
                  <a:path extrusionOk="0" h="10125" w="10001">
                    <a:moveTo>
                      <a:pt x="4" y="4039"/>
                    </a:moveTo>
                    <a:cubicBezTo>
                      <a:pt x="-29" y="2271"/>
                      <a:pt x="194" y="2100"/>
                      <a:pt x="715" y="1595"/>
                    </a:cubicBezTo>
                    <a:cubicBezTo>
                      <a:pt x="1236" y="1089"/>
                      <a:pt x="2417" y="1272"/>
                      <a:pt x="3130" y="1006"/>
                    </a:cubicBezTo>
                    <a:cubicBezTo>
                      <a:pt x="3843" y="740"/>
                      <a:pt x="4397" y="0"/>
                      <a:pt x="4995" y="0"/>
                    </a:cubicBezTo>
                    <a:cubicBezTo>
                      <a:pt x="5593" y="1"/>
                      <a:pt x="6206" y="926"/>
                      <a:pt x="6720" y="1009"/>
                    </a:cubicBezTo>
                    <a:cubicBezTo>
                      <a:pt x="7234" y="1092"/>
                      <a:pt x="7536" y="241"/>
                      <a:pt x="8082" y="497"/>
                    </a:cubicBezTo>
                    <a:cubicBezTo>
                      <a:pt x="8628" y="756"/>
                      <a:pt x="9854" y="442"/>
                      <a:pt x="9989" y="2989"/>
                    </a:cubicBezTo>
                    <a:cubicBezTo>
                      <a:pt x="10124" y="5536"/>
                      <a:pt x="9098" y="5742"/>
                      <a:pt x="8599" y="6797"/>
                    </a:cubicBezTo>
                    <a:cubicBezTo>
                      <a:pt x="8100" y="7852"/>
                      <a:pt x="7544" y="8981"/>
                      <a:pt x="6995" y="9322"/>
                    </a:cubicBezTo>
                    <a:cubicBezTo>
                      <a:pt x="6446" y="9663"/>
                      <a:pt x="5793" y="8957"/>
                      <a:pt x="5307" y="8843"/>
                    </a:cubicBezTo>
                    <a:cubicBezTo>
                      <a:pt x="4819" y="8726"/>
                      <a:pt x="4628" y="10048"/>
                      <a:pt x="4371" y="9912"/>
                    </a:cubicBezTo>
                    <a:cubicBezTo>
                      <a:pt x="4114" y="9775"/>
                      <a:pt x="3505" y="10355"/>
                      <a:pt x="3140" y="10019"/>
                    </a:cubicBezTo>
                    <a:cubicBezTo>
                      <a:pt x="2774" y="9683"/>
                      <a:pt x="2820" y="8138"/>
                      <a:pt x="2179" y="7895"/>
                    </a:cubicBezTo>
                    <a:cubicBezTo>
                      <a:pt x="1586" y="6800"/>
                      <a:pt x="1549" y="8137"/>
                      <a:pt x="1187" y="7495"/>
                    </a:cubicBezTo>
                    <a:cubicBezTo>
                      <a:pt x="825" y="6852"/>
                      <a:pt x="-7" y="6157"/>
                      <a:pt x="4" y="4039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215" name="Google Shape;9215;p89"/>
              <p:cNvCxnSpPr/>
              <p:nvPr/>
            </p:nvCxnSpPr>
            <p:spPr>
              <a:xfrm flipH="1" rot="10800000">
                <a:off x="3262941" y="5752569"/>
                <a:ext cx="1316038" cy="131762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6" name="Google Shape;9216;p89"/>
              <p:cNvCxnSpPr/>
              <p:nvPr/>
            </p:nvCxnSpPr>
            <p:spPr>
              <a:xfrm>
                <a:off x="3151816" y="5939894"/>
                <a:ext cx="2259013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7" name="Google Shape;9217;p89"/>
              <p:cNvCxnSpPr/>
              <p:nvPr/>
            </p:nvCxnSpPr>
            <p:spPr>
              <a:xfrm>
                <a:off x="3164516" y="6044669"/>
                <a:ext cx="714375" cy="2762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8" name="Google Shape;9218;p89"/>
              <p:cNvCxnSpPr/>
              <p:nvPr/>
            </p:nvCxnSpPr>
            <p:spPr>
              <a:xfrm flipH="1" rot="10800000">
                <a:off x="4182104" y="6238344"/>
                <a:ext cx="1247775" cy="825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9" name="Google Shape;9219;p89"/>
              <p:cNvCxnSpPr/>
              <p:nvPr/>
            </p:nvCxnSpPr>
            <p:spPr>
              <a:xfrm>
                <a:off x="4842504" y="5785906"/>
                <a:ext cx="1057275" cy="12382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0" name="Google Shape;9220;p89"/>
              <p:cNvCxnSpPr/>
              <p:nvPr/>
            </p:nvCxnSpPr>
            <p:spPr>
              <a:xfrm flipH="1" rot="10800000">
                <a:off x="4126541" y="5939894"/>
                <a:ext cx="1790700" cy="2984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1" name="Google Shape;9221;p89"/>
              <p:cNvCxnSpPr/>
              <p:nvPr/>
            </p:nvCxnSpPr>
            <p:spPr>
              <a:xfrm flipH="1" rot="10800000">
                <a:off x="5453691" y="5968469"/>
                <a:ext cx="588963" cy="2698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22" name="Google Shape;9222;p89"/>
              <p:cNvCxnSpPr/>
              <p:nvPr/>
            </p:nvCxnSpPr>
            <p:spPr>
              <a:xfrm>
                <a:off x="4596441" y="5752569"/>
                <a:ext cx="814388" cy="401637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9223" name="Google Shape;9223;p89"/>
              <p:cNvGrpSpPr/>
              <p:nvPr/>
            </p:nvGrpSpPr>
            <p:grpSpPr>
              <a:xfrm>
                <a:off x="5856401" y="5796097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24" name="Google Shape;922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5" name="Google Shape;922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6" name="Google Shape;922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7" name="Google Shape;922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8" name="Google Shape;922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29" name="Google Shape;922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0" name="Google Shape;923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31" name="Google Shape;9231;p89"/>
                <p:cNvCxnSpPr>
                  <a:endCxn id="922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32" name="Google Shape;923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33" name="Google Shape;9233;p89"/>
              <p:cNvGrpSpPr/>
              <p:nvPr/>
            </p:nvGrpSpPr>
            <p:grpSpPr>
              <a:xfrm>
                <a:off x="4375328" y="5654000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34" name="Google Shape;923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5" name="Google Shape;923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6" name="Google Shape;923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7" name="Google Shape;923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8" name="Google Shape;923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39" name="Google Shape;923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0" name="Google Shape;924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41" name="Google Shape;9241;p89"/>
                <p:cNvCxnSpPr>
                  <a:endCxn id="923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42" name="Google Shape;924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43" name="Google Shape;9243;p89"/>
              <p:cNvGrpSpPr/>
              <p:nvPr/>
            </p:nvGrpSpPr>
            <p:grpSpPr>
              <a:xfrm>
                <a:off x="2848241" y="5847813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44" name="Google Shape;924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5" name="Google Shape;924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6" name="Google Shape;924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7" name="Google Shape;924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8" name="Google Shape;924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49" name="Google Shape;924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0" name="Google Shape;925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51" name="Google Shape;9251;p89"/>
                <p:cNvCxnSpPr>
                  <a:endCxn id="924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52" name="Google Shape;925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53" name="Google Shape;9253;p89"/>
              <p:cNvGrpSpPr/>
              <p:nvPr/>
            </p:nvGrpSpPr>
            <p:grpSpPr>
              <a:xfrm>
                <a:off x="5166757" y="611415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54" name="Google Shape;925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5" name="Google Shape;925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6" name="Google Shape;925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7" name="Google Shape;925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8" name="Google Shape;925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59" name="Google Shape;925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0" name="Google Shape;926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61" name="Google Shape;9261;p89"/>
                <p:cNvCxnSpPr>
                  <a:endCxn id="925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62" name="Google Shape;926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  <p:grpSp>
            <p:nvGrpSpPr>
              <p:cNvPr id="9263" name="Google Shape;9263;p89"/>
              <p:cNvGrpSpPr/>
              <p:nvPr/>
            </p:nvGrpSpPr>
            <p:grpSpPr>
              <a:xfrm>
                <a:off x="3704088" y="6206732"/>
                <a:ext cx="588970" cy="242608"/>
                <a:chOff x="1871277" y="1576300"/>
                <a:chExt cx="1128371" cy="437861"/>
              </a:xfrm>
            </p:grpSpPr>
            <p:sp>
              <p:nvSpPr>
                <p:cNvPr id="9264" name="Google Shape;9264;p89"/>
                <p:cNvSpPr/>
                <p:nvPr/>
              </p:nvSpPr>
              <p:spPr>
                <a:xfrm flipH="1" rot="10800000">
                  <a:off x="1874446" y="1694641"/>
                  <a:ext cx="1125202" cy="31952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5" name="Google Shape;9265;p89"/>
                <p:cNvSpPr/>
                <p:nvPr/>
              </p:nvSpPr>
              <p:spPr>
                <a:xfrm>
                  <a:off x="1871277" y="1739611"/>
                  <a:ext cx="1128371" cy="115973"/>
                </a:xfrm>
                <a:prstGeom prst="rect">
                  <a:avLst/>
                </a:prstGeom>
                <a:gradFill>
                  <a:gsLst>
                    <a:gs pos="0">
                      <a:srgbClr val="262699"/>
                    </a:gs>
                    <a:gs pos="52999">
                      <a:srgbClr val="8383E0"/>
                    </a:gs>
                    <a:gs pos="100000">
                      <a:srgbClr val="262699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6" name="Google Shape;9266;p89"/>
                <p:cNvSpPr/>
                <p:nvPr/>
              </p:nvSpPr>
              <p:spPr>
                <a:xfrm flipH="1" rot="10800000">
                  <a:off x="1871277" y="1576300"/>
                  <a:ext cx="1125200" cy="31952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7" name="Google Shape;9267;p89"/>
                <p:cNvSpPr/>
                <p:nvPr/>
              </p:nvSpPr>
              <p:spPr>
                <a:xfrm>
                  <a:off x="2159708" y="1673340"/>
                  <a:ext cx="548339" cy="160943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8" name="Google Shape;9268;p89"/>
                <p:cNvSpPr/>
                <p:nvPr/>
              </p:nvSpPr>
              <p:spPr>
                <a:xfrm>
                  <a:off x="2102655" y="1633103"/>
                  <a:ext cx="662444" cy="11124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69" name="Google Shape;9269;p89"/>
                <p:cNvSpPr/>
                <p:nvPr/>
              </p:nvSpPr>
              <p:spPr>
                <a:xfrm>
                  <a:off x="2536889" y="1727776"/>
                  <a:ext cx="244057" cy="9704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9270" name="Google Shape;9270;p89"/>
                <p:cNvSpPr/>
                <p:nvPr/>
              </p:nvSpPr>
              <p:spPr>
                <a:xfrm>
                  <a:off x="2089977" y="1730144"/>
                  <a:ext cx="240888" cy="97039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9271" name="Google Shape;9271;p89"/>
                <p:cNvCxnSpPr>
                  <a:endCxn id="9266" idx="2"/>
                </p:cNvCxnSpPr>
                <p:nvPr/>
              </p:nvCxnSpPr>
              <p:spPr>
                <a:xfrm rot="10800000">
                  <a:off x="1871277" y="1736060"/>
                  <a:ext cx="3300" cy="123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  <p:cxnSp>
              <p:nvCxnSpPr>
                <p:cNvPr id="9272" name="Google Shape;9272;p89"/>
                <p:cNvCxnSpPr/>
                <p:nvPr/>
              </p:nvCxnSpPr>
              <p:spPr>
                <a:xfrm rot="10800000">
                  <a:off x="2996477" y="1734877"/>
                  <a:ext cx="3171" cy="12307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5" rotWithShape="0" algn="tl" dir="5400000" dist="19939">
                    <a:srgbClr val="00000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9273" name="Google Shape;9273;p89"/>
            <p:cNvGrpSpPr/>
            <p:nvPr/>
          </p:nvGrpSpPr>
          <p:grpSpPr>
            <a:xfrm>
              <a:off x="4990227" y="3046752"/>
              <a:ext cx="3116606" cy="1053561"/>
              <a:chOff x="4990227" y="2877416"/>
              <a:chExt cx="3116606" cy="1053561"/>
            </a:xfrm>
          </p:grpSpPr>
          <p:sp>
            <p:nvSpPr>
              <p:cNvPr id="9274" name="Google Shape;9274;p89"/>
              <p:cNvSpPr/>
              <p:nvPr/>
            </p:nvSpPr>
            <p:spPr>
              <a:xfrm>
                <a:off x="5418665" y="2913389"/>
                <a:ext cx="2688168" cy="1017588"/>
              </a:xfrm>
              <a:prstGeom prst="rect">
                <a:avLst/>
              </a:prstGeom>
              <a:solidFill>
                <a:srgbClr val="D0D0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275" name="Google Shape;9275;p89"/>
              <p:cNvSpPr/>
              <p:nvPr/>
            </p:nvSpPr>
            <p:spPr>
              <a:xfrm>
                <a:off x="5218221" y="2877416"/>
                <a:ext cx="213773" cy="1028160"/>
              </a:xfrm>
              <a:custGeom>
                <a:rect b="b" l="l" r="r" t="t"/>
                <a:pathLst>
                  <a:path extrusionOk="0" h="1027869" w="215301">
                    <a:moveTo>
                      <a:pt x="15446" y="745656"/>
                    </a:moveTo>
                    <a:lnTo>
                      <a:pt x="209366" y="0"/>
                    </a:lnTo>
                    <a:cubicBezTo>
                      <a:pt x="211344" y="342623"/>
                      <a:pt x="213323" y="685246"/>
                      <a:pt x="215301" y="1027869"/>
                    </a:cubicBezTo>
                    <a:cubicBezTo>
                      <a:pt x="115469" y="960083"/>
                      <a:pt x="99918" y="931665"/>
                      <a:pt x="87" y="888484"/>
                    </a:cubicBezTo>
                    <a:cubicBezTo>
                      <a:pt x="-1403" y="675204"/>
                      <a:pt x="16936" y="958936"/>
                      <a:pt x="15446" y="745656"/>
                    </a:cubicBezTo>
                    <a:close/>
                  </a:path>
                </a:pathLst>
              </a:custGeom>
              <a:gradFill>
                <a:gsLst>
                  <a:gs pos="0">
                    <a:srgbClr val="F2F2F2"/>
                  </a:gs>
                  <a:gs pos="100000">
                    <a:srgbClr val="D0D0F4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9276" name="Google Shape;9276;p89"/>
              <p:cNvGrpSpPr/>
              <p:nvPr/>
            </p:nvGrpSpPr>
            <p:grpSpPr>
              <a:xfrm>
                <a:off x="4990227" y="3351862"/>
                <a:ext cx="251561" cy="564103"/>
                <a:chOff x="4140" y="429"/>
                <a:chExt cx="1425" cy="2396"/>
              </a:xfrm>
            </p:grpSpPr>
            <p:sp>
              <p:nvSpPr>
                <p:cNvPr id="9277" name="Google Shape;9277;p89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8" name="Google Shape;9278;p89"/>
                <p:cNvSpPr/>
                <p:nvPr/>
              </p:nvSpPr>
              <p:spPr>
                <a:xfrm>
                  <a:off x="4210" y="429"/>
                  <a:ext cx="1046" cy="2285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79" name="Google Shape;9279;p89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0" name="Google Shape;9280;p89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81" name="Google Shape;9281;p89"/>
                <p:cNvSpPr/>
                <p:nvPr/>
              </p:nvSpPr>
              <p:spPr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2" name="Google Shape;9282;p89"/>
                <p:cNvGrpSpPr/>
                <p:nvPr/>
              </p:nvGrpSpPr>
              <p:grpSpPr>
                <a:xfrm>
                  <a:off x="4748" y="666"/>
                  <a:ext cx="578" cy="150"/>
                  <a:chOff x="613" y="2566"/>
                  <a:chExt cx="721" cy="144"/>
                </a:xfrm>
              </p:grpSpPr>
              <p:sp>
                <p:nvSpPr>
                  <p:cNvPr id="9283" name="Google Shape;9283;p89"/>
                  <p:cNvSpPr/>
                  <p:nvPr/>
                </p:nvSpPr>
                <p:spPr>
                  <a:xfrm>
                    <a:off x="613" y="2566"/>
                    <a:ext cx="721" cy="14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4" name="Google Shape;9284;p89"/>
                  <p:cNvSpPr/>
                  <p:nvPr/>
                </p:nvSpPr>
                <p:spPr>
                  <a:xfrm>
                    <a:off x="625" y="2581"/>
                    <a:ext cx="696" cy="114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5" name="Google Shape;9285;p89"/>
                <p:cNvSpPr/>
                <p:nvPr/>
              </p:nvSpPr>
              <p:spPr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86" name="Google Shape;9286;p89"/>
                <p:cNvGrpSpPr/>
                <p:nvPr/>
              </p:nvGrpSpPr>
              <p:grpSpPr>
                <a:xfrm>
                  <a:off x="4748" y="990"/>
                  <a:ext cx="578" cy="134"/>
                  <a:chOff x="615" y="2564"/>
                  <a:chExt cx="721" cy="139"/>
                </a:xfrm>
              </p:grpSpPr>
              <p:sp>
                <p:nvSpPr>
                  <p:cNvPr id="9287" name="Google Shape;9287;p89"/>
                  <p:cNvSpPr/>
                  <p:nvPr/>
                </p:nvSpPr>
                <p:spPr>
                  <a:xfrm>
                    <a:off x="615" y="2564"/>
                    <a:ext cx="721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88" name="Google Shape;9288;p89"/>
                  <p:cNvSpPr/>
                  <p:nvPr/>
                </p:nvSpPr>
                <p:spPr>
                  <a:xfrm>
                    <a:off x="628" y="2581"/>
                    <a:ext cx="696" cy="107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89" name="Google Shape;9289;p89"/>
                <p:cNvSpPr/>
                <p:nvPr/>
              </p:nvSpPr>
              <p:spPr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0" name="Google Shape;9290;p89"/>
                <p:cNvSpPr/>
                <p:nvPr/>
              </p:nvSpPr>
              <p:spPr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1" name="Google Shape;9291;p89"/>
                <p:cNvGrpSpPr/>
                <p:nvPr/>
              </p:nvGrpSpPr>
              <p:grpSpPr>
                <a:xfrm>
                  <a:off x="4738" y="1647"/>
                  <a:ext cx="578" cy="135"/>
                  <a:chOff x="618" y="2586"/>
                  <a:chExt cx="720" cy="124"/>
                </a:xfrm>
              </p:grpSpPr>
              <p:sp>
                <p:nvSpPr>
                  <p:cNvPr id="9292" name="Google Shape;9292;p89"/>
                  <p:cNvSpPr/>
                  <p:nvPr/>
                </p:nvSpPr>
                <p:spPr>
                  <a:xfrm>
                    <a:off x="618" y="2586"/>
                    <a:ext cx="720" cy="12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3" name="Google Shape;9293;p89"/>
                  <p:cNvSpPr/>
                  <p:nvPr/>
                </p:nvSpPr>
                <p:spPr>
                  <a:xfrm>
                    <a:off x="630" y="2586"/>
                    <a:ext cx="695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4" name="Google Shape;9294;p89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295" name="Google Shape;9295;p89"/>
                <p:cNvGrpSpPr/>
                <p:nvPr/>
              </p:nvGrpSpPr>
              <p:grpSpPr>
                <a:xfrm>
                  <a:off x="4738" y="1330"/>
                  <a:ext cx="588" cy="134"/>
                  <a:chOff x="613" y="2571"/>
                  <a:chExt cx="732" cy="134"/>
                </a:xfrm>
              </p:grpSpPr>
              <p:sp>
                <p:nvSpPr>
                  <p:cNvPr id="9296" name="Google Shape;9296;p89"/>
                  <p:cNvSpPr/>
                  <p:nvPr/>
                </p:nvSpPr>
                <p:spPr>
                  <a:xfrm>
                    <a:off x="613" y="2571"/>
                    <a:ext cx="732" cy="134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97" name="Google Shape;9297;p89"/>
                  <p:cNvSpPr/>
                  <p:nvPr/>
                </p:nvSpPr>
                <p:spPr>
                  <a:xfrm>
                    <a:off x="625" y="2587"/>
                    <a:ext cx="720" cy="103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298" name="Google Shape;9298;p89"/>
                <p:cNvSpPr/>
                <p:nvPr/>
              </p:nvSpPr>
              <p:spPr>
                <a:xfrm>
                  <a:off x="5246" y="429"/>
                  <a:ext cx="70" cy="2285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99" name="Google Shape;9299;p89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0" name="Google Shape;9300;p89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1" name="Google Shape;9301;p89"/>
                <p:cNvSpPr/>
                <p:nvPr/>
              </p:nvSpPr>
              <p:spPr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2" name="Google Shape;9302;p89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3" name="Google Shape;9303;p89"/>
                <p:cNvSpPr/>
                <p:nvPr/>
              </p:nvSpPr>
              <p:spPr>
                <a:xfrm>
                  <a:off x="4140" y="2675"/>
                  <a:ext cx="1196" cy="15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4" name="Google Shape;9304;p89"/>
                <p:cNvSpPr/>
                <p:nvPr/>
              </p:nvSpPr>
              <p:spPr>
                <a:xfrm>
                  <a:off x="4210" y="2714"/>
                  <a:ext cx="1066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5" name="Google Shape;9305;p89"/>
                <p:cNvSpPr/>
                <p:nvPr/>
              </p:nvSpPr>
              <p:spPr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6" name="Google Shape;9306;p89"/>
                <p:cNvSpPr/>
                <p:nvPr/>
              </p:nvSpPr>
              <p:spPr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7" name="Google Shape;9307;p89"/>
                <p:cNvSpPr/>
                <p:nvPr/>
              </p:nvSpPr>
              <p:spPr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308" name="Google Shape;9308;p89"/>
                <p:cNvSpPr/>
                <p:nvPr/>
              </p:nvSpPr>
              <p:spPr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309" name="Google Shape;9309;p89"/>
              <p:cNvSpPr txBox="1"/>
              <p:nvPr/>
            </p:nvSpPr>
            <p:spPr>
              <a:xfrm>
                <a:off x="5377031" y="3090332"/>
                <a:ext cx="2659202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SDN Controller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(network operating system)</a:t>
                </a:r>
                <a:endParaRPr/>
              </a:p>
            </p:txBody>
          </p:sp>
        </p:grpSp>
        <p:sp>
          <p:nvSpPr>
            <p:cNvPr id="9310" name="Google Shape;9310;p89"/>
            <p:cNvSpPr txBox="1"/>
            <p:nvPr/>
          </p:nvSpPr>
          <p:spPr>
            <a:xfrm>
              <a:off x="6837708" y="1058305"/>
              <a:ext cx="595035" cy="5847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8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grpSp>
          <p:nvGrpSpPr>
            <p:cNvPr id="9311" name="Google Shape;9311;p89"/>
            <p:cNvGrpSpPr/>
            <p:nvPr/>
          </p:nvGrpSpPr>
          <p:grpSpPr>
            <a:xfrm>
              <a:off x="5165914" y="1277466"/>
              <a:ext cx="1023471" cy="590176"/>
              <a:chOff x="4721412" y="1277470"/>
              <a:chExt cx="1023471" cy="590176"/>
            </a:xfrm>
          </p:grpSpPr>
          <p:sp>
            <p:nvSpPr>
              <p:cNvPr id="9312" name="Google Shape;9312;p89"/>
              <p:cNvSpPr/>
              <p:nvPr/>
            </p:nvSpPr>
            <p:spPr>
              <a:xfrm>
                <a:off x="4721412" y="1277470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3" name="Google Shape;9313;p89"/>
              <p:cNvSpPr txBox="1"/>
              <p:nvPr/>
            </p:nvSpPr>
            <p:spPr>
              <a:xfrm>
                <a:off x="4792385" y="1374585"/>
                <a:ext cx="89046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routing</a:t>
                </a:r>
                <a:endParaRPr/>
              </a:p>
            </p:txBody>
          </p:sp>
        </p:grpSp>
        <p:grpSp>
          <p:nvGrpSpPr>
            <p:cNvPr id="9314" name="Google Shape;9314;p89"/>
            <p:cNvGrpSpPr/>
            <p:nvPr/>
          </p:nvGrpSpPr>
          <p:grpSpPr>
            <a:xfrm>
              <a:off x="6000628" y="1798416"/>
              <a:ext cx="1023471" cy="590176"/>
              <a:chOff x="6106459" y="1967753"/>
              <a:chExt cx="1023471" cy="590176"/>
            </a:xfrm>
          </p:grpSpPr>
          <p:sp>
            <p:nvSpPr>
              <p:cNvPr id="9315" name="Google Shape;9315;p89"/>
              <p:cNvSpPr/>
              <p:nvPr/>
            </p:nvSpPr>
            <p:spPr>
              <a:xfrm>
                <a:off x="6106459" y="19677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6" name="Google Shape;9316;p89"/>
              <p:cNvSpPr txBox="1"/>
              <p:nvPr/>
            </p:nvSpPr>
            <p:spPr>
              <a:xfrm>
                <a:off x="6177429" y="1997637"/>
                <a:ext cx="903087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access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</a:t>
                </a:r>
                <a:endParaRPr/>
              </a:p>
            </p:txBody>
          </p:sp>
        </p:grpSp>
        <p:grpSp>
          <p:nvGrpSpPr>
            <p:cNvPr id="9317" name="Google Shape;9317;p89"/>
            <p:cNvGrpSpPr/>
            <p:nvPr/>
          </p:nvGrpSpPr>
          <p:grpSpPr>
            <a:xfrm>
              <a:off x="7230837" y="1756871"/>
              <a:ext cx="1023471" cy="590176"/>
              <a:chOff x="6938682" y="977153"/>
              <a:chExt cx="1023471" cy="590176"/>
            </a:xfrm>
          </p:grpSpPr>
          <p:sp>
            <p:nvSpPr>
              <p:cNvPr id="9318" name="Google Shape;9318;p89"/>
              <p:cNvSpPr/>
              <p:nvPr/>
            </p:nvSpPr>
            <p:spPr>
              <a:xfrm>
                <a:off x="6938682" y="977153"/>
                <a:ext cx="1023471" cy="590176"/>
              </a:xfrm>
              <a:prstGeom prst="ellipse">
                <a:avLst/>
              </a:prstGeom>
              <a:solidFill>
                <a:srgbClr val="E1EFD8">
                  <a:alpha val="69803"/>
                </a:srgbClr>
              </a:solidFill>
              <a:ln cap="flat" cmpd="sng" w="9525">
                <a:solidFill>
                  <a:srgbClr val="008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19" name="Google Shape;9319;p89"/>
              <p:cNvSpPr txBox="1"/>
              <p:nvPr/>
            </p:nvSpPr>
            <p:spPr>
              <a:xfrm>
                <a:off x="6964568" y="1007037"/>
                <a:ext cx="993256" cy="544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load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balance</a:t>
                </a:r>
                <a:endParaRPr/>
              </a:p>
            </p:txBody>
          </p:sp>
        </p:grpSp>
        <p:cxnSp>
          <p:nvCxnSpPr>
            <p:cNvPr id="9320" name="Google Shape;9320;p89"/>
            <p:cNvCxnSpPr/>
            <p:nvPr/>
          </p:nvCxnSpPr>
          <p:spPr>
            <a:xfrm rot="10800000">
              <a:off x="8627245" y="1217948"/>
              <a:ext cx="0" cy="1248832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1" name="Google Shape;9321;p89"/>
            <p:cNvCxnSpPr/>
            <p:nvPr/>
          </p:nvCxnSpPr>
          <p:spPr>
            <a:xfrm>
              <a:off x="8652645" y="2966181"/>
              <a:ext cx="0" cy="152442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2" name="Google Shape;9322;p89"/>
            <p:cNvCxnSpPr/>
            <p:nvPr/>
          </p:nvCxnSpPr>
          <p:spPr>
            <a:xfrm>
              <a:off x="8661016" y="5381629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323" name="Google Shape;9323;p89"/>
            <p:cNvCxnSpPr/>
            <p:nvPr/>
          </p:nvCxnSpPr>
          <p:spPr>
            <a:xfrm rot="10800000">
              <a:off x="8653320" y="4546025"/>
              <a:ext cx="0" cy="414864"/>
            </a:xfrm>
            <a:prstGeom prst="straightConnector1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324" name="Google Shape;9324;p89"/>
            <p:cNvSpPr txBox="1"/>
            <p:nvPr/>
          </p:nvSpPr>
          <p:spPr>
            <a:xfrm>
              <a:off x="6650715" y="4235599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API</a:t>
              </a:r>
              <a:endParaRPr/>
            </a:p>
          </p:txBody>
        </p:sp>
        <p:sp>
          <p:nvSpPr>
            <p:cNvPr id="9325" name="Google Shape;9325;p89"/>
            <p:cNvSpPr txBox="1"/>
            <p:nvPr/>
          </p:nvSpPr>
          <p:spPr>
            <a:xfrm>
              <a:off x="6646778" y="2717781"/>
              <a:ext cx="163588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northbound API</a:t>
              </a:r>
              <a:endParaRPr/>
            </a:p>
          </p:txBody>
        </p:sp>
        <p:sp>
          <p:nvSpPr>
            <p:cNvPr id="9326" name="Google Shape;9326;p89"/>
            <p:cNvSpPr txBox="1"/>
            <p:nvPr/>
          </p:nvSpPr>
          <p:spPr>
            <a:xfrm>
              <a:off x="5507651" y="5795718"/>
              <a:ext cx="2302688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SDN-controlled switches</a:t>
              </a:r>
              <a:endParaRPr/>
            </a:p>
          </p:txBody>
        </p:sp>
        <p:sp>
          <p:nvSpPr>
            <p:cNvPr id="9327" name="Google Shape;9327;p89"/>
            <p:cNvSpPr txBox="1"/>
            <p:nvPr/>
          </p:nvSpPr>
          <p:spPr>
            <a:xfrm>
              <a:off x="5707907" y="910464"/>
              <a:ext cx="2381659" cy="284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network-control applications</a:t>
              </a:r>
              <a:endParaRPr/>
            </a:p>
          </p:txBody>
        </p:sp>
      </p:grpSp>
      <p:sp>
        <p:nvSpPr>
          <p:cNvPr id="9328" name="Google Shape;9328;p89"/>
          <p:cNvSpPr/>
          <p:nvPr/>
        </p:nvSpPr>
        <p:spPr>
          <a:xfrm>
            <a:off x="6727429" y="3557392"/>
            <a:ext cx="4134334" cy="1167008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329" name="Google Shape;9329;p89"/>
          <p:cNvSpPr/>
          <p:nvPr/>
        </p:nvSpPr>
        <p:spPr>
          <a:xfrm>
            <a:off x="6929934" y="5060985"/>
            <a:ext cx="3767293" cy="1527705"/>
          </a:xfrm>
          <a:prstGeom prst="rect">
            <a:avLst/>
          </a:prstGeom>
          <a:solidFill>
            <a:srgbClr val="FFFFFF">
              <a:alpha val="7686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3" name="Shape 9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4" name="Google Shape;9334;p90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SDN controller</a:t>
            </a:r>
            <a:endParaRPr/>
          </a:p>
        </p:txBody>
      </p:sp>
      <p:sp>
        <p:nvSpPr>
          <p:cNvPr id="9335" name="Google Shape;9335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6" name="Google Shape;9336;p90"/>
          <p:cNvSpPr/>
          <p:nvPr/>
        </p:nvSpPr>
        <p:spPr>
          <a:xfrm>
            <a:off x="4808857" y="2082088"/>
            <a:ext cx="5228030" cy="3568673"/>
          </a:xfrm>
          <a:prstGeom prst="rect">
            <a:avLst/>
          </a:prstGeom>
          <a:solidFill>
            <a:srgbClr val="D0D0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337" name="Google Shape;9337;p90"/>
          <p:cNvCxnSpPr>
            <a:endCxn id="9338" idx="4"/>
          </p:cNvCxnSpPr>
          <p:nvPr/>
        </p:nvCxnSpPr>
        <p:spPr>
          <a:xfrm rot="10800000">
            <a:off x="8244907" y="1910774"/>
            <a:ext cx="600" cy="4077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39" name="Google Shape;9339;p90"/>
          <p:cNvSpPr/>
          <p:nvPr/>
        </p:nvSpPr>
        <p:spPr>
          <a:xfrm>
            <a:off x="4947365" y="3165861"/>
            <a:ext cx="4945030" cy="1553784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0" name="Google Shape;9340;p90"/>
          <p:cNvSpPr/>
          <p:nvPr/>
        </p:nvSpPr>
        <p:spPr>
          <a:xfrm>
            <a:off x="4947365" y="4779178"/>
            <a:ext cx="4959028" cy="73797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1" name="Google Shape;9341;p90"/>
          <p:cNvCxnSpPr/>
          <p:nvPr/>
        </p:nvCxnSpPr>
        <p:spPr>
          <a:xfrm>
            <a:off x="5032372" y="5687428"/>
            <a:ext cx="4860022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42" name="Google Shape;9342;p90"/>
          <p:cNvSpPr txBox="1"/>
          <p:nvPr/>
        </p:nvSpPr>
        <p:spPr>
          <a:xfrm>
            <a:off x="4964055" y="3773215"/>
            <a:ext cx="5089063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Network-wide distributed, robust  state management</a:t>
            </a:r>
            <a:endParaRPr/>
          </a:p>
        </p:txBody>
      </p:sp>
      <p:sp>
        <p:nvSpPr>
          <p:cNvPr id="9343" name="Google Shape;9343;p90"/>
          <p:cNvSpPr txBox="1"/>
          <p:nvPr/>
        </p:nvSpPr>
        <p:spPr>
          <a:xfrm>
            <a:off x="5352533" y="5171961"/>
            <a:ext cx="4033912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to/from controlled devices</a:t>
            </a:r>
            <a:endParaRPr/>
          </a:p>
        </p:txBody>
      </p:sp>
      <p:grpSp>
        <p:nvGrpSpPr>
          <p:cNvPr id="9344" name="Google Shape;9344;p90"/>
          <p:cNvGrpSpPr/>
          <p:nvPr/>
        </p:nvGrpSpPr>
        <p:grpSpPr>
          <a:xfrm>
            <a:off x="5266463" y="4140643"/>
            <a:ext cx="1244650" cy="459826"/>
            <a:chOff x="3128876" y="457817"/>
            <a:chExt cx="1432326" cy="459826"/>
          </a:xfrm>
        </p:grpSpPr>
        <p:sp>
          <p:nvSpPr>
            <p:cNvPr id="9345" name="Google Shape;934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6" name="Google Shape;9346;p90"/>
            <p:cNvSpPr txBox="1"/>
            <p:nvPr/>
          </p:nvSpPr>
          <p:spPr>
            <a:xfrm>
              <a:off x="3198388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347" name="Google Shape;9347;p90"/>
          <p:cNvGrpSpPr/>
          <p:nvPr/>
        </p:nvGrpSpPr>
        <p:grpSpPr>
          <a:xfrm>
            <a:off x="8350067" y="4140643"/>
            <a:ext cx="1022824" cy="459826"/>
            <a:chOff x="3086839" y="457817"/>
            <a:chExt cx="1525489" cy="459826"/>
          </a:xfrm>
        </p:grpSpPr>
        <p:sp>
          <p:nvSpPr>
            <p:cNvPr id="9348" name="Google Shape;934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9" name="Google Shape;9349;p90"/>
            <p:cNvSpPr txBox="1"/>
            <p:nvPr/>
          </p:nvSpPr>
          <p:spPr>
            <a:xfrm>
              <a:off x="3086839" y="541671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350" name="Google Shape;9350;p90"/>
          <p:cNvGrpSpPr/>
          <p:nvPr/>
        </p:nvGrpSpPr>
        <p:grpSpPr>
          <a:xfrm>
            <a:off x="6658595" y="4140643"/>
            <a:ext cx="960359" cy="459826"/>
            <a:chOff x="3128876" y="457817"/>
            <a:chExt cx="1432326" cy="459826"/>
          </a:xfrm>
        </p:grpSpPr>
        <p:sp>
          <p:nvSpPr>
            <p:cNvPr id="9351" name="Google Shape;935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2" name="Google Shape;9352;p90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353" name="Google Shape;9353;p90"/>
          <p:cNvGrpSpPr/>
          <p:nvPr/>
        </p:nvGrpSpPr>
        <p:grpSpPr>
          <a:xfrm>
            <a:off x="6114701" y="3277496"/>
            <a:ext cx="889706" cy="459826"/>
            <a:chOff x="3128876" y="457817"/>
            <a:chExt cx="1432326" cy="459826"/>
          </a:xfrm>
        </p:grpSpPr>
        <p:sp>
          <p:nvSpPr>
            <p:cNvPr id="9354" name="Google Shape;9354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5" name="Google Shape;9355;p90"/>
            <p:cNvSpPr txBox="1"/>
            <p:nvPr/>
          </p:nvSpPr>
          <p:spPr>
            <a:xfrm>
              <a:off x="3198565" y="541671"/>
              <a:ext cx="130204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356" name="Google Shape;9356;p90"/>
          <p:cNvGrpSpPr/>
          <p:nvPr/>
        </p:nvGrpSpPr>
        <p:grpSpPr>
          <a:xfrm>
            <a:off x="7912675" y="3289355"/>
            <a:ext cx="1032905" cy="459826"/>
            <a:chOff x="3079326" y="457817"/>
            <a:chExt cx="1540525" cy="459826"/>
          </a:xfrm>
        </p:grpSpPr>
        <p:sp>
          <p:nvSpPr>
            <p:cNvPr id="9357" name="Google Shape;9357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8" name="Google Shape;9358;p90"/>
            <p:cNvSpPr txBox="1"/>
            <p:nvPr/>
          </p:nvSpPr>
          <p:spPr>
            <a:xfrm>
              <a:off x="3079326" y="541671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359" name="Google Shape;9359;p90"/>
          <p:cNvSpPr txBox="1"/>
          <p:nvPr/>
        </p:nvSpPr>
        <p:spPr>
          <a:xfrm>
            <a:off x="7135050" y="3073206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60" name="Google Shape;9360;p90"/>
          <p:cNvSpPr txBox="1"/>
          <p:nvPr/>
        </p:nvSpPr>
        <p:spPr>
          <a:xfrm>
            <a:off x="7681571" y="3979419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361" name="Google Shape;9361;p90"/>
          <p:cNvGrpSpPr/>
          <p:nvPr/>
        </p:nvGrpSpPr>
        <p:grpSpPr>
          <a:xfrm>
            <a:off x="5868362" y="4871857"/>
            <a:ext cx="1257452" cy="286824"/>
            <a:chOff x="3128876" y="457775"/>
            <a:chExt cx="1432326" cy="459868"/>
          </a:xfrm>
        </p:grpSpPr>
        <p:sp>
          <p:nvSpPr>
            <p:cNvPr id="9362" name="Google Shape;9362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3" name="Google Shape;9363;p90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364" name="Google Shape;9364;p90"/>
          <p:cNvGrpSpPr/>
          <p:nvPr/>
        </p:nvGrpSpPr>
        <p:grpSpPr>
          <a:xfrm>
            <a:off x="7737594" y="4876640"/>
            <a:ext cx="1244650" cy="307410"/>
            <a:chOff x="3128876" y="457817"/>
            <a:chExt cx="1432326" cy="459826"/>
          </a:xfrm>
        </p:grpSpPr>
        <p:sp>
          <p:nvSpPr>
            <p:cNvPr id="9365" name="Google Shape;936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6" name="Google Shape;9366;p90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367" name="Google Shape;9367;p90"/>
          <p:cNvSpPr txBox="1"/>
          <p:nvPr/>
        </p:nvSpPr>
        <p:spPr>
          <a:xfrm>
            <a:off x="7120351" y="458514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368" name="Google Shape;9368;p90"/>
          <p:cNvCxnSpPr>
            <a:endCxn id="9369" idx="4"/>
          </p:cNvCxnSpPr>
          <p:nvPr/>
        </p:nvCxnSpPr>
        <p:spPr>
          <a:xfrm flipH="1" rot="10800000">
            <a:off x="5836518" y="1866354"/>
            <a:ext cx="4800" cy="388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0" name="Google Shape;9370;p90"/>
          <p:cNvCxnSpPr>
            <a:endCxn id="9371" idx="2"/>
          </p:cNvCxnSpPr>
          <p:nvPr/>
        </p:nvCxnSpPr>
        <p:spPr>
          <a:xfrm rot="10800000">
            <a:off x="7065791" y="1876324"/>
            <a:ext cx="5700" cy="3024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60606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9372" name="Google Shape;9372;p90"/>
          <p:cNvCxnSpPr/>
          <p:nvPr/>
        </p:nvCxnSpPr>
        <p:spPr>
          <a:xfrm>
            <a:off x="5074063" y="2342893"/>
            <a:ext cx="4818331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73" name="Google Shape;9373;p90"/>
          <p:cNvSpPr/>
          <p:nvPr/>
        </p:nvSpPr>
        <p:spPr>
          <a:xfrm>
            <a:off x="4947365" y="2182258"/>
            <a:ext cx="4951677" cy="932987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4" name="Google Shape;9374;p90"/>
          <p:cNvGrpSpPr/>
          <p:nvPr/>
        </p:nvGrpSpPr>
        <p:grpSpPr>
          <a:xfrm>
            <a:off x="5436759" y="2550631"/>
            <a:ext cx="1033900" cy="504412"/>
            <a:chOff x="3103238" y="432317"/>
            <a:chExt cx="1461287" cy="504412"/>
          </a:xfrm>
        </p:grpSpPr>
        <p:sp>
          <p:nvSpPr>
            <p:cNvPr id="9375" name="Google Shape;9375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6" name="Google Shape;9376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377" name="Google Shape;9377;p90"/>
          <p:cNvGrpSpPr/>
          <p:nvPr/>
        </p:nvGrpSpPr>
        <p:grpSpPr>
          <a:xfrm>
            <a:off x="8404313" y="2596585"/>
            <a:ext cx="1033900" cy="459826"/>
            <a:chOff x="3103238" y="457817"/>
            <a:chExt cx="1461287" cy="459826"/>
          </a:xfrm>
        </p:grpSpPr>
        <p:sp>
          <p:nvSpPr>
            <p:cNvPr id="9378" name="Google Shape;9378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9" name="Google Shape;9379;p90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380" name="Google Shape;9380;p90"/>
          <p:cNvGrpSpPr/>
          <p:nvPr/>
        </p:nvGrpSpPr>
        <p:grpSpPr>
          <a:xfrm>
            <a:off x="6628386" y="2549087"/>
            <a:ext cx="1033900" cy="504412"/>
            <a:chOff x="3103238" y="432317"/>
            <a:chExt cx="1461287" cy="504412"/>
          </a:xfrm>
        </p:grpSpPr>
        <p:sp>
          <p:nvSpPr>
            <p:cNvPr id="9381" name="Google Shape;9381;p90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47FFD0"/>
            </a:solidFill>
            <a:ln cap="flat" cmpd="sng" w="12700">
              <a:solidFill>
                <a:srgbClr val="C1FEE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2" name="Google Shape;9382;p90"/>
            <p:cNvSpPr txBox="1"/>
            <p:nvPr/>
          </p:nvSpPr>
          <p:spPr>
            <a:xfrm>
              <a:off x="3103238" y="432317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383" name="Google Shape;9383;p90"/>
          <p:cNvSpPr txBox="1"/>
          <p:nvPr/>
        </p:nvSpPr>
        <p:spPr>
          <a:xfrm>
            <a:off x="7750348" y="23996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384" name="Google Shape;9384;p90"/>
          <p:cNvSpPr txBox="1"/>
          <p:nvPr/>
        </p:nvSpPr>
        <p:spPr>
          <a:xfrm>
            <a:off x="5178244" y="2216488"/>
            <a:ext cx="4914815" cy="3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Interface, abstractions for network control apps</a:t>
            </a:r>
            <a:endParaRPr/>
          </a:p>
        </p:txBody>
      </p:sp>
      <p:cxnSp>
        <p:nvCxnSpPr>
          <p:cNvPr id="9385" name="Google Shape;9385;p90"/>
          <p:cNvCxnSpPr/>
          <p:nvPr/>
        </p:nvCxnSpPr>
        <p:spPr>
          <a:xfrm>
            <a:off x="5028809" y="2010842"/>
            <a:ext cx="4753400" cy="19546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86" name="Google Shape;9386;p90"/>
          <p:cNvSpPr txBox="1"/>
          <p:nvPr/>
        </p:nvSpPr>
        <p:spPr>
          <a:xfrm>
            <a:off x="10299705" y="3308646"/>
            <a:ext cx="1787912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/>
          </a:p>
        </p:txBody>
      </p:sp>
      <p:grpSp>
        <p:nvGrpSpPr>
          <p:cNvPr id="9387" name="Google Shape;9387;p90"/>
          <p:cNvGrpSpPr/>
          <p:nvPr/>
        </p:nvGrpSpPr>
        <p:grpSpPr>
          <a:xfrm>
            <a:off x="5939083" y="5780474"/>
            <a:ext cx="2979208" cy="973667"/>
            <a:chOff x="2592388" y="5601756"/>
            <a:chExt cx="4027487" cy="939800"/>
          </a:xfrm>
        </p:grpSpPr>
        <p:sp>
          <p:nvSpPr>
            <p:cNvPr id="9388" name="Google Shape;9388;p90"/>
            <p:cNvSpPr/>
            <p:nvPr/>
          </p:nvSpPr>
          <p:spPr>
            <a:xfrm>
              <a:off x="2592388" y="5601756"/>
              <a:ext cx="4027487" cy="939800"/>
            </a:xfrm>
            <a:custGeom>
              <a:rect b="b" l="l" r="r" t="t"/>
              <a:pathLst>
                <a:path extrusionOk="0" h="10125" w="10001">
                  <a:moveTo>
                    <a:pt x="4" y="4039"/>
                  </a:moveTo>
                  <a:cubicBezTo>
                    <a:pt x="-29" y="2271"/>
                    <a:pt x="194" y="2100"/>
                    <a:pt x="715" y="1595"/>
                  </a:cubicBezTo>
                  <a:cubicBezTo>
                    <a:pt x="1236" y="1089"/>
                    <a:pt x="2417" y="1272"/>
                    <a:pt x="3130" y="1006"/>
                  </a:cubicBezTo>
                  <a:cubicBezTo>
                    <a:pt x="3843" y="740"/>
                    <a:pt x="4397" y="0"/>
                    <a:pt x="4995" y="0"/>
                  </a:cubicBezTo>
                  <a:cubicBezTo>
                    <a:pt x="5593" y="1"/>
                    <a:pt x="6206" y="926"/>
                    <a:pt x="6720" y="1009"/>
                  </a:cubicBezTo>
                  <a:cubicBezTo>
                    <a:pt x="7234" y="1092"/>
                    <a:pt x="7536" y="241"/>
                    <a:pt x="8082" y="497"/>
                  </a:cubicBezTo>
                  <a:cubicBezTo>
                    <a:pt x="8628" y="756"/>
                    <a:pt x="9854" y="442"/>
                    <a:pt x="9989" y="2989"/>
                  </a:cubicBezTo>
                  <a:cubicBezTo>
                    <a:pt x="10124" y="5536"/>
                    <a:pt x="9098" y="5742"/>
                    <a:pt x="8599" y="6797"/>
                  </a:cubicBezTo>
                  <a:cubicBezTo>
                    <a:pt x="8100" y="7852"/>
                    <a:pt x="7544" y="8981"/>
                    <a:pt x="6995" y="9322"/>
                  </a:cubicBezTo>
                  <a:cubicBezTo>
                    <a:pt x="6446" y="9663"/>
                    <a:pt x="5793" y="8957"/>
                    <a:pt x="5307" y="8843"/>
                  </a:cubicBezTo>
                  <a:cubicBezTo>
                    <a:pt x="4819" y="8726"/>
                    <a:pt x="4628" y="10048"/>
                    <a:pt x="4371" y="9912"/>
                  </a:cubicBezTo>
                  <a:cubicBezTo>
                    <a:pt x="4114" y="9775"/>
                    <a:pt x="3505" y="10355"/>
                    <a:pt x="3140" y="10019"/>
                  </a:cubicBezTo>
                  <a:cubicBezTo>
                    <a:pt x="2774" y="9683"/>
                    <a:pt x="2820" y="8138"/>
                    <a:pt x="2179" y="7895"/>
                  </a:cubicBezTo>
                  <a:cubicBezTo>
                    <a:pt x="1586" y="6800"/>
                    <a:pt x="1549" y="8137"/>
                    <a:pt x="1187" y="7495"/>
                  </a:cubicBezTo>
                  <a:cubicBezTo>
                    <a:pt x="825" y="6852"/>
                    <a:pt x="-7" y="6157"/>
                    <a:pt x="4" y="403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389" name="Google Shape;9389;p90"/>
            <p:cNvCxnSpPr/>
            <p:nvPr/>
          </p:nvCxnSpPr>
          <p:spPr>
            <a:xfrm flipH="1" rot="10800000">
              <a:off x="3262941" y="5752569"/>
              <a:ext cx="1316038" cy="131762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0" name="Google Shape;9390;p90"/>
            <p:cNvCxnSpPr/>
            <p:nvPr/>
          </p:nvCxnSpPr>
          <p:spPr>
            <a:xfrm>
              <a:off x="3151816" y="5939894"/>
              <a:ext cx="2259013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1" name="Google Shape;9391;p90"/>
            <p:cNvCxnSpPr/>
            <p:nvPr/>
          </p:nvCxnSpPr>
          <p:spPr>
            <a:xfrm>
              <a:off x="3164516" y="6044669"/>
              <a:ext cx="714375" cy="2762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2" name="Google Shape;9392;p90"/>
            <p:cNvCxnSpPr/>
            <p:nvPr/>
          </p:nvCxnSpPr>
          <p:spPr>
            <a:xfrm flipH="1" rot="10800000">
              <a:off x="4182104" y="6238344"/>
              <a:ext cx="1247775" cy="825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3" name="Google Shape;9393;p90"/>
            <p:cNvCxnSpPr/>
            <p:nvPr/>
          </p:nvCxnSpPr>
          <p:spPr>
            <a:xfrm>
              <a:off x="4842504" y="5785906"/>
              <a:ext cx="1057275" cy="12382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4" name="Google Shape;9394;p90"/>
            <p:cNvCxnSpPr/>
            <p:nvPr/>
          </p:nvCxnSpPr>
          <p:spPr>
            <a:xfrm flipH="1" rot="10800000">
              <a:off x="4126541" y="5939894"/>
              <a:ext cx="1790700" cy="29845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5" name="Google Shape;9395;p90"/>
            <p:cNvCxnSpPr/>
            <p:nvPr/>
          </p:nvCxnSpPr>
          <p:spPr>
            <a:xfrm flipH="1" rot="10800000">
              <a:off x="5453691" y="5968469"/>
              <a:ext cx="588963" cy="269875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6" name="Google Shape;9396;p90"/>
            <p:cNvCxnSpPr/>
            <p:nvPr/>
          </p:nvCxnSpPr>
          <p:spPr>
            <a:xfrm>
              <a:off x="4596441" y="5752569"/>
              <a:ext cx="814388" cy="401637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397" name="Google Shape;9397;p90"/>
            <p:cNvGrpSpPr/>
            <p:nvPr/>
          </p:nvGrpSpPr>
          <p:grpSpPr>
            <a:xfrm>
              <a:off x="5856401" y="5796097"/>
              <a:ext cx="588970" cy="242608"/>
              <a:chOff x="1871277" y="1576300"/>
              <a:chExt cx="1128371" cy="437861"/>
            </a:xfrm>
          </p:grpSpPr>
          <p:sp>
            <p:nvSpPr>
              <p:cNvPr id="9398" name="Google Shape;939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399" name="Google Shape;939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0" name="Google Shape;940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1" name="Google Shape;940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2" name="Google Shape;940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3" name="Google Shape;940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4" name="Google Shape;940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05" name="Google Shape;9405;p90"/>
              <p:cNvCxnSpPr>
                <a:endCxn id="940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06" name="Google Shape;940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07" name="Google Shape;9407;p90"/>
            <p:cNvGrpSpPr/>
            <p:nvPr/>
          </p:nvGrpSpPr>
          <p:grpSpPr>
            <a:xfrm>
              <a:off x="4375328" y="5654000"/>
              <a:ext cx="588970" cy="242608"/>
              <a:chOff x="1871277" y="1576300"/>
              <a:chExt cx="1128371" cy="437861"/>
            </a:xfrm>
          </p:grpSpPr>
          <p:sp>
            <p:nvSpPr>
              <p:cNvPr id="9408" name="Google Shape;940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09" name="Google Shape;940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0" name="Google Shape;941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1" name="Google Shape;941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2" name="Google Shape;941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3" name="Google Shape;941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4" name="Google Shape;941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15" name="Google Shape;9415;p90"/>
              <p:cNvCxnSpPr>
                <a:endCxn id="941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16" name="Google Shape;941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17" name="Google Shape;9417;p90"/>
            <p:cNvGrpSpPr/>
            <p:nvPr/>
          </p:nvGrpSpPr>
          <p:grpSpPr>
            <a:xfrm>
              <a:off x="2848241" y="5847813"/>
              <a:ext cx="588970" cy="242608"/>
              <a:chOff x="1871277" y="1576300"/>
              <a:chExt cx="1128371" cy="437861"/>
            </a:xfrm>
          </p:grpSpPr>
          <p:sp>
            <p:nvSpPr>
              <p:cNvPr id="9418" name="Google Shape;941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19" name="Google Shape;941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0" name="Google Shape;942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1" name="Google Shape;942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2" name="Google Shape;942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3" name="Google Shape;942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4" name="Google Shape;942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25" name="Google Shape;9425;p90"/>
              <p:cNvCxnSpPr>
                <a:endCxn id="942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26" name="Google Shape;942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27" name="Google Shape;9427;p90"/>
            <p:cNvGrpSpPr/>
            <p:nvPr/>
          </p:nvGrpSpPr>
          <p:grpSpPr>
            <a:xfrm>
              <a:off x="5166757" y="6114152"/>
              <a:ext cx="588970" cy="242608"/>
              <a:chOff x="1871277" y="1576300"/>
              <a:chExt cx="1128371" cy="437861"/>
            </a:xfrm>
          </p:grpSpPr>
          <p:sp>
            <p:nvSpPr>
              <p:cNvPr id="9428" name="Google Shape;942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29" name="Google Shape;942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0" name="Google Shape;943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1" name="Google Shape;943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2" name="Google Shape;943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3" name="Google Shape;943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4" name="Google Shape;943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35" name="Google Shape;9435;p90"/>
              <p:cNvCxnSpPr>
                <a:endCxn id="943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36" name="Google Shape;943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437" name="Google Shape;9437;p90"/>
            <p:cNvGrpSpPr/>
            <p:nvPr/>
          </p:nvGrpSpPr>
          <p:grpSpPr>
            <a:xfrm>
              <a:off x="3704088" y="6206732"/>
              <a:ext cx="588970" cy="242608"/>
              <a:chOff x="1871277" y="1576300"/>
              <a:chExt cx="1128371" cy="437861"/>
            </a:xfrm>
          </p:grpSpPr>
          <p:sp>
            <p:nvSpPr>
              <p:cNvPr id="9438" name="Google Shape;9438;p90"/>
              <p:cNvSpPr/>
              <p:nvPr/>
            </p:nvSpPr>
            <p:spPr>
              <a:xfrm flipH="1" rot="10800000">
                <a:off x="1874446" y="1694641"/>
                <a:ext cx="1125202" cy="319520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39" name="Google Shape;9439;p90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0" name="Google Shape;9440;p90"/>
              <p:cNvSpPr/>
              <p:nvPr/>
            </p:nvSpPr>
            <p:spPr>
              <a:xfrm flipH="1" rot="10800000">
                <a:off x="1871277" y="1576300"/>
                <a:ext cx="1125200" cy="319520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1" name="Google Shape;9441;p90"/>
              <p:cNvSpPr/>
              <p:nvPr/>
            </p:nvSpPr>
            <p:spPr>
              <a:xfrm>
                <a:off x="2159708" y="1673340"/>
                <a:ext cx="548339" cy="160943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2" name="Google Shape;9442;p90"/>
              <p:cNvSpPr/>
              <p:nvPr/>
            </p:nvSpPr>
            <p:spPr>
              <a:xfrm>
                <a:off x="2102655" y="1633103"/>
                <a:ext cx="662444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3" name="Google Shape;9443;p90"/>
              <p:cNvSpPr/>
              <p:nvPr/>
            </p:nvSpPr>
            <p:spPr>
              <a:xfrm>
                <a:off x="2536889" y="1727776"/>
                <a:ext cx="244057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444" name="Google Shape;9444;p90"/>
              <p:cNvSpPr/>
              <p:nvPr/>
            </p:nvSpPr>
            <p:spPr>
              <a:xfrm>
                <a:off x="2089977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445" name="Google Shape;9445;p90"/>
              <p:cNvCxnSpPr>
                <a:endCxn id="9440" idx="2"/>
              </p:cNvCxnSpPr>
              <p:nvPr/>
            </p:nvCxnSpPr>
            <p:spPr>
              <a:xfrm rot="10800000">
                <a:off x="1871277" y="1736060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446" name="Google Shape;9446;p90"/>
              <p:cNvCxnSpPr/>
              <p:nvPr/>
            </p:nvCxnSpPr>
            <p:spPr>
              <a:xfrm rot="10800000">
                <a:off x="2996477" y="1734877"/>
                <a:ext cx="3171" cy="12307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</p:grpSp>
      <p:sp>
        <p:nvSpPr>
          <p:cNvPr id="9447" name="Google Shape;9447;p90"/>
          <p:cNvSpPr/>
          <p:nvPr/>
        </p:nvSpPr>
        <p:spPr>
          <a:xfrm>
            <a:off x="5074486" y="5724971"/>
            <a:ext cx="5334198" cy="1133029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48" name="Google Shape;9448;p90"/>
          <p:cNvGrpSpPr/>
          <p:nvPr/>
        </p:nvGrpSpPr>
        <p:grpSpPr>
          <a:xfrm>
            <a:off x="5329582" y="1276178"/>
            <a:ext cx="1023471" cy="590176"/>
            <a:chOff x="4721412" y="1277470"/>
            <a:chExt cx="1023471" cy="590176"/>
          </a:xfrm>
        </p:grpSpPr>
        <p:sp>
          <p:nvSpPr>
            <p:cNvPr id="9369" name="Google Shape;9369;p90"/>
            <p:cNvSpPr/>
            <p:nvPr/>
          </p:nvSpPr>
          <p:spPr>
            <a:xfrm>
              <a:off x="4721412" y="1277470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49" name="Google Shape;9449;p90"/>
            <p:cNvSpPr txBox="1"/>
            <p:nvPr/>
          </p:nvSpPr>
          <p:spPr>
            <a:xfrm>
              <a:off x="4792385" y="1374585"/>
              <a:ext cx="89046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</p:txBody>
        </p:sp>
      </p:grpSp>
      <p:grpSp>
        <p:nvGrpSpPr>
          <p:cNvPr id="9450" name="Google Shape;9450;p90"/>
          <p:cNvGrpSpPr/>
          <p:nvPr/>
        </p:nvGrpSpPr>
        <p:grpSpPr>
          <a:xfrm>
            <a:off x="6543278" y="1301675"/>
            <a:ext cx="1023471" cy="590176"/>
            <a:chOff x="6106459" y="1967753"/>
            <a:chExt cx="1023471" cy="590176"/>
          </a:xfrm>
        </p:grpSpPr>
        <p:sp>
          <p:nvSpPr>
            <p:cNvPr id="9451" name="Google Shape;9451;p90"/>
            <p:cNvSpPr/>
            <p:nvPr/>
          </p:nvSpPr>
          <p:spPr>
            <a:xfrm>
              <a:off x="6106459" y="19677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371" name="Google Shape;9371;p90"/>
            <p:cNvSpPr txBox="1"/>
            <p:nvPr/>
          </p:nvSpPr>
          <p:spPr>
            <a:xfrm>
              <a:off x="6177429" y="1997637"/>
              <a:ext cx="903087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access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</p:txBody>
        </p:sp>
      </p:grpSp>
      <p:grpSp>
        <p:nvGrpSpPr>
          <p:cNvPr id="9452" name="Google Shape;9452;p90"/>
          <p:cNvGrpSpPr/>
          <p:nvPr/>
        </p:nvGrpSpPr>
        <p:grpSpPr>
          <a:xfrm>
            <a:off x="7733171" y="1320598"/>
            <a:ext cx="1023471" cy="590176"/>
            <a:chOff x="6938682" y="977153"/>
            <a:chExt cx="1023471" cy="590176"/>
          </a:xfrm>
        </p:grpSpPr>
        <p:sp>
          <p:nvSpPr>
            <p:cNvPr id="9338" name="Google Shape;9338;p90"/>
            <p:cNvSpPr/>
            <p:nvPr/>
          </p:nvSpPr>
          <p:spPr>
            <a:xfrm>
              <a:off x="6938682" y="977153"/>
              <a:ext cx="1023471" cy="590176"/>
            </a:xfrm>
            <a:prstGeom prst="ellipse">
              <a:avLst/>
            </a:prstGeom>
            <a:solidFill>
              <a:srgbClr val="008000">
                <a:alpha val="69803"/>
              </a:srgbClr>
            </a:solidFill>
            <a:ln cap="flat" cmpd="sng" w="9525">
              <a:solidFill>
                <a:srgbClr val="008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453" name="Google Shape;9453;p90"/>
            <p:cNvSpPr txBox="1"/>
            <p:nvPr/>
          </p:nvSpPr>
          <p:spPr>
            <a:xfrm>
              <a:off x="6964568" y="1007037"/>
              <a:ext cx="993256" cy="5447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load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balance</a:t>
              </a:r>
              <a:endParaRPr/>
            </a:p>
          </p:txBody>
        </p:sp>
      </p:grpSp>
      <p:sp>
        <p:nvSpPr>
          <p:cNvPr id="9454" name="Google Shape;9454;p90"/>
          <p:cNvSpPr/>
          <p:nvPr/>
        </p:nvSpPr>
        <p:spPr>
          <a:xfrm>
            <a:off x="4711309" y="1143000"/>
            <a:ext cx="4965002" cy="78359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5" name="Google Shape;9455;p90"/>
          <p:cNvSpPr/>
          <p:nvPr/>
        </p:nvSpPr>
        <p:spPr>
          <a:xfrm rot="10800000">
            <a:off x="10030194" y="4626242"/>
            <a:ext cx="222179" cy="1166655"/>
          </a:xfrm>
          <a:custGeom>
            <a:rect b="b" l="l" r="r" t="t"/>
            <a:pathLst>
              <a:path extrusionOk="0" h="1166325" w="223767">
                <a:moveTo>
                  <a:pt x="11247" y="0"/>
                </a:moveTo>
                <a:lnTo>
                  <a:pt x="217832" y="138456"/>
                </a:lnTo>
                <a:cubicBezTo>
                  <a:pt x="219810" y="481079"/>
                  <a:pt x="221789" y="823702"/>
                  <a:pt x="223767" y="1166325"/>
                </a:cubicBezTo>
                <a:cubicBezTo>
                  <a:pt x="98607" y="641817"/>
                  <a:pt x="99941" y="672062"/>
                  <a:pt x="110" y="226631"/>
                </a:cubicBezTo>
                <a:cubicBezTo>
                  <a:pt x="-1380" y="13351"/>
                  <a:pt x="12737" y="213280"/>
                  <a:pt x="11247" y="0"/>
                </a:cubicBezTo>
                <a:close/>
              </a:path>
            </a:pathLst>
          </a:custGeom>
          <a:gradFill>
            <a:gsLst>
              <a:gs pos="0">
                <a:srgbClr val="F2F2F2"/>
              </a:gs>
              <a:gs pos="100000">
                <a:srgbClr val="D0D0F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456" name="Google Shape;9456;p90"/>
          <p:cNvGrpSpPr/>
          <p:nvPr/>
        </p:nvGrpSpPr>
        <p:grpSpPr>
          <a:xfrm>
            <a:off x="10230703" y="5170004"/>
            <a:ext cx="251561" cy="564103"/>
            <a:chOff x="4140" y="429"/>
            <a:chExt cx="1425" cy="2396"/>
          </a:xfrm>
        </p:grpSpPr>
        <p:sp>
          <p:nvSpPr>
            <p:cNvPr id="9457" name="Google Shape;9457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8" name="Google Shape;9458;p90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9" name="Google Shape;9459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0" name="Google Shape;9460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1" name="Google Shape;9461;p90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2" name="Google Shape;9462;p90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9463" name="Google Shape;9463;p90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4" name="Google Shape;9464;p90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5" name="Google Shape;9465;p90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6" name="Google Shape;9466;p90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9467" name="Google Shape;9467;p90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68" name="Google Shape;9468;p90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69" name="Google Shape;9469;p90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0" name="Google Shape;9470;p90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1" name="Google Shape;9471;p90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9472" name="Google Shape;9472;p90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3" name="Google Shape;9473;p90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4" name="Google Shape;9474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75" name="Google Shape;9475;p90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9476" name="Google Shape;9476;p90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7" name="Google Shape;9477;p90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78" name="Google Shape;9478;p90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9" name="Google Shape;9479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0" name="Google Shape;9480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1" name="Google Shape;9481;p90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2" name="Google Shape;9482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3" name="Google Shape;9483;p90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4" name="Google Shape;9484;p90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5" name="Google Shape;9485;p90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6" name="Google Shape;9486;p90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7" name="Google Shape;9487;p90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8" name="Google Shape;9488;p90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89" name="Google Shape;9489;p90"/>
          <p:cNvSpPr txBox="1"/>
          <p:nvPr/>
        </p:nvSpPr>
        <p:spPr>
          <a:xfrm>
            <a:off x="776613" y="4804221"/>
            <a:ext cx="4033380" cy="1089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communicate between SDN controller and controlled switches</a:t>
            </a:r>
            <a:endParaRPr/>
          </a:p>
        </p:txBody>
      </p:sp>
      <p:sp>
        <p:nvSpPr>
          <p:cNvPr id="9490" name="Google Shape;9490;p90"/>
          <p:cNvSpPr txBox="1"/>
          <p:nvPr/>
        </p:nvSpPr>
        <p:spPr>
          <a:xfrm>
            <a:off x="764087" y="3239842"/>
            <a:ext cx="4158641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network-wide state management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state of networks links, switches, services: a </a:t>
            </a: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distributed database</a:t>
            </a:r>
            <a:endParaRPr/>
          </a:p>
        </p:txBody>
      </p:sp>
      <p:sp>
        <p:nvSpPr>
          <p:cNvPr id="9491" name="Google Shape;9491;p90"/>
          <p:cNvSpPr txBox="1"/>
          <p:nvPr/>
        </p:nvSpPr>
        <p:spPr>
          <a:xfrm>
            <a:off x="764087" y="2232898"/>
            <a:ext cx="4073330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interface layer to network control apps: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abstractions API</a:t>
            </a:r>
            <a:endParaRPr i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6" name="Shape 9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7" name="Google Shape;9497;p91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OpenFlow protocol</a:t>
            </a:r>
            <a:endParaRPr/>
          </a:p>
        </p:txBody>
      </p:sp>
      <p:sp>
        <p:nvSpPr>
          <p:cNvPr id="9498" name="Google Shape;9498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99" name="Google Shape;9499;p91"/>
          <p:cNvSpPr txBox="1"/>
          <p:nvPr/>
        </p:nvSpPr>
        <p:spPr>
          <a:xfrm>
            <a:off x="863251" y="1363220"/>
            <a:ext cx="608869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0988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operates between controller, switch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used to exchange messages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optional encryption</a:t>
            </a:r>
            <a:endParaRPr/>
          </a:p>
          <a:p>
            <a:pPr indent="-280988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classes of  OpenFlow messages: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controller-to-switch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asynchronous (switch to controller)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symmetric (misc.)</a:t>
            </a:r>
            <a:endParaRPr/>
          </a:p>
          <a:p>
            <a:pPr indent="-285750" lvl="0" marL="347663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distinct from OpenFlow API</a:t>
            </a:r>
            <a:endParaRPr/>
          </a:p>
          <a:p>
            <a:pPr indent="-282575" lvl="1" marL="7445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used to specify  generalized forwarding actions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00" name="Google Shape;9500;p91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01" name="Google Shape;9501;p91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02" name="Google Shape;9502;p91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3" name="Google Shape;9503;p91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4" name="Google Shape;9504;p91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5" name="Google Shape;9505;p91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6" name="Google Shape;9506;p91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07" name="Google Shape;9507;p91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08" name="Google Shape;9508;p91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9" name="Google Shape;9509;p91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0" name="Google Shape;9510;p91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1" name="Google Shape;9511;p91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12" name="Google Shape;9512;p91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3" name="Google Shape;9513;p91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4" name="Google Shape;9514;p91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5" name="Google Shape;9515;p91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16" name="Google Shape;9516;p91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517" name="Google Shape;9517;p91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8" name="Google Shape;9518;p91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19" name="Google Shape;9519;p91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20" name="Google Shape;9520;p91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521" name="Google Shape;9521;p91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2" name="Google Shape;9522;p91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23" name="Google Shape;9523;p91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4" name="Google Shape;9524;p91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5" name="Google Shape;9525;p91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6" name="Google Shape;9526;p91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7" name="Google Shape;9527;p91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8" name="Google Shape;9528;p91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9" name="Google Shape;9529;p91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0" name="Google Shape;9530;p91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1" name="Google Shape;9531;p91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2" name="Google Shape;9532;p91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33" name="Google Shape;9533;p91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534" name="Google Shape;9534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35" name="Google Shape;9535;p91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536" name="Google Shape;9536;p91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37" name="Google Shape;9537;p91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8" name="Google Shape;9538;p91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9" name="Google Shape;9539;p91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0" name="Google Shape;9540;p91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1" name="Google Shape;9541;p91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542" name="Google Shape;9542;p91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543" name="Google Shape;9543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44" name="Google Shape;9544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45" name="Google Shape;9545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46" name="Google Shape;9546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7" name="Google Shape;9547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8" name="Google Shape;9548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9" name="Google Shape;9549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0" name="Google Shape;9550;p91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551" name="Google Shape;9551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52" name="Google Shape;9552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53" name="Google Shape;9553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54" name="Google Shape;9554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5" name="Google Shape;9555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6" name="Google Shape;9556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7" name="Google Shape;9557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58" name="Google Shape;9558;p91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559" name="Google Shape;9559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0" name="Google Shape;9560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1" name="Google Shape;9561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62" name="Google Shape;9562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3" name="Google Shape;9563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4" name="Google Shape;9564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5" name="Google Shape;9565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566" name="Google Shape;9566;p91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567" name="Google Shape;9567;p9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568" name="Google Shape;9568;p9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569" name="Google Shape;9569;p9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570" name="Google Shape;9570;p9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1" name="Google Shape;9571;p9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2" name="Google Shape;9572;p9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73" name="Google Shape;9573;p9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574" name="Google Shape;9574;p91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5" name="Google Shape;9575;p91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6" name="Google Shape;9576;p91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7" name="Google Shape;9577;p91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2" name="Shape 9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3" name="Google Shape;9583;p92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OpenFlow: </a:t>
            </a:r>
            <a:r>
              <a:rPr lang="en-US"/>
              <a:t>controller-to-switch messages</a:t>
            </a:r>
            <a:endParaRPr/>
          </a:p>
        </p:txBody>
      </p:sp>
      <p:sp>
        <p:nvSpPr>
          <p:cNvPr id="9584" name="Google Shape;9584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85" name="Google Shape;9585;p92"/>
          <p:cNvSpPr/>
          <p:nvPr/>
        </p:nvSpPr>
        <p:spPr>
          <a:xfrm>
            <a:off x="918575" y="1523276"/>
            <a:ext cx="6058423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controller-to-switch messages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features: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 switch features, switch replies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configure: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queries/sets switch configuration parameters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modify-state: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add, delete, modify flow entries in the OpenFlow tables</a:t>
            </a:r>
            <a:endParaRPr/>
          </a:p>
          <a:p>
            <a:pPr indent="-280988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packet-out: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can send this packet out of specific switch port</a:t>
            </a:r>
            <a:endParaRPr/>
          </a:p>
        </p:txBody>
      </p:sp>
      <p:grpSp>
        <p:nvGrpSpPr>
          <p:cNvPr id="9586" name="Google Shape;9586;p92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587" name="Google Shape;9587;p92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588" name="Google Shape;9588;p9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89" name="Google Shape;9589;p92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0" name="Google Shape;9590;p9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1" name="Google Shape;9591;p9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92" name="Google Shape;9592;p92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3" name="Google Shape;9593;p92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594" name="Google Shape;9594;p92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5" name="Google Shape;9595;p92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596" name="Google Shape;9596;p92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597" name="Google Shape;9597;p92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598" name="Google Shape;9598;p92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9" name="Google Shape;9599;p92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0" name="Google Shape;9600;p92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1" name="Google Shape;9601;p92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2" name="Google Shape;9602;p92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03" name="Google Shape;9603;p92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4" name="Google Shape;9604;p92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5" name="Google Shape;9605;p9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06" name="Google Shape;9606;p92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07" name="Google Shape;9607;p92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08" name="Google Shape;9608;p92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09" name="Google Shape;9609;p92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0" name="Google Shape;9610;p9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1" name="Google Shape;9611;p9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2" name="Google Shape;9612;p92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3" name="Google Shape;9613;p9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4" name="Google Shape;9614;p92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5" name="Google Shape;9615;p92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6" name="Google Shape;9616;p92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7" name="Google Shape;9617;p92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8" name="Google Shape;9618;p92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19" name="Google Shape;9619;p92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620" name="Google Shape;9620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21" name="Google Shape;9621;p92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622" name="Google Shape;9622;p92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3" name="Google Shape;9623;p92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4" name="Google Shape;9624;p92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5" name="Google Shape;9625;p92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6" name="Google Shape;9626;p92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27" name="Google Shape;9627;p92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28" name="Google Shape;9628;p92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629" name="Google Shape;9629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0" name="Google Shape;9630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1" name="Google Shape;9631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32" name="Google Shape;9632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3" name="Google Shape;9633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4" name="Google Shape;9634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35" name="Google Shape;9635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36" name="Google Shape;9636;p92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637" name="Google Shape;9637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38" name="Google Shape;9638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39" name="Google Shape;9639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0" name="Google Shape;9640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1" name="Google Shape;9641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2" name="Google Shape;9642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3" name="Google Shape;9643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44" name="Google Shape;9644;p92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645" name="Google Shape;9645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46" name="Google Shape;9646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47" name="Google Shape;9647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48" name="Google Shape;9648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49" name="Google Shape;9649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0" name="Google Shape;9650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1" name="Google Shape;9651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652" name="Google Shape;9652;p92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653" name="Google Shape;9653;p92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654" name="Google Shape;9654;p92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655" name="Google Shape;9655;p92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656" name="Google Shape;9656;p92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7" name="Google Shape;9657;p92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8" name="Google Shape;9658;p92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9" name="Google Shape;9659;p92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660" name="Google Shape;9660;p92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1" name="Google Shape;9661;p92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2" name="Google Shape;9662;p92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3" name="Google Shape;9663;p92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8" name="Shape 9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9" name="Google Shape;9669;p93"/>
          <p:cNvSpPr txBox="1"/>
          <p:nvPr>
            <p:ph type="title"/>
          </p:nvPr>
        </p:nvSpPr>
        <p:spPr>
          <a:xfrm>
            <a:off x="838200" y="276457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5400"/>
              <a:buFont typeface="Calibri"/>
              <a:buNone/>
            </a:pPr>
            <a:r>
              <a:rPr lang="en-US" sz="5400"/>
              <a:t>OpenFlow: </a:t>
            </a:r>
            <a:r>
              <a:rPr lang="en-US" sz="4800"/>
              <a:t>switch-to-controller messages</a:t>
            </a:r>
            <a:endParaRPr/>
          </a:p>
        </p:txBody>
      </p:sp>
      <p:sp>
        <p:nvSpPr>
          <p:cNvPr id="9670" name="Google Shape;9670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71" name="Google Shape;9671;p93"/>
          <p:cNvSpPr/>
          <p:nvPr/>
        </p:nvSpPr>
        <p:spPr>
          <a:xfrm>
            <a:off x="805841" y="1385490"/>
            <a:ext cx="6446729" cy="3662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Key switch-to-controller messages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packet-in: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 packet (and its control) to controller.  See packet-out message from controller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flow-removed: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flow table entry deleted at switch</a:t>
            </a:r>
            <a:endParaRPr/>
          </a:p>
          <a:p>
            <a:pPr indent="-285750" lvl="0" marL="34766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 status: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 controller of a change on a port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9672" name="Google Shape;9672;p93"/>
          <p:cNvSpPr txBox="1"/>
          <p:nvPr/>
        </p:nvSpPr>
        <p:spPr>
          <a:xfrm>
            <a:off x="977029" y="5497334"/>
            <a:ext cx="1042165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Fortunately, network operators don’t “program” switches by creating/sending OpenFlow messages directly.  Instead use higher-level abstraction at controller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73" name="Google Shape;9673;p93"/>
          <p:cNvGrpSpPr/>
          <p:nvPr/>
        </p:nvGrpSpPr>
        <p:grpSpPr>
          <a:xfrm>
            <a:off x="7839227" y="1446146"/>
            <a:ext cx="3616623" cy="3732173"/>
            <a:chOff x="7686822" y="1446146"/>
            <a:chExt cx="3616623" cy="3732173"/>
          </a:xfrm>
        </p:grpSpPr>
        <p:grpSp>
          <p:nvGrpSpPr>
            <p:cNvPr id="9674" name="Google Shape;9674;p93"/>
            <p:cNvGrpSpPr/>
            <p:nvPr/>
          </p:nvGrpSpPr>
          <p:grpSpPr>
            <a:xfrm>
              <a:off x="8811490" y="2119745"/>
              <a:ext cx="440889" cy="845230"/>
              <a:chOff x="4140" y="429"/>
              <a:chExt cx="1425" cy="2396"/>
            </a:xfrm>
          </p:grpSpPr>
          <p:sp>
            <p:nvSpPr>
              <p:cNvPr id="9675" name="Google Shape;9675;p9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6" name="Google Shape;9676;p93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7" name="Google Shape;9677;p9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8" name="Google Shape;9678;p9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79" name="Google Shape;9679;p93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0" name="Google Shape;9680;p93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9681" name="Google Shape;9681;p93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2" name="Google Shape;9682;p93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3" name="Google Shape;9683;p93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4" name="Google Shape;9684;p93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9685" name="Google Shape;9685;p93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86" name="Google Shape;9686;p93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87" name="Google Shape;9687;p93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8" name="Google Shape;9688;p93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89" name="Google Shape;9689;p93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9690" name="Google Shape;9690;p93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1" name="Google Shape;9691;p93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2" name="Google Shape;9692;p9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93" name="Google Shape;9693;p93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9694" name="Google Shape;9694;p93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95" name="Google Shape;9695;p93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96" name="Google Shape;9696;p93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7" name="Google Shape;9697;p9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8" name="Google Shape;9698;p93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9" name="Google Shape;9699;p93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0" name="Google Shape;9700;p9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1" name="Google Shape;9701;p93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2" name="Google Shape;9702;p93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3" name="Google Shape;9703;p93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4" name="Google Shape;9704;p93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5" name="Google Shape;9705;p93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6" name="Google Shape;9706;p93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9707" name="Google Shape;970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91361" y="2246085"/>
              <a:ext cx="1629624" cy="431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08" name="Google Shape;9708;p93"/>
            <p:cNvSpPr txBox="1"/>
            <p:nvPr/>
          </p:nvSpPr>
          <p:spPr>
            <a:xfrm>
              <a:off x="7757772" y="1446146"/>
              <a:ext cx="32223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OpenFlow Controller</a:t>
              </a:r>
              <a:endParaRPr/>
            </a:p>
          </p:txBody>
        </p:sp>
        <p:sp>
          <p:nvSpPr>
            <p:cNvPr id="9709" name="Google Shape;9709;p93"/>
            <p:cNvSpPr/>
            <p:nvPr/>
          </p:nvSpPr>
          <p:spPr>
            <a:xfrm>
              <a:off x="7686822" y="3573747"/>
              <a:ext cx="3616623" cy="1604572"/>
            </a:xfrm>
            <a:custGeom>
              <a:rect b="b" l="l" r="r" t="t"/>
              <a:pathLst>
                <a:path extrusionOk="0" h="10016" w="10000">
                  <a:moveTo>
                    <a:pt x="0" y="4486"/>
                  </a:moveTo>
                  <a:cubicBezTo>
                    <a:pt x="23" y="3587"/>
                    <a:pt x="627" y="2754"/>
                    <a:pt x="1210" y="2006"/>
                  </a:cubicBezTo>
                  <a:cubicBezTo>
                    <a:pt x="1794" y="1258"/>
                    <a:pt x="2615" y="51"/>
                    <a:pt x="3506" y="1"/>
                  </a:cubicBezTo>
                  <a:cubicBezTo>
                    <a:pt x="4396" y="-49"/>
                    <a:pt x="5636" y="1281"/>
                    <a:pt x="6554" y="1705"/>
                  </a:cubicBezTo>
                  <a:cubicBezTo>
                    <a:pt x="7473" y="2129"/>
                    <a:pt x="8449" y="1784"/>
                    <a:pt x="9013" y="2548"/>
                  </a:cubicBezTo>
                  <a:cubicBezTo>
                    <a:pt x="9577" y="3312"/>
                    <a:pt x="10207" y="5145"/>
                    <a:pt x="9935" y="6286"/>
                  </a:cubicBezTo>
                  <a:cubicBezTo>
                    <a:pt x="9662" y="7428"/>
                    <a:pt x="8329" y="8783"/>
                    <a:pt x="7377" y="9393"/>
                  </a:cubicBezTo>
                  <a:cubicBezTo>
                    <a:pt x="6425" y="10002"/>
                    <a:pt x="5069" y="10118"/>
                    <a:pt x="4222" y="9941"/>
                  </a:cubicBezTo>
                  <a:cubicBezTo>
                    <a:pt x="3375" y="9764"/>
                    <a:pt x="2767" y="8820"/>
                    <a:pt x="2296" y="8329"/>
                  </a:cubicBezTo>
                  <a:cubicBezTo>
                    <a:pt x="1825" y="7838"/>
                    <a:pt x="1035" y="8161"/>
                    <a:pt x="652" y="7520"/>
                  </a:cubicBezTo>
                  <a:cubicBezTo>
                    <a:pt x="269" y="6879"/>
                    <a:pt x="99" y="5188"/>
                    <a:pt x="0" y="4486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10" name="Google Shape;9710;p93"/>
            <p:cNvCxnSpPr/>
            <p:nvPr/>
          </p:nvCxnSpPr>
          <p:spPr>
            <a:xfrm flipH="1" rot="10800000">
              <a:off x="7988607" y="3775213"/>
              <a:ext cx="1203228" cy="660205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1" name="Google Shape;9711;p93"/>
            <p:cNvCxnSpPr/>
            <p:nvPr/>
          </p:nvCxnSpPr>
          <p:spPr>
            <a:xfrm>
              <a:off x="7988607" y="4435418"/>
              <a:ext cx="1203228" cy="517808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2" name="Google Shape;9712;p93"/>
            <p:cNvCxnSpPr/>
            <p:nvPr/>
          </p:nvCxnSpPr>
          <p:spPr>
            <a:xfrm>
              <a:off x="8998012" y="3982336"/>
              <a:ext cx="319671" cy="828494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3" name="Google Shape;9713;p93"/>
            <p:cNvCxnSpPr/>
            <p:nvPr/>
          </p:nvCxnSpPr>
          <p:spPr>
            <a:xfrm>
              <a:off x="9268742" y="3917611"/>
              <a:ext cx="1307416" cy="27185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4" name="Google Shape;9714;p93"/>
            <p:cNvCxnSpPr/>
            <p:nvPr/>
          </p:nvCxnSpPr>
          <p:spPr>
            <a:xfrm flipH="1" rot="10800000">
              <a:off x="9461009" y="4344802"/>
              <a:ext cx="1115149" cy="608426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715" name="Google Shape;9715;p93"/>
            <p:cNvGrpSpPr/>
            <p:nvPr/>
          </p:nvGrpSpPr>
          <p:grpSpPr>
            <a:xfrm>
              <a:off x="10288073" y="4115087"/>
              <a:ext cx="753999" cy="373786"/>
              <a:chOff x="7493876" y="2774731"/>
              <a:chExt cx="1481958" cy="894622"/>
            </a:xfrm>
          </p:grpSpPr>
          <p:sp>
            <p:nvSpPr>
              <p:cNvPr id="9716" name="Google Shape;9716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17" name="Google Shape;9717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18" name="Google Shape;9718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19" name="Google Shape;9719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0" name="Google Shape;9720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1" name="Google Shape;9721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2" name="Google Shape;9722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23" name="Google Shape;9723;p93"/>
            <p:cNvGrpSpPr/>
            <p:nvPr/>
          </p:nvGrpSpPr>
          <p:grpSpPr>
            <a:xfrm>
              <a:off x="7988218" y="4212069"/>
              <a:ext cx="753999" cy="373786"/>
              <a:chOff x="7493876" y="2774731"/>
              <a:chExt cx="1481958" cy="894622"/>
            </a:xfrm>
          </p:grpSpPr>
          <p:sp>
            <p:nvSpPr>
              <p:cNvPr id="9724" name="Google Shape;9724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25" name="Google Shape;9725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26" name="Google Shape;9726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27" name="Google Shape;9727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8" name="Google Shape;9728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9" name="Google Shape;9729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0" name="Google Shape;9730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1" name="Google Shape;9731;p93"/>
            <p:cNvGrpSpPr/>
            <p:nvPr/>
          </p:nvGrpSpPr>
          <p:grpSpPr>
            <a:xfrm>
              <a:off x="8971890" y="4738542"/>
              <a:ext cx="753999" cy="373786"/>
              <a:chOff x="7493876" y="2774731"/>
              <a:chExt cx="1481958" cy="894622"/>
            </a:xfrm>
          </p:grpSpPr>
          <p:sp>
            <p:nvSpPr>
              <p:cNvPr id="9732" name="Google Shape;9732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33" name="Google Shape;9733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34" name="Google Shape;9734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35" name="Google Shape;9735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6" name="Google Shape;9736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7" name="Google Shape;9737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38" name="Google Shape;9738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39" name="Google Shape;9739;p93"/>
            <p:cNvGrpSpPr/>
            <p:nvPr/>
          </p:nvGrpSpPr>
          <p:grpSpPr>
            <a:xfrm>
              <a:off x="8736362" y="3768724"/>
              <a:ext cx="753999" cy="373786"/>
              <a:chOff x="7493876" y="2774731"/>
              <a:chExt cx="1481958" cy="894622"/>
            </a:xfrm>
          </p:grpSpPr>
          <p:sp>
            <p:nvSpPr>
              <p:cNvPr id="9740" name="Google Shape;9740;p9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741" name="Google Shape;9741;p9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742" name="Google Shape;9742;p93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743" name="Google Shape;9743;p93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4" name="Google Shape;9744;p93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5" name="Google Shape;9745;p93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46" name="Google Shape;9746;p93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747" name="Google Shape;9747;p93"/>
            <p:cNvSpPr/>
            <p:nvPr/>
          </p:nvSpPr>
          <p:spPr>
            <a:xfrm rot="-2757548">
              <a:off x="9773071" y="2749725"/>
              <a:ext cx="110632" cy="16214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8" name="Google Shape;9748;p93"/>
            <p:cNvSpPr/>
            <p:nvPr/>
          </p:nvSpPr>
          <p:spPr>
            <a:xfrm rot="1544330">
              <a:off x="8498334" y="2913840"/>
              <a:ext cx="132567" cy="1340938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9" name="Google Shape;9749;p93"/>
            <p:cNvSpPr/>
            <p:nvPr/>
          </p:nvSpPr>
          <p:spPr>
            <a:xfrm>
              <a:off x="8891032" y="2979040"/>
              <a:ext cx="132567" cy="794393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0" name="Google Shape;9750;p93"/>
            <p:cNvSpPr/>
            <p:nvPr/>
          </p:nvSpPr>
          <p:spPr>
            <a:xfrm rot="-431269">
              <a:off x="9181573" y="2978458"/>
              <a:ext cx="132567" cy="1740801"/>
            </a:xfrm>
            <a:prstGeom prst="upDownArrow">
              <a:avLst>
                <a:gd fmla="val 50000" name="adj1"/>
                <a:gd fmla="val 50000" name="adj2"/>
              </a:avLst>
            </a:prstGeom>
            <a:solidFill>
              <a:srgbClr val="CC0000">
                <a:alpha val="7764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5" name="Shape 9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6" name="Google Shape;9756;p94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757" name="Google Shape;9757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58" name="Google Shape;9758;p94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9" name="Google Shape;9759;p94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0" name="Google Shape;9760;p94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761" name="Google Shape;9761;p94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762" name="Google Shape;976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3" name="Google Shape;9763;p94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764" name="Google Shape;9764;p94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765" name="Google Shape;9765;p94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6" name="Google Shape;9766;p94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767" name="Google Shape;9767;p94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768" name="Google Shape;9768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9" name="Google Shape;9769;p94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770" name="Google Shape;9770;p94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771" name="Google Shape;9771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2" name="Google Shape;9772;p94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773" name="Google Shape;9773;p94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774" name="Google Shape;9774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5" name="Google Shape;9775;p94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776" name="Google Shape;9776;p94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77" name="Google Shape;9777;p94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778" name="Google Shape;9778;p94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779" name="Google Shape;9779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0" name="Google Shape;9780;p94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781" name="Google Shape;9781;p94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782" name="Google Shape;9782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3" name="Google Shape;9783;p94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784" name="Google Shape;9784;p94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785" name="Google Shape;9785;p94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86" name="Google Shape;9786;p94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787" name="Google Shape;9787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8" name="Google Shape;9788;p94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789" name="Google Shape;9789;p94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790" name="Google Shape;9790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1" name="Google Shape;9791;p94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792" name="Google Shape;9792;p94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793" name="Google Shape;9793;p94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4" name="Google Shape;9794;p94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795" name="Google Shape;9795;p94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796" name="Google Shape;9796;p94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97" name="Google Shape;9797;p94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8" name="Google Shape;9798;p94"/>
          <p:cNvCxnSpPr/>
          <p:nvPr/>
        </p:nvCxnSpPr>
        <p:spPr>
          <a:xfrm flipH="1" rot="10800000">
            <a:off x="2418861" y="5441004"/>
            <a:ext cx="615520" cy="282224"/>
          </a:xfrm>
          <a:prstGeom prst="straightConnector1">
            <a:avLst/>
          </a:prstGeom>
          <a:solidFill>
            <a:srgbClr val="00CC99"/>
          </a:solidFill>
          <a:ln cap="flat" cmpd="sng" w="349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9" name="Google Shape;9799;p94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0" name="Google Shape;9800;p94"/>
          <p:cNvCxnSpPr>
            <a:endCxn id="9801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2" name="Google Shape;9802;p94"/>
          <p:cNvCxnSpPr>
            <a:stCxn id="9803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4" name="Google Shape;9804;p94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5" name="Google Shape;9805;p94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6" name="Google Shape;9806;p94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807" name="Google Shape;9807;p94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808" name="Google Shape;980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09" name="Google Shape;980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0" name="Google Shape;981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1" name="Google Shape;981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2" name="Google Shape;981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3" name="Google Shape;981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4" name="Google Shape;981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15" name="Google Shape;981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16" name="Google Shape;9816;p94"/>
              <p:cNvCxnSpPr>
                <a:endCxn id="981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17" name="Google Shape;981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18" name="Google Shape;9818;p94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819" name="Google Shape;981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0" name="Google Shape;9820;p94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821" name="Google Shape;9821;p94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822" name="Google Shape;9822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23" name="Google Shape;9823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3" name="Google Shape;9803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4" name="Google Shape;9824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5" name="Google Shape;9825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6" name="Google Shape;9826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7" name="Google Shape;9827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28" name="Google Shape;9828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29" name="Google Shape;9829;p94"/>
              <p:cNvCxnSpPr>
                <a:endCxn id="9824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30" name="Google Shape;9830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31" name="Google Shape;9831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32" name="Google Shape;9832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3" name="Google Shape;9833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834" name="Google Shape;9834;p94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835" name="Google Shape;9835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36" name="Google Shape;9836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01" name="Google Shape;9801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7" name="Google Shape;9837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8" name="Google Shape;9838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39" name="Google Shape;9839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0" name="Google Shape;9840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1" name="Google Shape;9841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42" name="Google Shape;9842;p94"/>
              <p:cNvCxnSpPr>
                <a:endCxn id="9837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43" name="Google Shape;9843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44" name="Google Shape;9844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45" name="Google Shape;9845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46" name="Google Shape;9846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847" name="Google Shape;9847;p94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848" name="Google Shape;9848;p94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849" name="Google Shape;9849;p94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0" name="Google Shape;9850;p94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1" name="Google Shape;9851;p94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2" name="Google Shape;9852;p94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3" name="Google Shape;9853;p94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4" name="Google Shape;9854;p94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55" name="Google Shape;9855;p94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856" name="Google Shape;9856;p94"/>
              <p:cNvCxnSpPr>
                <a:endCxn id="9851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857" name="Google Shape;9857;p94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858" name="Google Shape;9858;p94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859" name="Google Shape;9859;p94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860" name="Google Shape;9860;p94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9861" name="Google Shape;9861;p94"/>
          <p:cNvGrpSpPr/>
          <p:nvPr/>
        </p:nvGrpSpPr>
        <p:grpSpPr>
          <a:xfrm>
            <a:off x="6763892" y="1425421"/>
            <a:ext cx="4822682" cy="1122684"/>
            <a:chOff x="5326799" y="1281868"/>
            <a:chExt cx="4822682" cy="1122684"/>
          </a:xfrm>
        </p:grpSpPr>
        <p:sp>
          <p:nvSpPr>
            <p:cNvPr id="9862" name="Google Shape;9862;p94"/>
            <p:cNvSpPr txBox="1"/>
            <p:nvPr/>
          </p:nvSpPr>
          <p:spPr>
            <a:xfrm>
              <a:off x="5654650" y="1315023"/>
              <a:ext cx="449483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S1, experiencing link failure uses OpenFlow port status message to notify controller</a:t>
              </a:r>
              <a:endParaRPr/>
            </a:p>
          </p:txBody>
        </p:sp>
        <p:grpSp>
          <p:nvGrpSpPr>
            <p:cNvPr id="9863" name="Google Shape;9863;p94"/>
            <p:cNvGrpSpPr/>
            <p:nvPr/>
          </p:nvGrpSpPr>
          <p:grpSpPr>
            <a:xfrm>
              <a:off x="5326799" y="1281868"/>
              <a:ext cx="314510" cy="400110"/>
              <a:chOff x="430693" y="1944861"/>
              <a:chExt cx="291062" cy="400110"/>
            </a:xfrm>
          </p:grpSpPr>
          <p:sp>
            <p:nvSpPr>
              <p:cNvPr id="9864" name="Google Shape;986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5" name="Google Shape;9865;p94"/>
              <p:cNvSpPr txBox="1"/>
              <p:nvPr/>
            </p:nvSpPr>
            <p:spPr>
              <a:xfrm>
                <a:off x="430693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9866" name="Google Shape;9866;p94"/>
          <p:cNvGrpSpPr/>
          <p:nvPr/>
        </p:nvGrpSpPr>
        <p:grpSpPr>
          <a:xfrm>
            <a:off x="6812552" y="2632974"/>
            <a:ext cx="5024543" cy="790285"/>
            <a:chOff x="5330006" y="1281868"/>
            <a:chExt cx="5024543" cy="790285"/>
          </a:xfrm>
        </p:grpSpPr>
        <p:sp>
          <p:nvSpPr>
            <p:cNvPr id="9867" name="Google Shape;9867;p94"/>
            <p:cNvSpPr txBox="1"/>
            <p:nvPr/>
          </p:nvSpPr>
          <p:spPr>
            <a:xfrm>
              <a:off x="5654650" y="1315023"/>
              <a:ext cx="4699899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SDN controller receives OpenFlow message, updates link status info</a:t>
              </a:r>
              <a:endParaRPr/>
            </a:p>
          </p:txBody>
        </p:sp>
        <p:grpSp>
          <p:nvGrpSpPr>
            <p:cNvPr id="9868" name="Google Shape;9868;p94"/>
            <p:cNvGrpSpPr/>
            <p:nvPr/>
          </p:nvGrpSpPr>
          <p:grpSpPr>
            <a:xfrm>
              <a:off x="5330006" y="1281868"/>
              <a:ext cx="314510" cy="400110"/>
              <a:chOff x="433661" y="1944861"/>
              <a:chExt cx="291062" cy="400110"/>
            </a:xfrm>
          </p:grpSpPr>
          <p:sp>
            <p:nvSpPr>
              <p:cNvPr id="9869" name="Google Shape;986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0" name="Google Shape;9870;p94"/>
              <p:cNvSpPr txBox="1"/>
              <p:nvPr/>
            </p:nvSpPr>
            <p:spPr>
              <a:xfrm>
                <a:off x="433661" y="1944861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9871" name="Google Shape;9871;p94"/>
          <p:cNvGrpSpPr/>
          <p:nvPr/>
        </p:nvGrpSpPr>
        <p:grpSpPr>
          <a:xfrm>
            <a:off x="6821113" y="3557841"/>
            <a:ext cx="5253976" cy="1445458"/>
            <a:chOff x="5333217" y="1291493"/>
            <a:chExt cx="5253976" cy="1445458"/>
          </a:xfrm>
        </p:grpSpPr>
        <p:sp>
          <p:nvSpPr>
            <p:cNvPr id="9872" name="Google Shape;9872;p94"/>
            <p:cNvSpPr txBox="1"/>
            <p:nvPr/>
          </p:nvSpPr>
          <p:spPr>
            <a:xfrm>
              <a:off x="5654650" y="1315023"/>
              <a:ext cx="4932543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application has previously registered to be called when ever link status changes.  It is called.</a:t>
              </a:r>
              <a:endParaRPr/>
            </a:p>
          </p:txBody>
        </p:sp>
        <p:grpSp>
          <p:nvGrpSpPr>
            <p:cNvPr id="9873" name="Google Shape;9873;p94"/>
            <p:cNvGrpSpPr/>
            <p:nvPr/>
          </p:nvGrpSpPr>
          <p:grpSpPr>
            <a:xfrm>
              <a:off x="5333217" y="1291493"/>
              <a:ext cx="314510" cy="400110"/>
              <a:chOff x="436633" y="1954486"/>
              <a:chExt cx="291062" cy="400110"/>
            </a:xfrm>
          </p:grpSpPr>
          <p:sp>
            <p:nvSpPr>
              <p:cNvPr id="9874" name="Google Shape;9874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5" name="Google Shape;9875;p94"/>
              <p:cNvSpPr txBox="1"/>
              <p:nvPr/>
            </p:nvSpPr>
            <p:spPr>
              <a:xfrm>
                <a:off x="436633" y="1954486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9876" name="Google Shape;9876;p94"/>
          <p:cNvGrpSpPr/>
          <p:nvPr/>
        </p:nvGrpSpPr>
        <p:grpSpPr>
          <a:xfrm>
            <a:off x="6800258" y="5062185"/>
            <a:ext cx="4748738" cy="1448665"/>
            <a:chOff x="5320381" y="1288286"/>
            <a:chExt cx="4748738" cy="1448665"/>
          </a:xfrm>
        </p:grpSpPr>
        <p:sp>
          <p:nvSpPr>
            <p:cNvPr id="9877" name="Google Shape;9877;p94"/>
            <p:cNvSpPr txBox="1"/>
            <p:nvPr/>
          </p:nvSpPr>
          <p:spPr>
            <a:xfrm>
              <a:off x="5654650" y="1315023"/>
              <a:ext cx="4414469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Dijkstra’s routing algorithm access network graph info, link state info in controller,  computes new routes</a:t>
              </a:r>
              <a:endParaRPr/>
            </a:p>
          </p:txBody>
        </p:sp>
        <p:grpSp>
          <p:nvGrpSpPr>
            <p:cNvPr id="9878" name="Google Shape;9878;p94"/>
            <p:cNvGrpSpPr/>
            <p:nvPr/>
          </p:nvGrpSpPr>
          <p:grpSpPr>
            <a:xfrm>
              <a:off x="5320381" y="1288286"/>
              <a:ext cx="314510" cy="400110"/>
              <a:chOff x="424754" y="1951279"/>
              <a:chExt cx="291062" cy="400110"/>
            </a:xfrm>
          </p:grpSpPr>
          <p:sp>
            <p:nvSpPr>
              <p:cNvPr id="9879" name="Google Shape;987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0" name="Google Shape;9880;p94"/>
              <p:cNvSpPr txBox="1"/>
              <p:nvPr/>
            </p:nvSpPr>
            <p:spPr>
              <a:xfrm>
                <a:off x="424754" y="1951279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</p:grpSp>
      </p:grpSp>
      <p:grpSp>
        <p:nvGrpSpPr>
          <p:cNvPr id="9881" name="Google Shape;9881;p94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9882" name="Google Shape;9882;p94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3" name="Google Shape;9883;p94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9884" name="Google Shape;9884;p94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85" name="Google Shape;9885;p94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886" name="Google Shape;9886;p94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9887" name="Google Shape;9887;p94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8" name="Google Shape;9888;p94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9889" name="Google Shape;9889;p94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0" name="Google Shape;9890;p94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9891" name="Google Shape;9891;p94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9892" name="Google Shape;9892;p94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93" name="Google Shape;9893;p94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9894" name="Google Shape;9894;p94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5" name="Google Shape;9895;p94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9896" name="Google Shape;9896;p94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9897" name="Google Shape;9897;p94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9898" name="Google Shape;9898;p94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9899" name="Google Shape;9899;p94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00" name="Google Shape;9900;p94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5" name="Shape 9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6" name="Google Shape;9906;p95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SDN: control/data plane interaction example</a:t>
            </a:r>
            <a:endParaRPr/>
          </a:p>
        </p:txBody>
      </p:sp>
      <p:sp>
        <p:nvSpPr>
          <p:cNvPr id="9907" name="Google Shape;9907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08" name="Google Shape;9908;p95"/>
          <p:cNvSpPr/>
          <p:nvPr/>
        </p:nvSpPr>
        <p:spPr>
          <a:xfrm>
            <a:off x="1267886" y="2781457"/>
            <a:ext cx="4211052" cy="1062452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9" name="Google Shape;9909;p95"/>
          <p:cNvSpPr/>
          <p:nvPr/>
        </p:nvSpPr>
        <p:spPr>
          <a:xfrm>
            <a:off x="1294622" y="3977998"/>
            <a:ext cx="4184316" cy="545543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10" name="Google Shape;9910;p95"/>
          <p:cNvCxnSpPr/>
          <p:nvPr/>
        </p:nvCxnSpPr>
        <p:spPr>
          <a:xfrm>
            <a:off x="1334724" y="4626321"/>
            <a:ext cx="4104106" cy="0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9911" name="Google Shape;9911;p95"/>
          <p:cNvGrpSpPr/>
          <p:nvPr/>
        </p:nvGrpSpPr>
        <p:grpSpPr>
          <a:xfrm>
            <a:off x="1416854" y="3356297"/>
            <a:ext cx="1244650" cy="411995"/>
            <a:chOff x="3128876" y="457817"/>
            <a:chExt cx="1432326" cy="459826"/>
          </a:xfrm>
        </p:grpSpPr>
        <p:sp>
          <p:nvSpPr>
            <p:cNvPr id="9912" name="Google Shape;991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3" name="Google Shape;9913;p95"/>
            <p:cNvSpPr txBox="1"/>
            <p:nvPr/>
          </p:nvSpPr>
          <p:spPr>
            <a:xfrm>
              <a:off x="3178769" y="541671"/>
              <a:ext cx="130238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Link-state info</a:t>
              </a:r>
              <a:endParaRPr/>
            </a:p>
          </p:txBody>
        </p:sp>
      </p:grpSp>
      <p:grpSp>
        <p:nvGrpSpPr>
          <p:cNvPr id="9914" name="Google Shape;9914;p95"/>
          <p:cNvGrpSpPr/>
          <p:nvPr/>
        </p:nvGrpSpPr>
        <p:grpSpPr>
          <a:xfrm>
            <a:off x="4286570" y="3369666"/>
            <a:ext cx="1165638" cy="398626"/>
            <a:chOff x="3034354" y="534843"/>
            <a:chExt cx="1525489" cy="382800"/>
          </a:xfrm>
        </p:grpSpPr>
        <p:sp>
          <p:nvSpPr>
            <p:cNvPr id="9915" name="Google Shape;9915;p95"/>
            <p:cNvSpPr/>
            <p:nvPr/>
          </p:nvSpPr>
          <p:spPr>
            <a:xfrm>
              <a:off x="3128876" y="534843"/>
              <a:ext cx="1325987" cy="382800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6" name="Google Shape;9916;p95"/>
            <p:cNvSpPr txBox="1"/>
            <p:nvPr/>
          </p:nvSpPr>
          <p:spPr>
            <a:xfrm>
              <a:off x="3034354" y="593020"/>
              <a:ext cx="1525489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switch info</a:t>
              </a:r>
              <a:endParaRPr/>
            </a:p>
          </p:txBody>
        </p:sp>
      </p:grpSp>
      <p:grpSp>
        <p:nvGrpSpPr>
          <p:cNvPr id="9917" name="Google Shape;9917;p95"/>
          <p:cNvGrpSpPr/>
          <p:nvPr/>
        </p:nvGrpSpPr>
        <p:grpSpPr>
          <a:xfrm>
            <a:off x="2808986" y="3356297"/>
            <a:ext cx="960359" cy="411995"/>
            <a:chOff x="3128876" y="457817"/>
            <a:chExt cx="1432326" cy="459826"/>
          </a:xfrm>
        </p:grpSpPr>
        <p:sp>
          <p:nvSpPr>
            <p:cNvPr id="9918" name="Google Shape;9918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9" name="Google Shape;9919;p95"/>
            <p:cNvSpPr txBox="1"/>
            <p:nvPr/>
          </p:nvSpPr>
          <p:spPr>
            <a:xfrm>
              <a:off x="3205754" y="541671"/>
              <a:ext cx="1287660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host info</a:t>
              </a:r>
              <a:endParaRPr/>
            </a:p>
          </p:txBody>
        </p:sp>
      </p:grpSp>
      <p:grpSp>
        <p:nvGrpSpPr>
          <p:cNvPr id="9920" name="Google Shape;9920;p95"/>
          <p:cNvGrpSpPr/>
          <p:nvPr/>
        </p:nvGrpSpPr>
        <p:grpSpPr>
          <a:xfrm>
            <a:off x="1348650" y="2861665"/>
            <a:ext cx="889706" cy="382826"/>
            <a:chOff x="3128876" y="457817"/>
            <a:chExt cx="1432326" cy="459826"/>
          </a:xfrm>
        </p:grpSpPr>
        <p:sp>
          <p:nvSpPr>
            <p:cNvPr id="9921" name="Google Shape;9921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2" name="Google Shape;9922;p95"/>
            <p:cNvSpPr txBox="1"/>
            <p:nvPr/>
          </p:nvSpPr>
          <p:spPr>
            <a:xfrm>
              <a:off x="3198565" y="509557"/>
              <a:ext cx="1302043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statistics</a:t>
              </a:r>
              <a:endParaRPr/>
            </a:p>
          </p:txBody>
        </p:sp>
      </p:grpSp>
      <p:grpSp>
        <p:nvGrpSpPr>
          <p:cNvPr id="9923" name="Google Shape;9923;p95"/>
          <p:cNvGrpSpPr/>
          <p:nvPr/>
        </p:nvGrpSpPr>
        <p:grpSpPr>
          <a:xfrm>
            <a:off x="4076434" y="2848295"/>
            <a:ext cx="1032905" cy="404965"/>
            <a:chOff x="3099264" y="457817"/>
            <a:chExt cx="1540525" cy="459826"/>
          </a:xfrm>
        </p:grpSpPr>
        <p:sp>
          <p:nvSpPr>
            <p:cNvPr id="9924" name="Google Shape;9924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5" name="Google Shape;9925;p95"/>
            <p:cNvSpPr txBox="1"/>
            <p:nvPr/>
          </p:nvSpPr>
          <p:spPr>
            <a:xfrm>
              <a:off x="3099264" y="526493"/>
              <a:ext cx="1540525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flow tables</a:t>
              </a:r>
              <a:endParaRPr/>
            </a:p>
          </p:txBody>
        </p:sp>
      </p:grpSp>
      <p:sp>
        <p:nvSpPr>
          <p:cNvPr id="9926" name="Google Shape;9926;p95"/>
          <p:cNvSpPr txBox="1"/>
          <p:nvPr/>
        </p:nvSpPr>
        <p:spPr>
          <a:xfrm>
            <a:off x="3285441" y="2483710"/>
            <a:ext cx="57023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27" name="Google Shape;9927;p95"/>
          <p:cNvSpPr txBox="1"/>
          <p:nvPr/>
        </p:nvSpPr>
        <p:spPr>
          <a:xfrm>
            <a:off x="3831962" y="312050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grpSp>
        <p:nvGrpSpPr>
          <p:cNvPr id="9928" name="Google Shape;9928;p95"/>
          <p:cNvGrpSpPr/>
          <p:nvPr/>
        </p:nvGrpSpPr>
        <p:grpSpPr>
          <a:xfrm>
            <a:off x="1903313" y="4109165"/>
            <a:ext cx="1257452" cy="286824"/>
            <a:chOff x="3128876" y="457775"/>
            <a:chExt cx="1432326" cy="459868"/>
          </a:xfrm>
        </p:grpSpPr>
        <p:sp>
          <p:nvSpPr>
            <p:cNvPr id="9929" name="Google Shape;9929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0" name="Google Shape;9930;p95"/>
            <p:cNvSpPr txBox="1"/>
            <p:nvPr/>
          </p:nvSpPr>
          <p:spPr>
            <a:xfrm>
              <a:off x="3278378" y="457775"/>
              <a:ext cx="1142401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OpenFlow</a:t>
              </a:r>
              <a:endParaRPr/>
            </a:p>
          </p:txBody>
        </p:sp>
      </p:grpSp>
      <p:grpSp>
        <p:nvGrpSpPr>
          <p:cNvPr id="9931" name="Google Shape;9931;p95"/>
          <p:cNvGrpSpPr/>
          <p:nvPr/>
        </p:nvGrpSpPr>
        <p:grpSpPr>
          <a:xfrm>
            <a:off x="3772545" y="4113948"/>
            <a:ext cx="1244650" cy="307410"/>
            <a:chOff x="3128876" y="457817"/>
            <a:chExt cx="1432326" cy="459826"/>
          </a:xfrm>
        </p:grpSpPr>
        <p:sp>
          <p:nvSpPr>
            <p:cNvPr id="9932" name="Google Shape;9932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3" name="Google Shape;9933;p95"/>
            <p:cNvSpPr txBox="1"/>
            <p:nvPr/>
          </p:nvSpPr>
          <p:spPr>
            <a:xfrm>
              <a:off x="3446730" y="484746"/>
              <a:ext cx="805702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SNMP</a:t>
              </a:r>
              <a:endParaRPr/>
            </a:p>
          </p:txBody>
        </p:sp>
      </p:grpSp>
      <p:sp>
        <p:nvSpPr>
          <p:cNvPr id="9934" name="Google Shape;9934;p95"/>
          <p:cNvSpPr txBox="1"/>
          <p:nvPr/>
        </p:nvSpPr>
        <p:spPr>
          <a:xfrm>
            <a:off x="3155302" y="3783967"/>
            <a:ext cx="595035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sp>
        <p:nvSpPr>
          <p:cNvPr id="9935" name="Google Shape;9935;p95"/>
          <p:cNvSpPr/>
          <p:nvPr/>
        </p:nvSpPr>
        <p:spPr>
          <a:xfrm>
            <a:off x="1267885" y="2086297"/>
            <a:ext cx="4211053" cy="574748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36" name="Google Shape;9936;p95"/>
          <p:cNvGrpSpPr/>
          <p:nvPr/>
        </p:nvGrpSpPr>
        <p:grpSpPr>
          <a:xfrm>
            <a:off x="1313282" y="2123346"/>
            <a:ext cx="1080377" cy="504412"/>
            <a:chOff x="3034225" y="436756"/>
            <a:chExt cx="1526977" cy="504412"/>
          </a:xfrm>
        </p:grpSpPr>
        <p:sp>
          <p:nvSpPr>
            <p:cNvPr id="9937" name="Google Shape;9937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8" name="Google Shape;9938;p95"/>
            <p:cNvSpPr txBox="1"/>
            <p:nvPr/>
          </p:nvSpPr>
          <p:spPr>
            <a:xfrm>
              <a:off x="3034225" y="436756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 graph</a:t>
              </a:r>
              <a:endParaRPr/>
            </a:p>
          </p:txBody>
        </p:sp>
      </p:grpSp>
      <p:grpSp>
        <p:nvGrpSpPr>
          <p:cNvPr id="9939" name="Google Shape;9939;p95"/>
          <p:cNvGrpSpPr/>
          <p:nvPr/>
        </p:nvGrpSpPr>
        <p:grpSpPr>
          <a:xfrm>
            <a:off x="4335616" y="2144194"/>
            <a:ext cx="1033900" cy="459826"/>
            <a:chOff x="3103238" y="457817"/>
            <a:chExt cx="1461287" cy="459826"/>
          </a:xfrm>
        </p:grpSpPr>
        <p:sp>
          <p:nvSpPr>
            <p:cNvPr id="9940" name="Google Shape;9940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1" name="Google Shape;9941;p95"/>
            <p:cNvSpPr txBox="1"/>
            <p:nvPr/>
          </p:nvSpPr>
          <p:spPr>
            <a:xfrm>
              <a:off x="3103238" y="553253"/>
              <a:ext cx="1461287" cy="29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intent</a:t>
              </a:r>
              <a:endParaRPr/>
            </a:p>
          </p:txBody>
        </p:sp>
      </p:grpSp>
      <p:grpSp>
        <p:nvGrpSpPr>
          <p:cNvPr id="9942" name="Google Shape;9942;p95"/>
          <p:cNvGrpSpPr/>
          <p:nvPr/>
        </p:nvGrpSpPr>
        <p:grpSpPr>
          <a:xfrm>
            <a:off x="2796533" y="2139558"/>
            <a:ext cx="1033900" cy="504412"/>
            <a:chOff x="3128334" y="454512"/>
            <a:chExt cx="1461287" cy="504412"/>
          </a:xfrm>
        </p:grpSpPr>
        <p:sp>
          <p:nvSpPr>
            <p:cNvPr id="9943" name="Google Shape;9943;p95"/>
            <p:cNvSpPr/>
            <p:nvPr/>
          </p:nvSpPr>
          <p:spPr>
            <a:xfrm>
              <a:off x="3128876" y="457817"/>
              <a:ext cx="1432326" cy="459826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tl" dir="2700000" dist="38100">
                <a:srgbClr val="009972">
                  <a:alpha val="98823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4" name="Google Shape;9944;p95"/>
            <p:cNvSpPr txBox="1"/>
            <p:nvPr/>
          </p:nvSpPr>
          <p:spPr>
            <a:xfrm>
              <a:off x="3128334" y="454512"/>
              <a:ext cx="1461287" cy="5044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RESTful</a:t>
              </a:r>
              <a:endParaRPr/>
            </a:p>
            <a:p>
              <a:pPr indent="0" lvl="0" marL="0" marR="0" rtl="0" algn="ctr">
                <a:lnSpc>
                  <a:spcPct val="11428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API</a:t>
              </a:r>
              <a:endParaRPr/>
            </a:p>
          </p:txBody>
        </p:sp>
      </p:grpSp>
      <p:sp>
        <p:nvSpPr>
          <p:cNvPr id="9945" name="Google Shape;9945;p95"/>
          <p:cNvSpPr txBox="1"/>
          <p:nvPr/>
        </p:nvSpPr>
        <p:spPr>
          <a:xfrm>
            <a:off x="3833899" y="1945433"/>
            <a:ext cx="627904" cy="58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47FFD0"/>
                </a:solidFill>
                <a:latin typeface="Arial"/>
                <a:ea typeface="Arial"/>
                <a:cs typeface="Arial"/>
                <a:sym typeface="Arial"/>
              </a:rPr>
              <a:t>…  </a:t>
            </a:r>
            <a:endParaRPr/>
          </a:p>
        </p:txBody>
      </p:sp>
      <p:cxnSp>
        <p:nvCxnSpPr>
          <p:cNvPr id="9946" name="Google Shape;9946;p95"/>
          <p:cNvCxnSpPr/>
          <p:nvPr/>
        </p:nvCxnSpPr>
        <p:spPr>
          <a:xfrm flipH="1" rot="10800000">
            <a:off x="1348096" y="1912530"/>
            <a:ext cx="4117474" cy="1"/>
          </a:xfrm>
          <a:prstGeom prst="straightConnector1">
            <a:avLst/>
          </a:prstGeom>
          <a:solidFill>
            <a:srgbClr val="00CC99"/>
          </a:solidFill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47" name="Google Shape;9947;p95"/>
          <p:cNvSpPr/>
          <p:nvPr/>
        </p:nvSpPr>
        <p:spPr>
          <a:xfrm>
            <a:off x="1335792" y="5057443"/>
            <a:ext cx="4057421" cy="1393030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48" name="Google Shape;9948;p95"/>
          <p:cNvCxnSpPr/>
          <p:nvPr/>
        </p:nvCxnSpPr>
        <p:spPr>
          <a:xfrm>
            <a:off x="2408645" y="5746872"/>
            <a:ext cx="1651340" cy="138604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9" name="Google Shape;9949;p95"/>
          <p:cNvCxnSpPr>
            <a:endCxn id="9950" idx="1"/>
          </p:cNvCxnSpPr>
          <p:nvPr/>
        </p:nvCxnSpPr>
        <p:spPr>
          <a:xfrm>
            <a:off x="2418863" y="5803490"/>
            <a:ext cx="318000" cy="3876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1" name="Google Shape;9951;p95"/>
          <p:cNvCxnSpPr>
            <a:stCxn id="9952" idx="3"/>
          </p:cNvCxnSpPr>
          <p:nvPr/>
        </p:nvCxnSpPr>
        <p:spPr>
          <a:xfrm>
            <a:off x="3720713" y="5436854"/>
            <a:ext cx="333000" cy="421200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3" name="Google Shape;9953;p95"/>
          <p:cNvCxnSpPr/>
          <p:nvPr/>
        </p:nvCxnSpPr>
        <p:spPr>
          <a:xfrm flipH="1" rot="10800000">
            <a:off x="3198290" y="5944167"/>
            <a:ext cx="861695" cy="275422"/>
          </a:xfrm>
          <a:prstGeom prst="straightConnector1">
            <a:avLst/>
          </a:prstGeom>
          <a:solidFill>
            <a:srgbClr val="00CC99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54" name="Google Shape;9954;p95"/>
          <p:cNvSpPr/>
          <p:nvPr/>
        </p:nvSpPr>
        <p:spPr>
          <a:xfrm rot="5400000">
            <a:off x="2797134" y="407053"/>
            <a:ext cx="631007" cy="2235263"/>
          </a:xfrm>
          <a:prstGeom prst="ellipse">
            <a:avLst/>
          </a:prstGeom>
          <a:solidFill>
            <a:srgbClr val="E1EFD8"/>
          </a:solidFill>
          <a:ln>
            <a:noFill/>
          </a:ln>
          <a:effectLst>
            <a:outerShdw blurRad="50800" rotWithShape="0" algn="bl" dir="18900000" dist="38100">
              <a:srgbClr val="548135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5" name="Google Shape;9955;p95"/>
          <p:cNvSpPr txBox="1"/>
          <p:nvPr/>
        </p:nvSpPr>
        <p:spPr>
          <a:xfrm>
            <a:off x="2135351" y="1323574"/>
            <a:ext cx="1947456" cy="502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Dijkstra’s link-state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/>
          </a:p>
        </p:txBody>
      </p:sp>
      <p:grpSp>
        <p:nvGrpSpPr>
          <p:cNvPr id="9956" name="Google Shape;9956;p95"/>
          <p:cNvGrpSpPr/>
          <p:nvPr/>
        </p:nvGrpSpPr>
        <p:grpSpPr>
          <a:xfrm>
            <a:off x="1748590" y="5523964"/>
            <a:ext cx="687402" cy="470408"/>
            <a:chOff x="1736090" y="2893762"/>
            <a:chExt cx="565150" cy="340093"/>
          </a:xfrm>
        </p:grpSpPr>
        <p:grpSp>
          <p:nvGrpSpPr>
            <p:cNvPr id="9957" name="Google Shape;995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58" name="Google Shape;995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9" name="Google Shape;995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0" name="Google Shape;996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1" name="Google Shape;996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2" name="Google Shape;996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3" name="Google Shape;996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4" name="Google Shape;996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65" name="Google Shape;9965;p95"/>
              <p:cNvCxnSpPr>
                <a:endCxn id="996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66" name="Google Shape;996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67" name="Google Shape;9967;p95"/>
            <p:cNvGrpSpPr/>
            <p:nvPr/>
          </p:nvGrpSpPr>
          <p:grpSpPr>
            <a:xfrm>
              <a:off x="1828502" y="2944584"/>
              <a:ext cx="374530" cy="289271"/>
              <a:chOff x="725185" y="1779875"/>
              <a:chExt cx="374530" cy="289271"/>
            </a:xfrm>
          </p:grpSpPr>
          <p:sp>
            <p:nvSpPr>
              <p:cNvPr id="9968" name="Google Shape;996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69" name="Google Shape;9969;p95"/>
              <p:cNvSpPr txBox="1"/>
              <p:nvPr/>
            </p:nvSpPr>
            <p:spPr>
              <a:xfrm>
                <a:off x="725185" y="1779875"/>
                <a:ext cx="374530" cy="2892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s1</a:t>
                </a:r>
                <a:endParaRPr/>
              </a:p>
            </p:txBody>
          </p:sp>
        </p:grpSp>
      </p:grpSp>
      <p:grpSp>
        <p:nvGrpSpPr>
          <p:cNvPr id="9970" name="Google Shape;9970;p95"/>
          <p:cNvGrpSpPr/>
          <p:nvPr/>
        </p:nvGrpSpPr>
        <p:grpSpPr>
          <a:xfrm>
            <a:off x="3033311" y="5232644"/>
            <a:ext cx="687402" cy="470406"/>
            <a:chOff x="1736090" y="2893762"/>
            <a:chExt cx="565150" cy="340091"/>
          </a:xfrm>
        </p:grpSpPr>
        <p:grpSp>
          <p:nvGrpSpPr>
            <p:cNvPr id="9971" name="Google Shape;9971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72" name="Google Shape;9972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2" name="Google Shape;9952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3" name="Google Shape;9973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4" name="Google Shape;9974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5" name="Google Shape;9975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6" name="Google Shape;9976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77" name="Google Shape;9977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78" name="Google Shape;9978;p95"/>
              <p:cNvCxnSpPr>
                <a:endCxn id="9973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79" name="Google Shape;9979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80" name="Google Shape;9980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81" name="Google Shape;9981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2" name="Google Shape;9982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s2</a:t>
                </a:r>
                <a:endParaRPr/>
              </a:p>
            </p:txBody>
          </p:sp>
        </p:grpSp>
      </p:grpSp>
      <p:grpSp>
        <p:nvGrpSpPr>
          <p:cNvPr id="9983" name="Google Shape;9983;p95"/>
          <p:cNvGrpSpPr/>
          <p:nvPr/>
        </p:nvGrpSpPr>
        <p:grpSpPr>
          <a:xfrm>
            <a:off x="2736863" y="5986880"/>
            <a:ext cx="687402" cy="470406"/>
            <a:chOff x="1736090" y="2893762"/>
            <a:chExt cx="565150" cy="340091"/>
          </a:xfrm>
        </p:grpSpPr>
        <p:grpSp>
          <p:nvGrpSpPr>
            <p:cNvPr id="9984" name="Google Shape;9984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85" name="Google Shape;9985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50" name="Google Shape;9950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6" name="Google Shape;9986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7" name="Google Shape;9987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8" name="Google Shape;9988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89" name="Google Shape;9989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0" name="Google Shape;9990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9991" name="Google Shape;9991;p95"/>
              <p:cNvCxnSpPr>
                <a:endCxn id="9986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9992" name="Google Shape;9992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9993" name="Google Shape;9993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9994" name="Google Shape;9994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5" name="Google Shape;9995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s3</a:t>
                </a:r>
                <a:endParaRPr/>
              </a:p>
            </p:txBody>
          </p:sp>
        </p:grpSp>
      </p:grpSp>
      <p:grpSp>
        <p:nvGrpSpPr>
          <p:cNvPr id="9996" name="Google Shape;9996;p95"/>
          <p:cNvGrpSpPr/>
          <p:nvPr/>
        </p:nvGrpSpPr>
        <p:grpSpPr>
          <a:xfrm>
            <a:off x="3904271" y="5705754"/>
            <a:ext cx="687402" cy="470406"/>
            <a:chOff x="1736090" y="2893762"/>
            <a:chExt cx="565150" cy="340091"/>
          </a:xfrm>
        </p:grpSpPr>
        <p:grpSp>
          <p:nvGrpSpPr>
            <p:cNvPr id="9997" name="Google Shape;9997;p95"/>
            <p:cNvGrpSpPr/>
            <p:nvPr/>
          </p:nvGrpSpPr>
          <p:grpSpPr>
            <a:xfrm>
              <a:off x="1736090" y="2893762"/>
              <a:ext cx="565150" cy="292100"/>
              <a:chOff x="1871277" y="1576300"/>
              <a:chExt cx="1128371" cy="437861"/>
            </a:xfrm>
          </p:grpSpPr>
          <p:sp>
            <p:nvSpPr>
              <p:cNvPr id="9998" name="Google Shape;9998;p95"/>
              <p:cNvSpPr/>
              <p:nvPr/>
            </p:nvSpPr>
            <p:spPr>
              <a:xfrm flipH="1" rot="10800000">
                <a:off x="1874446" y="1692905"/>
                <a:ext cx="1125202" cy="321256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9999" name="Google Shape;9999;p95"/>
              <p:cNvSpPr/>
              <p:nvPr/>
            </p:nvSpPr>
            <p:spPr>
              <a:xfrm>
                <a:off x="1871277" y="1740499"/>
                <a:ext cx="1128371" cy="114225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0" name="Google Shape;10000;p95"/>
              <p:cNvSpPr/>
              <p:nvPr/>
            </p:nvSpPr>
            <p:spPr>
              <a:xfrm flipH="1" rot="10800000">
                <a:off x="1871277" y="1576300"/>
                <a:ext cx="1125200" cy="321257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1" name="Google Shape;10001;p95"/>
              <p:cNvSpPr/>
              <p:nvPr/>
            </p:nvSpPr>
            <p:spPr>
              <a:xfrm>
                <a:off x="2159708" y="1673868"/>
                <a:ext cx="548339" cy="159438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2" name="Google Shape;10002;p95"/>
              <p:cNvSpPr/>
              <p:nvPr/>
            </p:nvSpPr>
            <p:spPr>
              <a:xfrm>
                <a:off x="2102655" y="1633412"/>
                <a:ext cx="662444" cy="111846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3" name="Google Shape;10003;p95"/>
              <p:cNvSpPr/>
              <p:nvPr/>
            </p:nvSpPr>
            <p:spPr>
              <a:xfrm>
                <a:off x="2536889" y="1728599"/>
                <a:ext cx="244057" cy="97568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4" name="Google Shape;10004;p95"/>
              <p:cNvSpPr/>
              <p:nvPr/>
            </p:nvSpPr>
            <p:spPr>
              <a:xfrm>
                <a:off x="2089977" y="1730980"/>
                <a:ext cx="240888" cy="95187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0005" name="Google Shape;10005;p95"/>
              <p:cNvCxnSpPr>
                <a:endCxn id="10000" idx="2"/>
              </p:cNvCxnSpPr>
              <p:nvPr/>
            </p:nvCxnSpPr>
            <p:spPr>
              <a:xfrm rot="10800000">
                <a:off x="1871277" y="1736929"/>
                <a:ext cx="3300" cy="123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  <p:cxnSp>
            <p:nvCxnSpPr>
              <p:cNvPr id="10006" name="Google Shape;10006;p95"/>
              <p:cNvCxnSpPr/>
              <p:nvPr/>
            </p:nvCxnSpPr>
            <p:spPr>
              <a:xfrm rot="10800000">
                <a:off x="2996477" y="1733359"/>
                <a:ext cx="3171" cy="12374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5" rotWithShape="0" algn="tl" dir="5400000" dist="19939">
                  <a:srgbClr val="000000">
                    <a:alpha val="37647"/>
                  </a:srgbClr>
                </a:outerShdw>
              </a:effectLst>
            </p:spPr>
          </p:cxnSp>
        </p:grpSp>
        <p:grpSp>
          <p:nvGrpSpPr>
            <p:cNvPr id="10007" name="Google Shape;10007;p95"/>
            <p:cNvGrpSpPr/>
            <p:nvPr/>
          </p:nvGrpSpPr>
          <p:grpSpPr>
            <a:xfrm>
              <a:off x="1828502" y="2944584"/>
              <a:ext cx="374531" cy="289269"/>
              <a:chOff x="725185" y="1779875"/>
              <a:chExt cx="374531" cy="289269"/>
            </a:xfrm>
          </p:grpSpPr>
          <p:sp>
            <p:nvSpPr>
              <p:cNvPr id="10008" name="Google Shape;10008;p95"/>
              <p:cNvSpPr/>
              <p:nvPr/>
            </p:nvSpPr>
            <p:spPr>
              <a:xfrm>
                <a:off x="741398" y="1850752"/>
                <a:ext cx="356365" cy="168450"/>
              </a:xfrm>
              <a:prstGeom prst="ellipse">
                <a:avLst/>
              </a:prstGeom>
              <a:solidFill>
                <a:srgbClr val="FFFFFF">
                  <a:alpha val="7568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10009" name="Google Shape;10009;p95"/>
              <p:cNvSpPr txBox="1"/>
              <p:nvPr/>
            </p:nvSpPr>
            <p:spPr>
              <a:xfrm>
                <a:off x="725185" y="1779875"/>
                <a:ext cx="374531" cy="289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s4</a:t>
                </a:r>
                <a:endParaRPr/>
              </a:p>
            </p:txBody>
          </p:sp>
        </p:grpSp>
      </p:grpSp>
      <p:grpSp>
        <p:nvGrpSpPr>
          <p:cNvPr id="10010" name="Google Shape;10010;p95"/>
          <p:cNvGrpSpPr/>
          <p:nvPr/>
        </p:nvGrpSpPr>
        <p:grpSpPr>
          <a:xfrm>
            <a:off x="6821848" y="2223893"/>
            <a:ext cx="4764727" cy="1773227"/>
            <a:chOff x="5333952" y="1296122"/>
            <a:chExt cx="4764727" cy="1773227"/>
          </a:xfrm>
        </p:grpSpPr>
        <p:sp>
          <p:nvSpPr>
            <p:cNvPr id="10011" name="Google Shape;10011;p95"/>
            <p:cNvSpPr txBox="1"/>
            <p:nvPr/>
          </p:nvSpPr>
          <p:spPr>
            <a:xfrm>
              <a:off x="5654651" y="1315023"/>
              <a:ext cx="4444028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 state routing app interacts with flow-table-computation component in SDN controller, which computes new flow tables needed</a:t>
              </a:r>
              <a:endParaRPr/>
            </a:p>
          </p:txBody>
        </p:sp>
        <p:grpSp>
          <p:nvGrpSpPr>
            <p:cNvPr id="10012" name="Google Shape;10012;p95"/>
            <p:cNvGrpSpPr/>
            <p:nvPr/>
          </p:nvGrpSpPr>
          <p:grpSpPr>
            <a:xfrm>
              <a:off x="5333952" y="1296122"/>
              <a:ext cx="314510" cy="400110"/>
              <a:chOff x="437313" y="1959115"/>
              <a:chExt cx="291062" cy="400110"/>
            </a:xfrm>
          </p:grpSpPr>
          <p:sp>
            <p:nvSpPr>
              <p:cNvPr id="10013" name="Google Shape;10013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4" name="Google Shape;10014;p95"/>
              <p:cNvSpPr txBox="1"/>
              <p:nvPr/>
            </p:nvSpPr>
            <p:spPr>
              <a:xfrm>
                <a:off x="437313" y="1959115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15" name="Google Shape;10015;p95"/>
          <p:cNvGrpSpPr/>
          <p:nvPr/>
        </p:nvGrpSpPr>
        <p:grpSpPr>
          <a:xfrm>
            <a:off x="6797561" y="4172683"/>
            <a:ext cx="4450811" cy="1103433"/>
            <a:chOff x="5318962" y="1301119"/>
            <a:chExt cx="4450811" cy="1103433"/>
          </a:xfrm>
        </p:grpSpPr>
        <p:sp>
          <p:nvSpPr>
            <p:cNvPr id="10016" name="Google Shape;10016;p95"/>
            <p:cNvSpPr txBox="1"/>
            <p:nvPr/>
          </p:nvSpPr>
          <p:spPr>
            <a:xfrm>
              <a:off x="5654650" y="1315023"/>
              <a:ext cx="4115123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controller uses OpenFlow to install new tables in switches that need updating</a:t>
              </a:r>
              <a:endParaRPr/>
            </a:p>
          </p:txBody>
        </p:sp>
        <p:grpSp>
          <p:nvGrpSpPr>
            <p:cNvPr id="10017" name="Google Shape;10017;p95"/>
            <p:cNvGrpSpPr/>
            <p:nvPr/>
          </p:nvGrpSpPr>
          <p:grpSpPr>
            <a:xfrm>
              <a:off x="5318962" y="1301119"/>
              <a:ext cx="314510" cy="400110"/>
              <a:chOff x="423441" y="1964112"/>
              <a:chExt cx="291062" cy="400110"/>
            </a:xfrm>
          </p:grpSpPr>
          <p:sp>
            <p:nvSpPr>
              <p:cNvPr id="10018" name="Google Shape;10018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9" name="Google Shape;10019;p95"/>
              <p:cNvSpPr txBox="1"/>
              <p:nvPr/>
            </p:nvSpPr>
            <p:spPr>
              <a:xfrm>
                <a:off x="423441" y="1964112"/>
                <a:ext cx="29106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/>
              </a:p>
            </p:txBody>
          </p:sp>
        </p:grpSp>
      </p:grpSp>
      <p:grpSp>
        <p:nvGrpSpPr>
          <p:cNvPr id="10020" name="Google Shape;10020;p95"/>
          <p:cNvGrpSpPr/>
          <p:nvPr/>
        </p:nvGrpSpPr>
        <p:grpSpPr>
          <a:xfrm>
            <a:off x="3994257" y="1633928"/>
            <a:ext cx="313044" cy="1540239"/>
            <a:chOff x="4189129" y="1656413"/>
            <a:chExt cx="313044" cy="1540239"/>
          </a:xfrm>
        </p:grpSpPr>
        <p:cxnSp>
          <p:nvCxnSpPr>
            <p:cNvPr id="10021" name="Google Shape;10021;p95"/>
            <p:cNvCxnSpPr/>
            <p:nvPr/>
          </p:nvCxnSpPr>
          <p:spPr>
            <a:xfrm>
              <a:off x="4339652" y="1656413"/>
              <a:ext cx="0" cy="1540239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022" name="Google Shape;10022;p95"/>
            <p:cNvGrpSpPr/>
            <p:nvPr/>
          </p:nvGrpSpPr>
          <p:grpSpPr>
            <a:xfrm>
              <a:off x="4189129" y="1880402"/>
              <a:ext cx="313044" cy="369332"/>
              <a:chOff x="651166" y="1956616"/>
              <a:chExt cx="313044" cy="369332"/>
            </a:xfrm>
          </p:grpSpPr>
          <p:sp>
            <p:nvSpPr>
              <p:cNvPr id="10023" name="Google Shape;10023;p95"/>
              <p:cNvSpPr/>
              <p:nvPr/>
            </p:nvSpPr>
            <p:spPr>
              <a:xfrm>
                <a:off x="676641" y="200369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4" name="Google Shape;10024;p95"/>
              <p:cNvSpPr txBox="1"/>
              <p:nvPr/>
            </p:nvSpPr>
            <p:spPr>
              <a:xfrm>
                <a:off x="651166" y="1956616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</p:grpSp>
      <p:grpSp>
        <p:nvGrpSpPr>
          <p:cNvPr id="10025" name="Google Shape;10025;p95"/>
          <p:cNvGrpSpPr/>
          <p:nvPr/>
        </p:nvGrpSpPr>
        <p:grpSpPr>
          <a:xfrm>
            <a:off x="2457676" y="3166672"/>
            <a:ext cx="1751262" cy="2489017"/>
            <a:chOff x="2457676" y="3166672"/>
            <a:chExt cx="1751262" cy="2489017"/>
          </a:xfrm>
        </p:grpSpPr>
        <p:cxnSp>
          <p:nvCxnSpPr>
            <p:cNvPr id="10026" name="Google Shape;10026;p95"/>
            <p:cNvCxnSpPr/>
            <p:nvPr/>
          </p:nvCxnSpPr>
          <p:spPr>
            <a:xfrm>
              <a:off x="3271232" y="4980429"/>
              <a:ext cx="0" cy="258633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027" name="Google Shape;10027;p95"/>
            <p:cNvCxnSpPr/>
            <p:nvPr/>
          </p:nvCxnSpPr>
          <p:spPr>
            <a:xfrm flipH="1">
              <a:off x="2457676" y="4954249"/>
              <a:ext cx="712744" cy="621210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10028" name="Google Shape;10028;p95"/>
            <p:cNvGrpSpPr/>
            <p:nvPr/>
          </p:nvGrpSpPr>
          <p:grpSpPr>
            <a:xfrm rot="-153638">
              <a:off x="3106460" y="4663753"/>
              <a:ext cx="313044" cy="369332"/>
              <a:chOff x="418585" y="1969301"/>
              <a:chExt cx="313044" cy="369332"/>
            </a:xfrm>
          </p:grpSpPr>
          <p:sp>
            <p:nvSpPr>
              <p:cNvPr id="10029" name="Google Shape;10029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0" name="Google Shape;10030;p95"/>
              <p:cNvSpPr txBox="1"/>
              <p:nvPr/>
            </p:nvSpPr>
            <p:spPr>
              <a:xfrm>
                <a:off x="418585" y="1969301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/>
              </a:p>
            </p:txBody>
          </p:sp>
        </p:grpSp>
        <p:cxnSp>
          <p:nvCxnSpPr>
            <p:cNvPr id="10031" name="Google Shape;10031;p95"/>
            <p:cNvCxnSpPr/>
            <p:nvPr/>
          </p:nvCxnSpPr>
          <p:spPr>
            <a:xfrm>
              <a:off x="3361544" y="4943007"/>
              <a:ext cx="847394" cy="712682"/>
            </a:xfrm>
            <a:prstGeom prst="straightConnector1">
              <a:avLst/>
            </a:prstGeom>
            <a:solidFill>
              <a:srgbClr val="00CC99"/>
            </a:solidFill>
            <a:ln cap="flat" cmpd="sng" w="1905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032" name="Google Shape;10032;p95"/>
            <p:cNvSpPr/>
            <p:nvPr/>
          </p:nvSpPr>
          <p:spPr>
            <a:xfrm>
              <a:off x="3256612" y="3166672"/>
              <a:ext cx="888167" cy="1551482"/>
            </a:xfrm>
            <a:custGeom>
              <a:rect b="b" l="l" r="r" t="t"/>
              <a:pathLst>
                <a:path extrusionOk="0" h="1551482" w="929390">
                  <a:moveTo>
                    <a:pt x="929390" y="0"/>
                  </a:moveTo>
                  <a:lnTo>
                    <a:pt x="929390" y="678305"/>
                  </a:lnTo>
                  <a:lnTo>
                    <a:pt x="0" y="813217"/>
                  </a:lnTo>
                  <a:lnTo>
                    <a:pt x="0" y="1551482"/>
                  </a:lnTo>
                  <a:lnTo>
                    <a:pt x="0" y="1551482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33" name="Google Shape;10033;p95"/>
          <p:cNvGrpSpPr/>
          <p:nvPr/>
        </p:nvGrpSpPr>
        <p:grpSpPr>
          <a:xfrm>
            <a:off x="2312276" y="4225159"/>
            <a:ext cx="677917" cy="1261241"/>
            <a:chOff x="2312276" y="4225159"/>
            <a:chExt cx="677917" cy="1261241"/>
          </a:xfrm>
        </p:grpSpPr>
        <p:sp>
          <p:nvSpPr>
            <p:cNvPr id="10034" name="Google Shape;10034;p95"/>
            <p:cNvSpPr/>
            <p:nvPr/>
          </p:nvSpPr>
          <p:spPr>
            <a:xfrm>
              <a:off x="2312276" y="4225159"/>
              <a:ext cx="677917" cy="1261241"/>
            </a:xfrm>
            <a:custGeom>
              <a:rect b="b" l="l" r="r" t="t"/>
              <a:pathLst>
                <a:path extrusionOk="0" h="1261241" w="677917">
                  <a:moveTo>
                    <a:pt x="0" y="1261241"/>
                  </a:moveTo>
                  <a:lnTo>
                    <a:pt x="677917" y="178675"/>
                  </a:lnTo>
                  <a:lnTo>
                    <a:pt x="677917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35" name="Google Shape;10035;p95"/>
            <p:cNvGrpSpPr/>
            <p:nvPr/>
          </p:nvGrpSpPr>
          <p:grpSpPr>
            <a:xfrm>
              <a:off x="2499117" y="4791488"/>
              <a:ext cx="313044" cy="369332"/>
              <a:chOff x="-17363" y="1958857"/>
              <a:chExt cx="313044" cy="369332"/>
            </a:xfrm>
          </p:grpSpPr>
          <p:sp>
            <p:nvSpPr>
              <p:cNvPr id="10036" name="Google Shape;10036;p95"/>
              <p:cNvSpPr/>
              <p:nvPr/>
            </p:nvSpPr>
            <p:spPr>
              <a:xfrm>
                <a:off x="17117" y="2010412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7" name="Google Shape;10037;p95"/>
              <p:cNvSpPr txBox="1"/>
              <p:nvPr/>
            </p:nvSpPr>
            <p:spPr>
              <a:xfrm>
                <a:off x="-17363" y="195885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10038" name="Google Shape;10038;p95"/>
          <p:cNvGrpSpPr/>
          <p:nvPr/>
        </p:nvGrpSpPr>
        <p:grpSpPr>
          <a:xfrm>
            <a:off x="2292350" y="3432175"/>
            <a:ext cx="698500" cy="793750"/>
            <a:chOff x="2292350" y="3432175"/>
            <a:chExt cx="698500" cy="793750"/>
          </a:xfrm>
        </p:grpSpPr>
        <p:sp>
          <p:nvSpPr>
            <p:cNvPr id="10039" name="Google Shape;10039;p95"/>
            <p:cNvSpPr/>
            <p:nvPr/>
          </p:nvSpPr>
          <p:spPr>
            <a:xfrm>
              <a:off x="2292350" y="3432175"/>
              <a:ext cx="698500" cy="793750"/>
            </a:xfrm>
            <a:custGeom>
              <a:rect b="b" l="l" r="r" t="t"/>
              <a:pathLst>
                <a:path extrusionOk="0" h="793750" w="698500">
                  <a:moveTo>
                    <a:pt x="698500" y="793750"/>
                  </a:moveTo>
                  <a:lnTo>
                    <a:pt x="698500" y="508000"/>
                  </a:lnTo>
                  <a:lnTo>
                    <a:pt x="0" y="269875"/>
                  </a:lnTo>
                  <a:lnTo>
                    <a:pt x="0" y="0"/>
                  </a:lnTo>
                  <a:lnTo>
                    <a:pt x="0" y="3175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0" name="Google Shape;10040;p95"/>
            <p:cNvGrpSpPr/>
            <p:nvPr/>
          </p:nvGrpSpPr>
          <p:grpSpPr>
            <a:xfrm>
              <a:off x="2576070" y="3664008"/>
              <a:ext cx="313044" cy="369332"/>
              <a:chOff x="2576070" y="3664008"/>
              <a:chExt cx="313044" cy="369332"/>
            </a:xfrm>
          </p:grpSpPr>
          <p:sp>
            <p:nvSpPr>
              <p:cNvPr id="10041" name="Google Shape;10041;p95"/>
              <p:cNvSpPr/>
              <p:nvPr/>
            </p:nvSpPr>
            <p:spPr>
              <a:xfrm>
                <a:off x="2602120" y="3719723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2" name="Google Shape;10042;p95"/>
              <p:cNvSpPr txBox="1"/>
              <p:nvPr/>
            </p:nvSpPr>
            <p:spPr>
              <a:xfrm>
                <a:off x="2576070" y="3664008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  <p:grpSp>
        <p:nvGrpSpPr>
          <p:cNvPr id="10043" name="Google Shape;10043;p95"/>
          <p:cNvGrpSpPr/>
          <p:nvPr/>
        </p:nvGrpSpPr>
        <p:grpSpPr>
          <a:xfrm>
            <a:off x="2137625" y="1774825"/>
            <a:ext cx="313044" cy="1663700"/>
            <a:chOff x="2134450" y="1762125"/>
            <a:chExt cx="313044" cy="1663700"/>
          </a:xfrm>
        </p:grpSpPr>
        <p:sp>
          <p:nvSpPr>
            <p:cNvPr id="10044" name="Google Shape;10044;p95"/>
            <p:cNvSpPr/>
            <p:nvPr/>
          </p:nvSpPr>
          <p:spPr>
            <a:xfrm>
              <a:off x="2273300" y="1762125"/>
              <a:ext cx="15875" cy="1663700"/>
            </a:xfrm>
            <a:custGeom>
              <a:rect b="b" l="l" r="r" t="t"/>
              <a:pathLst>
                <a:path extrusionOk="0" h="1663700" w="15875">
                  <a:moveTo>
                    <a:pt x="15875" y="1663700"/>
                  </a:moveTo>
                  <a:lnTo>
                    <a:pt x="15875" y="0"/>
                  </a:lnTo>
                  <a:lnTo>
                    <a:pt x="0" y="0"/>
                  </a:ln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45" name="Google Shape;10045;p95"/>
            <p:cNvGrpSpPr/>
            <p:nvPr/>
          </p:nvGrpSpPr>
          <p:grpSpPr>
            <a:xfrm>
              <a:off x="2134450" y="2567187"/>
              <a:ext cx="313044" cy="369332"/>
              <a:chOff x="1712175" y="2510037"/>
              <a:chExt cx="313044" cy="369332"/>
            </a:xfrm>
          </p:grpSpPr>
          <p:sp>
            <p:nvSpPr>
              <p:cNvPr id="10046" name="Google Shape;10046;p95"/>
              <p:cNvSpPr/>
              <p:nvPr/>
            </p:nvSpPr>
            <p:spPr>
              <a:xfrm>
                <a:off x="1744575" y="256892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7" name="Google Shape;10047;p95"/>
              <p:cNvSpPr txBox="1"/>
              <p:nvPr/>
            </p:nvSpPr>
            <p:spPr>
              <a:xfrm>
                <a:off x="1712175" y="251003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grpSp>
        <p:nvGrpSpPr>
          <p:cNvPr id="10048" name="Google Shape;10048;p95"/>
          <p:cNvGrpSpPr/>
          <p:nvPr/>
        </p:nvGrpSpPr>
        <p:grpSpPr>
          <a:xfrm>
            <a:off x="2349183" y="1803400"/>
            <a:ext cx="313044" cy="1539875"/>
            <a:chOff x="2349183" y="1803400"/>
            <a:chExt cx="313044" cy="1539875"/>
          </a:xfrm>
        </p:grpSpPr>
        <p:cxnSp>
          <p:nvCxnSpPr>
            <p:cNvPr id="10049" name="Google Shape;10049;p95"/>
            <p:cNvCxnSpPr/>
            <p:nvPr/>
          </p:nvCxnSpPr>
          <p:spPr>
            <a:xfrm>
              <a:off x="2498725" y="1803400"/>
              <a:ext cx="0" cy="1539875"/>
            </a:xfrm>
            <a:prstGeom prst="straightConnector1">
              <a:avLst/>
            </a:pr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0050" name="Google Shape;10050;p95"/>
            <p:cNvGrpSpPr/>
            <p:nvPr/>
          </p:nvGrpSpPr>
          <p:grpSpPr>
            <a:xfrm>
              <a:off x="2349183" y="1906331"/>
              <a:ext cx="313044" cy="369332"/>
              <a:chOff x="415641" y="1967287"/>
              <a:chExt cx="313044" cy="369332"/>
            </a:xfrm>
          </p:grpSpPr>
          <p:sp>
            <p:nvSpPr>
              <p:cNvPr id="10051" name="Google Shape;10051;p95"/>
              <p:cNvSpPr/>
              <p:nvPr/>
            </p:nvSpPr>
            <p:spPr>
              <a:xfrm>
                <a:off x="448041" y="2026177"/>
                <a:ext cx="251755" cy="263122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C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2" name="Google Shape;10052;p95"/>
              <p:cNvSpPr txBox="1"/>
              <p:nvPr/>
            </p:nvSpPr>
            <p:spPr>
              <a:xfrm>
                <a:off x="415641" y="1967287"/>
                <a:ext cx="31304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57" name="Shape 10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8" name="Google Shape;10058;p96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/>
              <a:t>OpenDaylight (ODL) controller</a:t>
            </a:r>
            <a:endParaRPr/>
          </a:p>
        </p:txBody>
      </p:sp>
      <p:sp>
        <p:nvSpPr>
          <p:cNvPr id="10059" name="Google Shape;10059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60" name="Google Shape;10060;p96"/>
          <p:cNvSpPr/>
          <p:nvPr/>
        </p:nvSpPr>
        <p:spPr>
          <a:xfrm>
            <a:off x="1308970" y="4619179"/>
            <a:ext cx="4650377" cy="608051"/>
          </a:xfrm>
          <a:prstGeom prst="roundRect">
            <a:avLst>
              <a:gd fmla="val 16667" name="adj"/>
            </a:avLst>
          </a:prstGeom>
          <a:solidFill>
            <a:srgbClr val="60C89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1" name="Google Shape;10061;p96"/>
          <p:cNvSpPr txBox="1"/>
          <p:nvPr/>
        </p:nvSpPr>
        <p:spPr>
          <a:xfrm>
            <a:off x="5681552" y="1744109"/>
            <a:ext cx="382266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Orchestrations and Applications</a:t>
            </a:r>
            <a:endParaRPr/>
          </a:p>
        </p:txBody>
      </p:sp>
      <p:sp>
        <p:nvSpPr>
          <p:cNvPr id="10062" name="Google Shape;10062;p96"/>
          <p:cNvSpPr txBox="1"/>
          <p:nvPr/>
        </p:nvSpPr>
        <p:spPr>
          <a:xfrm>
            <a:off x="5899099" y="5275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063" name="Google Shape;10063;p96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0064" name="Google Shape;10064;p96"/>
          <p:cNvCxnSpPr/>
          <p:nvPr/>
        </p:nvCxnSpPr>
        <p:spPr>
          <a:xfrm>
            <a:off x="1309488" y="5372503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065" name="Google Shape;10065;p96"/>
          <p:cNvSpPr txBox="1"/>
          <p:nvPr/>
        </p:nvSpPr>
        <p:spPr>
          <a:xfrm>
            <a:off x="5995216" y="4715575"/>
            <a:ext cx="1897871" cy="49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Abstraction Layer (SAL)</a:t>
            </a:r>
            <a:endParaRPr/>
          </a:p>
        </p:txBody>
      </p:sp>
      <p:grpSp>
        <p:nvGrpSpPr>
          <p:cNvPr id="10066" name="Google Shape;10066;p96"/>
          <p:cNvGrpSpPr/>
          <p:nvPr/>
        </p:nvGrpSpPr>
        <p:grpSpPr>
          <a:xfrm>
            <a:off x="2093457" y="4642702"/>
            <a:ext cx="1432506" cy="565047"/>
            <a:chOff x="1241687" y="4404708"/>
            <a:chExt cx="1432506" cy="565047"/>
          </a:xfrm>
        </p:grpSpPr>
        <p:sp>
          <p:nvSpPr>
            <p:cNvPr id="10067" name="Google Shape;10067;p96"/>
            <p:cNvSpPr/>
            <p:nvPr/>
          </p:nvSpPr>
          <p:spPr>
            <a:xfrm>
              <a:off x="1255867" y="4404708"/>
              <a:ext cx="1383280" cy="550146"/>
            </a:xfrm>
            <a:prstGeom prst="can">
              <a:avLst>
                <a:gd fmla="val 25000" name="adj"/>
              </a:avLst>
            </a:prstGeom>
            <a:gradFill>
              <a:gsLst>
                <a:gs pos="0">
                  <a:srgbClr val="E1EFD8"/>
                </a:gs>
                <a:gs pos="2000">
                  <a:srgbClr val="E1EFD8"/>
                </a:gs>
                <a:gs pos="100000">
                  <a:srgbClr val="C4E0B2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8" name="Google Shape;10068;p96"/>
            <p:cNvSpPr txBox="1"/>
            <p:nvPr/>
          </p:nvSpPr>
          <p:spPr>
            <a:xfrm>
              <a:off x="1241687" y="4428068"/>
              <a:ext cx="1432506" cy="541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config. and operational data store</a:t>
              </a:r>
              <a:endParaRPr/>
            </a:p>
          </p:txBody>
        </p:sp>
      </p:grpSp>
      <p:grpSp>
        <p:nvGrpSpPr>
          <p:cNvPr id="10069" name="Google Shape;10069;p96"/>
          <p:cNvGrpSpPr/>
          <p:nvPr/>
        </p:nvGrpSpPr>
        <p:grpSpPr>
          <a:xfrm>
            <a:off x="1235902" y="2266373"/>
            <a:ext cx="4650377" cy="608051"/>
            <a:chOff x="1235902" y="2266373"/>
            <a:chExt cx="4650377" cy="608051"/>
          </a:xfrm>
        </p:grpSpPr>
        <p:sp>
          <p:nvSpPr>
            <p:cNvPr id="10070" name="Google Shape;10070;p96"/>
            <p:cNvSpPr/>
            <p:nvPr/>
          </p:nvSpPr>
          <p:spPr>
            <a:xfrm>
              <a:off x="1235902" y="2266373"/>
              <a:ext cx="4650377" cy="608051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1" name="Google Shape;10071;p96"/>
            <p:cNvSpPr txBox="1"/>
            <p:nvPr/>
          </p:nvSpPr>
          <p:spPr>
            <a:xfrm>
              <a:off x="1537806" y="2409877"/>
              <a:ext cx="3977869" cy="344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REST/RESTCONF/NETCONF APIs</a:t>
              </a:r>
              <a:endParaRPr/>
            </a:p>
          </p:txBody>
        </p:sp>
      </p:grpSp>
      <p:sp>
        <p:nvSpPr>
          <p:cNvPr id="10072" name="Google Shape;10072;p96"/>
          <p:cNvSpPr/>
          <p:nvPr/>
        </p:nvSpPr>
        <p:spPr>
          <a:xfrm>
            <a:off x="3955838" y="4663169"/>
            <a:ext cx="1061570" cy="484632"/>
          </a:xfrm>
          <a:prstGeom prst="left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C4E0B2"/>
              </a:gs>
              <a:gs pos="1000">
                <a:srgbClr val="C4E0B2"/>
              </a:gs>
              <a:gs pos="50500">
                <a:srgbClr val="E1EFD8"/>
              </a:gs>
              <a:gs pos="100000">
                <a:srgbClr val="C4E0B2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3" name="Google Shape;10073;p96"/>
          <p:cNvSpPr txBox="1"/>
          <p:nvPr/>
        </p:nvSpPr>
        <p:spPr>
          <a:xfrm>
            <a:off x="3952599" y="4790714"/>
            <a:ext cx="109287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74" name="Google Shape;10074;p96"/>
          <p:cNvGrpSpPr/>
          <p:nvPr/>
        </p:nvGrpSpPr>
        <p:grpSpPr>
          <a:xfrm>
            <a:off x="1277743" y="5455564"/>
            <a:ext cx="822085" cy="280003"/>
            <a:chOff x="1847676" y="5679179"/>
            <a:chExt cx="822085" cy="280003"/>
          </a:xfrm>
        </p:grpSpPr>
        <p:sp>
          <p:nvSpPr>
            <p:cNvPr id="10075" name="Google Shape;10075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6" name="Google Shape;10076;p96"/>
            <p:cNvSpPr txBox="1"/>
            <p:nvPr/>
          </p:nvSpPr>
          <p:spPr>
            <a:xfrm>
              <a:off x="1847676" y="5679179"/>
              <a:ext cx="82208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OpenFlow</a:t>
              </a:r>
              <a:endParaRPr/>
            </a:p>
          </p:txBody>
        </p:sp>
      </p:grpSp>
      <p:grpSp>
        <p:nvGrpSpPr>
          <p:cNvPr id="10077" name="Google Shape;10077;p96"/>
          <p:cNvGrpSpPr/>
          <p:nvPr/>
        </p:nvGrpSpPr>
        <p:grpSpPr>
          <a:xfrm>
            <a:off x="2129149" y="5463049"/>
            <a:ext cx="788121" cy="276999"/>
            <a:chOff x="1868224" y="5689452"/>
            <a:chExt cx="788121" cy="276999"/>
          </a:xfrm>
        </p:grpSpPr>
        <p:sp>
          <p:nvSpPr>
            <p:cNvPr id="10078" name="Google Shape;10078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9" name="Google Shape;10079;p96"/>
            <p:cNvSpPr txBox="1"/>
            <p:nvPr/>
          </p:nvSpPr>
          <p:spPr>
            <a:xfrm>
              <a:off x="1868224" y="5689452"/>
              <a:ext cx="78812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NETCONF</a:t>
              </a:r>
              <a:endParaRPr/>
            </a:p>
          </p:txBody>
        </p:sp>
      </p:grpSp>
      <p:grpSp>
        <p:nvGrpSpPr>
          <p:cNvPr id="10080" name="Google Shape;10080;p96"/>
          <p:cNvGrpSpPr/>
          <p:nvPr/>
        </p:nvGrpSpPr>
        <p:grpSpPr>
          <a:xfrm>
            <a:off x="3026352" y="5450427"/>
            <a:ext cx="691362" cy="285140"/>
            <a:chOff x="1913844" y="5674042"/>
            <a:chExt cx="691362" cy="285140"/>
          </a:xfrm>
        </p:grpSpPr>
        <p:sp>
          <p:nvSpPr>
            <p:cNvPr id="10081" name="Google Shape;10081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2" name="Google Shape;10082;p96"/>
            <p:cNvSpPr txBox="1"/>
            <p:nvPr/>
          </p:nvSpPr>
          <p:spPr>
            <a:xfrm>
              <a:off x="1960779" y="5674042"/>
              <a:ext cx="56938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</a:t>
              </a:r>
              <a:endParaRPr/>
            </a:p>
          </p:txBody>
        </p:sp>
      </p:grpSp>
      <p:grpSp>
        <p:nvGrpSpPr>
          <p:cNvPr id="10083" name="Google Shape;10083;p96"/>
          <p:cNvGrpSpPr/>
          <p:nvPr/>
        </p:nvGrpSpPr>
        <p:grpSpPr>
          <a:xfrm>
            <a:off x="3812147" y="5466268"/>
            <a:ext cx="691362" cy="276999"/>
            <a:chOff x="1913844" y="5687320"/>
            <a:chExt cx="691362" cy="276999"/>
          </a:xfrm>
        </p:grpSpPr>
        <p:sp>
          <p:nvSpPr>
            <p:cNvPr id="10084" name="Google Shape;10084;p96"/>
            <p:cNvSpPr/>
            <p:nvPr/>
          </p:nvSpPr>
          <p:spPr>
            <a:xfrm>
              <a:off x="1913844" y="5690540"/>
              <a:ext cx="691362" cy="268642"/>
            </a:xfrm>
            <a:prstGeom prst="roundRect">
              <a:avLst>
                <a:gd fmla="val 16667" name="adj"/>
              </a:avLst>
            </a:prstGeom>
            <a:solidFill>
              <a:srgbClr val="E1EFD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5" name="Google Shape;10085;p96"/>
            <p:cNvSpPr txBox="1"/>
            <p:nvPr/>
          </p:nvSpPr>
          <p:spPr>
            <a:xfrm>
              <a:off x="1919204" y="5687320"/>
              <a:ext cx="62296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OVSDB</a:t>
              </a:r>
              <a:endParaRPr/>
            </a:p>
          </p:txBody>
        </p:sp>
      </p:grpSp>
      <p:sp>
        <p:nvSpPr>
          <p:cNvPr id="10086" name="Google Shape;10086;p96"/>
          <p:cNvSpPr txBox="1"/>
          <p:nvPr/>
        </p:nvSpPr>
        <p:spPr>
          <a:xfrm>
            <a:off x="4573494" y="521833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7" name="Google Shape;10087;p96"/>
          <p:cNvSpPr txBox="1"/>
          <p:nvPr/>
        </p:nvSpPr>
        <p:spPr>
          <a:xfrm>
            <a:off x="5954516" y="2068088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088" name="Google Shape;10088;p96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089" name="Google Shape;10089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0" name="Google Shape;10090;p96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091" name="Google Shape;10091;p96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92" name="Google Shape;10092;p96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093" name="Google Shape;10093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4" name="Google Shape;10094;p96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095" name="Google Shape;10095;p96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096" name="Google Shape;10096;p96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7" name="Google Shape;10097;p96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098" name="Google Shape;10098;p96"/>
          <p:cNvGrpSpPr/>
          <p:nvPr/>
        </p:nvGrpSpPr>
        <p:grpSpPr>
          <a:xfrm>
            <a:off x="1197240" y="2940800"/>
            <a:ext cx="4676586" cy="1531953"/>
            <a:chOff x="1197240" y="2940800"/>
            <a:chExt cx="4676586" cy="1531953"/>
          </a:xfrm>
        </p:grpSpPr>
        <p:sp>
          <p:nvSpPr>
            <p:cNvPr id="10099" name="Google Shape;10099;p96"/>
            <p:cNvSpPr/>
            <p:nvPr/>
          </p:nvSpPr>
          <p:spPr>
            <a:xfrm>
              <a:off x="1197240" y="2952351"/>
              <a:ext cx="1608590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0" name="Google Shape;10100;p96"/>
            <p:cNvSpPr/>
            <p:nvPr/>
          </p:nvSpPr>
          <p:spPr>
            <a:xfrm>
              <a:off x="2898692" y="2950264"/>
              <a:ext cx="2975134" cy="152040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1" name="Google Shape;10101;p96"/>
            <p:cNvSpPr txBox="1"/>
            <p:nvPr/>
          </p:nvSpPr>
          <p:spPr>
            <a:xfrm>
              <a:off x="3312101" y="2940800"/>
              <a:ext cx="223160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Basic Network Functions</a:t>
              </a:r>
              <a:endParaRPr/>
            </a:p>
          </p:txBody>
        </p:sp>
        <p:sp>
          <p:nvSpPr>
            <p:cNvPr id="10102" name="Google Shape;10102;p96"/>
            <p:cNvSpPr txBox="1"/>
            <p:nvPr/>
          </p:nvSpPr>
          <p:spPr>
            <a:xfrm>
              <a:off x="1371002" y="2955542"/>
              <a:ext cx="1383280" cy="4944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Enhanced Services</a:t>
              </a:r>
              <a:endParaRPr/>
            </a:p>
          </p:txBody>
        </p:sp>
        <p:sp>
          <p:nvSpPr>
            <p:cNvPr id="10103" name="Google Shape;10103;p96"/>
            <p:cNvSpPr txBox="1"/>
            <p:nvPr/>
          </p:nvSpPr>
          <p:spPr>
            <a:xfrm>
              <a:off x="2282261" y="3351227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4" name="Google Shape;10104;p96"/>
            <p:cNvSpPr txBox="1"/>
            <p:nvPr/>
          </p:nvSpPr>
          <p:spPr>
            <a:xfrm>
              <a:off x="1381194" y="3872343"/>
              <a:ext cx="4042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E1EFD8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b="1" sz="2400">
                <a:solidFill>
                  <a:srgbClr val="E1EF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05" name="Google Shape;10105;p96"/>
            <p:cNvGrpSpPr/>
            <p:nvPr/>
          </p:nvGrpSpPr>
          <p:grpSpPr>
            <a:xfrm>
              <a:off x="3284218" y="3872678"/>
              <a:ext cx="1055484" cy="476495"/>
              <a:chOff x="875110" y="3716838"/>
              <a:chExt cx="1055484" cy="476495"/>
            </a:xfrm>
          </p:grpSpPr>
          <p:sp>
            <p:nvSpPr>
              <p:cNvPr id="10106" name="Google Shape;10106;p96"/>
              <p:cNvSpPr/>
              <p:nvPr/>
            </p:nvSpPr>
            <p:spPr>
              <a:xfrm>
                <a:off x="896541" y="3716838"/>
                <a:ext cx="95368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7" name="Google Shape;10107;p96"/>
              <p:cNvSpPr txBox="1"/>
              <p:nvPr/>
            </p:nvSpPr>
            <p:spPr>
              <a:xfrm>
                <a:off x="875110" y="3726730"/>
                <a:ext cx="1055484" cy="4666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Forwarding </a:t>
                </a: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rules mgr.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108" name="Google Shape;10108;p96"/>
            <p:cNvGrpSpPr/>
            <p:nvPr/>
          </p:nvGrpSpPr>
          <p:grpSpPr>
            <a:xfrm>
              <a:off x="1387402" y="3442864"/>
              <a:ext cx="965146" cy="447968"/>
              <a:chOff x="926157" y="3716838"/>
              <a:chExt cx="965146" cy="447968"/>
            </a:xfrm>
          </p:grpSpPr>
          <p:sp>
            <p:nvSpPr>
              <p:cNvPr id="10109" name="Google Shape;10109;p96"/>
              <p:cNvSpPr/>
              <p:nvPr/>
            </p:nvSpPr>
            <p:spPr>
              <a:xfrm>
                <a:off x="969582" y="3716838"/>
                <a:ext cx="855646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0" name="Google Shape;10110;p96"/>
              <p:cNvSpPr txBox="1"/>
              <p:nvPr/>
            </p:nvSpPr>
            <p:spPr>
              <a:xfrm>
                <a:off x="926157" y="3823171"/>
                <a:ext cx="965146" cy="268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AAA</a:t>
                </a:r>
                <a:endParaRPr/>
              </a:p>
            </p:txBody>
          </p:sp>
        </p:grpSp>
        <p:grpSp>
          <p:nvGrpSpPr>
            <p:cNvPr id="10111" name="Google Shape;10111;p96"/>
            <p:cNvGrpSpPr/>
            <p:nvPr/>
          </p:nvGrpSpPr>
          <p:grpSpPr>
            <a:xfrm>
              <a:off x="4369916" y="3877805"/>
              <a:ext cx="965146" cy="491225"/>
              <a:chOff x="926156" y="3708871"/>
              <a:chExt cx="965146" cy="491225"/>
            </a:xfrm>
          </p:grpSpPr>
          <p:sp>
            <p:nvSpPr>
              <p:cNvPr id="10112" name="Google Shape;10112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3" name="Google Shape;10113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Host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Tracker</a:t>
                </a:r>
                <a:endParaRPr/>
              </a:p>
            </p:txBody>
          </p:sp>
        </p:grpSp>
        <p:grpSp>
          <p:nvGrpSpPr>
            <p:cNvPr id="10114" name="Google Shape;10114;p96"/>
            <p:cNvGrpSpPr/>
            <p:nvPr/>
          </p:nvGrpSpPr>
          <p:grpSpPr>
            <a:xfrm>
              <a:off x="4879504" y="3294399"/>
              <a:ext cx="965146" cy="491225"/>
              <a:chOff x="926156" y="3708871"/>
              <a:chExt cx="965146" cy="491225"/>
            </a:xfrm>
          </p:grpSpPr>
          <p:sp>
            <p:nvSpPr>
              <p:cNvPr id="10115" name="Google Shape;10115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6" name="Google Shape;10116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Stats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17" name="Google Shape;10117;p96"/>
            <p:cNvGrpSpPr/>
            <p:nvPr/>
          </p:nvGrpSpPr>
          <p:grpSpPr>
            <a:xfrm>
              <a:off x="3910335" y="3296780"/>
              <a:ext cx="965146" cy="491225"/>
              <a:chOff x="926156" y="3708871"/>
              <a:chExt cx="965146" cy="491225"/>
            </a:xfrm>
          </p:grpSpPr>
          <p:sp>
            <p:nvSpPr>
              <p:cNvPr id="10118" name="Google Shape;10118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9" name="Google Shape;10119;p96"/>
              <p:cNvSpPr txBox="1"/>
              <p:nvPr/>
            </p:nvSpPr>
            <p:spPr>
              <a:xfrm>
                <a:off x="926156" y="3708871"/>
                <a:ext cx="965146" cy="491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Switch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mgr.</a:t>
                </a:r>
                <a:endParaRPr/>
              </a:p>
            </p:txBody>
          </p:sp>
        </p:grpSp>
        <p:grpSp>
          <p:nvGrpSpPr>
            <p:cNvPr id="10120" name="Google Shape;10120;p96"/>
            <p:cNvGrpSpPr/>
            <p:nvPr/>
          </p:nvGrpSpPr>
          <p:grpSpPr>
            <a:xfrm>
              <a:off x="2962597" y="3320593"/>
              <a:ext cx="965146" cy="465897"/>
              <a:chOff x="944015" y="3716015"/>
              <a:chExt cx="965146" cy="465897"/>
            </a:xfrm>
          </p:grpSpPr>
          <p:sp>
            <p:nvSpPr>
              <p:cNvPr id="10121" name="Google Shape;10121;p96"/>
              <p:cNvSpPr/>
              <p:nvPr/>
            </p:nvSpPr>
            <p:spPr>
              <a:xfrm>
                <a:off x="969581" y="3716838"/>
                <a:ext cx="880649" cy="447968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2" name="Google Shape;10122;p96"/>
              <p:cNvSpPr txBox="1"/>
              <p:nvPr/>
            </p:nvSpPr>
            <p:spPr>
              <a:xfrm>
                <a:off x="944015" y="3716015"/>
                <a:ext cx="965146" cy="4658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Topology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processing</a:t>
                </a: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123" name="Google Shape;10123;p96"/>
          <p:cNvSpPr txBox="1"/>
          <p:nvPr/>
        </p:nvSpPr>
        <p:spPr>
          <a:xfrm>
            <a:off x="8367386" y="4176785"/>
            <a:ext cx="3551495" cy="17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Abstraction Layer: </a:t>
            </a:r>
            <a:endParaRPr/>
          </a:p>
          <a:p>
            <a:pPr indent="-280988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interconnects internal, external applications and services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128" name="Shape 10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9" name="Google Shape;10129;p97"/>
          <p:cNvSpPr txBox="1"/>
          <p:nvPr>
            <p:ph type="title"/>
          </p:nvPr>
        </p:nvSpPr>
        <p:spPr>
          <a:xfrm>
            <a:off x="838200" y="276457"/>
            <a:ext cx="10998896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ONOS controller</a:t>
            </a:r>
            <a:endParaRPr/>
          </a:p>
        </p:txBody>
      </p:sp>
      <p:sp>
        <p:nvSpPr>
          <p:cNvPr id="10130" name="Google Shape;10130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31" name="Google Shape;10131;p97"/>
          <p:cNvSpPr txBox="1"/>
          <p:nvPr/>
        </p:nvSpPr>
        <p:spPr>
          <a:xfrm>
            <a:off x="5653843" y="1757963"/>
            <a:ext cx="2700448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Applications</a:t>
            </a:r>
            <a:endParaRPr/>
          </a:p>
        </p:txBody>
      </p:sp>
      <p:sp>
        <p:nvSpPr>
          <p:cNvPr id="10132" name="Google Shape;10132;p97"/>
          <p:cNvSpPr txBox="1"/>
          <p:nvPr/>
        </p:nvSpPr>
        <p:spPr>
          <a:xfrm>
            <a:off x="6218325" y="5420766"/>
            <a:ext cx="1522626" cy="2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Southbound API</a:t>
            </a:r>
            <a:endParaRPr/>
          </a:p>
        </p:txBody>
      </p:sp>
      <p:cxnSp>
        <p:nvCxnSpPr>
          <p:cNvPr id="10133" name="Google Shape;10133;p97"/>
          <p:cNvCxnSpPr/>
          <p:nvPr/>
        </p:nvCxnSpPr>
        <p:spPr>
          <a:xfrm>
            <a:off x="1309488" y="2192290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134" name="Google Shape;10134;p97"/>
          <p:cNvSpPr txBox="1"/>
          <p:nvPr/>
        </p:nvSpPr>
        <p:spPr>
          <a:xfrm>
            <a:off x="6042960" y="2090104"/>
            <a:ext cx="1522626" cy="271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Northbound API</a:t>
            </a:r>
            <a:endParaRPr/>
          </a:p>
        </p:txBody>
      </p:sp>
      <p:grpSp>
        <p:nvGrpSpPr>
          <p:cNvPr id="10135" name="Google Shape;10135;p97"/>
          <p:cNvGrpSpPr/>
          <p:nvPr/>
        </p:nvGrpSpPr>
        <p:grpSpPr>
          <a:xfrm>
            <a:off x="1327583" y="1613766"/>
            <a:ext cx="1225156" cy="394344"/>
            <a:chOff x="475813" y="1375772"/>
            <a:chExt cx="1225156" cy="394344"/>
          </a:xfrm>
        </p:grpSpPr>
        <p:sp>
          <p:nvSpPr>
            <p:cNvPr id="10136" name="Google Shape;10136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7" name="Google Shape;10137;p97"/>
            <p:cNvSpPr txBox="1"/>
            <p:nvPr/>
          </p:nvSpPr>
          <p:spPr>
            <a:xfrm>
              <a:off x="475813" y="1376162"/>
              <a:ext cx="1225156" cy="393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Traffic Engineering</a:t>
              </a:r>
              <a:endParaRPr/>
            </a:p>
          </p:txBody>
        </p:sp>
      </p:grpSp>
      <p:sp>
        <p:nvSpPr>
          <p:cNvPr id="10138" name="Google Shape;10138;p97"/>
          <p:cNvSpPr txBox="1"/>
          <p:nvPr/>
        </p:nvSpPr>
        <p:spPr>
          <a:xfrm>
            <a:off x="4836745" y="1497096"/>
            <a:ext cx="46654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A8D08C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1" sz="2800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39" name="Google Shape;10139;p97"/>
          <p:cNvGrpSpPr/>
          <p:nvPr/>
        </p:nvGrpSpPr>
        <p:grpSpPr>
          <a:xfrm>
            <a:off x="2447988" y="1617619"/>
            <a:ext cx="1225156" cy="381143"/>
            <a:chOff x="507131" y="1375772"/>
            <a:chExt cx="1225156" cy="381143"/>
          </a:xfrm>
        </p:grpSpPr>
        <p:sp>
          <p:nvSpPr>
            <p:cNvPr id="10140" name="Google Shape;10140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1" name="Google Shape;10141;p97"/>
            <p:cNvSpPr txBox="1"/>
            <p:nvPr/>
          </p:nvSpPr>
          <p:spPr>
            <a:xfrm>
              <a:off x="50713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Firewalling</a:t>
              </a:r>
              <a:endParaRPr/>
            </a:p>
          </p:txBody>
        </p:sp>
      </p:grpSp>
      <p:grpSp>
        <p:nvGrpSpPr>
          <p:cNvPr id="10142" name="Google Shape;10142;p97"/>
          <p:cNvGrpSpPr/>
          <p:nvPr/>
        </p:nvGrpSpPr>
        <p:grpSpPr>
          <a:xfrm>
            <a:off x="3564622" y="1621540"/>
            <a:ext cx="1225156" cy="381143"/>
            <a:chOff x="482571" y="1375772"/>
            <a:chExt cx="1225156" cy="381143"/>
          </a:xfrm>
        </p:grpSpPr>
        <p:sp>
          <p:nvSpPr>
            <p:cNvPr id="10143" name="Google Shape;10143;p97"/>
            <p:cNvSpPr/>
            <p:nvPr/>
          </p:nvSpPr>
          <p:spPr>
            <a:xfrm>
              <a:off x="594967" y="1375772"/>
              <a:ext cx="1008863" cy="381143"/>
            </a:xfrm>
            <a:prstGeom prst="ellipse">
              <a:avLst/>
            </a:prstGeom>
            <a:solidFill>
              <a:srgbClr val="E1EFD8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4" name="Google Shape;10144;p97"/>
            <p:cNvSpPr txBox="1"/>
            <p:nvPr/>
          </p:nvSpPr>
          <p:spPr>
            <a:xfrm>
              <a:off x="482571" y="1457938"/>
              <a:ext cx="1225156" cy="243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Load Balancing</a:t>
              </a:r>
              <a:endParaRPr/>
            </a:p>
          </p:txBody>
        </p:sp>
      </p:grpSp>
      <p:grpSp>
        <p:nvGrpSpPr>
          <p:cNvPr id="10145" name="Google Shape;10145;p97"/>
          <p:cNvGrpSpPr/>
          <p:nvPr/>
        </p:nvGrpSpPr>
        <p:grpSpPr>
          <a:xfrm>
            <a:off x="1160341" y="4565785"/>
            <a:ext cx="5202393" cy="914306"/>
            <a:chOff x="7097678" y="3476021"/>
            <a:chExt cx="5202393" cy="914306"/>
          </a:xfrm>
        </p:grpSpPr>
        <p:sp>
          <p:nvSpPr>
            <p:cNvPr id="10146" name="Google Shape;10146;p97"/>
            <p:cNvSpPr/>
            <p:nvPr/>
          </p:nvSpPr>
          <p:spPr>
            <a:xfrm>
              <a:off x="7097678" y="3476021"/>
              <a:ext cx="5005602" cy="880097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7" name="Google Shape;10147;p97"/>
            <p:cNvSpPr txBox="1"/>
            <p:nvPr/>
          </p:nvSpPr>
          <p:spPr>
            <a:xfrm>
              <a:off x="10689154" y="3544744"/>
              <a:ext cx="1610917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southbound abstractions,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protocols</a:t>
              </a:r>
              <a:endParaRPr/>
            </a:p>
          </p:txBody>
        </p:sp>
        <p:grpSp>
          <p:nvGrpSpPr>
            <p:cNvPr id="10148" name="Google Shape;10148;p97"/>
            <p:cNvGrpSpPr/>
            <p:nvPr/>
          </p:nvGrpSpPr>
          <p:grpSpPr>
            <a:xfrm>
              <a:off x="7191187" y="3962960"/>
              <a:ext cx="1119818" cy="338554"/>
              <a:chOff x="1929852" y="4542126"/>
              <a:chExt cx="1119818" cy="338554"/>
            </a:xfrm>
          </p:grpSpPr>
          <p:sp>
            <p:nvSpPr>
              <p:cNvPr id="10149" name="Google Shape;10149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0" name="Google Shape;10150;p97"/>
              <p:cNvSpPr txBox="1"/>
              <p:nvPr/>
            </p:nvSpPr>
            <p:spPr>
              <a:xfrm>
                <a:off x="1929852" y="4542126"/>
                <a:ext cx="111981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OpenFlow</a:t>
                </a:r>
                <a:endParaRPr/>
              </a:p>
            </p:txBody>
          </p:sp>
        </p:grpSp>
        <p:grpSp>
          <p:nvGrpSpPr>
            <p:cNvPr id="10151" name="Google Shape;10151;p97"/>
            <p:cNvGrpSpPr/>
            <p:nvPr/>
          </p:nvGrpSpPr>
          <p:grpSpPr>
            <a:xfrm>
              <a:off x="8402979" y="3964420"/>
              <a:ext cx="1062275" cy="338554"/>
              <a:chOff x="2774641" y="4248836"/>
              <a:chExt cx="1062275" cy="338554"/>
            </a:xfrm>
          </p:grpSpPr>
          <p:sp>
            <p:nvSpPr>
              <p:cNvPr id="10152" name="Google Shape;10152;p97"/>
              <p:cNvSpPr/>
              <p:nvPr/>
            </p:nvSpPr>
            <p:spPr>
              <a:xfrm>
                <a:off x="2774641" y="4279216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3" name="Google Shape;10153;p97"/>
              <p:cNvSpPr txBox="1"/>
              <p:nvPr/>
            </p:nvSpPr>
            <p:spPr>
              <a:xfrm>
                <a:off x="2873106" y="4248836"/>
                <a:ext cx="90281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Netconf</a:t>
                </a:r>
                <a:endParaRPr/>
              </a:p>
            </p:txBody>
          </p:sp>
        </p:grpSp>
        <p:grpSp>
          <p:nvGrpSpPr>
            <p:cNvPr id="10154" name="Google Shape;10154;p97"/>
            <p:cNvGrpSpPr/>
            <p:nvPr/>
          </p:nvGrpSpPr>
          <p:grpSpPr>
            <a:xfrm>
              <a:off x="9655695" y="3976588"/>
              <a:ext cx="858974" cy="413739"/>
              <a:chOff x="4304185" y="4617263"/>
              <a:chExt cx="858974" cy="413739"/>
            </a:xfrm>
          </p:grpSpPr>
          <p:sp>
            <p:nvSpPr>
              <p:cNvPr id="10155" name="Google Shape;10155;p97"/>
              <p:cNvSpPr/>
              <p:nvPr/>
            </p:nvSpPr>
            <p:spPr>
              <a:xfrm>
                <a:off x="4304185" y="4647691"/>
                <a:ext cx="858974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6" name="Google Shape;10156;p97"/>
              <p:cNvSpPr txBox="1"/>
              <p:nvPr/>
            </p:nvSpPr>
            <p:spPr>
              <a:xfrm>
                <a:off x="4307335" y="4617263"/>
                <a:ext cx="842600" cy="4137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OVSDB</a:t>
                </a:r>
                <a:endParaRPr/>
              </a:p>
            </p:txBody>
          </p:sp>
        </p:grpSp>
        <p:grpSp>
          <p:nvGrpSpPr>
            <p:cNvPr id="10157" name="Google Shape;10157;p97"/>
            <p:cNvGrpSpPr/>
            <p:nvPr/>
          </p:nvGrpSpPr>
          <p:grpSpPr>
            <a:xfrm>
              <a:off x="7201206" y="3554472"/>
              <a:ext cx="777777" cy="338554"/>
              <a:chOff x="1929852" y="4542126"/>
              <a:chExt cx="1083553" cy="338554"/>
            </a:xfrm>
          </p:grpSpPr>
          <p:sp>
            <p:nvSpPr>
              <p:cNvPr id="10158" name="Google Shape;10158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9" name="Google Shape;10159;p97"/>
              <p:cNvSpPr txBox="1"/>
              <p:nvPr/>
            </p:nvSpPr>
            <p:spPr>
              <a:xfrm>
                <a:off x="1929852" y="4542126"/>
                <a:ext cx="77777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device</a:t>
                </a:r>
                <a:endParaRPr/>
              </a:p>
            </p:txBody>
          </p:sp>
        </p:grpSp>
        <p:grpSp>
          <p:nvGrpSpPr>
            <p:cNvPr id="10160" name="Google Shape;10160;p97"/>
            <p:cNvGrpSpPr/>
            <p:nvPr/>
          </p:nvGrpSpPr>
          <p:grpSpPr>
            <a:xfrm>
              <a:off x="8032376" y="3552514"/>
              <a:ext cx="573691" cy="338554"/>
              <a:chOff x="1951130" y="4538598"/>
              <a:chExt cx="1062275" cy="338554"/>
            </a:xfrm>
          </p:grpSpPr>
          <p:sp>
            <p:nvSpPr>
              <p:cNvPr id="10161" name="Google Shape;10161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/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2" name="Google Shape;10162;p97"/>
              <p:cNvSpPr txBox="1"/>
              <p:nvPr/>
            </p:nvSpPr>
            <p:spPr>
              <a:xfrm>
                <a:off x="2014708" y="4538598"/>
                <a:ext cx="70390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link</a:t>
                </a:r>
                <a:endParaRPr/>
              </a:p>
            </p:txBody>
          </p:sp>
        </p:grpSp>
        <p:grpSp>
          <p:nvGrpSpPr>
            <p:cNvPr id="10163" name="Google Shape;10163;p97"/>
            <p:cNvGrpSpPr/>
            <p:nvPr/>
          </p:nvGrpSpPr>
          <p:grpSpPr>
            <a:xfrm>
              <a:off x="8640939" y="3553498"/>
              <a:ext cx="561323" cy="338554"/>
              <a:chOff x="1921370" y="4542126"/>
              <a:chExt cx="1092035" cy="338554"/>
            </a:xfrm>
          </p:grpSpPr>
          <p:sp>
            <p:nvSpPr>
              <p:cNvPr id="10164" name="Google Shape;10164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0000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5" name="Google Shape;10165;p97"/>
              <p:cNvSpPr txBox="1"/>
              <p:nvPr/>
            </p:nvSpPr>
            <p:spPr>
              <a:xfrm>
                <a:off x="1921370" y="4542126"/>
                <a:ext cx="79756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host</a:t>
                </a:r>
                <a:endParaRPr/>
              </a:p>
            </p:txBody>
          </p:sp>
        </p:grpSp>
        <p:grpSp>
          <p:nvGrpSpPr>
            <p:cNvPr id="10166" name="Google Shape;10166;p97"/>
            <p:cNvGrpSpPr/>
            <p:nvPr/>
          </p:nvGrpSpPr>
          <p:grpSpPr>
            <a:xfrm>
              <a:off x="9247798" y="3553498"/>
              <a:ext cx="533020" cy="338554"/>
              <a:chOff x="1933590" y="4542126"/>
              <a:chExt cx="1079815" cy="338554"/>
            </a:xfrm>
          </p:grpSpPr>
          <p:sp>
            <p:nvSpPr>
              <p:cNvPr id="10167" name="Google Shape;10167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8" name="Google Shape;10168;p97"/>
              <p:cNvSpPr txBox="1"/>
              <p:nvPr/>
            </p:nvSpPr>
            <p:spPr>
              <a:xfrm>
                <a:off x="1933590" y="4542126"/>
                <a:ext cx="76559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flow</a:t>
                </a:r>
                <a:endParaRPr/>
              </a:p>
            </p:txBody>
          </p:sp>
        </p:grpSp>
        <p:grpSp>
          <p:nvGrpSpPr>
            <p:cNvPr id="10169" name="Google Shape;10169;p97"/>
            <p:cNvGrpSpPr/>
            <p:nvPr/>
          </p:nvGrpSpPr>
          <p:grpSpPr>
            <a:xfrm>
              <a:off x="9798954" y="3538066"/>
              <a:ext cx="768563" cy="341965"/>
              <a:chOff x="1907908" y="4523169"/>
              <a:chExt cx="1105497" cy="341965"/>
            </a:xfrm>
          </p:grpSpPr>
          <p:sp>
            <p:nvSpPr>
              <p:cNvPr id="10170" name="Google Shape;10170;p97"/>
              <p:cNvSpPr/>
              <p:nvPr/>
            </p:nvSpPr>
            <p:spPr>
              <a:xfrm>
                <a:off x="1951130" y="4566892"/>
                <a:ext cx="1062275" cy="298242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CCFFCC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1" name="Google Shape;10171;p97"/>
              <p:cNvSpPr txBox="1"/>
              <p:nvPr/>
            </p:nvSpPr>
            <p:spPr>
              <a:xfrm>
                <a:off x="1907908" y="4523169"/>
                <a:ext cx="109946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packet</a:t>
                </a:r>
                <a:endParaRPr/>
              </a:p>
            </p:txBody>
          </p:sp>
        </p:grpSp>
      </p:grpSp>
      <p:sp>
        <p:nvSpPr>
          <p:cNvPr id="10172" name="Google Shape;10172;p97"/>
          <p:cNvSpPr txBox="1"/>
          <p:nvPr/>
        </p:nvSpPr>
        <p:spPr>
          <a:xfrm>
            <a:off x="4784940" y="2319147"/>
            <a:ext cx="189666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northbound abstractions,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protocols</a:t>
            </a:r>
            <a:endParaRPr/>
          </a:p>
        </p:txBody>
      </p:sp>
      <p:grpSp>
        <p:nvGrpSpPr>
          <p:cNvPr id="10173" name="Google Shape;10173;p97"/>
          <p:cNvGrpSpPr/>
          <p:nvPr/>
        </p:nvGrpSpPr>
        <p:grpSpPr>
          <a:xfrm>
            <a:off x="1235902" y="2266373"/>
            <a:ext cx="4876799" cy="714822"/>
            <a:chOff x="1235902" y="2266373"/>
            <a:chExt cx="4876799" cy="714822"/>
          </a:xfrm>
        </p:grpSpPr>
        <p:sp>
          <p:nvSpPr>
            <p:cNvPr id="10174" name="Google Shape;10174;p97"/>
            <p:cNvSpPr/>
            <p:nvPr/>
          </p:nvSpPr>
          <p:spPr>
            <a:xfrm>
              <a:off x="1235902" y="2266373"/>
              <a:ext cx="4876799" cy="714822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75" name="Google Shape;10175;p97"/>
            <p:cNvGrpSpPr/>
            <p:nvPr/>
          </p:nvGrpSpPr>
          <p:grpSpPr>
            <a:xfrm>
              <a:off x="1418332" y="2420047"/>
              <a:ext cx="1503376" cy="375164"/>
              <a:chOff x="2793562" y="3559145"/>
              <a:chExt cx="1607438" cy="375164"/>
            </a:xfrm>
          </p:grpSpPr>
          <p:sp>
            <p:nvSpPr>
              <p:cNvPr id="10176" name="Google Shape;10176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8DDFB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7" name="Google Shape;10177;p97"/>
              <p:cNvSpPr txBox="1"/>
              <p:nvPr/>
            </p:nvSpPr>
            <p:spPr>
              <a:xfrm>
                <a:off x="2840280" y="3583293"/>
                <a:ext cx="1560720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REST    API</a:t>
                </a:r>
                <a:endParaRPr/>
              </a:p>
            </p:txBody>
          </p:sp>
        </p:grpSp>
        <p:grpSp>
          <p:nvGrpSpPr>
            <p:cNvPr id="10178" name="Google Shape;10178;p97"/>
            <p:cNvGrpSpPr/>
            <p:nvPr/>
          </p:nvGrpSpPr>
          <p:grpSpPr>
            <a:xfrm>
              <a:off x="3009593" y="2420047"/>
              <a:ext cx="1362970" cy="375164"/>
              <a:chOff x="2793562" y="3559145"/>
              <a:chExt cx="1457313" cy="375164"/>
            </a:xfrm>
          </p:grpSpPr>
          <p:sp>
            <p:nvSpPr>
              <p:cNvPr id="10179" name="Google Shape;10179;p97"/>
              <p:cNvSpPr/>
              <p:nvPr/>
            </p:nvSpPr>
            <p:spPr>
              <a:xfrm>
                <a:off x="2793562" y="3559145"/>
                <a:ext cx="1457313" cy="375164"/>
              </a:xfrm>
              <a:prstGeom prst="roundRect">
                <a:avLst>
                  <a:gd fmla="val 16667" name="adj"/>
                </a:avLst>
              </a:prstGeom>
              <a:solidFill>
                <a:srgbClr val="008000"/>
              </a:solidFill>
              <a:ln cap="flat" cmpd="sng" w="12700">
                <a:solidFill>
                  <a:srgbClr val="60C89B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0000">
                    <a:alpha val="42745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0" name="Google Shape;10180;p97"/>
              <p:cNvSpPr txBox="1"/>
              <p:nvPr/>
            </p:nvSpPr>
            <p:spPr>
              <a:xfrm>
                <a:off x="3085361" y="3583293"/>
                <a:ext cx="895069" cy="330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25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Intent</a:t>
                </a:r>
                <a:endParaRPr/>
              </a:p>
            </p:txBody>
          </p:sp>
        </p:grpSp>
      </p:grpSp>
      <p:grpSp>
        <p:nvGrpSpPr>
          <p:cNvPr id="10181" name="Google Shape;10181;p97"/>
          <p:cNvGrpSpPr/>
          <p:nvPr/>
        </p:nvGrpSpPr>
        <p:grpSpPr>
          <a:xfrm>
            <a:off x="1219130" y="3053536"/>
            <a:ext cx="5028153" cy="1413955"/>
            <a:chOff x="7281727" y="3116166"/>
            <a:chExt cx="5028153" cy="1413955"/>
          </a:xfrm>
        </p:grpSpPr>
        <p:sp>
          <p:nvSpPr>
            <p:cNvPr id="10182" name="Google Shape;10182;p97"/>
            <p:cNvSpPr/>
            <p:nvPr/>
          </p:nvSpPr>
          <p:spPr>
            <a:xfrm>
              <a:off x="7281727" y="3116166"/>
              <a:ext cx="4898361" cy="1408726"/>
            </a:xfrm>
            <a:prstGeom prst="roundRect">
              <a:avLst>
                <a:gd fmla="val 16667" name="adj"/>
              </a:avLst>
            </a:prstGeom>
            <a:solidFill>
              <a:srgbClr val="60C89B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3" name="Google Shape;10183;p97"/>
            <p:cNvSpPr txBox="1"/>
            <p:nvPr/>
          </p:nvSpPr>
          <p:spPr>
            <a:xfrm>
              <a:off x="10953607" y="3768887"/>
              <a:ext cx="1356273" cy="7612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ONOS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distributed core</a:t>
              </a:r>
              <a:endParaRPr/>
            </a:p>
          </p:txBody>
        </p:sp>
        <p:grpSp>
          <p:nvGrpSpPr>
            <p:cNvPr id="10184" name="Google Shape;10184;p97"/>
            <p:cNvGrpSpPr/>
            <p:nvPr/>
          </p:nvGrpSpPr>
          <p:grpSpPr>
            <a:xfrm>
              <a:off x="9756131" y="3853524"/>
              <a:ext cx="971340" cy="459826"/>
              <a:chOff x="3067713" y="457817"/>
              <a:chExt cx="1563748" cy="459826"/>
            </a:xfrm>
          </p:grpSpPr>
          <p:sp>
            <p:nvSpPr>
              <p:cNvPr id="10185" name="Google Shape;10185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6" name="Google Shape;10186;p97"/>
              <p:cNvSpPr txBox="1"/>
              <p:nvPr/>
            </p:nvSpPr>
            <p:spPr>
              <a:xfrm>
                <a:off x="3067713" y="541671"/>
                <a:ext cx="156374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statistics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87" name="Google Shape;10187;p97"/>
            <p:cNvGrpSpPr/>
            <p:nvPr/>
          </p:nvGrpSpPr>
          <p:grpSpPr>
            <a:xfrm>
              <a:off x="7513930" y="3839969"/>
              <a:ext cx="889706" cy="459826"/>
              <a:chOff x="3128876" y="457817"/>
              <a:chExt cx="1432326" cy="459826"/>
            </a:xfrm>
          </p:grpSpPr>
          <p:sp>
            <p:nvSpPr>
              <p:cNvPr id="10188" name="Google Shape;10188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9" name="Google Shape;10189;p97"/>
              <p:cNvSpPr txBox="1"/>
              <p:nvPr/>
            </p:nvSpPr>
            <p:spPr>
              <a:xfrm>
                <a:off x="3140940" y="541671"/>
                <a:ext cx="1417294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devices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0" name="Google Shape;10190;p97"/>
            <p:cNvGrpSpPr/>
            <p:nvPr/>
          </p:nvGrpSpPr>
          <p:grpSpPr>
            <a:xfrm>
              <a:off x="7525471" y="3279854"/>
              <a:ext cx="889706" cy="459826"/>
              <a:chOff x="3128876" y="457817"/>
              <a:chExt cx="1432326" cy="459826"/>
            </a:xfrm>
          </p:grpSpPr>
          <p:sp>
            <p:nvSpPr>
              <p:cNvPr id="10191" name="Google Shape;10191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2" name="Google Shape;10192;p97"/>
              <p:cNvSpPr txBox="1"/>
              <p:nvPr/>
            </p:nvSpPr>
            <p:spPr>
              <a:xfrm>
                <a:off x="3306184" y="541671"/>
                <a:ext cx="108681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hosts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3" name="Google Shape;10193;p97"/>
            <p:cNvGrpSpPr/>
            <p:nvPr/>
          </p:nvGrpSpPr>
          <p:grpSpPr>
            <a:xfrm>
              <a:off x="8671141" y="3852495"/>
              <a:ext cx="889706" cy="459826"/>
              <a:chOff x="3154244" y="470343"/>
              <a:chExt cx="1432326" cy="459826"/>
            </a:xfrm>
          </p:grpSpPr>
          <p:sp>
            <p:nvSpPr>
              <p:cNvPr id="10194" name="Google Shape;10194;p97"/>
              <p:cNvSpPr/>
              <p:nvPr/>
            </p:nvSpPr>
            <p:spPr>
              <a:xfrm>
                <a:off x="3154244" y="470343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5" name="Google Shape;10195;p97"/>
              <p:cNvSpPr txBox="1"/>
              <p:nvPr/>
            </p:nvSpPr>
            <p:spPr>
              <a:xfrm>
                <a:off x="3370539" y="541671"/>
                <a:ext cx="95810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links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6" name="Google Shape;10196;p97"/>
            <p:cNvGrpSpPr/>
            <p:nvPr/>
          </p:nvGrpSpPr>
          <p:grpSpPr>
            <a:xfrm>
              <a:off x="8655384" y="3279854"/>
              <a:ext cx="889706" cy="459826"/>
              <a:chOff x="3128876" y="457817"/>
              <a:chExt cx="1432326" cy="459826"/>
            </a:xfrm>
          </p:grpSpPr>
          <p:sp>
            <p:nvSpPr>
              <p:cNvPr id="10197" name="Google Shape;10197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8" name="Google Shape;10198;p97"/>
              <p:cNvSpPr txBox="1"/>
              <p:nvPr/>
            </p:nvSpPr>
            <p:spPr>
              <a:xfrm>
                <a:off x="3296911" y="541671"/>
                <a:ext cx="1105358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paths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99" name="Google Shape;10199;p97"/>
            <p:cNvGrpSpPr/>
            <p:nvPr/>
          </p:nvGrpSpPr>
          <p:grpSpPr>
            <a:xfrm>
              <a:off x="9686140" y="3279854"/>
              <a:ext cx="1166221" cy="459826"/>
              <a:chOff x="3003364" y="457817"/>
              <a:chExt cx="1692457" cy="459826"/>
            </a:xfrm>
          </p:grpSpPr>
          <p:sp>
            <p:nvSpPr>
              <p:cNvPr id="10200" name="Google Shape;10200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1" name="Google Shape;10201;p97"/>
              <p:cNvSpPr txBox="1"/>
              <p:nvPr/>
            </p:nvSpPr>
            <p:spPr>
              <a:xfrm>
                <a:off x="3003364" y="541671"/>
                <a:ext cx="1692457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flow rules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02" name="Google Shape;10202;p97"/>
            <p:cNvGrpSpPr/>
            <p:nvPr/>
          </p:nvGrpSpPr>
          <p:grpSpPr>
            <a:xfrm>
              <a:off x="10986913" y="3284449"/>
              <a:ext cx="986973" cy="459826"/>
              <a:chOff x="3128876" y="457817"/>
              <a:chExt cx="1432326" cy="459826"/>
            </a:xfrm>
          </p:grpSpPr>
          <p:sp>
            <p:nvSpPr>
              <p:cNvPr id="10203" name="Google Shape;10203;p97"/>
              <p:cNvSpPr/>
              <p:nvPr/>
            </p:nvSpPr>
            <p:spPr>
              <a:xfrm>
                <a:off x="3128876" y="457817"/>
                <a:ext cx="1432326" cy="459826"/>
              </a:xfrm>
              <a:prstGeom prst="roundRect">
                <a:avLst>
                  <a:gd fmla="val 16667" name="adj"/>
                </a:avLst>
              </a:prstGeom>
              <a:solidFill>
                <a:srgbClr val="E1EFD8"/>
              </a:solidFill>
              <a:ln cap="flat" cmpd="sng" w="127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50800" rotWithShape="0" algn="tl" dir="2700000" dist="38100">
                  <a:srgbClr val="009972">
                    <a:alpha val="98823"/>
                  </a:srgbClr>
                </a:outerShdw>
              </a:effectLst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4" name="Google Shape;10204;p97"/>
              <p:cNvSpPr txBox="1"/>
              <p:nvPr/>
            </p:nvSpPr>
            <p:spPr>
              <a:xfrm>
                <a:off x="3152699" y="541671"/>
                <a:ext cx="1393790" cy="3043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topology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10205" name="Google Shape;10205;p97"/>
          <p:cNvCxnSpPr/>
          <p:nvPr/>
        </p:nvCxnSpPr>
        <p:spPr>
          <a:xfrm>
            <a:off x="1349154" y="5538827"/>
            <a:ext cx="465104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10206" name="Google Shape;10206;p97"/>
          <p:cNvSpPr txBox="1"/>
          <p:nvPr/>
        </p:nvSpPr>
        <p:spPr>
          <a:xfrm>
            <a:off x="8185530" y="2085890"/>
            <a:ext cx="3601461" cy="4001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apps separate from controller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intent framework: high-level specification of service: what rather than how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considerable emphasis on distributed core: service reliability, replication performance scaling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0" name="Shape 10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1" name="Google Shape;10211;p98"/>
          <p:cNvSpPr txBox="1"/>
          <p:nvPr>
            <p:ph idx="1" type="body"/>
          </p:nvPr>
        </p:nvSpPr>
        <p:spPr>
          <a:xfrm>
            <a:off x="750518" y="14860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hardening the control plane: dependable, reliable, performance-scalable, secure distributed system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robustness to failures: leverage strong theory of reliable distributed system for control plane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dependability, security: “baked in” from day one? 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networks, protocols meeting mission-specific requirements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2800"/>
              <a:t>e.g., real-time, ultra-reliable, ultra-secure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Internet-scaling: beyond a single AS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SDN critical in 5G cellular networks</a:t>
            </a:r>
            <a:endParaRPr/>
          </a:p>
        </p:txBody>
      </p:sp>
      <p:sp>
        <p:nvSpPr>
          <p:cNvPr id="10212" name="Google Shape;10212;p98"/>
          <p:cNvSpPr txBox="1"/>
          <p:nvPr>
            <p:ph type="title"/>
          </p:nvPr>
        </p:nvSpPr>
        <p:spPr>
          <a:xfrm>
            <a:off x="838200" y="36413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SDN:  selected challenges</a:t>
            </a:r>
            <a:endParaRPr/>
          </a:p>
        </p:txBody>
      </p:sp>
      <p:sp>
        <p:nvSpPr>
          <p:cNvPr id="10213" name="Google Shape;10213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7" name="Shape 10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8" name="Google Shape;10218;p99"/>
          <p:cNvSpPr txBox="1"/>
          <p:nvPr>
            <p:ph idx="1" type="body"/>
          </p:nvPr>
        </p:nvSpPr>
        <p:spPr>
          <a:xfrm>
            <a:off x="788096" y="1486033"/>
            <a:ext cx="10515600" cy="3123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0513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SDN-computed versus router-computer forwarding tables: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just one example of logically-centralized-computed versus protocol computed</a:t>
            </a:r>
            <a:endParaRPr/>
          </a:p>
          <a:p>
            <a:pPr indent="-290513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one could imagine SDN-computed congestion control: </a:t>
            </a:r>
            <a:endParaRPr/>
          </a:p>
          <a:p>
            <a:pPr indent="-290513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controller sets sender rates based on router-reported (to controller) congestion levels </a:t>
            </a:r>
            <a:endParaRPr/>
          </a:p>
        </p:txBody>
      </p:sp>
      <p:sp>
        <p:nvSpPr>
          <p:cNvPr id="10219" name="Google Shape;10219;p99"/>
          <p:cNvSpPr txBox="1"/>
          <p:nvPr>
            <p:ph type="title"/>
          </p:nvPr>
        </p:nvSpPr>
        <p:spPr>
          <a:xfrm>
            <a:off x="838200" y="364139"/>
            <a:ext cx="1092374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/>
              <a:t>SDN and the future of traditional network protocols</a:t>
            </a:r>
            <a:endParaRPr/>
          </a:p>
        </p:txBody>
      </p:sp>
      <p:sp>
        <p:nvSpPr>
          <p:cNvPr id="10220" name="Google Shape;10220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221" name="Google Shape;10221;p99"/>
          <p:cNvGrpSpPr/>
          <p:nvPr/>
        </p:nvGrpSpPr>
        <p:grpSpPr>
          <a:xfrm>
            <a:off x="2028174" y="4434214"/>
            <a:ext cx="7949853" cy="2423786"/>
            <a:chOff x="2028174" y="4434214"/>
            <a:chExt cx="7949853" cy="2423786"/>
          </a:xfrm>
        </p:grpSpPr>
        <p:pic>
          <p:nvPicPr>
            <p:cNvPr descr="A close up of a sign&#10;&#10;Description automatically generated" id="10222" name="Google Shape;10222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28174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3" name="Google Shape;10223;p99"/>
            <p:cNvSpPr txBox="1"/>
            <p:nvPr/>
          </p:nvSpPr>
          <p:spPr>
            <a:xfrm>
              <a:off x="3858017" y="5098094"/>
              <a:ext cx="4910203" cy="1255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How will implementation of network functionality (SDN versus protocols) evolve?</a:t>
              </a:r>
              <a:endParaRPr/>
            </a:p>
          </p:txBody>
        </p:sp>
        <p:pic>
          <p:nvPicPr>
            <p:cNvPr descr="A close up of a sign&#10;&#10;Description automatically generated" id="10224" name="Google Shape;10224;p9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54241" y="4434214"/>
              <a:ext cx="2423786" cy="24237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9" name="Shape 10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0" name="Google Shape;10230;p10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231" name="Google Shape;1023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232" name="Google Shape;10232;p100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3" name="Google Shape;10233;p100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4" name="Google Shape;10234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8" name="Shape 10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9" name="Google Shape;10239;p10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ICMP: internet control message protocol</a:t>
            </a:r>
            <a:endParaRPr/>
          </a:p>
        </p:txBody>
      </p:sp>
      <p:sp>
        <p:nvSpPr>
          <p:cNvPr id="10240" name="Google Shape;10240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41" name="Google Shape;10241;p101"/>
          <p:cNvSpPr txBox="1"/>
          <p:nvPr/>
        </p:nvSpPr>
        <p:spPr>
          <a:xfrm>
            <a:off x="981643" y="1479757"/>
            <a:ext cx="5644621" cy="494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by hosts and routers to communicate network-level information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reporting: unreachable host, network, port,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echo request/reply (used by ping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“above” IP: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messages carried in IP datagrams</a:t>
            </a:r>
            <a:endParaRPr/>
          </a:p>
          <a:p>
            <a:pPr indent="-29527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ICMP message: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type, code plus first 8 bytes of IP datagram causing error</a:t>
            </a:r>
            <a:endParaRPr/>
          </a:p>
        </p:txBody>
      </p:sp>
      <p:sp>
        <p:nvSpPr>
          <p:cNvPr id="10242" name="Google Shape;10242;p101"/>
          <p:cNvSpPr txBox="1"/>
          <p:nvPr/>
        </p:nvSpPr>
        <p:spPr>
          <a:xfrm>
            <a:off x="6987193" y="1763438"/>
            <a:ext cx="426085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       0         echo reply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0         dest. network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1         dest host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2         dest protocol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3         dest port unreachable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6         dest network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       7         dest host unknown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       0         source quench (congestion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control - not used)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       0         echo request (ping)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       0         route advertisement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     0         router discovery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      0         TTL expired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     0         bad IP header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6" name="Shape 10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7" name="Google Shape;10247;p102"/>
          <p:cNvCxnSpPr/>
          <p:nvPr/>
        </p:nvCxnSpPr>
        <p:spPr>
          <a:xfrm>
            <a:off x="2523068" y="1745295"/>
            <a:ext cx="288925" cy="2651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8" name="Google Shape;10248;p102"/>
          <p:cNvCxnSpPr/>
          <p:nvPr/>
        </p:nvCxnSpPr>
        <p:spPr>
          <a:xfrm flipH="1" rot="10800000">
            <a:off x="3316818" y="1796095"/>
            <a:ext cx="458788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9" name="Google Shape;10249;p102"/>
          <p:cNvCxnSpPr/>
          <p:nvPr/>
        </p:nvCxnSpPr>
        <p:spPr>
          <a:xfrm>
            <a:off x="4251856" y="17802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50" name="Google Shape;10250;p102"/>
          <p:cNvGrpSpPr/>
          <p:nvPr/>
        </p:nvGrpSpPr>
        <p:grpSpPr>
          <a:xfrm>
            <a:off x="2687515" y="1862419"/>
            <a:ext cx="649995" cy="330505"/>
            <a:chOff x="7493876" y="2774731"/>
            <a:chExt cx="1481958" cy="894622"/>
          </a:xfrm>
        </p:grpSpPr>
        <p:sp>
          <p:nvSpPr>
            <p:cNvPr id="10251" name="Google Shape;1025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52" name="Google Shape;1025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53" name="Google Shape;1025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54" name="Google Shape;1025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5" name="Google Shape;1025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6" name="Google Shape;1025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7" name="Google Shape;1025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258" name="Google Shape;10258;p102"/>
          <p:cNvCxnSpPr/>
          <p:nvPr/>
        </p:nvCxnSpPr>
        <p:spPr>
          <a:xfrm flipH="1">
            <a:off x="4013731" y="151193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59" name="Google Shape;10259;p102"/>
          <p:cNvCxnSpPr/>
          <p:nvPr/>
        </p:nvCxnSpPr>
        <p:spPr>
          <a:xfrm>
            <a:off x="3981981" y="191198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260" name="Google Shape;10260;p102"/>
          <p:cNvGrpSpPr/>
          <p:nvPr/>
        </p:nvGrpSpPr>
        <p:grpSpPr>
          <a:xfrm>
            <a:off x="3636127" y="1646571"/>
            <a:ext cx="649995" cy="330505"/>
            <a:chOff x="7493876" y="2774731"/>
            <a:chExt cx="1481958" cy="894622"/>
          </a:xfrm>
        </p:grpSpPr>
        <p:sp>
          <p:nvSpPr>
            <p:cNvPr id="10261" name="Google Shape;10261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62" name="Google Shape;10262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63" name="Google Shape;10263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64" name="Google Shape;10264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5" name="Google Shape;10265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6" name="Google Shape;10266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7" name="Google Shape;10267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268" name="Google Shape;10268;p10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Traceroute and ICMP</a:t>
            </a:r>
            <a:endParaRPr/>
          </a:p>
        </p:txBody>
      </p:sp>
      <p:sp>
        <p:nvSpPr>
          <p:cNvPr id="10269" name="Google Shape;10269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70" name="Google Shape;10270;p102"/>
          <p:cNvSpPr txBox="1"/>
          <p:nvPr/>
        </p:nvSpPr>
        <p:spPr>
          <a:xfrm>
            <a:off x="984900" y="5695721"/>
            <a:ext cx="9998917" cy="550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5275" lvl="0" marL="2952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ICMP message arrives at source: record RTTs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1" name="Google Shape;10271;p102"/>
          <p:cNvSpPr txBox="1"/>
          <p:nvPr/>
        </p:nvSpPr>
        <p:spPr>
          <a:xfrm>
            <a:off x="6911937" y="2213510"/>
            <a:ext cx="3810000" cy="2005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01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2" name="Google Shape;10272;p102"/>
          <p:cNvSpPr/>
          <p:nvPr/>
        </p:nvSpPr>
        <p:spPr>
          <a:xfrm>
            <a:off x="8095562" y="2730905"/>
            <a:ext cx="3810000" cy="2568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stopping criteria: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segment eventually arrives at destination host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returns ICMP “port unreachable” message (type 3, code 3)</a:t>
            </a:r>
            <a:endParaRPr/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stops</a:t>
            </a:r>
            <a:endParaRPr/>
          </a:p>
        </p:txBody>
      </p:sp>
      <p:cxnSp>
        <p:nvCxnSpPr>
          <p:cNvPr id="10273" name="Google Shape;10273;p102"/>
          <p:cNvCxnSpPr/>
          <p:nvPr/>
        </p:nvCxnSpPr>
        <p:spPr>
          <a:xfrm flipH="1">
            <a:off x="5228168" y="1840545"/>
            <a:ext cx="620713" cy="1444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4" name="Google Shape;10274;p102"/>
          <p:cNvCxnSpPr/>
          <p:nvPr/>
        </p:nvCxnSpPr>
        <p:spPr>
          <a:xfrm>
            <a:off x="6347356" y="1805620"/>
            <a:ext cx="485775" cy="20796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5" name="Google Shape;10275;p102"/>
          <p:cNvCxnSpPr/>
          <p:nvPr/>
        </p:nvCxnSpPr>
        <p:spPr>
          <a:xfrm flipH="1">
            <a:off x="7285568" y="1751645"/>
            <a:ext cx="557213" cy="2778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6" name="Google Shape;10276;p102"/>
          <p:cNvCxnSpPr/>
          <p:nvPr/>
        </p:nvCxnSpPr>
        <p:spPr>
          <a:xfrm>
            <a:off x="5906031" y="1499233"/>
            <a:ext cx="228600" cy="3111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7" name="Google Shape;10277;p102"/>
          <p:cNvCxnSpPr/>
          <p:nvPr/>
        </p:nvCxnSpPr>
        <p:spPr>
          <a:xfrm flipH="1">
            <a:off x="4623331" y="2102483"/>
            <a:ext cx="349250" cy="152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8" name="Google Shape;10278;p102"/>
          <p:cNvCxnSpPr/>
          <p:nvPr/>
        </p:nvCxnSpPr>
        <p:spPr>
          <a:xfrm>
            <a:off x="4978931" y="1607183"/>
            <a:ext cx="6350" cy="260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9" name="Google Shape;10279;p102"/>
          <p:cNvSpPr txBox="1"/>
          <p:nvPr/>
        </p:nvSpPr>
        <p:spPr>
          <a:xfrm>
            <a:off x="2624668" y="14643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0" name="Google Shape;10280;p102"/>
          <p:cNvSpPr txBox="1"/>
          <p:nvPr/>
        </p:nvSpPr>
        <p:spPr>
          <a:xfrm>
            <a:off x="3239031" y="2024695"/>
            <a:ext cx="1073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sp>
        <p:nvSpPr>
          <p:cNvPr id="10281" name="Google Shape;10281;p102"/>
          <p:cNvSpPr txBox="1"/>
          <p:nvPr/>
        </p:nvSpPr>
        <p:spPr>
          <a:xfrm>
            <a:off x="4262968" y="1438908"/>
            <a:ext cx="1073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probes</a:t>
            </a:r>
            <a:endParaRPr/>
          </a:p>
        </p:txBody>
      </p:sp>
      <p:grpSp>
        <p:nvGrpSpPr>
          <p:cNvPr id="10282" name="Google Shape;10282;p102"/>
          <p:cNvGrpSpPr/>
          <p:nvPr/>
        </p:nvGrpSpPr>
        <p:grpSpPr>
          <a:xfrm>
            <a:off x="1754718" y="1400808"/>
            <a:ext cx="820738" cy="688975"/>
            <a:chOff x="-44" y="1473"/>
            <a:chExt cx="981" cy="1105"/>
          </a:xfrm>
        </p:grpSpPr>
        <p:pic>
          <p:nvPicPr>
            <p:cNvPr descr="desktop_computer_stylized_medium" id="10283" name="Google Shape;10283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4" name="Google Shape;10284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85" name="Google Shape;10285;p102"/>
          <p:cNvGrpSpPr/>
          <p:nvPr/>
        </p:nvGrpSpPr>
        <p:grpSpPr>
          <a:xfrm flipH="1">
            <a:off x="7803093" y="1438908"/>
            <a:ext cx="754063" cy="669925"/>
            <a:chOff x="-44" y="1473"/>
            <a:chExt cx="981" cy="1105"/>
          </a:xfrm>
        </p:grpSpPr>
        <p:pic>
          <p:nvPicPr>
            <p:cNvPr descr="desktop_computer_stylized_medium" id="10286" name="Google Shape;10286;p10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7" name="Google Shape;10287;p10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88" name="Google Shape;10288;p102"/>
          <p:cNvSpPr/>
          <p:nvPr/>
        </p:nvSpPr>
        <p:spPr>
          <a:xfrm>
            <a:off x="2526243" y="1721483"/>
            <a:ext cx="419100" cy="419100"/>
          </a:xfrm>
          <a:custGeom>
            <a:rect b="b" l="l" r="r" t="t"/>
            <a:pathLst>
              <a:path extrusionOk="0" h="264" w="264">
                <a:moveTo>
                  <a:pt x="60" y="0"/>
                </a:moveTo>
                <a:cubicBezTo>
                  <a:pt x="86" y="31"/>
                  <a:pt x="264" y="176"/>
                  <a:pt x="228" y="220"/>
                </a:cubicBezTo>
                <a:cubicBezTo>
                  <a:pt x="192" y="264"/>
                  <a:pt x="60" y="109"/>
                  <a:pt x="0" y="88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9" name="Google Shape;10289;p102"/>
          <p:cNvSpPr/>
          <p:nvPr/>
        </p:nvSpPr>
        <p:spPr>
          <a:xfrm>
            <a:off x="2519893" y="1635758"/>
            <a:ext cx="1346200" cy="474662"/>
          </a:xfrm>
          <a:custGeom>
            <a:rect b="b" l="l" r="r" t="t"/>
            <a:pathLst>
              <a:path extrusionOk="0" h="299" w="848">
                <a:moveTo>
                  <a:pt x="76" y="76"/>
                </a:moveTo>
                <a:cubicBezTo>
                  <a:pt x="137" y="57"/>
                  <a:pt x="200" y="216"/>
                  <a:pt x="324" y="216"/>
                </a:cubicBezTo>
                <a:cubicBezTo>
                  <a:pt x="448" y="216"/>
                  <a:pt x="792" y="0"/>
                  <a:pt x="820" y="76"/>
                </a:cubicBezTo>
                <a:cubicBezTo>
                  <a:pt x="848" y="152"/>
                  <a:pt x="469" y="245"/>
                  <a:pt x="340" y="296"/>
                </a:cubicBezTo>
                <a:cubicBezTo>
                  <a:pt x="203" y="299"/>
                  <a:pt x="62" y="78"/>
                  <a:pt x="0" y="96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0" name="Google Shape;10290;p102"/>
          <p:cNvSpPr txBox="1"/>
          <p:nvPr/>
        </p:nvSpPr>
        <p:spPr>
          <a:xfrm>
            <a:off x="938996" y="2521027"/>
            <a:ext cx="6396401" cy="32407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282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sends sets of UDP segments to destination</a:t>
            </a:r>
            <a:endParaRPr/>
          </a:p>
          <a:p>
            <a:pPr indent="-222250" lvl="1" marL="5651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 =1, 2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set has TTL=2, etc.</a:t>
            </a:r>
            <a:endParaRPr/>
          </a:p>
          <a:p>
            <a:pPr indent="-282575" lvl="0" marL="2825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in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 set arrives to nth router: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discards datagram and sends source ICMP message (type 11, code 0)</a:t>
            </a:r>
            <a:endParaRPr/>
          </a:p>
          <a:p>
            <a:pPr indent="-1809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possibly includes name of router &amp; IP address</a:t>
            </a:r>
            <a:endParaRPr/>
          </a:p>
          <a:p>
            <a:pPr indent="-28575" lvl="1" marL="5238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91" name="Google Shape;10291;p102"/>
          <p:cNvGrpSpPr/>
          <p:nvPr/>
        </p:nvGrpSpPr>
        <p:grpSpPr>
          <a:xfrm>
            <a:off x="6775374" y="1828801"/>
            <a:ext cx="649995" cy="330505"/>
            <a:chOff x="7493876" y="2774731"/>
            <a:chExt cx="1481958" cy="894622"/>
          </a:xfrm>
        </p:grpSpPr>
        <p:sp>
          <p:nvSpPr>
            <p:cNvPr id="10292" name="Google Shape;10292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293" name="Google Shape;10293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294" name="Google Shape;10294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295" name="Google Shape;10295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6" name="Google Shape;10296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7" name="Google Shape;10297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8" name="Google Shape;10298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299" name="Google Shape;10299;p102"/>
          <p:cNvGrpSpPr/>
          <p:nvPr/>
        </p:nvGrpSpPr>
        <p:grpSpPr>
          <a:xfrm>
            <a:off x="5748969" y="1683745"/>
            <a:ext cx="649995" cy="330505"/>
            <a:chOff x="7493876" y="2774731"/>
            <a:chExt cx="1481958" cy="894622"/>
          </a:xfrm>
        </p:grpSpPr>
        <p:sp>
          <p:nvSpPr>
            <p:cNvPr id="10300" name="Google Shape;10300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1" name="Google Shape;10301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02" name="Google Shape;10302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03" name="Google Shape;10303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4" name="Google Shape;10304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5" name="Google Shape;10305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6" name="Google Shape;10306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07" name="Google Shape;10307;p102"/>
          <p:cNvGrpSpPr/>
          <p:nvPr/>
        </p:nvGrpSpPr>
        <p:grpSpPr>
          <a:xfrm>
            <a:off x="4623412" y="1847161"/>
            <a:ext cx="649995" cy="330505"/>
            <a:chOff x="7493876" y="2774731"/>
            <a:chExt cx="1481958" cy="894622"/>
          </a:xfrm>
        </p:grpSpPr>
        <p:sp>
          <p:nvSpPr>
            <p:cNvPr id="10308" name="Google Shape;10308;p10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309" name="Google Shape;10309;p10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310" name="Google Shape;10310;p10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11" name="Google Shape;10311;p10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2" name="Google Shape;10312;p10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3" name="Google Shape;10313;p10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4" name="Google Shape;10314;p10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15" name="Google Shape;10315;p102"/>
          <p:cNvSpPr/>
          <p:nvPr/>
        </p:nvSpPr>
        <p:spPr>
          <a:xfrm>
            <a:off x="2494493" y="1684970"/>
            <a:ext cx="2247900" cy="403225"/>
          </a:xfrm>
          <a:custGeom>
            <a:rect b="b" l="l" r="r" t="t"/>
            <a:pathLst>
              <a:path extrusionOk="0" h="254" w="1416">
                <a:moveTo>
                  <a:pt x="76" y="30"/>
                </a:moveTo>
                <a:cubicBezTo>
                  <a:pt x="137" y="11"/>
                  <a:pt x="200" y="170"/>
                  <a:pt x="324" y="170"/>
                </a:cubicBezTo>
                <a:cubicBezTo>
                  <a:pt x="461" y="165"/>
                  <a:pt x="717" y="0"/>
                  <a:pt x="896" y="2"/>
                </a:cubicBezTo>
                <a:cubicBezTo>
                  <a:pt x="1075" y="4"/>
                  <a:pt x="1416" y="122"/>
                  <a:pt x="1400" y="182"/>
                </a:cubicBezTo>
                <a:cubicBezTo>
                  <a:pt x="1384" y="242"/>
                  <a:pt x="1073" y="63"/>
                  <a:pt x="896" y="74"/>
                </a:cubicBezTo>
                <a:cubicBezTo>
                  <a:pt x="719" y="85"/>
                  <a:pt x="489" y="254"/>
                  <a:pt x="340" y="250"/>
                </a:cubicBezTo>
                <a:cubicBezTo>
                  <a:pt x="191" y="246"/>
                  <a:pt x="62" y="32"/>
                  <a:pt x="0" y="50"/>
                </a:cubicBezTo>
              </a:path>
            </a:pathLst>
          </a:cu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0" name="Shape 10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1" name="Google Shape;10321;p10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0322" name="Google Shape;10322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0323" name="Google Shape;10323;p103"/>
          <p:cNvSpPr txBox="1"/>
          <p:nvPr/>
        </p:nvSpPr>
        <p:spPr>
          <a:xfrm>
            <a:off x="6761675" y="4144564"/>
            <a:ext cx="5066531" cy="2130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 (*)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4" name="Google Shape;10324;p103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5" name="Google Shape;10325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29" name="Shape 10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" name="Google Shape;10330;p104"/>
          <p:cNvSpPr txBox="1"/>
          <p:nvPr>
            <p:ph idx="1" type="body"/>
          </p:nvPr>
        </p:nvSpPr>
        <p:spPr>
          <a:xfrm>
            <a:off x="850075" y="1557773"/>
            <a:ext cx="10515600" cy="2230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▪"/>
            </a:pPr>
            <a:r>
              <a:rPr lang="en-US" sz="3200">
                <a:solidFill>
                  <a:srgbClr val="0000A8"/>
                </a:solidFill>
              </a:rPr>
              <a:t>autonomous systems (aka “network”): </a:t>
            </a:r>
            <a:r>
              <a:rPr lang="en-US" sz="3200"/>
              <a:t>1000s of interacting hardware/software components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▪"/>
            </a:pPr>
            <a:r>
              <a:rPr lang="en-US" sz="3200"/>
              <a:t>other complex systems requiring monitoring, configuration, control: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jet airplane, nuclear power plant, others?</a:t>
            </a:r>
            <a:endParaRPr/>
          </a:p>
          <a:p>
            <a:pPr indent="-57784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0331" name="Google Shape;10331;p10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management?</a:t>
            </a:r>
            <a:endParaRPr/>
          </a:p>
        </p:txBody>
      </p:sp>
      <p:sp>
        <p:nvSpPr>
          <p:cNvPr id="10332" name="Google Shape;10332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333" name="Google Shape;10333;p104"/>
          <p:cNvGrpSpPr/>
          <p:nvPr/>
        </p:nvGrpSpPr>
        <p:grpSpPr>
          <a:xfrm>
            <a:off x="1981694" y="4123789"/>
            <a:ext cx="8232775" cy="2093913"/>
            <a:chOff x="1981694" y="4123789"/>
            <a:chExt cx="8232775" cy="2093913"/>
          </a:xfrm>
        </p:grpSpPr>
        <p:sp>
          <p:nvSpPr>
            <p:cNvPr id="10334" name="Google Shape;10334;p104"/>
            <p:cNvSpPr txBox="1"/>
            <p:nvPr/>
          </p:nvSpPr>
          <p:spPr>
            <a:xfrm>
              <a:off x="3161207" y="4153952"/>
              <a:ext cx="6962775" cy="200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"</a:t>
              </a:r>
              <a:r>
                <a:rPr lang="en-US" sz="20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Network management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includes the deployment, integration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coordination of the hardware, software, and human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elements to monitor, test, poll, configure, analyze, evaluate,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control the network and element resources to meet the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real-time, operational performance, and Quality of Service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requirements at a reasonable cost."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  <p:sp>
          <p:nvSpPr>
            <p:cNvPr id="10335" name="Google Shape;10335;p104"/>
            <p:cNvSpPr/>
            <p:nvPr/>
          </p:nvSpPr>
          <p:spPr>
            <a:xfrm>
              <a:off x="3065957" y="4123789"/>
              <a:ext cx="7148512" cy="2093913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336" name="Google Shape;10336;p10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81694" y="4317464"/>
              <a:ext cx="1123950" cy="1600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341" name="Shape 10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" name="Google Shape;10342;p10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Components of network management</a:t>
            </a:r>
            <a:endParaRPr/>
          </a:p>
        </p:txBody>
      </p:sp>
      <p:sp>
        <p:nvSpPr>
          <p:cNvPr id="10343" name="Google Shape;10343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44" name="Google Shape;10344;p105"/>
          <p:cNvSpPr/>
          <p:nvPr/>
        </p:nvSpPr>
        <p:spPr>
          <a:xfrm rot="-5216633">
            <a:off x="3968383" y="2925460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45" name="Google Shape;10345;p105"/>
          <p:cNvCxnSpPr/>
          <p:nvPr/>
        </p:nvCxnSpPr>
        <p:spPr>
          <a:xfrm flipH="1" rot="10800000">
            <a:off x="6036787" y="3158537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6" name="Google Shape;10346;p105"/>
          <p:cNvCxnSpPr/>
          <p:nvPr/>
        </p:nvCxnSpPr>
        <p:spPr>
          <a:xfrm flipH="1" rot="10800000">
            <a:off x="6267286" y="4112624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7" name="Google Shape;10347;p105"/>
          <p:cNvCxnSpPr/>
          <p:nvPr/>
        </p:nvCxnSpPr>
        <p:spPr>
          <a:xfrm>
            <a:off x="6270150" y="4603162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8" name="Google Shape;10348;p105"/>
          <p:cNvCxnSpPr/>
          <p:nvPr/>
        </p:nvCxnSpPr>
        <p:spPr>
          <a:xfrm>
            <a:off x="5462112" y="3653837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9" name="Google Shape;10349;p105"/>
          <p:cNvCxnSpPr/>
          <p:nvPr/>
        </p:nvCxnSpPr>
        <p:spPr>
          <a:xfrm flipH="1">
            <a:off x="5676425" y="4592049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350" name="Google Shape;10350;p105"/>
          <p:cNvGrpSpPr/>
          <p:nvPr/>
        </p:nvGrpSpPr>
        <p:grpSpPr>
          <a:xfrm>
            <a:off x="3982954" y="2808993"/>
            <a:ext cx="4334676" cy="3307930"/>
            <a:chOff x="3982954" y="2808993"/>
            <a:chExt cx="4334676" cy="3307930"/>
          </a:xfrm>
        </p:grpSpPr>
        <p:sp>
          <p:nvSpPr>
            <p:cNvPr id="10351" name="Google Shape;10351;p105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2" name="Google Shape;10352;p105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3" name="Google Shape;10353;p105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354" name="Google Shape;10354;p105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355" name="Google Shape;10355;p105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356" name="Google Shape;10356;p105"/>
          <p:cNvGrpSpPr/>
          <p:nvPr/>
        </p:nvGrpSpPr>
        <p:grpSpPr>
          <a:xfrm>
            <a:off x="5091628" y="2760942"/>
            <a:ext cx="469569" cy="865434"/>
            <a:chOff x="4140" y="429"/>
            <a:chExt cx="1425" cy="2396"/>
          </a:xfrm>
        </p:grpSpPr>
        <p:sp>
          <p:nvSpPr>
            <p:cNvPr id="10357" name="Google Shape;10357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8" name="Google Shape;10358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9" name="Google Shape;10359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0" name="Google Shape;10360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1" name="Google Shape;10361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2" name="Google Shape;10362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63" name="Google Shape;10363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4" name="Google Shape;10364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5" name="Google Shape;10365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66" name="Google Shape;10366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367" name="Google Shape;10367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8" name="Google Shape;10368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9" name="Google Shape;10369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0" name="Google Shape;10370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1" name="Google Shape;10371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372" name="Google Shape;10372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3" name="Google Shape;10373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4" name="Google Shape;10374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5" name="Google Shape;10375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376" name="Google Shape;10376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7" name="Google Shape;10377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78" name="Google Shape;10378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9" name="Google Shape;10379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0" name="Google Shape;10380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1" name="Google Shape;10381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2" name="Google Shape;10382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3" name="Google Shape;10383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4" name="Google Shape;10384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5" name="Google Shape;10385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6" name="Google Shape;10386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7" name="Google Shape;10387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8" name="Google Shape;10388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89" name="Google Shape;10389;p105"/>
          <p:cNvGrpSpPr/>
          <p:nvPr/>
        </p:nvGrpSpPr>
        <p:grpSpPr>
          <a:xfrm>
            <a:off x="6514625" y="5150849"/>
            <a:ext cx="366712" cy="579438"/>
            <a:chOff x="4140" y="429"/>
            <a:chExt cx="1425" cy="2396"/>
          </a:xfrm>
        </p:grpSpPr>
        <p:sp>
          <p:nvSpPr>
            <p:cNvPr id="10390" name="Google Shape;10390;p10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1" name="Google Shape;10391;p105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2" name="Google Shape;10392;p10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3" name="Google Shape;10393;p10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4" name="Google Shape;10394;p105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5" name="Google Shape;10395;p105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396" name="Google Shape;10396;p105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7" name="Google Shape;10397;p105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98" name="Google Shape;10398;p105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99" name="Google Shape;10399;p105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400" name="Google Shape;10400;p105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1" name="Google Shape;10401;p105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2" name="Google Shape;10402;p105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3" name="Google Shape;10403;p105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4" name="Google Shape;10404;p105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405" name="Google Shape;10405;p105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6" name="Google Shape;10406;p105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07" name="Google Shape;10407;p10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08" name="Google Shape;10408;p105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409" name="Google Shape;10409;p105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0" name="Google Shape;10410;p105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11" name="Google Shape;10411;p10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2" name="Google Shape;10412;p10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3" name="Google Shape;10413;p10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4" name="Google Shape;10414;p105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5" name="Google Shape;10415;p10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6" name="Google Shape;10416;p105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7" name="Google Shape;10417;p105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8" name="Google Shape;10418;p105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9" name="Google Shape;10419;p105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0" name="Google Shape;10420;p105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1" name="Google Shape;10421;p105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22" name="Google Shape;10422;p105"/>
          <p:cNvGrpSpPr/>
          <p:nvPr/>
        </p:nvGrpSpPr>
        <p:grpSpPr>
          <a:xfrm>
            <a:off x="5273431" y="5539343"/>
            <a:ext cx="683116" cy="378456"/>
            <a:chOff x="7493876" y="2774731"/>
            <a:chExt cx="1481958" cy="894622"/>
          </a:xfrm>
        </p:grpSpPr>
        <p:sp>
          <p:nvSpPr>
            <p:cNvPr id="10423" name="Google Shape;10423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24" name="Google Shape;10424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25" name="Google Shape;10425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26" name="Google Shape;10426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7" name="Google Shape;10427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8" name="Google Shape;10428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9" name="Google Shape;10429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30" name="Google Shape;10430;p105"/>
          <p:cNvCxnSpPr/>
          <p:nvPr/>
        </p:nvCxnSpPr>
        <p:spPr>
          <a:xfrm>
            <a:off x="7193560" y="4043476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31" name="Google Shape;10431;p105"/>
          <p:cNvCxnSpPr/>
          <p:nvPr/>
        </p:nvCxnSpPr>
        <p:spPr>
          <a:xfrm>
            <a:off x="5792273" y="5919778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432" name="Google Shape;10432;p105"/>
          <p:cNvGrpSpPr/>
          <p:nvPr/>
        </p:nvGrpSpPr>
        <p:grpSpPr>
          <a:xfrm>
            <a:off x="3623562" y="1917794"/>
            <a:ext cx="4834638" cy="3974275"/>
            <a:chOff x="3623562" y="1917794"/>
            <a:chExt cx="4834638" cy="3974275"/>
          </a:xfrm>
        </p:grpSpPr>
        <p:grpSp>
          <p:nvGrpSpPr>
            <p:cNvPr id="10433" name="Google Shape;10433;p105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434" name="Google Shape;10434;p105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5" name="Google Shape;10435;p105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6" name="Google Shape;10436;p105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37" name="Google Shape;10437;p105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38" name="Google Shape;10438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9" name="Google Shape;10439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0" name="Google Shape;10440;p105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441" name="Google Shape;10441;p105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2" name="Google Shape;10442;p105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3" name="Google Shape;10443;p105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44" name="Google Shape;10444;p105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45" name="Google Shape;10445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6" name="Google Shape;10446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47" name="Google Shape;10447;p105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448" name="Google Shape;10448;p105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9" name="Google Shape;10449;p105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0" name="Google Shape;10450;p105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1" name="Google Shape;10451;p105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2" name="Google Shape;10452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3" name="Google Shape;10453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54" name="Google Shape;10454;p105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455" name="Google Shape;10455;p105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6" name="Google Shape;10456;p105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57" name="Google Shape;10457;p105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58" name="Google Shape;10458;p105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59" name="Google Shape;10459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0" name="Google Shape;10460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461" name="Google Shape;10461;p105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462" name="Google Shape;10462;p105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3" name="Google Shape;10463;p105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64" name="Google Shape;10464;p105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465" name="Google Shape;10465;p105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466" name="Google Shape;10466;p105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7" name="Google Shape;10467;p105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468" name="Google Shape;10468;p105"/>
          <p:cNvGrpSpPr/>
          <p:nvPr/>
        </p:nvGrpSpPr>
        <p:grpSpPr>
          <a:xfrm>
            <a:off x="5649769" y="4179021"/>
            <a:ext cx="736270" cy="422596"/>
            <a:chOff x="3668110" y="2448910"/>
            <a:chExt cx="3794234" cy="2165130"/>
          </a:xfrm>
        </p:grpSpPr>
        <p:sp>
          <p:nvSpPr>
            <p:cNvPr id="10469" name="Google Shape;10469;p10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0" name="Google Shape;10470;p10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71" name="Google Shape;10471;p10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472" name="Google Shape;10472;p10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3" name="Google Shape;10473;p10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4" name="Google Shape;10474;p10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5" name="Google Shape;10475;p10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6" name="Google Shape;10476;p105"/>
          <p:cNvGrpSpPr/>
          <p:nvPr/>
        </p:nvGrpSpPr>
        <p:grpSpPr>
          <a:xfrm>
            <a:off x="2739071" y="2226350"/>
            <a:ext cx="2436042" cy="1273223"/>
            <a:chOff x="2739071" y="2226350"/>
            <a:chExt cx="2436042" cy="1273223"/>
          </a:xfrm>
        </p:grpSpPr>
        <p:sp>
          <p:nvSpPr>
            <p:cNvPr id="10477" name="Google Shape;10477;p105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8" name="Google Shape;10478;p105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9" name="Google Shape;10479;p105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480" name="Google Shape;10480;p105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481" name="Google Shape;10481;p10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2" name="Google Shape;10482;p10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0483" name="Google Shape;10483;p105"/>
          <p:cNvSpPr txBox="1"/>
          <p:nvPr/>
        </p:nvSpPr>
        <p:spPr>
          <a:xfrm>
            <a:off x="440674" y="1905917"/>
            <a:ext cx="2787267" cy="180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Managing server: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application, typically with network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managers (humans) in the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4" name="Google Shape;10484;p105"/>
          <p:cNvSpPr txBox="1"/>
          <p:nvPr/>
        </p:nvSpPr>
        <p:spPr>
          <a:xfrm>
            <a:off x="8615190" y="1619479"/>
            <a:ext cx="333811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Managed device: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equipment with manageable, configurable hardware, software components</a:t>
            </a:r>
            <a:endParaRPr/>
          </a:p>
        </p:txBody>
      </p:sp>
      <p:sp>
        <p:nvSpPr>
          <p:cNvPr id="10485" name="Google Shape;10485;p105"/>
          <p:cNvSpPr txBox="1"/>
          <p:nvPr/>
        </p:nvSpPr>
        <p:spPr>
          <a:xfrm>
            <a:off x="9066884" y="3095739"/>
            <a:ext cx="2423710" cy="16619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“state” configuration data, operational data, device statistics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86" name="Google Shape;10486;p105"/>
          <p:cNvGrpSpPr/>
          <p:nvPr/>
        </p:nvGrpSpPr>
        <p:grpSpPr>
          <a:xfrm>
            <a:off x="6498569" y="3831275"/>
            <a:ext cx="683116" cy="378456"/>
            <a:chOff x="7493876" y="2774731"/>
            <a:chExt cx="1481958" cy="894622"/>
          </a:xfrm>
        </p:grpSpPr>
        <p:sp>
          <p:nvSpPr>
            <p:cNvPr id="10487" name="Google Shape;10487;p10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488" name="Google Shape;10488;p10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489" name="Google Shape;10489;p10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490" name="Google Shape;10490;p10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1" name="Google Shape;10491;p10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2" name="Google Shape;10492;p10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3" name="Google Shape;10493;p10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94" name="Google Shape;10494;p105"/>
          <p:cNvGrpSpPr/>
          <p:nvPr/>
        </p:nvGrpSpPr>
        <p:grpSpPr>
          <a:xfrm>
            <a:off x="5979637" y="2571162"/>
            <a:ext cx="903288" cy="727075"/>
            <a:chOff x="-44" y="1473"/>
            <a:chExt cx="981" cy="1105"/>
          </a:xfrm>
        </p:grpSpPr>
        <p:pic>
          <p:nvPicPr>
            <p:cNvPr descr="desktop_computer_stylized_medium" id="10495" name="Google Shape;10495;p10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6" name="Google Shape;10496;p10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97" name="Google Shape;10497;p105"/>
          <p:cNvGrpSpPr/>
          <p:nvPr/>
        </p:nvGrpSpPr>
        <p:grpSpPr>
          <a:xfrm>
            <a:off x="440676" y="2159308"/>
            <a:ext cx="6861671" cy="4060952"/>
            <a:chOff x="440676" y="2159308"/>
            <a:chExt cx="6861671" cy="4060952"/>
          </a:xfrm>
        </p:grpSpPr>
        <p:sp>
          <p:nvSpPr>
            <p:cNvPr id="10498" name="Google Shape;10498;p105"/>
            <p:cNvSpPr txBox="1"/>
            <p:nvPr/>
          </p:nvSpPr>
          <p:spPr>
            <a:xfrm>
              <a:off x="440676" y="3745736"/>
              <a:ext cx="2930486" cy="2474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Network management protocol: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used by managing server to query, configure, manage device; used by devices to inform managing server of data, events.</a:t>
              </a:r>
              <a:endParaRPr/>
            </a:p>
          </p:txBody>
        </p:sp>
        <p:grpSp>
          <p:nvGrpSpPr>
            <p:cNvPr id="10499" name="Google Shape;10499;p105"/>
            <p:cNvGrpSpPr/>
            <p:nvPr/>
          </p:nvGrpSpPr>
          <p:grpSpPr>
            <a:xfrm>
              <a:off x="3831136" y="2159308"/>
              <a:ext cx="3471211" cy="2974551"/>
              <a:chOff x="3831136" y="2159308"/>
              <a:chExt cx="3471211" cy="2974551"/>
            </a:xfrm>
          </p:grpSpPr>
          <p:cxnSp>
            <p:nvCxnSpPr>
              <p:cNvPr id="10500" name="Google Shape;10500;p105"/>
              <p:cNvCxnSpPr/>
              <p:nvPr/>
            </p:nvCxnSpPr>
            <p:spPr>
              <a:xfrm>
                <a:off x="3833870" y="3013112"/>
                <a:ext cx="0" cy="2120747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1" name="Google Shape;10501;p105"/>
              <p:cNvCxnSpPr/>
              <p:nvPr/>
            </p:nvCxnSpPr>
            <p:spPr>
              <a:xfrm>
                <a:off x="3831136" y="3020190"/>
                <a:ext cx="3471211" cy="18566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2" name="Google Shape;10502;p105"/>
              <p:cNvCxnSpPr/>
              <p:nvPr/>
            </p:nvCxnSpPr>
            <p:spPr>
              <a:xfrm>
                <a:off x="3831136" y="3026864"/>
                <a:ext cx="3294941" cy="599523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3" name="Google Shape;10503;p105"/>
              <p:cNvCxnSpPr/>
              <p:nvPr/>
            </p:nvCxnSpPr>
            <p:spPr>
              <a:xfrm flipH="1" rot="10800000">
                <a:off x="3841147" y="2159308"/>
                <a:ext cx="3084791" cy="860882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cxnSp>
            <p:nvCxnSpPr>
              <p:cNvPr id="10504" name="Google Shape;10504;p105"/>
              <p:cNvCxnSpPr/>
              <p:nvPr/>
            </p:nvCxnSpPr>
            <p:spPr>
              <a:xfrm>
                <a:off x="3834473" y="3023527"/>
                <a:ext cx="458433" cy="837885"/>
              </a:xfrm>
              <a:prstGeom prst="straightConnector1">
                <a:avLst/>
              </a:prstGeom>
              <a:noFill/>
              <a:ln cap="flat" cmpd="sng" w="349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509" name="Shape 10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0" name="Google Shape;10510;p106"/>
          <p:cNvSpPr txBox="1"/>
          <p:nvPr>
            <p:ph type="title"/>
          </p:nvPr>
        </p:nvSpPr>
        <p:spPr>
          <a:xfrm>
            <a:off x="717015" y="341652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operator approaches to management</a:t>
            </a:r>
            <a:endParaRPr/>
          </a:p>
        </p:txBody>
      </p:sp>
      <p:sp>
        <p:nvSpPr>
          <p:cNvPr id="10511" name="Google Shape;10511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12" name="Google Shape;10512;p106"/>
          <p:cNvSpPr/>
          <p:nvPr/>
        </p:nvSpPr>
        <p:spPr>
          <a:xfrm rot="-5216633">
            <a:off x="7427686" y="2947494"/>
            <a:ext cx="4057421" cy="2452239"/>
          </a:xfrm>
          <a:custGeom>
            <a:rect b="b" l="l" r="r" t="t"/>
            <a:pathLst>
              <a:path extrusionOk="0" h="933" w="1794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13" name="Google Shape;10513;p106"/>
          <p:cNvCxnSpPr/>
          <p:nvPr/>
        </p:nvCxnSpPr>
        <p:spPr>
          <a:xfrm flipH="1" rot="10800000">
            <a:off x="9496090" y="3180571"/>
            <a:ext cx="338138" cy="10429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4" name="Google Shape;10514;p106"/>
          <p:cNvCxnSpPr/>
          <p:nvPr/>
        </p:nvCxnSpPr>
        <p:spPr>
          <a:xfrm flipH="1" rot="10800000">
            <a:off x="9726589" y="4134658"/>
            <a:ext cx="290202" cy="251486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5" name="Google Shape;10515;p106"/>
          <p:cNvCxnSpPr/>
          <p:nvPr/>
        </p:nvCxnSpPr>
        <p:spPr>
          <a:xfrm>
            <a:off x="9729453" y="4625196"/>
            <a:ext cx="373062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6" name="Google Shape;10516;p106"/>
          <p:cNvCxnSpPr/>
          <p:nvPr/>
        </p:nvCxnSpPr>
        <p:spPr>
          <a:xfrm>
            <a:off x="8921415" y="3675871"/>
            <a:ext cx="371475" cy="55403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7" name="Google Shape;10517;p106"/>
          <p:cNvCxnSpPr/>
          <p:nvPr/>
        </p:nvCxnSpPr>
        <p:spPr>
          <a:xfrm flipH="1">
            <a:off x="9135728" y="4614083"/>
            <a:ext cx="309562" cy="1023938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518" name="Google Shape;10518;p106"/>
          <p:cNvGrpSpPr/>
          <p:nvPr/>
        </p:nvGrpSpPr>
        <p:grpSpPr>
          <a:xfrm>
            <a:off x="7442257" y="2831027"/>
            <a:ext cx="4334676" cy="3307930"/>
            <a:chOff x="3982954" y="2808993"/>
            <a:chExt cx="4334676" cy="3307930"/>
          </a:xfrm>
        </p:grpSpPr>
        <p:sp>
          <p:nvSpPr>
            <p:cNvPr id="10519" name="Google Shape;10519;p106"/>
            <p:cNvSpPr txBox="1"/>
            <p:nvPr/>
          </p:nvSpPr>
          <p:spPr>
            <a:xfrm>
              <a:off x="3982954" y="5809146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0" name="Google Shape;10520;p106"/>
            <p:cNvSpPr txBox="1"/>
            <p:nvPr/>
          </p:nvSpPr>
          <p:spPr>
            <a:xfrm>
              <a:off x="6589237" y="5649324"/>
              <a:ext cx="1690387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1" name="Google Shape;10521;p106"/>
            <p:cNvSpPr txBox="1"/>
            <p:nvPr/>
          </p:nvSpPr>
          <p:spPr>
            <a:xfrm>
              <a:off x="6820104" y="2808993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sp>
          <p:nvSpPr>
            <p:cNvPr id="10522" name="Google Shape;10522;p106"/>
            <p:cNvSpPr txBox="1"/>
            <p:nvPr/>
          </p:nvSpPr>
          <p:spPr>
            <a:xfrm>
              <a:off x="6762275" y="4115799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  <p:sp>
          <p:nvSpPr>
            <p:cNvPr id="10523" name="Google Shape;10523;p106"/>
            <p:cNvSpPr txBox="1"/>
            <p:nvPr/>
          </p:nvSpPr>
          <p:spPr>
            <a:xfrm>
              <a:off x="4774160" y="4518371"/>
              <a:ext cx="153965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managed device</a:t>
              </a:r>
              <a:endParaRPr/>
            </a:p>
          </p:txBody>
        </p:sp>
      </p:grpSp>
      <p:grpSp>
        <p:nvGrpSpPr>
          <p:cNvPr id="10524" name="Google Shape;10524;p106"/>
          <p:cNvGrpSpPr/>
          <p:nvPr/>
        </p:nvGrpSpPr>
        <p:grpSpPr>
          <a:xfrm>
            <a:off x="8550931" y="2782976"/>
            <a:ext cx="469569" cy="865434"/>
            <a:chOff x="4140" y="429"/>
            <a:chExt cx="1425" cy="2396"/>
          </a:xfrm>
        </p:grpSpPr>
        <p:sp>
          <p:nvSpPr>
            <p:cNvPr id="10525" name="Google Shape;10525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6" name="Google Shape;10526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7" name="Google Shape;10527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8" name="Google Shape;10528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9" name="Google Shape;10529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0" name="Google Shape;10530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31" name="Google Shape;10531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2" name="Google Shape;10532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3" name="Google Shape;10533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4" name="Google Shape;10534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35" name="Google Shape;10535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6" name="Google Shape;10536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37" name="Google Shape;10537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8" name="Google Shape;10538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39" name="Google Shape;10539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40" name="Google Shape;10540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1" name="Google Shape;10541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2" name="Google Shape;10542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43" name="Google Shape;10543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44" name="Google Shape;10544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5" name="Google Shape;10545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46" name="Google Shape;10546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7" name="Google Shape;10547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8" name="Google Shape;10548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9" name="Google Shape;10549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0" name="Google Shape;10550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1" name="Google Shape;10551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2" name="Google Shape;10552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3" name="Google Shape;10553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4" name="Google Shape;10554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5" name="Google Shape;10555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6" name="Google Shape;10556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7" name="Google Shape;10557;p106"/>
          <p:cNvGrpSpPr/>
          <p:nvPr/>
        </p:nvGrpSpPr>
        <p:grpSpPr>
          <a:xfrm>
            <a:off x="9973928" y="5172883"/>
            <a:ext cx="366712" cy="579438"/>
            <a:chOff x="4140" y="429"/>
            <a:chExt cx="1425" cy="2396"/>
          </a:xfrm>
        </p:grpSpPr>
        <p:sp>
          <p:nvSpPr>
            <p:cNvPr id="10558" name="Google Shape;10558;p10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9" name="Google Shape;10559;p106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0" name="Google Shape;10560;p10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1" name="Google Shape;10561;p10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2" name="Google Shape;10562;p106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3" name="Google Shape;10563;p106"/>
            <p:cNvGrpSpPr/>
            <p:nvPr/>
          </p:nvGrpSpPr>
          <p:grpSpPr>
            <a:xfrm>
              <a:off x="4751" y="665"/>
              <a:ext cx="580" cy="131"/>
              <a:chOff x="616" y="2565"/>
              <a:chExt cx="724" cy="126"/>
            </a:xfrm>
          </p:grpSpPr>
          <p:sp>
            <p:nvSpPr>
              <p:cNvPr id="10564" name="Google Shape;10564;p106"/>
              <p:cNvSpPr/>
              <p:nvPr/>
            </p:nvSpPr>
            <p:spPr>
              <a:xfrm>
                <a:off x="616" y="2565"/>
                <a:ext cx="724" cy="12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5" name="Google Shape;10565;p106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66" name="Google Shape;10566;p106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67" name="Google Shape;10567;p106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568" name="Google Shape;10568;p106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9" name="Google Shape;10569;p106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0" name="Google Shape;10570;p106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1" name="Google Shape;10571;p106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2" name="Google Shape;10572;p106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573" name="Google Shape;10573;p106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4" name="Google Shape;10574;p106"/>
              <p:cNvSpPr/>
              <p:nvPr/>
            </p:nvSpPr>
            <p:spPr>
              <a:xfrm>
                <a:off x="626" y="2589"/>
                <a:ext cx="699" cy="11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5" name="Google Shape;10575;p10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76" name="Google Shape;10576;p106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577" name="Google Shape;10577;p106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8" name="Google Shape;10578;p106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79" name="Google Shape;10579;p106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0" name="Google Shape;10580;p10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1" name="Google Shape;10581;p10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2" name="Google Shape;10582;p106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3" name="Google Shape;10583;p10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4" name="Google Shape;10584;p106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5" name="Google Shape;10585;p106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6" name="Google Shape;10586;p106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7" name="Google Shape;10587;p106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8" name="Google Shape;10588;p106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9" name="Google Shape;10589;p106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90" name="Google Shape;10590;p106"/>
          <p:cNvGrpSpPr/>
          <p:nvPr/>
        </p:nvGrpSpPr>
        <p:grpSpPr>
          <a:xfrm>
            <a:off x="8732734" y="5561377"/>
            <a:ext cx="683116" cy="378456"/>
            <a:chOff x="7493876" y="2774731"/>
            <a:chExt cx="1481958" cy="894622"/>
          </a:xfrm>
        </p:grpSpPr>
        <p:sp>
          <p:nvSpPr>
            <p:cNvPr id="10591" name="Google Shape;10591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592" name="Google Shape;10592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593" name="Google Shape;10593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594" name="Google Shape;10594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5" name="Google Shape;10595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6" name="Google Shape;10596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7" name="Google Shape;10597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598" name="Google Shape;10598;p106"/>
          <p:cNvCxnSpPr/>
          <p:nvPr/>
        </p:nvCxnSpPr>
        <p:spPr>
          <a:xfrm>
            <a:off x="10652863" y="4065510"/>
            <a:ext cx="46313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99" name="Google Shape;10599;p106"/>
          <p:cNvCxnSpPr/>
          <p:nvPr/>
        </p:nvCxnSpPr>
        <p:spPr>
          <a:xfrm>
            <a:off x="9251576" y="5941812"/>
            <a:ext cx="237507" cy="23750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600" name="Google Shape;10600;p106"/>
          <p:cNvGrpSpPr/>
          <p:nvPr/>
        </p:nvGrpSpPr>
        <p:grpSpPr>
          <a:xfrm>
            <a:off x="7082865" y="1939828"/>
            <a:ext cx="4834638" cy="3974275"/>
            <a:chOff x="3623562" y="1917794"/>
            <a:chExt cx="4834638" cy="3974275"/>
          </a:xfrm>
        </p:grpSpPr>
        <p:grpSp>
          <p:nvGrpSpPr>
            <p:cNvPr id="10601" name="Google Shape;10601;p106"/>
            <p:cNvGrpSpPr/>
            <p:nvPr/>
          </p:nvGrpSpPr>
          <p:grpSpPr>
            <a:xfrm>
              <a:off x="6599795" y="1917794"/>
              <a:ext cx="1615044" cy="1104405"/>
              <a:chOff x="6599795" y="1917794"/>
              <a:chExt cx="1615044" cy="1104405"/>
            </a:xfrm>
          </p:grpSpPr>
          <p:sp>
            <p:nvSpPr>
              <p:cNvPr id="10602" name="Google Shape;10602;p106"/>
              <p:cNvSpPr/>
              <p:nvPr/>
            </p:nvSpPr>
            <p:spPr>
              <a:xfrm>
                <a:off x="6599795" y="2131549"/>
                <a:ext cx="1615044" cy="890650"/>
              </a:xfrm>
              <a:custGeom>
                <a:rect b="b" l="l" r="r" t="t"/>
                <a:pathLst>
                  <a:path extrusionOk="0" h="890650" w="1615044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615044" y="83128"/>
                    </a:lnTo>
                    <a:cubicBezTo>
                      <a:pt x="823355" y="399803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71764"/>
                    </a:srgbClr>
                  </a:gs>
                  <a:gs pos="99000">
                    <a:srgbClr val="F2F2F2"/>
                  </a:gs>
                  <a:gs pos="100000">
                    <a:srgbClr val="F2F2F2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3" name="Google Shape;10603;p106"/>
              <p:cNvSpPr/>
              <p:nvPr/>
            </p:nvSpPr>
            <p:spPr>
              <a:xfrm>
                <a:off x="6893234" y="1917794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4" name="Google Shape;10604;p106"/>
              <p:cNvSpPr txBox="1"/>
              <p:nvPr/>
            </p:nvSpPr>
            <p:spPr>
              <a:xfrm>
                <a:off x="6925808" y="2038751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05" name="Google Shape;10605;p106"/>
              <p:cNvGrpSpPr/>
              <p:nvPr/>
            </p:nvGrpSpPr>
            <p:grpSpPr>
              <a:xfrm>
                <a:off x="7524624" y="2012797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06" name="Google Shape;10606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7" name="Google Shape;10607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08" name="Google Shape;10608;p106"/>
            <p:cNvGrpSpPr/>
            <p:nvPr/>
          </p:nvGrpSpPr>
          <p:grpSpPr>
            <a:xfrm>
              <a:off x="6752194" y="4789643"/>
              <a:ext cx="1646629" cy="914399"/>
              <a:chOff x="6752194" y="4789643"/>
              <a:chExt cx="1646629" cy="914399"/>
            </a:xfrm>
          </p:grpSpPr>
          <p:sp>
            <p:nvSpPr>
              <p:cNvPr id="10609" name="Google Shape;10609;p106"/>
              <p:cNvSpPr/>
              <p:nvPr/>
            </p:nvSpPr>
            <p:spPr>
              <a:xfrm>
                <a:off x="6752194" y="5003397"/>
                <a:ext cx="1294411" cy="700645"/>
              </a:xfrm>
              <a:custGeom>
                <a:rect b="b" l="l" r="r" t="t"/>
                <a:pathLst>
                  <a:path extrusionOk="0" h="700645" w="1294411">
                    <a:moveTo>
                      <a:pt x="59377" y="463138"/>
                    </a:moveTo>
                    <a:cubicBezTo>
                      <a:pt x="285008" y="380011"/>
                      <a:pt x="368136" y="285008"/>
                      <a:pt x="344384" y="0"/>
                    </a:cubicBezTo>
                    <a:lnTo>
                      <a:pt x="1294411" y="296884"/>
                    </a:lnTo>
                    <a:cubicBezTo>
                      <a:pt x="407720" y="530432"/>
                      <a:pt x="601683" y="455221"/>
                      <a:pt x="0" y="700645"/>
                    </a:cubicBezTo>
                    <a:lnTo>
                      <a:pt x="59377" y="463138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D8D8D8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0" name="Google Shape;10610;p106"/>
              <p:cNvSpPr/>
              <p:nvPr/>
            </p:nvSpPr>
            <p:spPr>
              <a:xfrm>
                <a:off x="7105011" y="4789643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1" name="Google Shape;10611;p106"/>
              <p:cNvSpPr txBox="1"/>
              <p:nvPr/>
            </p:nvSpPr>
            <p:spPr>
              <a:xfrm>
                <a:off x="7137585" y="4910600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2" name="Google Shape;10612;p106"/>
              <p:cNvGrpSpPr/>
              <p:nvPr/>
            </p:nvGrpSpPr>
            <p:grpSpPr>
              <a:xfrm>
                <a:off x="7736401" y="4884646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13" name="Google Shape;10613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4" name="Google Shape;10614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15" name="Google Shape;10615;p106"/>
            <p:cNvGrpSpPr/>
            <p:nvPr/>
          </p:nvGrpSpPr>
          <p:grpSpPr>
            <a:xfrm>
              <a:off x="3623562" y="5108298"/>
              <a:ext cx="1784742" cy="783771"/>
              <a:chOff x="3623562" y="5108298"/>
              <a:chExt cx="1784742" cy="783771"/>
            </a:xfrm>
          </p:grpSpPr>
          <p:sp>
            <p:nvSpPr>
              <p:cNvPr id="10616" name="Google Shape;10616;p106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7" name="Google Shape;10617;p106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8" name="Google Shape;10618;p106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19" name="Google Shape;10619;p106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0" name="Google Shape;10620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1" name="Google Shape;10621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2" name="Google Shape;10622;p106"/>
            <p:cNvGrpSpPr/>
            <p:nvPr/>
          </p:nvGrpSpPr>
          <p:grpSpPr>
            <a:xfrm>
              <a:off x="6918449" y="3352729"/>
              <a:ext cx="1539751" cy="831273"/>
              <a:chOff x="6918449" y="3352729"/>
              <a:chExt cx="1539751" cy="831273"/>
            </a:xfrm>
          </p:grpSpPr>
          <p:sp>
            <p:nvSpPr>
              <p:cNvPr id="10623" name="Google Shape;10623;p106"/>
              <p:cNvSpPr/>
              <p:nvPr/>
            </p:nvSpPr>
            <p:spPr>
              <a:xfrm>
                <a:off x="6918449" y="3627840"/>
                <a:ext cx="1223159" cy="556162"/>
              </a:xfrm>
              <a:custGeom>
                <a:rect b="b" l="l" r="r" t="t"/>
                <a:pathLst>
                  <a:path extrusionOk="0" h="890650" w="1223159">
                    <a:moveTo>
                      <a:pt x="0" y="641268"/>
                    </a:moveTo>
                    <a:cubicBezTo>
                      <a:pt x="320633" y="380011"/>
                      <a:pt x="308759" y="285008"/>
                      <a:pt x="285007" y="0"/>
                    </a:cubicBezTo>
                    <a:lnTo>
                      <a:pt x="1223159" y="368389"/>
                    </a:lnTo>
                    <a:cubicBezTo>
                      <a:pt x="431470" y="685064"/>
                      <a:pt x="625433" y="502723"/>
                      <a:pt x="166254" y="890650"/>
                    </a:cubicBezTo>
                    <a:lnTo>
                      <a:pt x="0" y="641268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00000">
                    <a:srgbClr val="D8D8D8">
                      <a:alpha val="72941"/>
                    </a:srgbClr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4" name="Google Shape;10624;p106"/>
              <p:cNvSpPr/>
              <p:nvPr/>
            </p:nvSpPr>
            <p:spPr>
              <a:xfrm>
                <a:off x="7164388" y="3352729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25" name="Google Shape;10625;p106"/>
              <p:cNvSpPr txBox="1"/>
              <p:nvPr/>
            </p:nvSpPr>
            <p:spPr>
              <a:xfrm>
                <a:off x="7196962" y="3473686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26" name="Google Shape;10626;p106"/>
              <p:cNvGrpSpPr/>
              <p:nvPr/>
            </p:nvGrpSpPr>
            <p:grpSpPr>
              <a:xfrm>
                <a:off x="7795778" y="3447732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27" name="Google Shape;10627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8" name="Google Shape;10628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629" name="Google Shape;10629;p106"/>
            <p:cNvGrpSpPr/>
            <p:nvPr/>
          </p:nvGrpSpPr>
          <p:grpSpPr>
            <a:xfrm>
              <a:off x="3906590" y="3823785"/>
              <a:ext cx="1755404" cy="783771"/>
              <a:chOff x="1750147" y="5031180"/>
              <a:chExt cx="1755404" cy="783771"/>
            </a:xfrm>
          </p:grpSpPr>
          <p:sp>
            <p:nvSpPr>
              <p:cNvPr id="10630" name="Google Shape;10630;p106"/>
              <p:cNvSpPr/>
              <p:nvPr/>
            </p:nvSpPr>
            <p:spPr>
              <a:xfrm flipH="1">
                <a:off x="2679864" y="5304311"/>
                <a:ext cx="825687" cy="510640"/>
              </a:xfrm>
              <a:custGeom>
                <a:rect b="b" l="l" r="r" t="t"/>
                <a:pathLst>
                  <a:path extrusionOk="0" h="510640" w="825687">
                    <a:moveTo>
                      <a:pt x="5589" y="331811"/>
                    </a:moveTo>
                    <a:cubicBezTo>
                      <a:pt x="231220" y="248684"/>
                      <a:pt x="267546" y="201881"/>
                      <a:pt x="481300" y="0"/>
                    </a:cubicBezTo>
                    <a:cubicBezTo>
                      <a:pt x="537418" y="145764"/>
                      <a:pt x="583755" y="179062"/>
                      <a:pt x="825687" y="261258"/>
                    </a:cubicBezTo>
                    <a:cubicBezTo>
                      <a:pt x="389560" y="305502"/>
                      <a:pt x="239835" y="377682"/>
                      <a:pt x="0" y="510640"/>
                    </a:cubicBezTo>
                    <a:lnTo>
                      <a:pt x="5589" y="331811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0980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1" name="Google Shape;10631;p106"/>
              <p:cNvSpPr/>
              <p:nvPr/>
            </p:nvSpPr>
            <p:spPr>
              <a:xfrm>
                <a:off x="1750147" y="5031180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2" name="Google Shape;10632;p106"/>
              <p:cNvSpPr txBox="1"/>
              <p:nvPr/>
            </p:nvSpPr>
            <p:spPr>
              <a:xfrm>
                <a:off x="1782721" y="5152137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633" name="Google Shape;10633;p106"/>
              <p:cNvGrpSpPr/>
              <p:nvPr/>
            </p:nvGrpSpPr>
            <p:grpSpPr>
              <a:xfrm>
                <a:off x="2381537" y="5126183"/>
                <a:ext cx="533735" cy="344384"/>
                <a:chOff x="7290003" y="1864426"/>
                <a:chExt cx="533735" cy="344384"/>
              </a:xfrm>
            </p:grpSpPr>
            <p:sp>
              <p:nvSpPr>
                <p:cNvPr id="10634" name="Google Shape;10634;p106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5" name="Google Shape;10635;p106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</p:grpSp>
      <p:grpSp>
        <p:nvGrpSpPr>
          <p:cNvPr id="10636" name="Google Shape;10636;p106"/>
          <p:cNvGrpSpPr/>
          <p:nvPr/>
        </p:nvGrpSpPr>
        <p:grpSpPr>
          <a:xfrm>
            <a:off x="9109072" y="4201055"/>
            <a:ext cx="736270" cy="422596"/>
            <a:chOff x="3668110" y="2448910"/>
            <a:chExt cx="3794234" cy="2165130"/>
          </a:xfrm>
        </p:grpSpPr>
        <p:sp>
          <p:nvSpPr>
            <p:cNvPr id="10637" name="Google Shape;10637;p106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8" name="Google Shape;10638;p106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39" name="Google Shape;10639;p106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0640" name="Google Shape;10640;p10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1" name="Google Shape;10641;p10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2" name="Google Shape;10642;p10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3" name="Google Shape;10643;p10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44" name="Google Shape;10644;p106"/>
          <p:cNvGrpSpPr/>
          <p:nvPr/>
        </p:nvGrpSpPr>
        <p:grpSpPr>
          <a:xfrm>
            <a:off x="6198374" y="2248384"/>
            <a:ext cx="2436042" cy="1273223"/>
            <a:chOff x="2739071" y="2226350"/>
            <a:chExt cx="2436042" cy="1273223"/>
          </a:xfrm>
        </p:grpSpPr>
        <p:sp>
          <p:nvSpPr>
            <p:cNvPr id="10645" name="Google Shape;10645;p106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6" name="Google Shape;10646;p106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7" name="Google Shape;10647;p106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648" name="Google Shape;10648;p106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0649" name="Google Shape;10649;p106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0" name="Google Shape;10650;p106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0651" name="Google Shape;10651;p106"/>
          <p:cNvGrpSpPr/>
          <p:nvPr/>
        </p:nvGrpSpPr>
        <p:grpSpPr>
          <a:xfrm>
            <a:off x="9957872" y="3853309"/>
            <a:ext cx="683116" cy="378456"/>
            <a:chOff x="7493876" y="2774731"/>
            <a:chExt cx="1481958" cy="894622"/>
          </a:xfrm>
        </p:grpSpPr>
        <p:sp>
          <p:nvSpPr>
            <p:cNvPr id="10652" name="Google Shape;10652;p106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0653" name="Google Shape;10653;p106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0654" name="Google Shape;10654;p106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655" name="Google Shape;10655;p106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6" name="Google Shape;10656;p106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7" name="Google Shape;10657;p106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8" name="Google Shape;10658;p106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659" name="Google Shape;10659;p106"/>
          <p:cNvGrpSpPr/>
          <p:nvPr/>
        </p:nvGrpSpPr>
        <p:grpSpPr>
          <a:xfrm>
            <a:off x="9438940" y="2593196"/>
            <a:ext cx="903288" cy="727075"/>
            <a:chOff x="-44" y="1473"/>
            <a:chExt cx="981" cy="1105"/>
          </a:xfrm>
        </p:grpSpPr>
        <p:pic>
          <p:nvPicPr>
            <p:cNvPr descr="desktop_computer_stylized_medium" id="10660" name="Google Shape;10660;p10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61" name="Google Shape;10661;p10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2" name="Google Shape;10662;p106"/>
          <p:cNvGrpSpPr/>
          <p:nvPr/>
        </p:nvGrpSpPr>
        <p:grpSpPr>
          <a:xfrm>
            <a:off x="7290439" y="2181342"/>
            <a:ext cx="3471211" cy="2974551"/>
            <a:chOff x="3831136" y="2159308"/>
            <a:chExt cx="3471211" cy="2974551"/>
          </a:xfrm>
        </p:grpSpPr>
        <p:cxnSp>
          <p:nvCxnSpPr>
            <p:cNvPr id="10663" name="Google Shape;10663;p106"/>
            <p:cNvCxnSpPr/>
            <p:nvPr/>
          </p:nvCxnSpPr>
          <p:spPr>
            <a:xfrm>
              <a:off x="3833870" y="3013112"/>
              <a:ext cx="0" cy="2120747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4" name="Google Shape;10664;p106"/>
            <p:cNvCxnSpPr/>
            <p:nvPr/>
          </p:nvCxnSpPr>
          <p:spPr>
            <a:xfrm>
              <a:off x="3831136" y="3020190"/>
              <a:ext cx="3471211" cy="1856610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5" name="Google Shape;10665;p106"/>
            <p:cNvCxnSpPr/>
            <p:nvPr/>
          </p:nvCxnSpPr>
          <p:spPr>
            <a:xfrm>
              <a:off x="3831136" y="3026864"/>
              <a:ext cx="3294941" cy="599523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6" name="Google Shape;10666;p106"/>
            <p:cNvCxnSpPr/>
            <p:nvPr/>
          </p:nvCxnSpPr>
          <p:spPr>
            <a:xfrm flipH="1" rot="10800000">
              <a:off x="3841147" y="2159308"/>
              <a:ext cx="3084791" cy="860882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cxnSp>
          <p:nvCxnSpPr>
            <p:cNvPr id="10667" name="Google Shape;10667;p106"/>
            <p:cNvCxnSpPr/>
            <p:nvPr/>
          </p:nvCxnSpPr>
          <p:spPr>
            <a:xfrm>
              <a:off x="3834473" y="3023527"/>
              <a:ext cx="458433" cy="837885"/>
            </a:xfrm>
            <a:prstGeom prst="straightConnector1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</p:grpSp>
      <p:sp>
        <p:nvSpPr>
          <p:cNvPr id="10668" name="Google Shape;10668;p106"/>
          <p:cNvSpPr txBox="1"/>
          <p:nvPr/>
        </p:nvSpPr>
        <p:spPr>
          <a:xfrm>
            <a:off x="564423" y="1441374"/>
            <a:ext cx="5560956" cy="1224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CLI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(Command Line Interface)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issues (types, scripts) direct to individual devices (e.g., vis ssh)</a:t>
            </a:r>
            <a:endParaRPr/>
          </a:p>
        </p:txBody>
      </p:sp>
      <p:sp>
        <p:nvSpPr>
          <p:cNvPr id="10669" name="Google Shape;10669;p106"/>
          <p:cNvSpPr txBox="1"/>
          <p:nvPr/>
        </p:nvSpPr>
        <p:spPr>
          <a:xfrm>
            <a:off x="595637" y="2673427"/>
            <a:ext cx="5441606" cy="15350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SNMP/MIB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 queries/sets devices data (MIB) using Simple Network Management Protocol (SNMP)</a:t>
            </a:r>
            <a:endParaRPr/>
          </a:p>
        </p:txBody>
      </p:sp>
      <p:sp>
        <p:nvSpPr>
          <p:cNvPr id="10670" name="Google Shape;10670;p106"/>
          <p:cNvSpPr txBox="1"/>
          <p:nvPr/>
        </p:nvSpPr>
        <p:spPr>
          <a:xfrm>
            <a:off x="595637" y="4232314"/>
            <a:ext cx="6102618" cy="2355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000"/>
              <a:buFont typeface="Noto Sans Symbols"/>
              <a:buNone/>
            </a:pPr>
            <a:r>
              <a:rPr lang="en-US" sz="3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abstract, network-wide, holistic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emphasis on multi-device configuration management.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YANG: data modeling language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NETCONF: communicate YANG-compatible actions/data to/from/among remote devices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674" name="Shape 10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5" name="Google Shape;10675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</a:t>
            </a:r>
            <a:endParaRPr/>
          </a:p>
        </p:txBody>
      </p:sp>
      <p:sp>
        <p:nvSpPr>
          <p:cNvPr id="10676" name="Google Shape;10676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677" name="Google Shape;10677;p107"/>
          <p:cNvGrpSpPr/>
          <p:nvPr/>
        </p:nvGrpSpPr>
        <p:grpSpPr>
          <a:xfrm>
            <a:off x="1344054" y="1928179"/>
            <a:ext cx="4230478" cy="4182389"/>
            <a:chOff x="6588086" y="2082419"/>
            <a:chExt cx="4230478" cy="4182389"/>
          </a:xfrm>
        </p:grpSpPr>
        <p:sp>
          <p:nvSpPr>
            <p:cNvPr id="10678" name="Google Shape;10678;p107"/>
            <p:cNvSpPr/>
            <p:nvPr/>
          </p:nvSpPr>
          <p:spPr>
            <a:xfrm rot="-5216633">
              <a:off x="7427686" y="2947494"/>
              <a:ext cx="4057421" cy="2452239"/>
            </a:xfrm>
            <a:custGeom>
              <a:rect b="b" l="l" r="r" t="t"/>
              <a:pathLst>
                <a:path extrusionOk="0" h="933" w="1794">
                  <a:moveTo>
                    <a:pt x="6" y="483"/>
                  </a:moveTo>
                  <a:cubicBezTo>
                    <a:pt x="0" y="365"/>
                    <a:pt x="16" y="189"/>
                    <a:pt x="108" y="125"/>
                  </a:cubicBezTo>
                  <a:cubicBezTo>
                    <a:pt x="200" y="61"/>
                    <a:pt x="389" y="116"/>
                    <a:pt x="559" y="100"/>
                  </a:cubicBezTo>
                  <a:cubicBezTo>
                    <a:pt x="729" y="84"/>
                    <a:pt x="935" y="0"/>
                    <a:pt x="1128" y="29"/>
                  </a:cubicBezTo>
                  <a:cubicBezTo>
                    <a:pt x="1321" y="58"/>
                    <a:pt x="1638" y="142"/>
                    <a:pt x="1716" y="275"/>
                  </a:cubicBezTo>
                  <a:cubicBezTo>
                    <a:pt x="1794" y="408"/>
                    <a:pt x="1652" y="721"/>
                    <a:pt x="1596" y="827"/>
                  </a:cubicBezTo>
                  <a:cubicBezTo>
                    <a:pt x="1540" y="933"/>
                    <a:pt x="1506" y="894"/>
                    <a:pt x="1380" y="911"/>
                  </a:cubicBezTo>
                  <a:cubicBezTo>
                    <a:pt x="1254" y="928"/>
                    <a:pt x="1001" y="929"/>
                    <a:pt x="840" y="929"/>
                  </a:cubicBezTo>
                  <a:cubicBezTo>
                    <a:pt x="679" y="929"/>
                    <a:pt x="530" y="927"/>
                    <a:pt x="414" y="911"/>
                  </a:cubicBezTo>
                  <a:cubicBezTo>
                    <a:pt x="298" y="895"/>
                    <a:pt x="211" y="903"/>
                    <a:pt x="143" y="832"/>
                  </a:cubicBezTo>
                  <a:cubicBezTo>
                    <a:pt x="75" y="761"/>
                    <a:pt x="4" y="624"/>
                    <a:pt x="6" y="4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679" name="Google Shape;10679;p107"/>
            <p:cNvCxnSpPr/>
            <p:nvPr/>
          </p:nvCxnSpPr>
          <p:spPr>
            <a:xfrm flipH="1" rot="10800000">
              <a:off x="9496090" y="3180571"/>
              <a:ext cx="338138" cy="104298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0" name="Google Shape;10680;p107"/>
            <p:cNvCxnSpPr/>
            <p:nvPr/>
          </p:nvCxnSpPr>
          <p:spPr>
            <a:xfrm flipH="1" rot="10800000">
              <a:off x="9726589" y="4134658"/>
              <a:ext cx="290202" cy="251486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1" name="Google Shape;10681;p107"/>
            <p:cNvCxnSpPr/>
            <p:nvPr/>
          </p:nvCxnSpPr>
          <p:spPr>
            <a:xfrm>
              <a:off x="9729453" y="4625196"/>
              <a:ext cx="373062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2" name="Google Shape;10682;p107"/>
            <p:cNvCxnSpPr/>
            <p:nvPr/>
          </p:nvCxnSpPr>
          <p:spPr>
            <a:xfrm>
              <a:off x="8921415" y="3675871"/>
              <a:ext cx="371475" cy="554037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3" name="Google Shape;10683;p107"/>
            <p:cNvCxnSpPr/>
            <p:nvPr/>
          </p:nvCxnSpPr>
          <p:spPr>
            <a:xfrm flipH="1">
              <a:off x="9135728" y="4614083"/>
              <a:ext cx="309562" cy="1023938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84" name="Google Shape;10684;p107"/>
            <p:cNvSpPr txBox="1"/>
            <p:nvPr/>
          </p:nvSpPr>
          <p:spPr>
            <a:xfrm>
              <a:off x="7442257" y="5831180"/>
              <a:ext cx="149752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managed device</a:t>
              </a:r>
              <a:endParaRPr/>
            </a:p>
          </p:txBody>
        </p:sp>
        <p:grpSp>
          <p:nvGrpSpPr>
            <p:cNvPr id="10685" name="Google Shape;10685;p107"/>
            <p:cNvGrpSpPr/>
            <p:nvPr/>
          </p:nvGrpSpPr>
          <p:grpSpPr>
            <a:xfrm>
              <a:off x="9973928" y="5172883"/>
              <a:ext cx="366712" cy="579438"/>
              <a:chOff x="4140" y="429"/>
              <a:chExt cx="1425" cy="2396"/>
            </a:xfrm>
          </p:grpSpPr>
          <p:sp>
            <p:nvSpPr>
              <p:cNvPr id="10686" name="Google Shape;10686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7" name="Google Shape;10687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8" name="Google Shape;10688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9" name="Google Shape;10689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0" name="Google Shape;10690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1" name="Google Shape;10691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692" name="Google Shape;10692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3" name="Google Shape;10693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4" name="Google Shape;10694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95" name="Google Shape;10695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696" name="Google Shape;10696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97" name="Google Shape;10697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98" name="Google Shape;10698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9" name="Google Shape;10699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0" name="Google Shape;10700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01" name="Google Shape;10701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2" name="Google Shape;10702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3" name="Google Shape;10703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04" name="Google Shape;10704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05" name="Google Shape;10705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06" name="Google Shape;10706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07" name="Google Shape;10707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8" name="Google Shape;10708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9" name="Google Shape;10709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0" name="Google Shape;10710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1" name="Google Shape;10711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2" name="Google Shape;10712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3" name="Google Shape;10713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4" name="Google Shape;10714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5" name="Google Shape;10715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6" name="Google Shape;10716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7" name="Google Shape;10717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18" name="Google Shape;10718;p107"/>
            <p:cNvGrpSpPr/>
            <p:nvPr/>
          </p:nvGrpSpPr>
          <p:grpSpPr>
            <a:xfrm>
              <a:off x="8732734" y="5561377"/>
              <a:ext cx="683116" cy="378456"/>
              <a:chOff x="7493876" y="2774731"/>
              <a:chExt cx="1481958" cy="894622"/>
            </a:xfrm>
          </p:grpSpPr>
          <p:sp>
            <p:nvSpPr>
              <p:cNvPr id="10719" name="Google Shape;10719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20" name="Google Shape;10720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21" name="Google Shape;10721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22" name="Google Shape;10722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3" name="Google Shape;10723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4" name="Google Shape;10724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25" name="Google Shape;10725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10726" name="Google Shape;10726;p107"/>
            <p:cNvCxnSpPr/>
            <p:nvPr/>
          </p:nvCxnSpPr>
          <p:spPr>
            <a:xfrm>
              <a:off x="10652863" y="4065510"/>
              <a:ext cx="165701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727" name="Google Shape;10727;p107"/>
            <p:cNvCxnSpPr/>
            <p:nvPr/>
          </p:nvCxnSpPr>
          <p:spPr>
            <a:xfrm>
              <a:off x="9251576" y="5941812"/>
              <a:ext cx="237507" cy="23750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0728" name="Google Shape;10728;p107"/>
            <p:cNvGrpSpPr/>
            <p:nvPr/>
          </p:nvGrpSpPr>
          <p:grpSpPr>
            <a:xfrm>
              <a:off x="7082865" y="5130332"/>
              <a:ext cx="1784742" cy="783771"/>
              <a:chOff x="3623562" y="5108298"/>
              <a:chExt cx="1784742" cy="783771"/>
            </a:xfrm>
          </p:grpSpPr>
          <p:sp>
            <p:nvSpPr>
              <p:cNvPr id="10729" name="Google Shape;10729;p107"/>
              <p:cNvSpPr/>
              <p:nvPr/>
            </p:nvSpPr>
            <p:spPr>
              <a:xfrm flipH="1">
                <a:off x="4018890" y="5238925"/>
                <a:ext cx="1389414" cy="653144"/>
              </a:xfrm>
              <a:custGeom>
                <a:rect b="b" l="l" r="r" t="t"/>
                <a:pathLst>
                  <a:path extrusionOk="0" h="653144" w="1389414">
                    <a:moveTo>
                      <a:pt x="59377" y="415637"/>
                    </a:moveTo>
                    <a:cubicBezTo>
                      <a:pt x="285008" y="332510"/>
                      <a:pt x="320635" y="320634"/>
                      <a:pt x="605641" y="0"/>
                    </a:cubicBezTo>
                    <a:lnTo>
                      <a:pt x="1389414" y="391887"/>
                    </a:lnTo>
                    <a:cubicBezTo>
                      <a:pt x="395845" y="482932"/>
                      <a:pt x="601683" y="407720"/>
                      <a:pt x="0" y="653144"/>
                    </a:cubicBezTo>
                    <a:lnTo>
                      <a:pt x="59377" y="415637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0" name="Google Shape;10730;p107"/>
              <p:cNvSpPr/>
              <p:nvPr/>
            </p:nvSpPr>
            <p:spPr>
              <a:xfrm>
                <a:off x="3623562" y="5108298"/>
                <a:ext cx="1293812" cy="545006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1" name="Google Shape;10731;p107"/>
              <p:cNvSpPr txBox="1"/>
              <p:nvPr/>
            </p:nvSpPr>
            <p:spPr>
              <a:xfrm>
                <a:off x="3656136" y="5229255"/>
                <a:ext cx="633945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agent</a:t>
                </a:r>
                <a:endParaRPr/>
              </a:p>
            </p:txBody>
          </p:sp>
          <p:grpSp>
            <p:nvGrpSpPr>
              <p:cNvPr id="10732" name="Google Shape;10732;p107"/>
              <p:cNvGrpSpPr/>
              <p:nvPr/>
            </p:nvGrpSpPr>
            <p:grpSpPr>
              <a:xfrm>
                <a:off x="4254952" y="5203301"/>
                <a:ext cx="533735" cy="344384"/>
                <a:chOff x="7290003" y="1864426"/>
                <a:chExt cx="533735" cy="344384"/>
              </a:xfrm>
            </p:grpSpPr>
            <p:sp>
              <p:nvSpPr>
                <p:cNvPr id="10733" name="Google Shape;10733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34" name="Google Shape;10734;p107"/>
                <p:cNvSpPr txBox="1"/>
                <p:nvPr/>
              </p:nvSpPr>
              <p:spPr>
                <a:xfrm>
                  <a:off x="7290003" y="1889518"/>
                  <a:ext cx="533735" cy="30764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</p:grpSp>
        <p:grpSp>
          <p:nvGrpSpPr>
            <p:cNvPr id="10735" name="Google Shape;10735;p107"/>
            <p:cNvGrpSpPr/>
            <p:nvPr/>
          </p:nvGrpSpPr>
          <p:grpSpPr>
            <a:xfrm>
              <a:off x="9109072" y="4201055"/>
              <a:ext cx="736270" cy="422596"/>
              <a:chOff x="3668110" y="2448910"/>
              <a:chExt cx="3794234" cy="2165130"/>
            </a:xfrm>
          </p:grpSpPr>
          <p:sp>
            <p:nvSpPr>
              <p:cNvPr id="10736" name="Google Shape;10736;p10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7" name="Google Shape;10737;p10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738" name="Google Shape;10738;p10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739" name="Google Shape;10739;p10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0" name="Google Shape;10740;p10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1" name="Google Shape;10741;p10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2" name="Google Shape;10742;p10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0743" name="Google Shape;10743;p107"/>
            <p:cNvSpPr/>
            <p:nvPr/>
          </p:nvSpPr>
          <p:spPr>
            <a:xfrm flipH="1">
              <a:off x="6990267" y="2857446"/>
              <a:ext cx="1644149" cy="664161"/>
            </a:xfrm>
            <a:custGeom>
              <a:rect b="b" l="l" r="r" t="t"/>
              <a:pathLst>
                <a:path extrusionOk="0" h="664161" w="1503869">
                  <a:moveTo>
                    <a:pt x="81411" y="228350"/>
                  </a:moveTo>
                  <a:cubicBezTo>
                    <a:pt x="307042" y="145223"/>
                    <a:pt x="255473" y="210465"/>
                    <a:pt x="419294" y="0"/>
                  </a:cubicBezTo>
                  <a:cubicBezTo>
                    <a:pt x="706258" y="244471"/>
                    <a:pt x="774088" y="202501"/>
                    <a:pt x="1503869" y="105448"/>
                  </a:cubicBezTo>
                  <a:cubicBezTo>
                    <a:pt x="712253" y="306662"/>
                    <a:pt x="601683" y="418737"/>
                    <a:pt x="0" y="664161"/>
                  </a:cubicBezTo>
                  <a:lnTo>
                    <a:pt x="81411" y="2283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4" name="Google Shape;10744;p107"/>
            <p:cNvSpPr/>
            <p:nvPr/>
          </p:nvSpPr>
          <p:spPr>
            <a:xfrm>
              <a:off x="6588086" y="2335576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5" name="Google Shape;10745;p107"/>
            <p:cNvSpPr txBox="1"/>
            <p:nvPr/>
          </p:nvSpPr>
          <p:spPr>
            <a:xfrm>
              <a:off x="6610120" y="2378207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0746" name="Google Shape;10746;p107"/>
            <p:cNvGrpSpPr/>
            <p:nvPr/>
          </p:nvGrpSpPr>
          <p:grpSpPr>
            <a:xfrm>
              <a:off x="7972177" y="2226911"/>
              <a:ext cx="897159" cy="395103"/>
              <a:chOff x="7338951" y="1864426"/>
              <a:chExt cx="427511" cy="344384"/>
            </a:xfrm>
          </p:grpSpPr>
          <p:sp>
            <p:nvSpPr>
              <p:cNvPr id="10747" name="Google Shape;10747;p107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8" name="Google Shape;10748;p107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0749" name="Google Shape;10749;p107"/>
            <p:cNvGrpSpPr/>
            <p:nvPr/>
          </p:nvGrpSpPr>
          <p:grpSpPr>
            <a:xfrm>
              <a:off x="9957872" y="3853309"/>
              <a:ext cx="683116" cy="378456"/>
              <a:chOff x="7493876" y="2774731"/>
              <a:chExt cx="1481958" cy="894622"/>
            </a:xfrm>
          </p:grpSpPr>
          <p:sp>
            <p:nvSpPr>
              <p:cNvPr id="10750" name="Google Shape;10750;p107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10751" name="Google Shape;10751;p107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10752" name="Google Shape;10752;p107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0753" name="Google Shape;10753;p107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4" name="Google Shape;10754;p10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5" name="Google Shape;10755;p107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6" name="Google Shape;10756;p107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757" name="Google Shape;10757;p107"/>
            <p:cNvGrpSpPr/>
            <p:nvPr/>
          </p:nvGrpSpPr>
          <p:grpSpPr>
            <a:xfrm>
              <a:off x="9438940" y="2593196"/>
              <a:ext cx="903288" cy="727075"/>
              <a:chOff x="-44" y="1473"/>
              <a:chExt cx="981" cy="1105"/>
            </a:xfrm>
          </p:grpSpPr>
          <p:pic>
            <p:nvPicPr>
              <p:cNvPr descr="desktop_computer_stylized_medium" id="10758" name="Google Shape;10758;p10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59" name="Google Shape;10759;p10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60" name="Google Shape;10760;p107"/>
            <p:cNvGrpSpPr/>
            <p:nvPr/>
          </p:nvGrpSpPr>
          <p:grpSpPr>
            <a:xfrm>
              <a:off x="8550931" y="2782976"/>
              <a:ext cx="469569" cy="865434"/>
              <a:chOff x="4140" y="429"/>
              <a:chExt cx="1425" cy="2396"/>
            </a:xfrm>
          </p:grpSpPr>
          <p:sp>
            <p:nvSpPr>
              <p:cNvPr id="10761" name="Google Shape;10761;p107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2" name="Google Shape;10762;p107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3" name="Google Shape;10763;p107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4" name="Google Shape;10764;p107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65" name="Google Shape;10765;p107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66" name="Google Shape;10766;p107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0767" name="Google Shape;10767;p107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8" name="Google Shape;10768;p107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69" name="Google Shape;10769;p107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0" name="Google Shape;10770;p107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0771" name="Google Shape;10771;p107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2" name="Google Shape;10772;p107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3" name="Google Shape;10773;p107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4" name="Google Shape;10774;p107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5" name="Google Shape;10775;p107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0776" name="Google Shape;10776;p107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77" name="Google Shape;10777;p107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78" name="Google Shape;10778;p107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779" name="Google Shape;10779;p107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0780" name="Google Shape;10780;p107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81" name="Google Shape;10781;p107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782" name="Google Shape;10782;p107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3" name="Google Shape;10783;p107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4" name="Google Shape;10784;p107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5" name="Google Shape;10785;p107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6" name="Google Shape;10786;p107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7" name="Google Shape;10787;p107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8" name="Google Shape;10788;p107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89" name="Google Shape;10789;p107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0" name="Google Shape;10790;p107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1" name="Google Shape;10791;p107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2" name="Google Shape;10792;p107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793" name="Google Shape;10793;p107"/>
          <p:cNvGrpSpPr/>
          <p:nvPr/>
        </p:nvGrpSpPr>
        <p:grpSpPr>
          <a:xfrm>
            <a:off x="1075288" y="2941500"/>
            <a:ext cx="1106491" cy="2052752"/>
            <a:chOff x="1075288" y="2941500"/>
            <a:chExt cx="1106491" cy="2052752"/>
          </a:xfrm>
        </p:grpSpPr>
        <p:sp>
          <p:nvSpPr>
            <p:cNvPr id="10794" name="Google Shape;10794;p107"/>
            <p:cNvSpPr/>
            <p:nvPr/>
          </p:nvSpPr>
          <p:spPr>
            <a:xfrm flipH="1">
              <a:off x="1999310" y="2941500"/>
              <a:ext cx="45719" cy="2052752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95" name="Google Shape;10795;p107"/>
            <p:cNvGrpSpPr/>
            <p:nvPr/>
          </p:nvGrpSpPr>
          <p:grpSpPr>
            <a:xfrm>
              <a:off x="1075288" y="3208525"/>
              <a:ext cx="1106491" cy="369888"/>
              <a:chOff x="3754" y="460"/>
              <a:chExt cx="697" cy="233"/>
            </a:xfrm>
          </p:grpSpPr>
          <p:sp>
            <p:nvSpPr>
              <p:cNvPr id="10796" name="Google Shape;10796;p107"/>
              <p:cNvSpPr/>
              <p:nvPr/>
            </p:nvSpPr>
            <p:spPr>
              <a:xfrm>
                <a:off x="3754" y="472"/>
                <a:ext cx="675" cy="211"/>
              </a:xfrm>
              <a:prstGeom prst="rect">
                <a:avLst/>
              </a:prstGeom>
              <a:solidFill>
                <a:srgbClr val="FFFFFF"/>
              </a:solidFill>
              <a:ln cap="flat" cmpd="sng" w="19050">
                <a:solidFill>
                  <a:srgbClr val="595959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97" name="Google Shape;10797;p107"/>
              <p:cNvSpPr txBox="1"/>
              <p:nvPr/>
            </p:nvSpPr>
            <p:spPr>
              <a:xfrm>
                <a:off x="3771" y="460"/>
                <a:ext cx="6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/>
              </a:p>
            </p:txBody>
          </p:sp>
        </p:grpSp>
      </p:grpSp>
      <p:grpSp>
        <p:nvGrpSpPr>
          <p:cNvPr id="10798" name="Google Shape;10798;p107"/>
          <p:cNvGrpSpPr/>
          <p:nvPr/>
        </p:nvGrpSpPr>
        <p:grpSpPr>
          <a:xfrm>
            <a:off x="2110287" y="2903775"/>
            <a:ext cx="1181009" cy="2046515"/>
            <a:chOff x="9419685" y="773929"/>
            <a:chExt cx="1181009" cy="2046515"/>
          </a:xfrm>
        </p:grpSpPr>
        <p:sp>
          <p:nvSpPr>
            <p:cNvPr id="10799" name="Google Shape;10799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0" name="Google Shape;10800;p107"/>
            <p:cNvSpPr/>
            <p:nvPr/>
          </p:nvSpPr>
          <p:spPr>
            <a:xfrm>
              <a:off x="9460582" y="2111739"/>
              <a:ext cx="1041606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1" name="Google Shape;10801;p107"/>
            <p:cNvSpPr txBox="1"/>
            <p:nvPr/>
          </p:nvSpPr>
          <p:spPr>
            <a:xfrm>
              <a:off x="9419685" y="2108274"/>
              <a:ext cx="118100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/>
            </a:p>
          </p:txBody>
        </p:sp>
      </p:grpSp>
      <p:grpSp>
        <p:nvGrpSpPr>
          <p:cNvPr id="10802" name="Google Shape;10802;p107"/>
          <p:cNvGrpSpPr/>
          <p:nvPr/>
        </p:nvGrpSpPr>
        <p:grpSpPr>
          <a:xfrm>
            <a:off x="6479874" y="2985066"/>
            <a:ext cx="1651834" cy="2046515"/>
            <a:chOff x="8948861" y="773929"/>
            <a:chExt cx="1651834" cy="2046515"/>
          </a:xfrm>
        </p:grpSpPr>
        <p:sp>
          <p:nvSpPr>
            <p:cNvPr id="10803" name="Google Shape;10803;p107"/>
            <p:cNvSpPr/>
            <p:nvPr/>
          </p:nvSpPr>
          <p:spPr>
            <a:xfrm>
              <a:off x="9820387" y="773929"/>
              <a:ext cx="91993" cy="2046515"/>
            </a:xfrm>
            <a:custGeom>
              <a:rect b="b" l="l" r="r" t="t"/>
              <a:pathLst>
                <a:path extrusionOk="0" h="1044" w="1">
                  <a:moveTo>
                    <a:pt x="0" y="0"/>
                  </a:moveTo>
                  <a:lnTo>
                    <a:pt x="0" y="1044"/>
                  </a:lnTo>
                </a:path>
              </a:pathLst>
            </a:custGeom>
            <a:noFill/>
            <a:ln cap="flat" cmpd="sng" w="38100">
              <a:solidFill>
                <a:srgbClr val="C00000"/>
              </a:solidFill>
              <a:prstDash val="solid"/>
              <a:round/>
              <a:headEnd len="med" w="med" type="triangl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4" name="Google Shape;10804;p107"/>
            <p:cNvSpPr/>
            <p:nvPr/>
          </p:nvSpPr>
          <p:spPr>
            <a:xfrm>
              <a:off x="8955511" y="2111739"/>
              <a:ext cx="1546677" cy="387350"/>
            </a:xfrm>
            <a:prstGeom prst="rect">
              <a:avLst/>
            </a:prstGeom>
            <a:solidFill>
              <a:srgbClr val="FFFFFF"/>
            </a:solidFill>
            <a:ln cap="flat" cmpd="sng" w="19050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5" name="Google Shape;10805;p107"/>
            <p:cNvSpPr txBox="1"/>
            <p:nvPr/>
          </p:nvSpPr>
          <p:spPr>
            <a:xfrm>
              <a:off x="8948861" y="2108274"/>
              <a:ext cx="16518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trap message</a:t>
              </a:r>
              <a:endParaRPr/>
            </a:p>
          </p:txBody>
        </p:sp>
      </p:grpSp>
      <p:sp>
        <p:nvSpPr>
          <p:cNvPr id="10806" name="Google Shape;10806;p107"/>
          <p:cNvSpPr txBox="1"/>
          <p:nvPr/>
        </p:nvSpPr>
        <p:spPr>
          <a:xfrm>
            <a:off x="798263" y="1390980"/>
            <a:ext cx="7772400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ways to convey MIB info, commands: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7" name="Google Shape;10807;p107"/>
          <p:cNvSpPr txBox="1"/>
          <p:nvPr/>
        </p:nvSpPr>
        <p:spPr>
          <a:xfrm>
            <a:off x="2926216" y="6150032"/>
            <a:ext cx="26098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request/response mode</a:t>
            </a:r>
            <a:endParaRPr/>
          </a:p>
        </p:txBody>
      </p:sp>
      <p:grpSp>
        <p:nvGrpSpPr>
          <p:cNvPr id="10808" name="Google Shape;10808;p107"/>
          <p:cNvGrpSpPr/>
          <p:nvPr/>
        </p:nvGrpSpPr>
        <p:grpSpPr>
          <a:xfrm>
            <a:off x="6729466" y="1948376"/>
            <a:ext cx="4230478" cy="4566724"/>
            <a:chOff x="6729466" y="1948376"/>
            <a:chExt cx="4230478" cy="4566724"/>
          </a:xfrm>
        </p:grpSpPr>
        <p:grpSp>
          <p:nvGrpSpPr>
            <p:cNvPr id="10809" name="Google Shape;10809;p107"/>
            <p:cNvGrpSpPr/>
            <p:nvPr/>
          </p:nvGrpSpPr>
          <p:grpSpPr>
            <a:xfrm>
              <a:off x="6729466" y="1948376"/>
              <a:ext cx="4230478" cy="4182389"/>
              <a:chOff x="6588086" y="2082419"/>
              <a:chExt cx="4230478" cy="4182389"/>
            </a:xfrm>
          </p:grpSpPr>
          <p:sp>
            <p:nvSpPr>
              <p:cNvPr id="10810" name="Google Shape;10810;p107"/>
              <p:cNvSpPr/>
              <p:nvPr/>
            </p:nvSpPr>
            <p:spPr>
              <a:xfrm rot="-5216633">
                <a:off x="7427686" y="2947494"/>
                <a:ext cx="4057421" cy="2452239"/>
              </a:xfrm>
              <a:custGeom>
                <a:rect b="b" l="l" r="r" t="t"/>
                <a:pathLst>
                  <a:path extrusionOk="0" h="933" w="1794">
                    <a:moveTo>
                      <a:pt x="6" y="483"/>
                    </a:moveTo>
                    <a:cubicBezTo>
                      <a:pt x="0" y="365"/>
                      <a:pt x="16" y="189"/>
                      <a:pt x="108" y="125"/>
                    </a:cubicBezTo>
                    <a:cubicBezTo>
                      <a:pt x="200" y="61"/>
                      <a:pt x="389" y="116"/>
                      <a:pt x="559" y="100"/>
                    </a:cubicBezTo>
                    <a:cubicBezTo>
                      <a:pt x="729" y="84"/>
                      <a:pt x="935" y="0"/>
                      <a:pt x="1128" y="29"/>
                    </a:cubicBezTo>
                    <a:cubicBezTo>
                      <a:pt x="1321" y="58"/>
                      <a:pt x="1638" y="142"/>
                      <a:pt x="1716" y="275"/>
                    </a:cubicBezTo>
                    <a:cubicBezTo>
                      <a:pt x="1794" y="408"/>
                      <a:pt x="1652" y="721"/>
                      <a:pt x="1596" y="827"/>
                    </a:cubicBezTo>
                    <a:cubicBezTo>
                      <a:pt x="1540" y="933"/>
                      <a:pt x="1506" y="894"/>
                      <a:pt x="1380" y="911"/>
                    </a:cubicBezTo>
                    <a:cubicBezTo>
                      <a:pt x="1254" y="928"/>
                      <a:pt x="1001" y="929"/>
                      <a:pt x="840" y="929"/>
                    </a:cubicBezTo>
                    <a:cubicBezTo>
                      <a:pt x="679" y="929"/>
                      <a:pt x="530" y="927"/>
                      <a:pt x="414" y="911"/>
                    </a:cubicBezTo>
                    <a:cubicBezTo>
                      <a:pt x="298" y="895"/>
                      <a:pt x="211" y="903"/>
                      <a:pt x="143" y="832"/>
                    </a:cubicBezTo>
                    <a:cubicBezTo>
                      <a:pt x="75" y="761"/>
                      <a:pt x="4" y="624"/>
                      <a:pt x="6" y="483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811" name="Google Shape;10811;p107"/>
              <p:cNvCxnSpPr/>
              <p:nvPr/>
            </p:nvCxnSpPr>
            <p:spPr>
              <a:xfrm flipH="1" rot="10800000">
                <a:off x="9496090" y="3180571"/>
                <a:ext cx="338138" cy="104298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2" name="Google Shape;10812;p107"/>
              <p:cNvCxnSpPr/>
              <p:nvPr/>
            </p:nvCxnSpPr>
            <p:spPr>
              <a:xfrm flipH="1" rot="10800000">
                <a:off x="9726589" y="4134658"/>
                <a:ext cx="290202" cy="25148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3" name="Google Shape;10813;p107"/>
              <p:cNvCxnSpPr/>
              <p:nvPr/>
            </p:nvCxnSpPr>
            <p:spPr>
              <a:xfrm>
                <a:off x="9729453" y="4625196"/>
                <a:ext cx="373062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4" name="Google Shape;10814;p107"/>
              <p:cNvCxnSpPr/>
              <p:nvPr/>
            </p:nvCxnSpPr>
            <p:spPr>
              <a:xfrm>
                <a:off x="8921415" y="3675871"/>
                <a:ext cx="371475" cy="55403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815" name="Google Shape;10815;p107"/>
              <p:cNvCxnSpPr/>
              <p:nvPr/>
            </p:nvCxnSpPr>
            <p:spPr>
              <a:xfrm flipH="1">
                <a:off x="9135728" y="4614083"/>
                <a:ext cx="309562" cy="1023938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816" name="Google Shape;10816;p107"/>
              <p:cNvSpPr txBox="1"/>
              <p:nvPr/>
            </p:nvSpPr>
            <p:spPr>
              <a:xfrm>
                <a:off x="7442257" y="5831180"/>
                <a:ext cx="149752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managed device</a:t>
                </a:r>
                <a:endParaRPr/>
              </a:p>
            </p:txBody>
          </p:sp>
          <p:grpSp>
            <p:nvGrpSpPr>
              <p:cNvPr id="10817" name="Google Shape;10817;p107"/>
              <p:cNvGrpSpPr/>
              <p:nvPr/>
            </p:nvGrpSpPr>
            <p:grpSpPr>
              <a:xfrm>
                <a:off x="9973928" y="5172883"/>
                <a:ext cx="366712" cy="579438"/>
                <a:chOff x="4140" y="429"/>
                <a:chExt cx="1425" cy="2396"/>
              </a:xfrm>
            </p:grpSpPr>
            <p:sp>
              <p:nvSpPr>
                <p:cNvPr id="10818" name="Google Shape;10818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19" name="Google Shape;10819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0" name="Google Shape;10820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1" name="Google Shape;10821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22" name="Google Shape;10822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3" name="Google Shape;10823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24" name="Google Shape;10824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5" name="Google Shape;10825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26" name="Google Shape;10826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27" name="Google Shape;10827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828" name="Google Shape;10828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29" name="Google Shape;10829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0" name="Google Shape;10830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1" name="Google Shape;10831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2" name="Google Shape;10832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833" name="Google Shape;10833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4" name="Google Shape;10834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5" name="Google Shape;10835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36" name="Google Shape;10836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837" name="Google Shape;10837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838" name="Google Shape;10838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839" name="Google Shape;10839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0" name="Google Shape;10840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1" name="Google Shape;10841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2" name="Google Shape;10842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3" name="Google Shape;10843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4" name="Google Shape;10844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5" name="Google Shape;10845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6" name="Google Shape;10846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7" name="Google Shape;10847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8" name="Google Shape;10848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9" name="Google Shape;10849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50" name="Google Shape;10850;p107"/>
              <p:cNvGrpSpPr/>
              <p:nvPr/>
            </p:nvGrpSpPr>
            <p:grpSpPr>
              <a:xfrm>
                <a:off x="8732734" y="5561377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51" name="Google Shape;10851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52" name="Google Shape;10852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53" name="Google Shape;10853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54" name="Google Shape;10854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5" name="Google Shape;10855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6" name="Google Shape;10856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57" name="Google Shape;10857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0858" name="Google Shape;10858;p107"/>
              <p:cNvCxnSpPr/>
              <p:nvPr/>
            </p:nvCxnSpPr>
            <p:spPr>
              <a:xfrm>
                <a:off x="10652863" y="4065510"/>
                <a:ext cx="165701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859" name="Google Shape;10859;p107"/>
              <p:cNvCxnSpPr/>
              <p:nvPr/>
            </p:nvCxnSpPr>
            <p:spPr>
              <a:xfrm>
                <a:off x="9251576" y="5941812"/>
                <a:ext cx="237507" cy="237507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0860" name="Google Shape;10860;p107"/>
              <p:cNvGrpSpPr/>
              <p:nvPr/>
            </p:nvGrpSpPr>
            <p:grpSpPr>
              <a:xfrm>
                <a:off x="7082865" y="5130332"/>
                <a:ext cx="1784742" cy="783771"/>
                <a:chOff x="3623562" y="5108298"/>
                <a:chExt cx="1784742" cy="783771"/>
              </a:xfrm>
            </p:grpSpPr>
            <p:sp>
              <p:nvSpPr>
                <p:cNvPr id="10861" name="Google Shape;10861;p107"/>
                <p:cNvSpPr/>
                <p:nvPr/>
              </p:nvSpPr>
              <p:spPr>
                <a:xfrm flipH="1">
                  <a:off x="4018890" y="5238925"/>
                  <a:ext cx="1389414" cy="653144"/>
                </a:xfrm>
                <a:custGeom>
                  <a:rect b="b" l="l" r="r" t="t"/>
                  <a:pathLst>
                    <a:path extrusionOk="0" h="653144" w="1389414">
                      <a:moveTo>
                        <a:pt x="59377" y="415637"/>
                      </a:moveTo>
                      <a:cubicBezTo>
                        <a:pt x="285008" y="332510"/>
                        <a:pt x="320635" y="320634"/>
                        <a:pt x="605641" y="0"/>
                      </a:cubicBezTo>
                      <a:lnTo>
                        <a:pt x="1389414" y="391887"/>
                      </a:lnTo>
                      <a:cubicBezTo>
                        <a:pt x="395845" y="482932"/>
                        <a:pt x="601683" y="407720"/>
                        <a:pt x="0" y="653144"/>
                      </a:cubicBezTo>
                      <a:lnTo>
                        <a:pt x="59377" y="415637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>
                        <a:alpha val="55686"/>
                      </a:srgbClr>
                    </a:gs>
                    <a:gs pos="100000">
                      <a:srgbClr val="D8D8D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2" name="Google Shape;10862;p107"/>
                <p:cNvSpPr/>
                <p:nvPr/>
              </p:nvSpPr>
              <p:spPr>
                <a:xfrm>
                  <a:off x="3623562" y="5108298"/>
                  <a:ext cx="1293812" cy="545006"/>
                </a:xfrm>
                <a:prstGeom prst="ellipse">
                  <a:avLst/>
                </a:prstGeom>
                <a:solidFill>
                  <a:srgbClr val="F2F2F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63" name="Google Shape;10863;p107"/>
                <p:cNvSpPr txBox="1"/>
                <p:nvPr/>
              </p:nvSpPr>
              <p:spPr>
                <a:xfrm>
                  <a:off x="3656136" y="5229255"/>
                  <a:ext cx="633945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agent</a:t>
                  </a:r>
                  <a:endParaRPr/>
                </a:p>
              </p:txBody>
            </p:sp>
            <p:grpSp>
              <p:nvGrpSpPr>
                <p:cNvPr id="10864" name="Google Shape;10864;p107"/>
                <p:cNvGrpSpPr/>
                <p:nvPr/>
              </p:nvGrpSpPr>
              <p:grpSpPr>
                <a:xfrm>
                  <a:off x="4254952" y="5203301"/>
                  <a:ext cx="533735" cy="344384"/>
                  <a:chOff x="7290003" y="1864426"/>
                  <a:chExt cx="533735" cy="344384"/>
                </a:xfrm>
              </p:grpSpPr>
              <p:sp>
                <p:nvSpPr>
                  <p:cNvPr id="10865" name="Google Shape;10865;p107"/>
                  <p:cNvSpPr/>
                  <p:nvPr/>
                </p:nvSpPr>
                <p:spPr>
                  <a:xfrm>
                    <a:off x="7338951" y="1864426"/>
                    <a:ext cx="427511" cy="344384"/>
                  </a:xfrm>
                  <a:prstGeom prst="can">
                    <a:avLst>
                      <a:gd fmla="val 25000" name="adj"/>
                    </a:avLst>
                  </a:prstGeom>
                  <a:solidFill>
                    <a:srgbClr val="D8E2F3"/>
                  </a:solidFill>
                  <a:ln cap="flat" cmpd="sng" w="12700">
                    <a:solidFill>
                      <a:srgbClr val="AEABA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66" name="Google Shape;10866;p107"/>
                  <p:cNvSpPr txBox="1"/>
                  <p:nvPr/>
                </p:nvSpPr>
                <p:spPr>
                  <a:xfrm>
                    <a:off x="7290003" y="1889518"/>
                    <a:ext cx="533735" cy="3076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A8"/>
                      </a:buClr>
                      <a:buSzPts val="1400"/>
                      <a:buFont typeface="Arial"/>
                      <a:buNone/>
                    </a:pPr>
                    <a:r>
                      <a:rPr b="0" i="0" lang="en-US" sz="1400" u="none" cap="none" strike="noStrike">
                        <a:solidFill>
                          <a:srgbClr val="0000A8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data</a:t>
                    </a:r>
                    <a:endParaRPr/>
                  </a:p>
                </p:txBody>
              </p:sp>
            </p:grpSp>
          </p:grpSp>
          <p:grpSp>
            <p:nvGrpSpPr>
              <p:cNvPr id="10867" name="Google Shape;10867;p107"/>
              <p:cNvGrpSpPr/>
              <p:nvPr/>
            </p:nvGrpSpPr>
            <p:grpSpPr>
              <a:xfrm>
                <a:off x="9109072" y="4201055"/>
                <a:ext cx="736270" cy="422596"/>
                <a:chOff x="3668110" y="2448910"/>
                <a:chExt cx="3794234" cy="2165130"/>
              </a:xfrm>
            </p:grpSpPr>
            <p:sp>
              <p:nvSpPr>
                <p:cNvPr id="10868" name="Google Shape;10868;p107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69" name="Google Shape;10869;p107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870" name="Google Shape;10870;p107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0871" name="Google Shape;10871;p107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2" name="Google Shape;10872;p107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3" name="Google Shape;10873;p107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74" name="Google Shape;10874;p107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875" name="Google Shape;10875;p107"/>
              <p:cNvSpPr/>
              <p:nvPr/>
            </p:nvSpPr>
            <p:spPr>
              <a:xfrm flipH="1">
                <a:off x="6990267" y="2857446"/>
                <a:ext cx="1644149" cy="664161"/>
              </a:xfrm>
              <a:custGeom>
                <a:rect b="b" l="l" r="r" t="t"/>
                <a:pathLst>
                  <a:path extrusionOk="0" h="664161" w="1503869">
                    <a:moveTo>
                      <a:pt x="81411" y="228350"/>
                    </a:moveTo>
                    <a:cubicBezTo>
                      <a:pt x="307042" y="145223"/>
                      <a:pt x="255473" y="210465"/>
                      <a:pt x="419294" y="0"/>
                    </a:cubicBezTo>
                    <a:cubicBezTo>
                      <a:pt x="706258" y="244471"/>
                      <a:pt x="774088" y="202501"/>
                      <a:pt x="1503869" y="105448"/>
                    </a:cubicBezTo>
                    <a:cubicBezTo>
                      <a:pt x="712253" y="306662"/>
                      <a:pt x="601683" y="418737"/>
                      <a:pt x="0" y="664161"/>
                    </a:cubicBezTo>
                    <a:lnTo>
                      <a:pt x="81411" y="22835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55686"/>
                    </a:srgbClr>
                  </a:gs>
                  <a:gs pos="100000">
                    <a:srgbClr val="D8D8D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6" name="Google Shape;10876;p107"/>
              <p:cNvSpPr/>
              <p:nvPr/>
            </p:nvSpPr>
            <p:spPr>
              <a:xfrm>
                <a:off x="6588086" y="2335576"/>
                <a:ext cx="1853311" cy="684610"/>
              </a:xfrm>
              <a:prstGeom prst="ellipse">
                <a:avLst/>
              </a:prstGeom>
              <a:solidFill>
                <a:srgbClr val="F2F2F2"/>
              </a:solidFill>
              <a:ln cap="flat" cmpd="sng" w="19050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77" name="Google Shape;10877;p107"/>
              <p:cNvSpPr txBox="1"/>
              <p:nvPr/>
            </p:nvSpPr>
            <p:spPr>
              <a:xfrm>
                <a:off x="6610120" y="2378207"/>
                <a:ext cx="1795750" cy="5652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managing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server/controller</a:t>
                </a:r>
                <a:endParaRPr/>
              </a:p>
            </p:txBody>
          </p:sp>
          <p:grpSp>
            <p:nvGrpSpPr>
              <p:cNvPr id="10878" name="Google Shape;10878;p107"/>
              <p:cNvGrpSpPr/>
              <p:nvPr/>
            </p:nvGrpSpPr>
            <p:grpSpPr>
              <a:xfrm>
                <a:off x="7972177" y="2226911"/>
                <a:ext cx="897159" cy="395103"/>
                <a:chOff x="7338951" y="1864426"/>
                <a:chExt cx="427511" cy="344384"/>
              </a:xfrm>
            </p:grpSpPr>
            <p:sp>
              <p:nvSpPr>
                <p:cNvPr id="10879" name="Google Shape;10879;p107"/>
                <p:cNvSpPr/>
                <p:nvPr/>
              </p:nvSpPr>
              <p:spPr>
                <a:xfrm>
                  <a:off x="7338951" y="1864426"/>
                  <a:ext cx="427511" cy="344384"/>
                </a:xfrm>
                <a:prstGeom prst="can">
                  <a:avLst>
                    <a:gd fmla="val 25000" name="adj"/>
                  </a:avLst>
                </a:prstGeom>
                <a:solidFill>
                  <a:srgbClr val="D8E2F3"/>
                </a:solidFill>
                <a:ln cap="flat" cmpd="sng" w="12700">
                  <a:solidFill>
                    <a:srgbClr val="AEABA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80" name="Google Shape;10880;p107"/>
                <p:cNvSpPr txBox="1"/>
                <p:nvPr/>
              </p:nvSpPr>
              <p:spPr>
                <a:xfrm>
                  <a:off x="7404793" y="1927928"/>
                  <a:ext cx="281197" cy="2682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A8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A8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data</a:t>
                  </a:r>
                  <a:endParaRPr/>
                </a:p>
              </p:txBody>
            </p:sp>
          </p:grpSp>
          <p:grpSp>
            <p:nvGrpSpPr>
              <p:cNvPr id="10881" name="Google Shape;10881;p107"/>
              <p:cNvGrpSpPr/>
              <p:nvPr/>
            </p:nvGrpSpPr>
            <p:grpSpPr>
              <a:xfrm>
                <a:off x="9957872" y="3853309"/>
                <a:ext cx="683116" cy="378456"/>
                <a:chOff x="7493876" y="2774731"/>
                <a:chExt cx="1481958" cy="894622"/>
              </a:xfrm>
            </p:grpSpPr>
            <p:sp>
              <p:nvSpPr>
                <p:cNvPr id="10882" name="Google Shape;10882;p107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0883" name="Google Shape;10883;p107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10884" name="Google Shape;10884;p107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0885" name="Google Shape;10885;p107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6" name="Google Shape;10886;p107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7" name="Google Shape;10887;p107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88" name="Google Shape;10888;p107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889" name="Google Shape;10889;p107"/>
              <p:cNvGrpSpPr/>
              <p:nvPr/>
            </p:nvGrpSpPr>
            <p:grpSpPr>
              <a:xfrm>
                <a:off x="9438940" y="2593196"/>
                <a:ext cx="903288" cy="727075"/>
                <a:chOff x="-44" y="1473"/>
                <a:chExt cx="981" cy="1105"/>
              </a:xfrm>
            </p:grpSpPr>
            <p:pic>
              <p:nvPicPr>
                <p:cNvPr descr="desktop_computer_stylized_medium" id="10890" name="Google Shape;10890;p10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91" name="Google Shape;10891;p10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92" name="Google Shape;10892;p107"/>
              <p:cNvGrpSpPr/>
              <p:nvPr/>
            </p:nvGrpSpPr>
            <p:grpSpPr>
              <a:xfrm>
                <a:off x="8550931" y="2782976"/>
                <a:ext cx="469569" cy="865434"/>
                <a:chOff x="4140" y="429"/>
                <a:chExt cx="1425" cy="2396"/>
              </a:xfrm>
            </p:grpSpPr>
            <p:sp>
              <p:nvSpPr>
                <p:cNvPr id="10893" name="Google Shape;10893;p107"/>
                <p:cNvSpPr/>
                <p:nvPr/>
              </p:nvSpPr>
              <p:spPr>
                <a:xfrm>
                  <a:off x="5268" y="433"/>
                  <a:ext cx="283" cy="2286"/>
                </a:xfrm>
                <a:custGeom>
                  <a:rect b="b" l="l" r="r" t="t"/>
                  <a:pathLst>
                    <a:path extrusionOk="0" h="2742" w="354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4" name="Google Shape;10894;p107"/>
                <p:cNvSpPr/>
                <p:nvPr/>
              </p:nvSpPr>
              <p:spPr>
                <a:xfrm>
                  <a:off x="4208" y="429"/>
                  <a:ext cx="1043" cy="2284"/>
                </a:xfrm>
                <a:prstGeom prst="rect">
                  <a:avLst/>
                </a:pr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5" name="Google Shape;10895;p107"/>
                <p:cNvSpPr/>
                <p:nvPr/>
              </p:nvSpPr>
              <p:spPr>
                <a:xfrm>
                  <a:off x="5321" y="570"/>
                  <a:ext cx="169" cy="2115"/>
                </a:xfrm>
                <a:custGeom>
                  <a:rect b="b" l="l" r="r" t="t"/>
                  <a:pathLst>
                    <a:path extrusionOk="0" h="2537" w="211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6" name="Google Shape;10896;p107"/>
                <p:cNvSpPr/>
                <p:nvPr/>
              </p:nvSpPr>
              <p:spPr>
                <a:xfrm>
                  <a:off x="5284" y="1640"/>
                  <a:ext cx="263" cy="189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7" name="Google Shape;10897;p107"/>
                <p:cNvSpPr/>
                <p:nvPr/>
              </p:nvSpPr>
              <p:spPr>
                <a:xfrm>
                  <a:off x="4214" y="692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898" name="Google Shape;10898;p107"/>
                <p:cNvGrpSpPr/>
                <p:nvPr/>
              </p:nvGrpSpPr>
              <p:grpSpPr>
                <a:xfrm>
                  <a:off x="4751" y="665"/>
                  <a:ext cx="580" cy="131"/>
                  <a:chOff x="616" y="2565"/>
                  <a:chExt cx="724" cy="126"/>
                </a:xfrm>
              </p:grpSpPr>
              <p:sp>
                <p:nvSpPr>
                  <p:cNvPr id="10899" name="Google Shape;10899;p107"/>
                  <p:cNvSpPr/>
                  <p:nvPr/>
                </p:nvSpPr>
                <p:spPr>
                  <a:xfrm>
                    <a:off x="616" y="2565"/>
                    <a:ext cx="724" cy="12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0" name="Google Shape;10900;p107"/>
                  <p:cNvSpPr/>
                  <p:nvPr/>
                </p:nvSpPr>
                <p:spPr>
                  <a:xfrm>
                    <a:off x="632" y="2584"/>
                    <a:ext cx="693" cy="101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1" name="Google Shape;10901;p107"/>
                <p:cNvSpPr/>
                <p:nvPr/>
              </p:nvSpPr>
              <p:spPr>
                <a:xfrm>
                  <a:off x="4226" y="1020"/>
                  <a:ext cx="592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2" name="Google Shape;10902;p107"/>
                <p:cNvGrpSpPr/>
                <p:nvPr/>
              </p:nvGrpSpPr>
              <p:grpSpPr>
                <a:xfrm>
                  <a:off x="4745" y="994"/>
                  <a:ext cx="586" cy="131"/>
                  <a:chOff x="611" y="2568"/>
                  <a:chExt cx="731" cy="136"/>
                </a:xfrm>
              </p:grpSpPr>
              <p:sp>
                <p:nvSpPr>
                  <p:cNvPr id="10903" name="Google Shape;10903;p107"/>
                  <p:cNvSpPr/>
                  <p:nvPr/>
                </p:nvSpPr>
                <p:spPr>
                  <a:xfrm>
                    <a:off x="611" y="2568"/>
                    <a:ext cx="731" cy="136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4" name="Google Shape;10904;p107"/>
                  <p:cNvSpPr/>
                  <p:nvPr/>
                </p:nvSpPr>
                <p:spPr>
                  <a:xfrm>
                    <a:off x="626" y="2581"/>
                    <a:ext cx="700" cy="109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05" name="Google Shape;10905;p107"/>
                <p:cNvSpPr/>
                <p:nvPr/>
              </p:nvSpPr>
              <p:spPr>
                <a:xfrm>
                  <a:off x="4214" y="1361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6" name="Google Shape;10906;p107"/>
                <p:cNvSpPr/>
                <p:nvPr/>
              </p:nvSpPr>
              <p:spPr>
                <a:xfrm>
                  <a:off x="4226" y="1657"/>
                  <a:ext cx="598" cy="46"/>
                </a:xfrm>
                <a:prstGeom prst="rect">
                  <a:avLst/>
                </a:prstGeom>
                <a:solidFill>
                  <a:srgbClr val="000000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07" name="Google Shape;10907;p107"/>
                <p:cNvGrpSpPr/>
                <p:nvPr/>
              </p:nvGrpSpPr>
              <p:grpSpPr>
                <a:xfrm>
                  <a:off x="4733" y="1630"/>
                  <a:ext cx="586" cy="151"/>
                  <a:chOff x="611" y="2571"/>
                  <a:chExt cx="730" cy="139"/>
                </a:xfrm>
              </p:grpSpPr>
              <p:sp>
                <p:nvSpPr>
                  <p:cNvPr id="10908" name="Google Shape;10908;p107"/>
                  <p:cNvSpPr/>
                  <p:nvPr/>
                </p:nvSpPr>
                <p:spPr>
                  <a:xfrm>
                    <a:off x="611" y="2571"/>
                    <a:ext cx="730" cy="139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09" name="Google Shape;10909;p107"/>
                  <p:cNvSpPr/>
                  <p:nvPr/>
                </p:nvSpPr>
                <p:spPr>
                  <a:xfrm>
                    <a:off x="626" y="2589"/>
                    <a:ext cx="699" cy="11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0" name="Google Shape;10910;p107"/>
                <p:cNvSpPr/>
                <p:nvPr/>
              </p:nvSpPr>
              <p:spPr>
                <a:xfrm>
                  <a:off x="5288" y="1354"/>
                  <a:ext cx="263" cy="188"/>
                </a:xfrm>
                <a:custGeom>
                  <a:rect b="b" l="l" r="r" t="t"/>
                  <a:pathLst>
                    <a:path extrusionOk="0" h="226" w="328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0911" name="Google Shape;10911;p107"/>
                <p:cNvGrpSpPr/>
                <p:nvPr/>
              </p:nvGrpSpPr>
              <p:grpSpPr>
                <a:xfrm>
                  <a:off x="4738" y="1328"/>
                  <a:ext cx="574" cy="138"/>
                  <a:chOff x="613" y="2569"/>
                  <a:chExt cx="715" cy="138"/>
                </a:xfrm>
              </p:grpSpPr>
              <p:sp>
                <p:nvSpPr>
                  <p:cNvPr id="10912" name="Google Shape;10912;p107"/>
                  <p:cNvSpPr/>
                  <p:nvPr/>
                </p:nvSpPr>
                <p:spPr>
                  <a:xfrm>
                    <a:off x="613" y="2569"/>
                    <a:ext cx="715" cy="138"/>
                  </a:xfrm>
                  <a:prstGeom prst="roundRect">
                    <a:avLst>
                      <a:gd fmla="val 50000" name="adj"/>
                    </a:avLst>
                  </a:pr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913" name="Google Shape;10913;p107"/>
                  <p:cNvSpPr/>
                  <p:nvPr/>
                </p:nvSpPr>
                <p:spPr>
                  <a:xfrm>
                    <a:off x="629" y="2582"/>
                    <a:ext cx="692" cy="105"/>
                  </a:xfrm>
                  <a:prstGeom prst="roundRect">
                    <a:avLst>
                      <a:gd fmla="val 50000" name="adj"/>
                    </a:avLst>
                  </a:prstGeom>
                  <a:gradFill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Calibri"/>
                      <a:buNone/>
                    </a:pPr>
                    <a:r>
                      <a:t/>
                    </a:r>
                    <a:endParaRPr b="0" i="0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914" name="Google Shape;10914;p107"/>
                <p:cNvSpPr/>
                <p:nvPr/>
              </p:nvSpPr>
              <p:spPr>
                <a:xfrm>
                  <a:off x="5250" y="429"/>
                  <a:ext cx="68" cy="2291"/>
                </a:xfrm>
                <a:prstGeom prst="rect">
                  <a:avLst/>
                </a:prstGeom>
                <a:gradFill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5" name="Google Shape;10915;p107"/>
                <p:cNvSpPr/>
                <p:nvPr/>
              </p:nvSpPr>
              <p:spPr>
                <a:xfrm>
                  <a:off x="5312" y="1007"/>
                  <a:ext cx="237" cy="213"/>
                </a:xfrm>
                <a:custGeom>
                  <a:rect b="b" l="l" r="r" t="t"/>
                  <a:pathLst>
                    <a:path extrusionOk="0" h="256" w="29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6" name="Google Shape;10916;p107"/>
                <p:cNvSpPr/>
                <p:nvPr/>
              </p:nvSpPr>
              <p:spPr>
                <a:xfrm>
                  <a:off x="5315" y="680"/>
                  <a:ext cx="244" cy="240"/>
                </a:xfrm>
                <a:custGeom>
                  <a:rect b="b" l="l" r="r" t="t"/>
                  <a:pathLst>
                    <a:path extrusionOk="0" h="288" w="304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7" name="Google Shape;10917;p107"/>
                <p:cNvSpPr/>
                <p:nvPr/>
              </p:nvSpPr>
              <p:spPr>
                <a:xfrm>
                  <a:off x="5516" y="2608"/>
                  <a:ext cx="49" cy="98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8" name="Google Shape;10918;p107"/>
                <p:cNvSpPr/>
                <p:nvPr/>
              </p:nvSpPr>
              <p:spPr>
                <a:xfrm>
                  <a:off x="5302" y="2614"/>
                  <a:ext cx="245" cy="200"/>
                </a:xfrm>
                <a:custGeom>
                  <a:rect b="b" l="l" r="r" t="t"/>
                  <a:pathLst>
                    <a:path extrusionOk="0" h="240" w="306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9" name="Google Shape;10919;p107"/>
                <p:cNvSpPr/>
                <p:nvPr/>
              </p:nvSpPr>
              <p:spPr>
                <a:xfrm>
                  <a:off x="4140" y="2681"/>
                  <a:ext cx="1197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DDDDD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0" name="Google Shape;10920;p107"/>
                <p:cNvSpPr/>
                <p:nvPr/>
              </p:nvSpPr>
              <p:spPr>
                <a:xfrm>
                  <a:off x="4208" y="2713"/>
                  <a:ext cx="1067" cy="7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00"/>
                    </a:gs>
                    <a:gs pos="100000">
                      <a:srgbClr val="808080"/>
                    </a:gs>
                  </a:gsLst>
                  <a:lin ang="0" scaled="0"/>
                </a:gra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1" name="Google Shape;10921;p107"/>
                <p:cNvSpPr/>
                <p:nvPr/>
              </p:nvSpPr>
              <p:spPr>
                <a:xfrm>
                  <a:off x="4307" y="2385"/>
                  <a:ext cx="160" cy="138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2" name="Google Shape;10922;p107"/>
                <p:cNvSpPr/>
                <p:nvPr/>
              </p:nvSpPr>
              <p:spPr>
                <a:xfrm>
                  <a:off x="4485" y="2385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3" name="Google Shape;10923;p107"/>
                <p:cNvSpPr/>
                <p:nvPr/>
              </p:nvSpPr>
              <p:spPr>
                <a:xfrm>
                  <a:off x="4664" y="2379"/>
                  <a:ext cx="154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4" name="Google Shape;10924;p107"/>
                <p:cNvSpPr/>
                <p:nvPr/>
              </p:nvSpPr>
              <p:spPr>
                <a:xfrm>
                  <a:off x="5059" y="1834"/>
                  <a:ext cx="86" cy="761"/>
                </a:xfrm>
                <a:prstGeom prst="rect">
                  <a:avLst/>
                </a:prstGeom>
                <a:solidFill>
                  <a:srgbClr val="29292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0925" name="Google Shape;10925;p107"/>
            <p:cNvSpPr txBox="1"/>
            <p:nvPr/>
          </p:nvSpPr>
          <p:spPr>
            <a:xfrm>
              <a:off x="8965649" y="6145768"/>
              <a:ext cx="122397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trap mode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29" name="Shape 10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0" name="Google Shape;10930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types</a:t>
            </a:r>
            <a:endParaRPr/>
          </a:p>
        </p:txBody>
      </p:sp>
      <p:sp>
        <p:nvSpPr>
          <p:cNvPr id="10931" name="Google Shape;1093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932" name="Google Shape;10932;p108"/>
          <p:cNvGrpSpPr/>
          <p:nvPr/>
        </p:nvGrpSpPr>
        <p:grpSpPr>
          <a:xfrm>
            <a:off x="2372315" y="1817914"/>
            <a:ext cx="7097732" cy="3820886"/>
            <a:chOff x="2002201" y="1415143"/>
            <a:chExt cx="7097732" cy="3820886"/>
          </a:xfrm>
        </p:grpSpPr>
        <p:sp>
          <p:nvSpPr>
            <p:cNvPr id="10933" name="Google Shape;10933;p108"/>
            <p:cNvSpPr/>
            <p:nvPr/>
          </p:nvSpPr>
          <p:spPr>
            <a:xfrm>
              <a:off x="2013857" y="1415143"/>
              <a:ext cx="7075714" cy="674914"/>
            </a:xfrm>
            <a:prstGeom prst="rect">
              <a:avLst/>
            </a:prstGeom>
            <a:solidFill>
              <a:srgbClr val="DDEAF6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4" name="Google Shape;10934;p108"/>
            <p:cNvSpPr/>
            <p:nvPr/>
          </p:nvSpPr>
          <p:spPr>
            <a:xfrm>
              <a:off x="2005070" y="1421700"/>
              <a:ext cx="7094863" cy="3792557"/>
            </a:xfrm>
            <a:prstGeom prst="rect">
              <a:avLst/>
            </a:prstGeom>
            <a:solidFill>
              <a:schemeClr val="lt1"/>
            </a:solidFill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5" name="Google Shape;10935;p108"/>
            <p:cNvSpPr txBox="1"/>
            <p:nvPr/>
          </p:nvSpPr>
          <p:spPr>
            <a:xfrm>
              <a:off x="2734834" y="2145408"/>
              <a:ext cx="1892826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GetNextRequest</a:t>
              </a:r>
              <a:endParaRPr/>
            </a:p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GetBulkRequest</a:t>
              </a:r>
              <a:endParaRPr/>
            </a:p>
          </p:txBody>
        </p:sp>
        <p:sp>
          <p:nvSpPr>
            <p:cNvPr id="10936" name="Google Shape;10936;p108"/>
            <p:cNvSpPr txBox="1"/>
            <p:nvPr/>
          </p:nvSpPr>
          <p:spPr>
            <a:xfrm>
              <a:off x="5029144" y="2125911"/>
              <a:ext cx="385359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“get me data”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(data instance, next data in list,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block of data). </a:t>
              </a:r>
              <a:endParaRPr/>
            </a:p>
          </p:txBody>
        </p:sp>
        <p:sp>
          <p:nvSpPr>
            <p:cNvPr id="10937" name="Google Shape;10937;p108"/>
            <p:cNvSpPr txBox="1"/>
            <p:nvPr/>
          </p:nvSpPr>
          <p:spPr>
            <a:xfrm>
              <a:off x="2122320" y="1488161"/>
              <a:ext cx="248799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Message type</a:t>
              </a:r>
              <a:endParaRPr/>
            </a:p>
          </p:txBody>
        </p:sp>
        <p:sp>
          <p:nvSpPr>
            <p:cNvPr id="10938" name="Google Shape;10938;p108"/>
            <p:cNvSpPr txBox="1"/>
            <p:nvPr/>
          </p:nvSpPr>
          <p:spPr>
            <a:xfrm>
              <a:off x="5061362" y="1490866"/>
              <a:ext cx="16450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Function</a:t>
              </a:r>
              <a:endParaRPr/>
            </a:p>
          </p:txBody>
        </p:sp>
        <p:sp>
          <p:nvSpPr>
            <p:cNvPr id="10939" name="Google Shape;10939;p108"/>
            <p:cNvSpPr txBox="1"/>
            <p:nvPr/>
          </p:nvSpPr>
          <p:spPr>
            <a:xfrm>
              <a:off x="2047355" y="3213120"/>
              <a:ext cx="257810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SetRequest</a:t>
              </a:r>
              <a:endParaRPr/>
            </a:p>
          </p:txBody>
        </p:sp>
        <p:sp>
          <p:nvSpPr>
            <p:cNvPr id="10940" name="Google Shape;10940;p108"/>
            <p:cNvSpPr txBox="1"/>
            <p:nvPr/>
          </p:nvSpPr>
          <p:spPr>
            <a:xfrm>
              <a:off x="5013593" y="3216058"/>
              <a:ext cx="372763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manager-to-agent: set MIB value</a:t>
              </a:r>
              <a:endParaRPr/>
            </a:p>
          </p:txBody>
        </p:sp>
        <p:sp>
          <p:nvSpPr>
            <p:cNvPr id="10941" name="Google Shape;10941;p108"/>
            <p:cNvSpPr txBox="1"/>
            <p:nvPr/>
          </p:nvSpPr>
          <p:spPr>
            <a:xfrm>
              <a:off x="3233056" y="3762619"/>
              <a:ext cx="1402831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Response</a:t>
              </a:r>
              <a:endParaRPr/>
            </a:p>
          </p:txBody>
        </p:sp>
        <p:sp>
          <p:nvSpPr>
            <p:cNvPr id="10942" name="Google Shape;10942;p108"/>
            <p:cNvSpPr txBox="1"/>
            <p:nvPr/>
          </p:nvSpPr>
          <p:spPr>
            <a:xfrm>
              <a:off x="5026411" y="3785527"/>
              <a:ext cx="389987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value, response to Request</a:t>
              </a:r>
              <a:endParaRPr/>
            </a:p>
          </p:txBody>
        </p:sp>
        <p:sp>
          <p:nvSpPr>
            <p:cNvPr id="10943" name="Google Shape;10943;p108"/>
            <p:cNvSpPr txBox="1"/>
            <p:nvPr/>
          </p:nvSpPr>
          <p:spPr>
            <a:xfrm>
              <a:off x="3298372" y="4509877"/>
              <a:ext cx="133161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Trap</a:t>
              </a:r>
              <a:endParaRPr/>
            </a:p>
          </p:txBody>
        </p:sp>
        <p:sp>
          <p:nvSpPr>
            <p:cNvPr id="10944" name="Google Shape;10944;p108"/>
            <p:cNvSpPr txBox="1"/>
            <p:nvPr/>
          </p:nvSpPr>
          <p:spPr>
            <a:xfrm>
              <a:off x="5026185" y="4542313"/>
              <a:ext cx="390010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Agent-to-manager: inform manager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of exceptional event</a:t>
              </a:r>
              <a:endParaRPr/>
            </a:p>
          </p:txBody>
        </p:sp>
        <p:cxnSp>
          <p:nvCxnSpPr>
            <p:cNvPr id="10945" name="Google Shape;10945;p108"/>
            <p:cNvCxnSpPr/>
            <p:nvPr/>
          </p:nvCxnSpPr>
          <p:spPr>
            <a:xfrm>
              <a:off x="2013087" y="2090619"/>
              <a:ext cx="7083691" cy="0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6" name="Google Shape;10946;p108"/>
            <p:cNvCxnSpPr/>
            <p:nvPr/>
          </p:nvCxnSpPr>
          <p:spPr>
            <a:xfrm>
              <a:off x="2013087" y="3124760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7" name="Google Shape;10947;p108"/>
            <p:cNvCxnSpPr/>
            <p:nvPr/>
          </p:nvCxnSpPr>
          <p:spPr>
            <a:xfrm>
              <a:off x="2013087" y="3712588"/>
              <a:ext cx="7083691" cy="0"/>
            </a:xfrm>
            <a:prstGeom prst="straightConnector1">
              <a:avLst/>
            </a:prstGeom>
            <a:noFill/>
            <a:ln cap="flat" cmpd="sng" w="1587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8" name="Google Shape;10948;p108"/>
            <p:cNvCxnSpPr/>
            <p:nvPr/>
          </p:nvCxnSpPr>
          <p:spPr>
            <a:xfrm>
              <a:off x="2002201" y="4463704"/>
              <a:ext cx="7083691" cy="0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9" name="Google Shape;10949;p108"/>
            <p:cNvCxnSpPr/>
            <p:nvPr/>
          </p:nvCxnSpPr>
          <p:spPr>
            <a:xfrm>
              <a:off x="4833259" y="1420585"/>
              <a:ext cx="0" cy="3815444"/>
            </a:xfrm>
            <a:prstGeom prst="straightConnector1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53" name="Shape 10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4" name="Google Shape;1095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 protocol: message formats</a:t>
            </a:r>
            <a:endParaRPr/>
          </a:p>
        </p:txBody>
      </p:sp>
      <p:sp>
        <p:nvSpPr>
          <p:cNvPr id="10955" name="Google Shape;1095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56" name="Google Shape;10956;p109"/>
          <p:cNvSpPr/>
          <p:nvPr/>
        </p:nvSpPr>
        <p:spPr>
          <a:xfrm>
            <a:off x="3813221" y="2111004"/>
            <a:ext cx="6943725" cy="1004888"/>
          </a:xfrm>
          <a:prstGeom prst="rect">
            <a:avLst/>
          </a:prstGeom>
          <a:solidFill>
            <a:srgbClr val="2F549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7" name="Google Shape;10957;p109"/>
          <p:cNvCxnSpPr/>
          <p:nvPr/>
        </p:nvCxnSpPr>
        <p:spPr>
          <a:xfrm>
            <a:off x="4730796" y="2115767"/>
            <a:ext cx="0" cy="1020762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8" name="Google Shape;10958;p109"/>
          <p:cNvSpPr txBox="1"/>
          <p:nvPr/>
        </p:nvSpPr>
        <p:spPr>
          <a:xfrm>
            <a:off x="10260058" y="2469779"/>
            <a:ext cx="496888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….</a:t>
            </a:r>
            <a:endParaRPr/>
          </a:p>
        </p:txBody>
      </p:sp>
      <p:sp>
        <p:nvSpPr>
          <p:cNvPr id="10959" name="Google Shape;10959;p109"/>
          <p:cNvSpPr txBox="1"/>
          <p:nvPr/>
        </p:nvSpPr>
        <p:spPr>
          <a:xfrm>
            <a:off x="4025946" y="2137992"/>
            <a:ext cx="5842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PDU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type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(0-3)</a:t>
            </a:r>
            <a:endParaRPr/>
          </a:p>
        </p:txBody>
      </p:sp>
      <p:cxnSp>
        <p:nvCxnSpPr>
          <p:cNvPr id="10960" name="Google Shape;10960;p109"/>
          <p:cNvCxnSpPr/>
          <p:nvPr/>
        </p:nvCxnSpPr>
        <p:spPr>
          <a:xfrm>
            <a:off x="5624558" y="210306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1" name="Google Shape;10961;p109"/>
          <p:cNvCxnSpPr/>
          <p:nvPr/>
        </p:nvCxnSpPr>
        <p:spPr>
          <a:xfrm>
            <a:off x="6518321" y="20951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2" name="Google Shape;10962;p109"/>
          <p:cNvCxnSpPr/>
          <p:nvPr/>
        </p:nvCxnSpPr>
        <p:spPr>
          <a:xfrm>
            <a:off x="7420021" y="2117354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3" name="Google Shape;10963;p109"/>
          <p:cNvCxnSpPr/>
          <p:nvPr/>
        </p:nvCxnSpPr>
        <p:spPr>
          <a:xfrm>
            <a:off x="8129633" y="2109417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4" name="Google Shape;10964;p109"/>
          <p:cNvCxnSpPr/>
          <p:nvPr/>
        </p:nvCxnSpPr>
        <p:spPr>
          <a:xfrm>
            <a:off x="8851946" y="210147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5" name="Google Shape;10965;p109"/>
          <p:cNvCxnSpPr/>
          <p:nvPr/>
        </p:nvCxnSpPr>
        <p:spPr>
          <a:xfrm>
            <a:off x="9555208" y="2093542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6" name="Google Shape;10966;p109"/>
          <p:cNvCxnSpPr/>
          <p:nvPr/>
        </p:nvCxnSpPr>
        <p:spPr>
          <a:xfrm>
            <a:off x="10277521" y="2120529"/>
            <a:ext cx="0" cy="1019175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7" name="Google Shape;10967;p109"/>
          <p:cNvSpPr txBox="1"/>
          <p:nvPr/>
        </p:nvSpPr>
        <p:spPr>
          <a:xfrm>
            <a:off x="4732383" y="2285629"/>
            <a:ext cx="889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Request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ID</a:t>
            </a:r>
            <a:endParaRPr/>
          </a:p>
        </p:txBody>
      </p:sp>
      <p:sp>
        <p:nvSpPr>
          <p:cNvPr id="10968" name="Google Shape;10968;p109"/>
          <p:cNvSpPr txBox="1"/>
          <p:nvPr/>
        </p:nvSpPr>
        <p:spPr>
          <a:xfrm>
            <a:off x="5716633" y="2141167"/>
            <a:ext cx="720725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Status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(0-5)</a:t>
            </a:r>
            <a:endParaRPr/>
          </a:p>
        </p:txBody>
      </p:sp>
      <p:sp>
        <p:nvSpPr>
          <p:cNvPr id="10969" name="Google Shape;10969;p109"/>
          <p:cNvSpPr txBox="1"/>
          <p:nvPr/>
        </p:nvSpPr>
        <p:spPr>
          <a:xfrm>
            <a:off x="6648496" y="2288804"/>
            <a:ext cx="6477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Error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Index</a:t>
            </a:r>
            <a:endParaRPr/>
          </a:p>
        </p:txBody>
      </p:sp>
      <p:sp>
        <p:nvSpPr>
          <p:cNvPr id="10970" name="Google Shape;10970;p109"/>
          <p:cNvSpPr txBox="1"/>
          <p:nvPr/>
        </p:nvSpPr>
        <p:spPr>
          <a:xfrm>
            <a:off x="7423196" y="2423742"/>
            <a:ext cx="69056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1" name="Google Shape;10971;p109"/>
          <p:cNvSpPr txBox="1"/>
          <p:nvPr/>
        </p:nvSpPr>
        <p:spPr>
          <a:xfrm>
            <a:off x="8162971" y="2433267"/>
            <a:ext cx="6556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sp>
        <p:nvSpPr>
          <p:cNvPr id="10972" name="Google Shape;10972;p109"/>
          <p:cNvSpPr txBox="1"/>
          <p:nvPr/>
        </p:nvSpPr>
        <p:spPr>
          <a:xfrm>
            <a:off x="8858296" y="2433267"/>
            <a:ext cx="688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Name</a:t>
            </a:r>
            <a:endParaRPr/>
          </a:p>
        </p:txBody>
      </p:sp>
      <p:sp>
        <p:nvSpPr>
          <p:cNvPr id="10973" name="Google Shape;10973;p109"/>
          <p:cNvSpPr txBox="1"/>
          <p:nvPr/>
        </p:nvSpPr>
        <p:spPr>
          <a:xfrm>
            <a:off x="9591721" y="2442792"/>
            <a:ext cx="6540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 Narrow"/>
                <a:ea typeface="Arial Narrow"/>
                <a:cs typeface="Arial Narrow"/>
                <a:sym typeface="Arial Narrow"/>
              </a:rPr>
              <a:t>Value</a:t>
            </a:r>
            <a:endParaRPr/>
          </a:p>
        </p:txBody>
      </p:sp>
      <p:cxnSp>
        <p:nvCxnSpPr>
          <p:cNvPr id="10974" name="Google Shape;10974;p109"/>
          <p:cNvCxnSpPr/>
          <p:nvPr/>
        </p:nvCxnSpPr>
        <p:spPr>
          <a:xfrm>
            <a:off x="4705396" y="1896692"/>
            <a:ext cx="270986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0975" name="Google Shape;10975;p109"/>
          <p:cNvCxnSpPr/>
          <p:nvPr/>
        </p:nvCxnSpPr>
        <p:spPr>
          <a:xfrm>
            <a:off x="7407321" y="1912567"/>
            <a:ext cx="3309937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6" name="Google Shape;10976;p109"/>
          <p:cNvSpPr txBox="1"/>
          <p:nvPr/>
        </p:nvSpPr>
        <p:spPr>
          <a:xfrm>
            <a:off x="5275308" y="1704604"/>
            <a:ext cx="1711325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Get/set header</a:t>
            </a:r>
            <a:endParaRPr/>
          </a:p>
        </p:txBody>
      </p:sp>
      <p:sp>
        <p:nvSpPr>
          <p:cNvPr id="10977" name="Google Shape;10977;p109"/>
          <p:cNvSpPr txBox="1"/>
          <p:nvPr/>
        </p:nvSpPr>
        <p:spPr>
          <a:xfrm>
            <a:off x="7978821" y="1701429"/>
            <a:ext cx="2157412" cy="369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 to get/set</a:t>
            </a:r>
            <a:endParaRPr/>
          </a:p>
        </p:txBody>
      </p:sp>
      <p:cxnSp>
        <p:nvCxnSpPr>
          <p:cNvPr id="10978" name="Google Shape;10978;p109"/>
          <p:cNvCxnSpPr/>
          <p:nvPr/>
        </p:nvCxnSpPr>
        <p:spPr>
          <a:xfrm>
            <a:off x="3787821" y="5584681"/>
            <a:ext cx="6932612" cy="0"/>
          </a:xfrm>
          <a:prstGeom prst="straightConnector1">
            <a:avLst/>
          </a:prstGeom>
          <a:solidFill>
            <a:schemeClr val="accent1"/>
          </a:solidFill>
          <a:ln cap="flat" cmpd="sng" w="317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979" name="Google Shape;10979;p109"/>
          <p:cNvSpPr txBox="1"/>
          <p:nvPr/>
        </p:nvSpPr>
        <p:spPr>
          <a:xfrm>
            <a:off x="6515146" y="5397356"/>
            <a:ext cx="1398587" cy="36988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SNMP PDU</a:t>
            </a:r>
            <a:endParaRPr/>
          </a:p>
        </p:txBody>
      </p:sp>
      <p:sp>
        <p:nvSpPr>
          <p:cNvPr id="10980" name="Google Shape;10980;p109"/>
          <p:cNvSpPr txBox="1"/>
          <p:nvPr/>
        </p:nvSpPr>
        <p:spPr>
          <a:xfrm>
            <a:off x="1023256" y="2383971"/>
            <a:ext cx="24888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types 0-3</a:t>
            </a:r>
            <a:endParaRPr/>
          </a:p>
        </p:txBody>
      </p:sp>
      <p:grpSp>
        <p:nvGrpSpPr>
          <p:cNvPr id="10981" name="Google Shape;10981;p109"/>
          <p:cNvGrpSpPr/>
          <p:nvPr/>
        </p:nvGrpSpPr>
        <p:grpSpPr>
          <a:xfrm>
            <a:off x="1045026" y="3637230"/>
            <a:ext cx="9675407" cy="1472562"/>
            <a:chOff x="1045026" y="3637230"/>
            <a:chExt cx="9675407" cy="1472562"/>
          </a:xfrm>
        </p:grpSpPr>
        <p:sp>
          <p:nvSpPr>
            <p:cNvPr id="10982" name="Google Shape;10982;p109"/>
            <p:cNvSpPr/>
            <p:nvPr/>
          </p:nvSpPr>
          <p:spPr>
            <a:xfrm>
              <a:off x="3776708" y="4084267"/>
              <a:ext cx="6943725" cy="1004887"/>
            </a:xfrm>
            <a:prstGeom prst="rect">
              <a:avLst/>
            </a:prstGeom>
            <a:solidFill>
              <a:srgbClr val="2F549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83" name="Google Shape;10983;p109"/>
            <p:cNvCxnSpPr/>
            <p:nvPr/>
          </p:nvCxnSpPr>
          <p:spPr>
            <a:xfrm>
              <a:off x="4694283" y="409061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84" name="Google Shape;10984;p109"/>
            <p:cNvSpPr txBox="1"/>
            <p:nvPr/>
          </p:nvSpPr>
          <p:spPr>
            <a:xfrm>
              <a:off x="10223546" y="4444629"/>
              <a:ext cx="496887" cy="260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….</a:t>
              </a:r>
              <a:endParaRPr/>
            </a:p>
          </p:txBody>
        </p:sp>
        <p:sp>
          <p:nvSpPr>
            <p:cNvPr id="10985" name="Google Shape;10985;p109"/>
            <p:cNvSpPr txBox="1"/>
            <p:nvPr/>
          </p:nvSpPr>
          <p:spPr>
            <a:xfrm>
              <a:off x="3989433" y="4112842"/>
              <a:ext cx="584200" cy="9223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PDU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4</a:t>
              </a:r>
              <a:endParaRPr/>
            </a:p>
          </p:txBody>
        </p:sp>
        <p:cxnSp>
          <p:nvCxnSpPr>
            <p:cNvPr id="10986" name="Google Shape;10986;p109"/>
            <p:cNvCxnSpPr/>
            <p:nvPr/>
          </p:nvCxnSpPr>
          <p:spPr>
            <a:xfrm>
              <a:off x="5588046" y="40763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7" name="Google Shape;10987;p109"/>
            <p:cNvCxnSpPr/>
            <p:nvPr/>
          </p:nvCxnSpPr>
          <p:spPr>
            <a:xfrm>
              <a:off x="6307183" y="4074742"/>
              <a:ext cx="0" cy="1020762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8" name="Google Shape;10988;p109"/>
            <p:cNvCxnSpPr/>
            <p:nvPr/>
          </p:nvCxnSpPr>
          <p:spPr>
            <a:xfrm>
              <a:off x="7200946" y="4084267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9" name="Google Shape;10989;p109"/>
            <p:cNvCxnSpPr/>
            <p:nvPr/>
          </p:nvCxnSpPr>
          <p:spPr>
            <a:xfrm>
              <a:off x="8053433" y="408267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0" name="Google Shape;10990;p109"/>
            <p:cNvCxnSpPr/>
            <p:nvPr/>
          </p:nvCxnSpPr>
          <p:spPr>
            <a:xfrm>
              <a:off x="8886871" y="4074742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1" name="Google Shape;10991;p109"/>
            <p:cNvCxnSpPr/>
            <p:nvPr/>
          </p:nvCxnSpPr>
          <p:spPr>
            <a:xfrm>
              <a:off x="9596483" y="4060454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2" name="Google Shape;10992;p109"/>
            <p:cNvCxnSpPr/>
            <p:nvPr/>
          </p:nvCxnSpPr>
          <p:spPr>
            <a:xfrm>
              <a:off x="10247358" y="4089029"/>
              <a:ext cx="0" cy="1019175"/>
            </a:xfrm>
            <a:prstGeom prst="straightConnector1">
              <a:avLst/>
            </a:prstGeom>
            <a:noFill/>
            <a:ln cap="flat" cmpd="sng" w="254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93" name="Google Shape;10993;p109"/>
            <p:cNvSpPr txBox="1"/>
            <p:nvPr/>
          </p:nvSpPr>
          <p:spPr>
            <a:xfrm>
              <a:off x="4662533" y="4395417"/>
              <a:ext cx="954088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Enterprise</a:t>
              </a:r>
              <a:endParaRPr/>
            </a:p>
          </p:txBody>
        </p:sp>
        <p:sp>
          <p:nvSpPr>
            <p:cNvPr id="10994" name="Google Shape;10994;p109"/>
            <p:cNvSpPr txBox="1"/>
            <p:nvPr/>
          </p:nvSpPr>
          <p:spPr>
            <a:xfrm>
              <a:off x="5622971" y="4270004"/>
              <a:ext cx="679450" cy="646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Agent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Addr</a:t>
              </a:r>
              <a:endParaRPr/>
            </a:p>
          </p:txBody>
        </p:sp>
        <p:sp>
          <p:nvSpPr>
            <p:cNvPr id="10995" name="Google Shape;10995;p109"/>
            <p:cNvSpPr txBox="1"/>
            <p:nvPr/>
          </p:nvSpPr>
          <p:spPr>
            <a:xfrm>
              <a:off x="6437358" y="4133479"/>
              <a:ext cx="595313" cy="922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Trap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Type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(0-7)</a:t>
              </a:r>
              <a:endParaRPr/>
            </a:p>
          </p:txBody>
        </p:sp>
        <p:sp>
          <p:nvSpPr>
            <p:cNvPr id="10996" name="Google Shape;10996;p109"/>
            <p:cNvSpPr txBox="1"/>
            <p:nvPr/>
          </p:nvSpPr>
          <p:spPr>
            <a:xfrm>
              <a:off x="7204121" y="4274767"/>
              <a:ext cx="847725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Specific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code</a:t>
              </a:r>
              <a:endParaRPr/>
            </a:p>
          </p:txBody>
        </p:sp>
        <p:sp>
          <p:nvSpPr>
            <p:cNvPr id="10997" name="Google Shape;10997;p109"/>
            <p:cNvSpPr txBox="1"/>
            <p:nvPr/>
          </p:nvSpPr>
          <p:spPr>
            <a:xfrm>
              <a:off x="8123283" y="4284292"/>
              <a:ext cx="700088" cy="6461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Time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stamp</a:t>
              </a:r>
              <a:endParaRPr/>
            </a:p>
          </p:txBody>
        </p:sp>
        <p:sp>
          <p:nvSpPr>
            <p:cNvPr id="10998" name="Google Shape;10998;p109"/>
            <p:cNvSpPr txBox="1"/>
            <p:nvPr/>
          </p:nvSpPr>
          <p:spPr>
            <a:xfrm>
              <a:off x="8905921" y="4408117"/>
              <a:ext cx="688975" cy="3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Name</a:t>
              </a:r>
              <a:endParaRPr/>
            </a:p>
          </p:txBody>
        </p:sp>
        <p:sp>
          <p:nvSpPr>
            <p:cNvPr id="10999" name="Google Shape;10999;p109"/>
            <p:cNvSpPr txBox="1"/>
            <p:nvPr/>
          </p:nvSpPr>
          <p:spPr>
            <a:xfrm>
              <a:off x="9586958" y="4417642"/>
              <a:ext cx="655638" cy="369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Value</a:t>
              </a:r>
              <a:endParaRPr/>
            </a:p>
          </p:txBody>
        </p:sp>
        <p:cxnSp>
          <p:nvCxnSpPr>
            <p:cNvPr id="11000" name="Google Shape;11000;p109"/>
            <p:cNvCxnSpPr/>
            <p:nvPr/>
          </p:nvCxnSpPr>
          <p:spPr>
            <a:xfrm>
              <a:off x="4710158" y="3840430"/>
              <a:ext cx="4170363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001" name="Google Shape;11001;p109"/>
            <p:cNvCxnSpPr/>
            <p:nvPr/>
          </p:nvCxnSpPr>
          <p:spPr>
            <a:xfrm>
              <a:off x="8890046" y="3837255"/>
              <a:ext cx="1817687" cy="0"/>
            </a:xfrm>
            <a:prstGeom prst="straightConnector1">
              <a:avLst/>
            </a:prstGeom>
            <a:solidFill>
              <a:schemeClr val="accent1"/>
            </a:solidFill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11002" name="Google Shape;11002;p109"/>
            <p:cNvSpPr txBox="1"/>
            <p:nvPr/>
          </p:nvSpPr>
          <p:spPr>
            <a:xfrm>
              <a:off x="6119858" y="3648342"/>
              <a:ext cx="1433513" cy="368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header</a:t>
              </a:r>
              <a:endParaRPr/>
            </a:p>
          </p:txBody>
        </p:sp>
        <p:sp>
          <p:nvSpPr>
            <p:cNvPr id="11003" name="Google Shape;11003;p109"/>
            <p:cNvSpPr txBox="1"/>
            <p:nvPr/>
          </p:nvSpPr>
          <p:spPr>
            <a:xfrm>
              <a:off x="9156746" y="3637230"/>
              <a:ext cx="1087437" cy="369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Trap info</a:t>
              </a:r>
              <a:endParaRPr/>
            </a:p>
          </p:txBody>
        </p:sp>
        <p:sp>
          <p:nvSpPr>
            <p:cNvPr id="11004" name="Google Shape;11004;p109"/>
            <p:cNvSpPr txBox="1"/>
            <p:nvPr/>
          </p:nvSpPr>
          <p:spPr>
            <a:xfrm>
              <a:off x="1045026" y="4376056"/>
              <a:ext cx="2118529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message type 4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08" name="Shape 1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9" name="Google Shape;11009;p110"/>
          <p:cNvSpPr txBox="1"/>
          <p:nvPr>
            <p:ph idx="1" type="body"/>
          </p:nvPr>
        </p:nvSpPr>
        <p:spPr>
          <a:xfrm>
            <a:off x="841663" y="1474646"/>
            <a:ext cx="10768445" cy="164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managed device’s operational (and some configuration) data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gathered into device </a:t>
            </a:r>
            <a:r>
              <a:rPr lang="en-US">
                <a:solidFill>
                  <a:srgbClr val="C00000"/>
                </a:solidFill>
              </a:rPr>
              <a:t>MIB module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400 MIB modules defined in RFC’s; many more vendor-specific MIBs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10" name="Google Shape;11010;p1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SNMP: Management Information Base (MIB)</a:t>
            </a:r>
            <a:endParaRPr/>
          </a:p>
        </p:txBody>
      </p:sp>
      <p:sp>
        <p:nvSpPr>
          <p:cNvPr id="11011" name="Google Shape;11011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12" name="Google Shape;11012;p110"/>
          <p:cNvGrpSpPr/>
          <p:nvPr/>
        </p:nvGrpSpPr>
        <p:grpSpPr>
          <a:xfrm>
            <a:off x="1565565" y="4167342"/>
            <a:ext cx="10030690" cy="2178050"/>
            <a:chOff x="1440874" y="1521114"/>
            <a:chExt cx="10030690" cy="2178050"/>
          </a:xfrm>
        </p:grpSpPr>
        <p:sp>
          <p:nvSpPr>
            <p:cNvPr id="11013" name="Google Shape;11013;p110"/>
            <p:cNvSpPr/>
            <p:nvPr/>
          </p:nvSpPr>
          <p:spPr>
            <a:xfrm>
              <a:off x="1440874" y="1523996"/>
              <a:ext cx="9919854" cy="2175168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4" name="Google Shape;11014;p110"/>
            <p:cNvSpPr txBox="1"/>
            <p:nvPr/>
          </p:nvSpPr>
          <p:spPr>
            <a:xfrm>
              <a:off x="1471180" y="1521114"/>
              <a:ext cx="10000384" cy="2169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Object ID           Name                      Type                  Comments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1.3.6.1.2.1.7.1     UDPInDatagrams     32-bit counter     total # datagrams delivered 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1.3.6.1.2.1.7.2    UDPNoPorts              32-bit counter     # undeliverable datagrams (no application at port)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1.3.6.1.2.1.7.3    UDInErrors                 32-bit counter     # undeliverable datagrams (all other reasons)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1.3.6.1.2.1.7.4    UDPOutDatagrams   32-bit counter    total  # datagrams sent</a:t>
              </a:r>
              <a:endParaRPr/>
            </a:p>
            <a:p>
              <a:pPr indent="0" lvl="0" marL="0" marR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1.3.6.1.2.1.7.5    udpTable	              SEQUENCE          one entry for each port currently in use</a:t>
              </a:r>
              <a:endParaRPr/>
            </a:p>
          </p:txBody>
        </p:sp>
      </p:grpSp>
      <p:grpSp>
        <p:nvGrpSpPr>
          <p:cNvPr id="11015" name="Google Shape;11015;p110"/>
          <p:cNvGrpSpPr/>
          <p:nvPr/>
        </p:nvGrpSpPr>
        <p:grpSpPr>
          <a:xfrm>
            <a:off x="10188122" y="1460594"/>
            <a:ext cx="1615044" cy="1104405"/>
            <a:chOff x="6599795" y="1917794"/>
            <a:chExt cx="1615044" cy="1104405"/>
          </a:xfrm>
        </p:grpSpPr>
        <p:sp>
          <p:nvSpPr>
            <p:cNvPr id="11016" name="Google Shape;11016;p110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7" name="Google Shape;11017;p110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8" name="Google Shape;11018;p110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19" name="Google Shape;11019;p110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20" name="Google Shape;11020;p110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1" name="Google Shape;11021;p110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sp>
        <p:nvSpPr>
          <p:cNvPr id="11022" name="Google Shape;11022;p110"/>
          <p:cNvSpPr txBox="1"/>
          <p:nvPr/>
        </p:nvSpPr>
        <p:spPr>
          <a:xfrm>
            <a:off x="831273" y="2998651"/>
            <a:ext cx="10768445" cy="1005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Structure of Management Information (SMI):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definition language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MIB variables for UDP protocol: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26" name="Shape 1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7" name="Google Shape;11027;p111"/>
          <p:cNvSpPr txBox="1"/>
          <p:nvPr>
            <p:ph idx="1" type="body"/>
          </p:nvPr>
        </p:nvSpPr>
        <p:spPr>
          <a:xfrm>
            <a:off x="800099" y="1585481"/>
            <a:ext cx="10768445" cy="4746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solidFill>
                  <a:srgbClr val="C00000"/>
                </a:solidFill>
              </a:rPr>
              <a:t>goal</a:t>
            </a:r>
            <a:r>
              <a:rPr lang="en-US">
                <a:solidFill>
                  <a:srgbClr val="C00000"/>
                </a:solidFill>
              </a:rPr>
              <a:t>: </a:t>
            </a:r>
            <a:r>
              <a:rPr lang="en-US"/>
              <a:t>actively manage/</a:t>
            </a:r>
            <a:r>
              <a:rPr lang="en-US">
                <a:solidFill>
                  <a:srgbClr val="0000A8"/>
                </a:solidFill>
              </a:rPr>
              <a:t>configure</a:t>
            </a:r>
            <a:r>
              <a:rPr lang="en-US"/>
              <a:t> devices network-wide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operates between managing server and managed network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actions: retrieve, set, modify, activate configurations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rgbClr val="0000A8"/>
                </a:solidFill>
              </a:rPr>
              <a:t>atomic-commit </a:t>
            </a:r>
            <a:r>
              <a:rPr lang="en-US" sz="2800"/>
              <a:t>actions over multiple devices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query operational data and statistics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subscribe to notifications from devices</a:t>
            </a:r>
            <a:endParaRPr/>
          </a:p>
          <a:p>
            <a:pPr indent="-284163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remote procedure call (RPC) paradigm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NETCONF protocol messages encoded in XML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exchanged over secure, reliable transport </a:t>
            </a:r>
            <a:r>
              <a:rPr lang="en-US" sz="2000"/>
              <a:t>(e.g., TLS)</a:t>
            </a:r>
            <a:r>
              <a:rPr lang="en-US"/>
              <a:t> protocol</a:t>
            </a:r>
            <a:endParaRPr/>
          </a:p>
          <a:p>
            <a:pPr indent="-793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28" name="Google Shape;11028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overview</a:t>
            </a:r>
            <a:endParaRPr/>
          </a:p>
        </p:txBody>
      </p:sp>
      <p:sp>
        <p:nvSpPr>
          <p:cNvPr id="11029" name="Google Shape;11029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2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033" name="Shape 1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4" name="Google Shape;11034;p1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NETCONF initialization, exchange, close</a:t>
            </a:r>
            <a:endParaRPr/>
          </a:p>
        </p:txBody>
      </p:sp>
      <p:sp>
        <p:nvSpPr>
          <p:cNvPr id="11035" name="Google Shape;11035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036" name="Google Shape;11036;p112"/>
          <p:cNvGrpSpPr/>
          <p:nvPr/>
        </p:nvGrpSpPr>
        <p:grpSpPr>
          <a:xfrm>
            <a:off x="4137461" y="1898073"/>
            <a:ext cx="5062336" cy="629033"/>
            <a:chOff x="4137461" y="1898073"/>
            <a:chExt cx="5062336" cy="629033"/>
          </a:xfrm>
        </p:grpSpPr>
        <p:cxnSp>
          <p:nvCxnSpPr>
            <p:cNvPr id="11037" name="Google Shape;11037;p112"/>
            <p:cNvCxnSpPr/>
            <p:nvPr/>
          </p:nvCxnSpPr>
          <p:spPr>
            <a:xfrm>
              <a:off x="4137461" y="2527106"/>
              <a:ext cx="5062336" cy="0"/>
            </a:xfrm>
            <a:prstGeom prst="straightConnector1">
              <a:avLst/>
            </a:prstGeom>
            <a:noFill/>
            <a:ln cap="flat" cmpd="sng" w="6667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38" name="Google Shape;11038;p112"/>
            <p:cNvSpPr txBox="1"/>
            <p:nvPr/>
          </p:nvSpPr>
          <p:spPr>
            <a:xfrm>
              <a:off x="5238531" y="1898073"/>
              <a:ext cx="2670015" cy="590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initiation,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capabilities exchange: &lt;hello&gt;</a:t>
              </a:r>
              <a:endParaRPr/>
            </a:p>
          </p:txBody>
        </p:sp>
      </p:grpSp>
      <p:grpSp>
        <p:nvGrpSpPr>
          <p:cNvPr id="11039" name="Google Shape;11039;p112"/>
          <p:cNvGrpSpPr/>
          <p:nvPr/>
        </p:nvGrpSpPr>
        <p:grpSpPr>
          <a:xfrm>
            <a:off x="4137461" y="6003287"/>
            <a:ext cx="5062336" cy="387686"/>
            <a:chOff x="1633716" y="5597854"/>
            <a:chExt cx="3310645" cy="294937"/>
          </a:xfrm>
        </p:grpSpPr>
        <p:cxnSp>
          <p:nvCxnSpPr>
            <p:cNvPr id="11040" name="Google Shape;11040;p112"/>
            <p:cNvCxnSpPr/>
            <p:nvPr/>
          </p:nvCxnSpPr>
          <p:spPr>
            <a:xfrm>
              <a:off x="1633716" y="5892791"/>
              <a:ext cx="3310645" cy="0"/>
            </a:xfrm>
            <a:prstGeom prst="straightConnector1">
              <a:avLst/>
            </a:prstGeom>
            <a:noFill/>
            <a:ln cap="flat" cmpd="sng" w="34925">
              <a:solidFill>
                <a:srgbClr val="00009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1041" name="Google Shape;11041;p112"/>
            <p:cNvSpPr txBox="1"/>
            <p:nvPr/>
          </p:nvSpPr>
          <p:spPr>
            <a:xfrm>
              <a:off x="2303414" y="5597854"/>
              <a:ext cx="1782380" cy="262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Session close:  &lt;close-session&gt;</a:t>
              </a:r>
              <a:endParaRPr/>
            </a:p>
          </p:txBody>
        </p:sp>
      </p:grpSp>
      <p:grpSp>
        <p:nvGrpSpPr>
          <p:cNvPr id="11042" name="Google Shape;11042;p112"/>
          <p:cNvGrpSpPr/>
          <p:nvPr/>
        </p:nvGrpSpPr>
        <p:grpSpPr>
          <a:xfrm>
            <a:off x="4213036" y="2623837"/>
            <a:ext cx="5124928" cy="3405867"/>
            <a:chOff x="4213036" y="2623837"/>
            <a:chExt cx="5124928" cy="3405867"/>
          </a:xfrm>
        </p:grpSpPr>
        <p:grpSp>
          <p:nvGrpSpPr>
            <p:cNvPr id="11043" name="Google Shape;11043;p112"/>
            <p:cNvGrpSpPr/>
            <p:nvPr/>
          </p:nvGrpSpPr>
          <p:grpSpPr>
            <a:xfrm>
              <a:off x="4213036" y="2786640"/>
              <a:ext cx="5063356" cy="675820"/>
              <a:chOff x="1700781" y="3931037"/>
              <a:chExt cx="3311312" cy="599379"/>
            </a:xfrm>
          </p:grpSpPr>
          <p:cxnSp>
            <p:nvCxnSpPr>
              <p:cNvPr id="11044" name="Google Shape;1104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5" name="Google Shape;1104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46" name="Google Shape;1104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47" name="Google Shape;1104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48" name="Google Shape;11048;p112"/>
            <p:cNvGrpSpPr/>
            <p:nvPr/>
          </p:nvGrpSpPr>
          <p:grpSpPr>
            <a:xfrm>
              <a:off x="4230334" y="3746285"/>
              <a:ext cx="5063356" cy="675820"/>
              <a:chOff x="1700781" y="3931037"/>
              <a:chExt cx="3311312" cy="599379"/>
            </a:xfrm>
          </p:grpSpPr>
          <p:cxnSp>
            <p:nvCxnSpPr>
              <p:cNvPr id="11049" name="Google Shape;11049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0" name="Google Shape;11050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1" name="Google Shape;11051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2" name="Google Shape;11052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3" name="Google Shape;11053;p112"/>
            <p:cNvGrpSpPr/>
            <p:nvPr/>
          </p:nvGrpSpPr>
          <p:grpSpPr>
            <a:xfrm>
              <a:off x="4274608" y="5100113"/>
              <a:ext cx="5063356" cy="675820"/>
              <a:chOff x="1700781" y="3931037"/>
              <a:chExt cx="3311312" cy="599379"/>
            </a:xfrm>
          </p:grpSpPr>
          <p:cxnSp>
            <p:nvCxnSpPr>
              <p:cNvPr id="11054" name="Google Shape;11054;p112"/>
              <p:cNvCxnSpPr/>
              <p:nvPr/>
            </p:nvCxnSpPr>
            <p:spPr>
              <a:xfrm>
                <a:off x="1718381" y="40151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5" name="Google Shape;11055;p112"/>
              <p:cNvSpPr txBox="1"/>
              <p:nvPr/>
            </p:nvSpPr>
            <p:spPr>
              <a:xfrm>
                <a:off x="2979169" y="3931037"/>
                <a:ext cx="410469" cy="305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&lt;rpc&gt;</a:t>
                </a:r>
                <a:endParaRPr/>
              </a:p>
            </p:txBody>
          </p:sp>
          <p:cxnSp>
            <p:nvCxnSpPr>
              <p:cNvPr id="11056" name="Google Shape;11056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57" name="Google Shape;11057;p112"/>
              <p:cNvSpPr txBox="1"/>
              <p:nvPr/>
            </p:nvSpPr>
            <p:spPr>
              <a:xfrm>
                <a:off x="2924153" y="4224696"/>
                <a:ext cx="729772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&lt;rpc-reply&gt;</a:t>
                </a:r>
                <a:endParaRPr/>
              </a:p>
            </p:txBody>
          </p:sp>
        </p:grpSp>
        <p:grpSp>
          <p:nvGrpSpPr>
            <p:cNvPr id="11058" name="Google Shape;11058;p112"/>
            <p:cNvGrpSpPr/>
            <p:nvPr/>
          </p:nvGrpSpPr>
          <p:grpSpPr>
            <a:xfrm>
              <a:off x="4257309" y="4633269"/>
              <a:ext cx="5036443" cy="344709"/>
              <a:chOff x="1700781" y="4224696"/>
              <a:chExt cx="3293712" cy="305720"/>
            </a:xfrm>
          </p:grpSpPr>
          <p:cxnSp>
            <p:nvCxnSpPr>
              <p:cNvPr id="11059" name="Google Shape;11059;p112"/>
              <p:cNvCxnSpPr/>
              <p:nvPr/>
            </p:nvCxnSpPr>
            <p:spPr>
              <a:xfrm flipH="1">
                <a:off x="1700781" y="4252510"/>
                <a:ext cx="3293712" cy="167310"/>
              </a:xfrm>
              <a:prstGeom prst="straightConnector1">
                <a:avLst/>
              </a:prstGeom>
              <a:noFill/>
              <a:ln cap="flat" cmpd="sng" w="34925">
                <a:solidFill>
                  <a:srgbClr val="00009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1060" name="Google Shape;11060;p112"/>
              <p:cNvSpPr txBox="1"/>
              <p:nvPr/>
            </p:nvSpPr>
            <p:spPr>
              <a:xfrm>
                <a:off x="2855208" y="4224696"/>
                <a:ext cx="867660" cy="30572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&lt;notification&gt;</a:t>
                </a:r>
                <a:endParaRPr/>
              </a:p>
            </p:txBody>
          </p:sp>
        </p:grpSp>
        <p:grpSp>
          <p:nvGrpSpPr>
            <p:cNvPr id="11061" name="Google Shape;11061;p112"/>
            <p:cNvGrpSpPr/>
            <p:nvPr/>
          </p:nvGrpSpPr>
          <p:grpSpPr>
            <a:xfrm>
              <a:off x="8653189" y="2623837"/>
              <a:ext cx="329183" cy="3405867"/>
              <a:chOff x="4586893" y="3609012"/>
              <a:chExt cx="215278" cy="2591059"/>
            </a:xfrm>
          </p:grpSpPr>
          <p:sp>
            <p:nvSpPr>
              <p:cNvPr id="11062" name="Google Shape;11062;p112"/>
              <p:cNvSpPr txBox="1"/>
              <p:nvPr/>
            </p:nvSpPr>
            <p:spPr>
              <a:xfrm rot="5400000">
                <a:off x="4556147" y="4240444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3" name="Google Shape;11063;p112"/>
              <p:cNvSpPr txBox="1"/>
              <p:nvPr/>
            </p:nvSpPr>
            <p:spPr>
              <a:xfrm rot="5400000">
                <a:off x="4555592" y="4884440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4" name="Google Shape;11064;p112"/>
              <p:cNvSpPr txBox="1"/>
              <p:nvPr/>
            </p:nvSpPr>
            <p:spPr>
              <a:xfrm rot="5400000">
                <a:off x="4558839" y="5349258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5" name="Google Shape;11065;p112"/>
              <p:cNvSpPr txBox="1"/>
              <p:nvPr/>
            </p:nvSpPr>
            <p:spPr>
              <a:xfrm rot="5400000">
                <a:off x="4558839" y="5956739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6" name="Google Shape;11066;p112"/>
              <p:cNvSpPr txBox="1"/>
              <p:nvPr/>
            </p:nvSpPr>
            <p:spPr>
              <a:xfrm rot="5400000">
                <a:off x="4557804" y="3640313"/>
                <a:ext cx="274633" cy="2120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7" name="Google Shape;11067;p112"/>
            <p:cNvSpPr txBox="1"/>
            <p:nvPr/>
          </p:nvSpPr>
          <p:spPr>
            <a:xfrm rot="5400000">
              <a:off x="4582802" y="4403144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8" name="Google Shape;11068;p112"/>
            <p:cNvSpPr txBox="1"/>
            <p:nvPr/>
          </p:nvSpPr>
          <p:spPr>
            <a:xfrm rot="5400000">
              <a:off x="4581953" y="48677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9" name="Google Shape;11069;p112"/>
            <p:cNvSpPr txBox="1"/>
            <p:nvPr/>
          </p:nvSpPr>
          <p:spPr>
            <a:xfrm rot="5400000">
              <a:off x="4586918" y="5682016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0" name="Google Shape;11070;p112"/>
            <p:cNvSpPr txBox="1"/>
            <p:nvPr/>
          </p:nvSpPr>
          <p:spPr>
            <a:xfrm rot="5400000">
              <a:off x="4585335" y="3435661"/>
              <a:ext cx="360997" cy="324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…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1" name="Google Shape;11071;p112"/>
          <p:cNvGrpSpPr/>
          <p:nvPr/>
        </p:nvGrpSpPr>
        <p:grpSpPr>
          <a:xfrm>
            <a:off x="1543246" y="1680347"/>
            <a:ext cx="2436042" cy="1273223"/>
            <a:chOff x="2739071" y="2226350"/>
            <a:chExt cx="2436042" cy="1273223"/>
          </a:xfrm>
        </p:grpSpPr>
        <p:sp>
          <p:nvSpPr>
            <p:cNvPr id="11072" name="Google Shape;11072;p112"/>
            <p:cNvSpPr/>
            <p:nvPr/>
          </p:nvSpPr>
          <p:spPr>
            <a:xfrm flipH="1">
              <a:off x="3389091" y="2670159"/>
              <a:ext cx="1786022" cy="829414"/>
            </a:xfrm>
            <a:custGeom>
              <a:rect b="b" l="l" r="r" t="t"/>
              <a:pathLst>
                <a:path extrusionOk="0" h="829414" w="1786022">
                  <a:moveTo>
                    <a:pt x="81411" y="393603"/>
                  </a:moveTo>
                  <a:cubicBezTo>
                    <a:pt x="307042" y="310476"/>
                    <a:pt x="265550" y="210465"/>
                    <a:pt x="429371" y="0"/>
                  </a:cubicBezTo>
                  <a:cubicBezTo>
                    <a:pt x="716335" y="244471"/>
                    <a:pt x="915164" y="290636"/>
                    <a:pt x="1786022" y="325786"/>
                  </a:cubicBezTo>
                  <a:cubicBezTo>
                    <a:pt x="561099" y="527000"/>
                    <a:pt x="601683" y="583990"/>
                    <a:pt x="0" y="829414"/>
                  </a:cubicBezTo>
                  <a:lnTo>
                    <a:pt x="81411" y="393603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55686"/>
                  </a:srgbClr>
                </a:gs>
                <a:gs pos="100000">
                  <a:srgbClr val="D8D8D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3" name="Google Shape;11073;p112"/>
            <p:cNvSpPr/>
            <p:nvPr/>
          </p:nvSpPr>
          <p:spPr>
            <a:xfrm>
              <a:off x="2739071" y="2226350"/>
              <a:ext cx="2047875" cy="7718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4" name="Google Shape;11074;p112"/>
            <p:cNvSpPr txBox="1"/>
            <p:nvPr/>
          </p:nvSpPr>
          <p:spPr>
            <a:xfrm>
              <a:off x="2891471" y="2312106"/>
              <a:ext cx="1781175" cy="565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075" name="Google Shape;11075;p112"/>
            <p:cNvGrpSpPr/>
            <p:nvPr/>
          </p:nvGrpSpPr>
          <p:grpSpPr>
            <a:xfrm>
              <a:off x="2936918" y="2788771"/>
              <a:ext cx="820613" cy="395103"/>
              <a:chOff x="7338951" y="1864426"/>
              <a:chExt cx="427511" cy="344384"/>
            </a:xfrm>
          </p:grpSpPr>
          <p:sp>
            <p:nvSpPr>
              <p:cNvPr id="11076" name="Google Shape;11076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7" name="Google Shape;11077;p112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78" name="Google Shape;11078;p112"/>
          <p:cNvGrpSpPr/>
          <p:nvPr/>
        </p:nvGrpSpPr>
        <p:grpSpPr>
          <a:xfrm>
            <a:off x="9675504" y="1612994"/>
            <a:ext cx="1615044" cy="1104405"/>
            <a:chOff x="6599795" y="1917794"/>
            <a:chExt cx="1615044" cy="1104405"/>
          </a:xfrm>
        </p:grpSpPr>
        <p:sp>
          <p:nvSpPr>
            <p:cNvPr id="11079" name="Google Shape;11079;p112"/>
            <p:cNvSpPr/>
            <p:nvPr/>
          </p:nvSpPr>
          <p:spPr>
            <a:xfrm>
              <a:off x="6599795" y="2131549"/>
              <a:ext cx="1615044" cy="890650"/>
            </a:xfrm>
            <a:custGeom>
              <a:rect b="b" l="l" r="r" t="t"/>
              <a:pathLst>
                <a:path extrusionOk="0" h="890650" w="1615044">
                  <a:moveTo>
                    <a:pt x="0" y="641268"/>
                  </a:moveTo>
                  <a:cubicBezTo>
                    <a:pt x="320633" y="380011"/>
                    <a:pt x="308759" y="285008"/>
                    <a:pt x="285007" y="0"/>
                  </a:cubicBezTo>
                  <a:lnTo>
                    <a:pt x="1615044" y="83128"/>
                  </a:lnTo>
                  <a:cubicBezTo>
                    <a:pt x="823355" y="399803"/>
                    <a:pt x="625433" y="502723"/>
                    <a:pt x="166254" y="890650"/>
                  </a:cubicBezTo>
                  <a:lnTo>
                    <a:pt x="0" y="641268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71764"/>
                  </a:srgbClr>
                </a:gs>
                <a:gs pos="99000">
                  <a:srgbClr val="F2F2F2"/>
                </a:gs>
                <a:gs pos="100000">
                  <a:srgbClr val="F2F2F2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0" name="Google Shape;11080;p112"/>
            <p:cNvSpPr/>
            <p:nvPr/>
          </p:nvSpPr>
          <p:spPr>
            <a:xfrm>
              <a:off x="6893234" y="1917794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1" name="Google Shape;11081;p112"/>
            <p:cNvSpPr txBox="1"/>
            <p:nvPr/>
          </p:nvSpPr>
          <p:spPr>
            <a:xfrm>
              <a:off x="6925808" y="2038751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082" name="Google Shape;11082;p112"/>
            <p:cNvGrpSpPr/>
            <p:nvPr/>
          </p:nvGrpSpPr>
          <p:grpSpPr>
            <a:xfrm>
              <a:off x="7524624" y="2012797"/>
              <a:ext cx="533735" cy="344384"/>
              <a:chOff x="7290003" y="1864426"/>
              <a:chExt cx="533735" cy="344384"/>
            </a:xfrm>
          </p:grpSpPr>
          <p:sp>
            <p:nvSpPr>
              <p:cNvPr id="11083" name="Google Shape;11083;p112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4" name="Google Shape;11084;p112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085" name="Google Shape;11085;p112"/>
          <p:cNvGrpSpPr/>
          <p:nvPr/>
        </p:nvGrpSpPr>
        <p:grpSpPr>
          <a:xfrm>
            <a:off x="3574477" y="2299853"/>
            <a:ext cx="440889" cy="845230"/>
            <a:chOff x="4140" y="429"/>
            <a:chExt cx="1425" cy="2396"/>
          </a:xfrm>
        </p:grpSpPr>
        <p:sp>
          <p:nvSpPr>
            <p:cNvPr id="11086" name="Google Shape;11086;p1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7" name="Google Shape;11087;p112"/>
            <p:cNvSpPr/>
            <p:nvPr/>
          </p:nvSpPr>
          <p:spPr>
            <a:xfrm>
              <a:off x="4210" y="429"/>
              <a:ext cx="1046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8" name="Google Shape;11088;p1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9" name="Google Shape;11089;p1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0" name="Google Shape;11090;p112"/>
            <p:cNvSpPr/>
            <p:nvPr/>
          </p:nvSpPr>
          <p:spPr>
            <a:xfrm>
              <a:off x="4210" y="690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1" name="Google Shape;11091;p112"/>
            <p:cNvGrpSpPr/>
            <p:nvPr/>
          </p:nvGrpSpPr>
          <p:grpSpPr>
            <a:xfrm>
              <a:off x="4748" y="666"/>
              <a:ext cx="578" cy="150"/>
              <a:chOff x="613" y="2566"/>
              <a:chExt cx="721" cy="144"/>
            </a:xfrm>
          </p:grpSpPr>
          <p:sp>
            <p:nvSpPr>
              <p:cNvPr id="11092" name="Google Shape;11092;p112"/>
              <p:cNvSpPr/>
              <p:nvPr/>
            </p:nvSpPr>
            <p:spPr>
              <a:xfrm>
                <a:off x="613" y="2566"/>
                <a:ext cx="721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3" name="Google Shape;11093;p112"/>
              <p:cNvSpPr/>
              <p:nvPr/>
            </p:nvSpPr>
            <p:spPr>
              <a:xfrm>
                <a:off x="625" y="2581"/>
                <a:ext cx="696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4" name="Google Shape;11094;p112"/>
            <p:cNvSpPr/>
            <p:nvPr/>
          </p:nvSpPr>
          <p:spPr>
            <a:xfrm>
              <a:off x="4220" y="1022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95" name="Google Shape;11095;p112"/>
            <p:cNvGrpSpPr/>
            <p:nvPr/>
          </p:nvGrpSpPr>
          <p:grpSpPr>
            <a:xfrm>
              <a:off x="4748" y="990"/>
              <a:ext cx="578" cy="134"/>
              <a:chOff x="615" y="2564"/>
              <a:chExt cx="721" cy="139"/>
            </a:xfrm>
          </p:grpSpPr>
          <p:sp>
            <p:nvSpPr>
              <p:cNvPr id="11096" name="Google Shape;11096;p112"/>
              <p:cNvSpPr/>
              <p:nvPr/>
            </p:nvSpPr>
            <p:spPr>
              <a:xfrm>
                <a:off x="615" y="2564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7" name="Google Shape;11097;p112"/>
              <p:cNvSpPr/>
              <p:nvPr/>
            </p:nvSpPr>
            <p:spPr>
              <a:xfrm>
                <a:off x="628" y="2581"/>
                <a:ext cx="696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098" name="Google Shape;11098;p112"/>
            <p:cNvSpPr/>
            <p:nvPr/>
          </p:nvSpPr>
          <p:spPr>
            <a:xfrm>
              <a:off x="4220" y="1354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9" name="Google Shape;11099;p112"/>
            <p:cNvSpPr/>
            <p:nvPr/>
          </p:nvSpPr>
          <p:spPr>
            <a:xfrm>
              <a:off x="4230" y="1655"/>
              <a:ext cx="598" cy="47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0" name="Google Shape;11100;p112"/>
            <p:cNvGrpSpPr/>
            <p:nvPr/>
          </p:nvGrpSpPr>
          <p:grpSpPr>
            <a:xfrm>
              <a:off x="4738" y="1647"/>
              <a:ext cx="578" cy="135"/>
              <a:chOff x="618" y="2586"/>
              <a:chExt cx="720" cy="124"/>
            </a:xfrm>
          </p:grpSpPr>
          <p:sp>
            <p:nvSpPr>
              <p:cNvPr id="11101" name="Google Shape;11101;p112"/>
              <p:cNvSpPr/>
              <p:nvPr/>
            </p:nvSpPr>
            <p:spPr>
              <a:xfrm>
                <a:off x="618" y="2586"/>
                <a:ext cx="720" cy="12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2" name="Google Shape;11102;p112"/>
              <p:cNvSpPr/>
              <p:nvPr/>
            </p:nvSpPr>
            <p:spPr>
              <a:xfrm>
                <a:off x="630" y="2586"/>
                <a:ext cx="695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3" name="Google Shape;11103;p1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04" name="Google Shape;11104;p112"/>
            <p:cNvGrpSpPr/>
            <p:nvPr/>
          </p:nvGrpSpPr>
          <p:grpSpPr>
            <a:xfrm>
              <a:off x="4738" y="1330"/>
              <a:ext cx="588" cy="134"/>
              <a:chOff x="613" y="2571"/>
              <a:chExt cx="732" cy="134"/>
            </a:xfrm>
          </p:grpSpPr>
          <p:sp>
            <p:nvSpPr>
              <p:cNvPr id="11105" name="Google Shape;11105;p112"/>
              <p:cNvSpPr/>
              <p:nvPr/>
            </p:nvSpPr>
            <p:spPr>
              <a:xfrm>
                <a:off x="613" y="2571"/>
                <a:ext cx="732" cy="13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6" name="Google Shape;11106;p112"/>
              <p:cNvSpPr/>
              <p:nvPr/>
            </p:nvSpPr>
            <p:spPr>
              <a:xfrm>
                <a:off x="625" y="2587"/>
                <a:ext cx="720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07" name="Google Shape;11107;p112"/>
            <p:cNvSpPr/>
            <p:nvPr/>
          </p:nvSpPr>
          <p:spPr>
            <a:xfrm>
              <a:off x="5246" y="429"/>
              <a:ext cx="70" cy="2285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8" name="Google Shape;11108;p1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9" name="Google Shape;11109;p1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0" name="Google Shape;11110;p112"/>
            <p:cNvSpPr/>
            <p:nvPr/>
          </p:nvSpPr>
          <p:spPr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1" name="Google Shape;11111;p1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2" name="Google Shape;11112;p112"/>
            <p:cNvSpPr/>
            <p:nvPr/>
          </p:nvSpPr>
          <p:spPr>
            <a:xfrm>
              <a:off x="4140" y="2675"/>
              <a:ext cx="1196" cy="150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3" name="Google Shape;11113;p112"/>
            <p:cNvSpPr/>
            <p:nvPr/>
          </p:nvSpPr>
          <p:spPr>
            <a:xfrm>
              <a:off x="4210" y="2714"/>
              <a:ext cx="1066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4" name="Google Shape;11114;p112"/>
            <p:cNvSpPr/>
            <p:nvPr/>
          </p:nvSpPr>
          <p:spPr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5" name="Google Shape;11115;p112"/>
            <p:cNvSpPr/>
            <p:nvPr/>
          </p:nvSpPr>
          <p:spPr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6" name="Google Shape;11116;p112"/>
            <p:cNvSpPr/>
            <p:nvPr/>
          </p:nvSpPr>
          <p:spPr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7" name="Google Shape;11117;p112"/>
            <p:cNvSpPr/>
            <p:nvPr/>
          </p:nvSpPr>
          <p:spPr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18" name="Google Shape;11118;p112"/>
          <p:cNvGrpSpPr/>
          <p:nvPr/>
        </p:nvGrpSpPr>
        <p:grpSpPr>
          <a:xfrm>
            <a:off x="9304406" y="2369415"/>
            <a:ext cx="753999" cy="373786"/>
            <a:chOff x="7493876" y="2774731"/>
            <a:chExt cx="1481958" cy="894622"/>
          </a:xfrm>
        </p:grpSpPr>
        <p:sp>
          <p:nvSpPr>
            <p:cNvPr id="11119" name="Google Shape;11119;p1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20" name="Google Shape;11120;p1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21" name="Google Shape;11121;p1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22" name="Google Shape;11122;p1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3" name="Google Shape;11123;p1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4" name="Google Shape;11124;p1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5" name="Google Shape;11125;p1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29" name="Shape 1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0" name="Google Shape;11130;p113"/>
          <p:cNvSpPr/>
          <p:nvPr/>
        </p:nvSpPr>
        <p:spPr>
          <a:xfrm>
            <a:off x="983673" y="1551708"/>
            <a:ext cx="11000509" cy="4447309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1" name="Google Shape;11131;p1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Selected NETCONF Operations</a:t>
            </a:r>
            <a:endParaRPr/>
          </a:p>
        </p:txBody>
      </p:sp>
      <p:sp>
        <p:nvSpPr>
          <p:cNvPr id="11132" name="Google Shape;11132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33" name="Google Shape;11133;p113"/>
          <p:cNvSpPr txBox="1"/>
          <p:nvPr/>
        </p:nvSpPr>
        <p:spPr>
          <a:xfrm>
            <a:off x="1052945" y="1659081"/>
            <a:ext cx="10737273" cy="4124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31988" lvl="0" marL="2000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             Operation Description</a:t>
            </a:r>
            <a:endParaRPr/>
          </a:p>
          <a:p>
            <a:pPr indent="-2635250" lvl="0" marL="263525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&lt;get-config&gt;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a given configuration. A device may have multiple configurations. 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&lt;get&gt;              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Retrieve all or part of both configuration state and operational state data.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&lt;edit-config&gt;      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specified (possibly running) configuration at managed device. Managed device &lt;rpc-reply&gt; contains &lt;ok&gt;  or &lt;rpcerror&gt; with rollback.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&lt;lock&gt;, &lt;unlock&gt;    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 (unlock) configuration datastore at managed device (to lock out NETCONF, SNMP, or CLIs commands from other sources).</a:t>
            </a:r>
            <a:endParaRPr/>
          </a:p>
          <a:p>
            <a:pPr indent="-2635250" lvl="0" marL="263525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&lt;create-subscription&gt;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  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 event notification subscription from managed device</a:t>
            </a:r>
            <a:endParaRPr/>
          </a:p>
          <a:p>
            <a:pPr indent="-2635250" lvl="0" marL="2635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&lt;notification&gt;</a:t>
            </a:r>
            <a:endParaRPr/>
          </a:p>
        </p:txBody>
      </p:sp>
      <p:cxnSp>
        <p:nvCxnSpPr>
          <p:cNvPr id="11134" name="Google Shape;11134;p113"/>
          <p:cNvCxnSpPr/>
          <p:nvPr/>
        </p:nvCxnSpPr>
        <p:spPr>
          <a:xfrm>
            <a:off x="983673" y="2189018"/>
            <a:ext cx="10986655" cy="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35" name="Google Shape;11135;p113"/>
          <p:cNvCxnSpPr/>
          <p:nvPr/>
        </p:nvCxnSpPr>
        <p:spPr>
          <a:xfrm>
            <a:off x="3546767" y="1551709"/>
            <a:ext cx="0" cy="4461164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39" name="Shape 1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0" name="Google Shape;11140;p11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Sample NETCONF RPC message</a:t>
            </a:r>
            <a:endParaRPr/>
          </a:p>
        </p:txBody>
      </p:sp>
      <p:sp>
        <p:nvSpPr>
          <p:cNvPr id="11141" name="Google Shape;11141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42" name="Google Shape;11142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974" y="1385449"/>
            <a:ext cx="7886368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43" name="Google Shape;11143;p114"/>
          <p:cNvSpPr txBox="1"/>
          <p:nvPr/>
        </p:nvSpPr>
        <p:spPr>
          <a:xfrm>
            <a:off x="4821382" y="1648686"/>
            <a:ext cx="19382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note message id</a:t>
            </a:r>
            <a:endParaRPr/>
          </a:p>
        </p:txBody>
      </p:sp>
      <p:sp>
        <p:nvSpPr>
          <p:cNvPr id="11144" name="Google Shape;11144;p114"/>
          <p:cNvSpPr txBox="1"/>
          <p:nvPr/>
        </p:nvSpPr>
        <p:spPr>
          <a:xfrm>
            <a:off x="4197927" y="2770904"/>
            <a:ext cx="37364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the running configuration </a:t>
            </a:r>
            <a:endParaRPr/>
          </a:p>
        </p:txBody>
      </p:sp>
      <p:sp>
        <p:nvSpPr>
          <p:cNvPr id="11145" name="Google Shape;11145;p114"/>
          <p:cNvSpPr txBox="1"/>
          <p:nvPr/>
        </p:nvSpPr>
        <p:spPr>
          <a:xfrm>
            <a:off x="7010400" y="4364176"/>
            <a:ext cx="4993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MTU of Ethernet 0/0 interface to 1500</a:t>
            </a:r>
            <a:endParaRPr/>
          </a:p>
        </p:txBody>
      </p:sp>
      <p:sp>
        <p:nvSpPr>
          <p:cNvPr id="11146" name="Google Shape;11146;p114"/>
          <p:cNvSpPr txBox="1"/>
          <p:nvPr/>
        </p:nvSpPr>
        <p:spPr>
          <a:xfrm>
            <a:off x="4197928" y="2244432"/>
            <a:ext cx="255980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change a configuration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50" name="Shape 1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1" name="Google Shape;11151;p115"/>
          <p:cNvSpPr txBox="1"/>
          <p:nvPr>
            <p:ph idx="1" type="body"/>
          </p:nvPr>
        </p:nvSpPr>
        <p:spPr>
          <a:xfrm>
            <a:off x="855518" y="1391517"/>
            <a:ext cx="6376555" cy="5175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data modeling language used to specify structure, syntax, semantics of NETCONF network management data</a:t>
            </a:r>
            <a:endParaRPr/>
          </a:p>
          <a:p>
            <a:pPr indent="-231775" lvl="1" marL="695325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built-in data types, like SMI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XML document describing device, capabilities can be generated from YANG description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can express constraints among data that must be satisfied by a valid NETCONF configuration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ensure NETCONF configurations satisfy correctness, consistency constraints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52" name="Google Shape;11152;p11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YANG</a:t>
            </a:r>
            <a:endParaRPr/>
          </a:p>
        </p:txBody>
      </p:sp>
      <p:sp>
        <p:nvSpPr>
          <p:cNvPr id="11153" name="Google Shape;11153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154" name="Google Shape;11154;p115"/>
          <p:cNvGrpSpPr/>
          <p:nvPr/>
        </p:nvGrpSpPr>
        <p:grpSpPr>
          <a:xfrm>
            <a:off x="9663823" y="5371916"/>
            <a:ext cx="683116" cy="378456"/>
            <a:chOff x="7493876" y="2774731"/>
            <a:chExt cx="1481958" cy="894622"/>
          </a:xfrm>
        </p:grpSpPr>
        <p:sp>
          <p:nvSpPr>
            <p:cNvPr id="11155" name="Google Shape;11155;p11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1156" name="Google Shape;11156;p11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1157" name="Google Shape;11157;p11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1158" name="Google Shape;11158;p11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9" name="Google Shape;11159;p11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0" name="Google Shape;11160;p11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1" name="Google Shape;11161;p11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162" name="Google Shape;11162;p115"/>
          <p:cNvGrpSpPr/>
          <p:nvPr/>
        </p:nvGrpSpPr>
        <p:grpSpPr>
          <a:xfrm>
            <a:off x="8013954" y="4940871"/>
            <a:ext cx="1784742" cy="783771"/>
            <a:chOff x="3623562" y="5108298"/>
            <a:chExt cx="1784742" cy="783771"/>
          </a:xfrm>
        </p:grpSpPr>
        <p:sp>
          <p:nvSpPr>
            <p:cNvPr id="11163" name="Google Shape;11163;p115"/>
            <p:cNvSpPr/>
            <p:nvPr/>
          </p:nvSpPr>
          <p:spPr>
            <a:xfrm flipH="1">
              <a:off x="4018890" y="5238925"/>
              <a:ext cx="1389414" cy="653144"/>
            </a:xfrm>
            <a:custGeom>
              <a:rect b="b" l="l" r="r" t="t"/>
              <a:pathLst>
                <a:path extrusionOk="0" h="653144" w="1389414">
                  <a:moveTo>
                    <a:pt x="59377" y="415637"/>
                  </a:moveTo>
                  <a:cubicBezTo>
                    <a:pt x="285008" y="332510"/>
                    <a:pt x="320635" y="320634"/>
                    <a:pt x="605641" y="0"/>
                  </a:cubicBezTo>
                  <a:lnTo>
                    <a:pt x="1389414" y="391887"/>
                  </a:lnTo>
                  <a:cubicBezTo>
                    <a:pt x="395845" y="482932"/>
                    <a:pt x="601683" y="407720"/>
                    <a:pt x="0" y="653144"/>
                  </a:cubicBezTo>
                  <a:lnTo>
                    <a:pt x="59377" y="415637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4" name="Google Shape;11164;p115"/>
            <p:cNvSpPr/>
            <p:nvPr/>
          </p:nvSpPr>
          <p:spPr>
            <a:xfrm>
              <a:off x="3623562" y="5108298"/>
              <a:ext cx="1293812" cy="545006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5" name="Google Shape;11165;p115"/>
            <p:cNvSpPr txBox="1"/>
            <p:nvPr/>
          </p:nvSpPr>
          <p:spPr>
            <a:xfrm>
              <a:off x="3656136" y="5229255"/>
              <a:ext cx="63394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endParaRPr/>
            </a:p>
          </p:txBody>
        </p:sp>
        <p:grpSp>
          <p:nvGrpSpPr>
            <p:cNvPr id="11166" name="Google Shape;11166;p115"/>
            <p:cNvGrpSpPr/>
            <p:nvPr/>
          </p:nvGrpSpPr>
          <p:grpSpPr>
            <a:xfrm>
              <a:off x="4254952" y="5203301"/>
              <a:ext cx="533735" cy="344384"/>
              <a:chOff x="7290003" y="1864426"/>
              <a:chExt cx="533735" cy="344384"/>
            </a:xfrm>
          </p:grpSpPr>
          <p:sp>
            <p:nvSpPr>
              <p:cNvPr id="11167" name="Google Shape;11167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8" name="Google Shape;11168;p115"/>
              <p:cNvSpPr txBox="1"/>
              <p:nvPr/>
            </p:nvSpPr>
            <p:spPr>
              <a:xfrm>
                <a:off x="7290003" y="1889518"/>
                <a:ext cx="533735" cy="3076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</p:grpSp>
      <p:grpSp>
        <p:nvGrpSpPr>
          <p:cNvPr id="11169" name="Google Shape;11169;p115"/>
          <p:cNvGrpSpPr/>
          <p:nvPr/>
        </p:nvGrpSpPr>
        <p:grpSpPr>
          <a:xfrm>
            <a:off x="8876921" y="1455558"/>
            <a:ext cx="2432414" cy="1421499"/>
            <a:chOff x="6729466" y="2092868"/>
            <a:chExt cx="2432414" cy="1421499"/>
          </a:xfrm>
        </p:grpSpPr>
        <p:sp>
          <p:nvSpPr>
            <p:cNvPr id="11170" name="Google Shape;11170;p115"/>
            <p:cNvSpPr/>
            <p:nvPr/>
          </p:nvSpPr>
          <p:spPr>
            <a:xfrm flipH="1">
              <a:off x="7131647" y="2745280"/>
              <a:ext cx="1600398" cy="585409"/>
            </a:xfrm>
            <a:custGeom>
              <a:rect b="b" l="l" r="r" t="t"/>
              <a:pathLst>
                <a:path extrusionOk="0" h="585409" w="1463851">
                  <a:moveTo>
                    <a:pt x="41393" y="206474"/>
                  </a:moveTo>
                  <a:cubicBezTo>
                    <a:pt x="186988" y="162723"/>
                    <a:pt x="239468" y="114212"/>
                    <a:pt x="299240" y="0"/>
                  </a:cubicBezTo>
                  <a:cubicBezTo>
                    <a:pt x="766287" y="135093"/>
                    <a:pt x="734070" y="180625"/>
                    <a:pt x="1463851" y="83572"/>
                  </a:cubicBezTo>
                  <a:cubicBezTo>
                    <a:pt x="672235" y="284786"/>
                    <a:pt x="601683" y="339985"/>
                    <a:pt x="0" y="585409"/>
                  </a:cubicBezTo>
                  <a:lnTo>
                    <a:pt x="41393" y="206474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1" name="Google Shape;11171;p115"/>
            <p:cNvSpPr/>
            <p:nvPr/>
          </p:nvSpPr>
          <p:spPr>
            <a:xfrm>
              <a:off x="6729466" y="2201533"/>
              <a:ext cx="1853311" cy="684610"/>
            </a:xfrm>
            <a:prstGeom prst="ellipse">
              <a:avLst/>
            </a:prstGeom>
            <a:solidFill>
              <a:srgbClr val="F2F2F2"/>
            </a:solidFill>
            <a:ln cap="flat" cmpd="sng" w="19050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2" name="Google Shape;11172;p115"/>
            <p:cNvSpPr txBox="1"/>
            <p:nvPr/>
          </p:nvSpPr>
          <p:spPr>
            <a:xfrm>
              <a:off x="6751500" y="2244164"/>
              <a:ext cx="1795750" cy="5652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managing</a:t>
              </a:r>
              <a:endParaRPr/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server/controller</a:t>
              </a:r>
              <a:endParaRPr/>
            </a:p>
          </p:txBody>
        </p:sp>
        <p:grpSp>
          <p:nvGrpSpPr>
            <p:cNvPr id="11173" name="Google Shape;11173;p115"/>
            <p:cNvGrpSpPr/>
            <p:nvPr/>
          </p:nvGrpSpPr>
          <p:grpSpPr>
            <a:xfrm>
              <a:off x="8113557" y="2092868"/>
              <a:ext cx="897159" cy="395103"/>
              <a:chOff x="7338951" y="1864426"/>
              <a:chExt cx="427511" cy="344384"/>
            </a:xfrm>
          </p:grpSpPr>
          <p:sp>
            <p:nvSpPr>
              <p:cNvPr id="11174" name="Google Shape;11174;p115"/>
              <p:cNvSpPr/>
              <p:nvPr/>
            </p:nvSpPr>
            <p:spPr>
              <a:xfrm>
                <a:off x="7338951" y="1864426"/>
                <a:ext cx="427511" cy="344384"/>
              </a:xfrm>
              <a:prstGeom prst="can">
                <a:avLst>
                  <a:gd fmla="val 25000" name="adj"/>
                </a:avLst>
              </a:prstGeom>
              <a:solidFill>
                <a:srgbClr val="D8E2F3"/>
              </a:solidFill>
              <a:ln cap="flat" cmpd="sng" w="12700">
                <a:solidFill>
                  <a:srgbClr val="AEABA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5" name="Google Shape;11175;p115"/>
              <p:cNvSpPr txBox="1"/>
              <p:nvPr/>
            </p:nvSpPr>
            <p:spPr>
              <a:xfrm>
                <a:off x="7404793" y="1927928"/>
                <a:ext cx="281197" cy="2682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8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A8"/>
                    </a:solidFill>
                    <a:latin typeface="Arial"/>
                    <a:ea typeface="Arial"/>
                    <a:cs typeface="Arial"/>
                    <a:sym typeface="Arial"/>
                  </a:rPr>
                  <a:t>data</a:t>
                </a:r>
                <a:endParaRPr/>
              </a:p>
            </p:txBody>
          </p:sp>
        </p:grpSp>
        <p:grpSp>
          <p:nvGrpSpPr>
            <p:cNvPr id="11176" name="Google Shape;11176;p115"/>
            <p:cNvGrpSpPr/>
            <p:nvPr/>
          </p:nvGrpSpPr>
          <p:grpSpPr>
            <a:xfrm>
              <a:off x="8692311" y="2648933"/>
              <a:ext cx="469569" cy="865434"/>
              <a:chOff x="4140" y="429"/>
              <a:chExt cx="1425" cy="2396"/>
            </a:xfrm>
          </p:grpSpPr>
          <p:sp>
            <p:nvSpPr>
              <p:cNvPr id="11177" name="Google Shape;11177;p115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8" name="Google Shape;11178;p115"/>
              <p:cNvSpPr/>
              <p:nvPr/>
            </p:nvSpPr>
            <p:spPr>
              <a:xfrm>
                <a:off x="4208" y="429"/>
                <a:ext cx="1043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9" name="Google Shape;11179;p115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0" name="Google Shape;11180;p115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1" name="Google Shape;11181;p115"/>
              <p:cNvSpPr/>
              <p:nvPr/>
            </p:nvSpPr>
            <p:spPr>
              <a:xfrm>
                <a:off x="4214" y="692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2" name="Google Shape;11182;p115"/>
              <p:cNvGrpSpPr/>
              <p:nvPr/>
            </p:nvGrpSpPr>
            <p:grpSpPr>
              <a:xfrm>
                <a:off x="4751" y="665"/>
                <a:ext cx="580" cy="131"/>
                <a:chOff x="616" y="2565"/>
                <a:chExt cx="724" cy="126"/>
              </a:xfrm>
            </p:grpSpPr>
            <p:sp>
              <p:nvSpPr>
                <p:cNvPr id="11183" name="Google Shape;11183;p115"/>
                <p:cNvSpPr/>
                <p:nvPr/>
              </p:nvSpPr>
              <p:spPr>
                <a:xfrm>
                  <a:off x="616" y="2565"/>
                  <a:ext cx="724" cy="12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4" name="Google Shape;11184;p115"/>
                <p:cNvSpPr/>
                <p:nvPr/>
              </p:nvSpPr>
              <p:spPr>
                <a:xfrm>
                  <a:off x="632" y="2584"/>
                  <a:ext cx="693" cy="101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5" name="Google Shape;11185;p115"/>
              <p:cNvSpPr/>
              <p:nvPr/>
            </p:nvSpPr>
            <p:spPr>
              <a:xfrm>
                <a:off x="4226" y="1020"/>
                <a:ext cx="592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86" name="Google Shape;11186;p115"/>
              <p:cNvGrpSpPr/>
              <p:nvPr/>
            </p:nvGrpSpPr>
            <p:grpSpPr>
              <a:xfrm>
                <a:off x="4745" y="994"/>
                <a:ext cx="586" cy="131"/>
                <a:chOff x="611" y="2568"/>
                <a:chExt cx="731" cy="136"/>
              </a:xfrm>
            </p:grpSpPr>
            <p:sp>
              <p:nvSpPr>
                <p:cNvPr id="11187" name="Google Shape;11187;p115"/>
                <p:cNvSpPr/>
                <p:nvPr/>
              </p:nvSpPr>
              <p:spPr>
                <a:xfrm>
                  <a:off x="611" y="2568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88" name="Google Shape;11188;p115"/>
                <p:cNvSpPr/>
                <p:nvPr/>
              </p:nvSpPr>
              <p:spPr>
                <a:xfrm>
                  <a:off x="626" y="2581"/>
                  <a:ext cx="700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89" name="Google Shape;11189;p115"/>
              <p:cNvSpPr/>
              <p:nvPr/>
            </p:nvSpPr>
            <p:spPr>
              <a:xfrm>
                <a:off x="4214" y="1361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0" name="Google Shape;11190;p115"/>
              <p:cNvSpPr/>
              <p:nvPr/>
            </p:nvSpPr>
            <p:spPr>
              <a:xfrm>
                <a:off x="4226" y="1657"/>
                <a:ext cx="598" cy="46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1" name="Google Shape;11191;p115"/>
              <p:cNvGrpSpPr/>
              <p:nvPr/>
            </p:nvGrpSpPr>
            <p:grpSpPr>
              <a:xfrm>
                <a:off x="4733" y="1630"/>
                <a:ext cx="586" cy="151"/>
                <a:chOff x="611" y="2571"/>
                <a:chExt cx="730" cy="139"/>
              </a:xfrm>
            </p:grpSpPr>
            <p:sp>
              <p:nvSpPr>
                <p:cNvPr id="11192" name="Google Shape;11192;p115"/>
                <p:cNvSpPr/>
                <p:nvPr/>
              </p:nvSpPr>
              <p:spPr>
                <a:xfrm>
                  <a:off x="611" y="2571"/>
                  <a:ext cx="730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3" name="Google Shape;11193;p115"/>
                <p:cNvSpPr/>
                <p:nvPr/>
              </p:nvSpPr>
              <p:spPr>
                <a:xfrm>
                  <a:off x="626" y="2589"/>
                  <a:ext cx="699" cy="11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4" name="Google Shape;11194;p115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195" name="Google Shape;11195;p115"/>
              <p:cNvGrpSpPr/>
              <p:nvPr/>
            </p:nvGrpSpPr>
            <p:grpSpPr>
              <a:xfrm>
                <a:off x="4738" y="1328"/>
                <a:ext cx="574" cy="138"/>
                <a:chOff x="613" y="2569"/>
                <a:chExt cx="715" cy="138"/>
              </a:xfrm>
            </p:grpSpPr>
            <p:sp>
              <p:nvSpPr>
                <p:cNvPr id="11196" name="Google Shape;11196;p115"/>
                <p:cNvSpPr/>
                <p:nvPr/>
              </p:nvSpPr>
              <p:spPr>
                <a:xfrm>
                  <a:off x="613" y="2569"/>
                  <a:ext cx="715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97" name="Google Shape;11197;p115"/>
                <p:cNvSpPr/>
                <p:nvPr/>
              </p:nvSpPr>
              <p:spPr>
                <a:xfrm>
                  <a:off x="629" y="2582"/>
                  <a:ext cx="692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98" name="Google Shape;11198;p115"/>
              <p:cNvSpPr/>
              <p:nvPr/>
            </p:nvSpPr>
            <p:spPr>
              <a:xfrm>
                <a:off x="5250" y="429"/>
                <a:ext cx="68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9" name="Google Shape;11199;p115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0" name="Google Shape;11200;p115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1" name="Google Shape;11201;p115"/>
              <p:cNvSpPr/>
              <p:nvPr/>
            </p:nvSpPr>
            <p:spPr>
              <a:xfrm>
                <a:off x="5516" y="2608"/>
                <a:ext cx="49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2" name="Google Shape;11202;p115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3" name="Google Shape;11203;p115"/>
              <p:cNvSpPr/>
              <p:nvPr/>
            </p:nvSpPr>
            <p:spPr>
              <a:xfrm>
                <a:off x="4140" y="2681"/>
                <a:ext cx="1197" cy="144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4" name="Google Shape;11204;p115"/>
              <p:cNvSpPr/>
              <p:nvPr/>
            </p:nvSpPr>
            <p:spPr>
              <a:xfrm>
                <a:off x="4208" y="2713"/>
                <a:ext cx="1067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5" name="Google Shape;11205;p115"/>
              <p:cNvSpPr/>
              <p:nvPr/>
            </p:nvSpPr>
            <p:spPr>
              <a:xfrm>
                <a:off x="4307" y="2385"/>
                <a:ext cx="160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6" name="Google Shape;11206;p115"/>
              <p:cNvSpPr/>
              <p:nvPr/>
            </p:nvSpPr>
            <p:spPr>
              <a:xfrm>
                <a:off x="4485" y="2385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7" name="Google Shape;11207;p115"/>
              <p:cNvSpPr/>
              <p:nvPr/>
            </p:nvSpPr>
            <p:spPr>
              <a:xfrm>
                <a:off x="4664" y="2379"/>
                <a:ext cx="154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8" name="Google Shape;11208;p115"/>
              <p:cNvSpPr/>
              <p:nvPr/>
            </p:nvSpPr>
            <p:spPr>
              <a:xfrm>
                <a:off x="5059" y="1834"/>
                <a:ext cx="86" cy="761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209" name="Google Shape;11209;p115"/>
          <p:cNvSpPr/>
          <p:nvPr/>
        </p:nvSpPr>
        <p:spPr>
          <a:xfrm rot="6715731">
            <a:off x="9311946" y="3959296"/>
            <a:ext cx="2359727" cy="344442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35000">
                <a:srgbClr val="D8E2F3"/>
              </a:gs>
              <a:gs pos="68000">
                <a:srgbClr val="A9BEE4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0" name="Google Shape;11210;p115"/>
          <p:cNvSpPr txBox="1"/>
          <p:nvPr/>
        </p:nvSpPr>
        <p:spPr>
          <a:xfrm>
            <a:off x="7426037" y="2626200"/>
            <a:ext cx="2402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 RPC message</a:t>
            </a:r>
            <a:endParaRPr/>
          </a:p>
        </p:txBody>
      </p:sp>
      <p:grpSp>
        <p:nvGrpSpPr>
          <p:cNvPr id="11211" name="Google Shape;11211;p115"/>
          <p:cNvGrpSpPr/>
          <p:nvPr/>
        </p:nvGrpSpPr>
        <p:grpSpPr>
          <a:xfrm>
            <a:off x="7478010" y="2992581"/>
            <a:ext cx="2778034" cy="1372199"/>
            <a:chOff x="7090083" y="2881745"/>
            <a:chExt cx="2778034" cy="1372199"/>
          </a:xfrm>
        </p:grpSpPr>
        <p:sp>
          <p:nvSpPr>
            <p:cNvPr id="11212" name="Google Shape;11212;p115"/>
            <p:cNvSpPr/>
            <p:nvPr/>
          </p:nvSpPr>
          <p:spPr>
            <a:xfrm>
              <a:off x="7148945" y="2881745"/>
              <a:ext cx="2369128" cy="87283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3" name="Google Shape;11213;p115"/>
            <p:cNvSpPr txBox="1"/>
            <p:nvPr/>
          </p:nvSpPr>
          <p:spPr>
            <a:xfrm>
              <a:off x="7162800" y="2895600"/>
              <a:ext cx="2402496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&lt;edit-config&gt;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YANG-generated XML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&lt;/edit-config&gt;</a:t>
              </a:r>
              <a:endParaRPr/>
            </a:p>
          </p:txBody>
        </p:sp>
        <p:sp>
          <p:nvSpPr>
            <p:cNvPr id="11214" name="Google Shape;11214;p115"/>
            <p:cNvSpPr/>
            <p:nvPr/>
          </p:nvSpPr>
          <p:spPr>
            <a:xfrm flipH="1">
              <a:off x="7090083" y="2948098"/>
              <a:ext cx="2778034" cy="1305846"/>
            </a:xfrm>
            <a:custGeom>
              <a:rect b="b" l="l" r="r" t="t"/>
              <a:pathLst>
                <a:path extrusionOk="0" h="1305846" w="2541010">
                  <a:moveTo>
                    <a:pt x="3375" y="926911"/>
                  </a:moveTo>
                  <a:cubicBezTo>
                    <a:pt x="148970" y="883160"/>
                    <a:pt x="277486" y="114212"/>
                    <a:pt x="337258" y="0"/>
                  </a:cubicBezTo>
                  <a:cubicBezTo>
                    <a:pt x="221372" y="1035639"/>
                    <a:pt x="455275" y="804080"/>
                    <a:pt x="2541010" y="804009"/>
                  </a:cubicBezTo>
                  <a:cubicBezTo>
                    <a:pt x="1749394" y="1005223"/>
                    <a:pt x="601683" y="1060422"/>
                    <a:pt x="0" y="1305846"/>
                  </a:cubicBezTo>
                  <a:lnTo>
                    <a:pt x="3375" y="92691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5" name="Google Shape;11215;p115"/>
          <p:cNvGrpSpPr/>
          <p:nvPr/>
        </p:nvGrpSpPr>
        <p:grpSpPr>
          <a:xfrm>
            <a:off x="10127673" y="3879272"/>
            <a:ext cx="587606" cy="741718"/>
            <a:chOff x="375561" y="297711"/>
            <a:chExt cx="1252683" cy="2138362"/>
          </a:xfrm>
        </p:grpSpPr>
        <p:sp>
          <p:nvSpPr>
            <p:cNvPr id="11216" name="Google Shape;11216;p115"/>
            <p:cNvSpPr/>
            <p:nvPr/>
          </p:nvSpPr>
          <p:spPr>
            <a:xfrm>
              <a:off x="375561" y="297711"/>
              <a:ext cx="971072" cy="2138362"/>
            </a:xfrm>
            <a:custGeom>
              <a:rect b="b" l="l" r="r" t="t"/>
              <a:pathLst>
                <a:path extrusionOk="0" h="2138362" w="966787">
                  <a:moveTo>
                    <a:pt x="0" y="0"/>
                  </a:moveTo>
                  <a:lnTo>
                    <a:pt x="0" y="1190625"/>
                  </a:lnTo>
                  <a:lnTo>
                    <a:pt x="966787" y="2138362"/>
                  </a:lnTo>
                  <a:cubicBezTo>
                    <a:pt x="965200" y="1673225"/>
                    <a:pt x="963612" y="1208087"/>
                    <a:pt x="962025" y="74295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7" name="Google Shape;11217;p115"/>
            <p:cNvSpPr/>
            <p:nvPr/>
          </p:nvSpPr>
          <p:spPr>
            <a:xfrm>
              <a:off x="375561" y="309724"/>
              <a:ext cx="1247826" cy="768849"/>
            </a:xfrm>
            <a:custGeom>
              <a:rect b="b" l="l" r="r" t="t"/>
              <a:pathLst>
                <a:path extrusionOk="0" h="758069" w="1248448">
                  <a:moveTo>
                    <a:pt x="243561" y="573"/>
                  </a:moveTo>
                  <a:cubicBezTo>
                    <a:pt x="162374" y="382"/>
                    <a:pt x="235530" y="6639"/>
                    <a:pt x="0" y="0"/>
                  </a:cubicBezTo>
                  <a:lnTo>
                    <a:pt x="962698" y="753308"/>
                  </a:lnTo>
                  <a:cubicBezTo>
                    <a:pt x="1114838" y="758721"/>
                    <a:pt x="1045247" y="751718"/>
                    <a:pt x="1248448" y="758069"/>
                  </a:cubicBezTo>
                  <a:lnTo>
                    <a:pt x="243561" y="573"/>
                  </a:lnTo>
                  <a:close/>
                </a:path>
              </a:pathLst>
            </a:custGeom>
            <a:solidFill>
              <a:srgbClr val="0099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8" name="Google Shape;11218;p115"/>
            <p:cNvSpPr/>
            <p:nvPr/>
          </p:nvSpPr>
          <p:spPr>
            <a:xfrm>
              <a:off x="1332065" y="1066560"/>
              <a:ext cx="296179" cy="1363508"/>
            </a:xfrm>
            <a:prstGeom prst="rect">
              <a:avLst/>
            </a:prstGeom>
            <a:solidFill>
              <a:srgbClr val="D8E2F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19" name="Google Shape;11219;p115"/>
          <p:cNvGrpSpPr/>
          <p:nvPr/>
        </p:nvGrpSpPr>
        <p:grpSpPr>
          <a:xfrm>
            <a:off x="9157856" y="1889496"/>
            <a:ext cx="2919145" cy="3181268"/>
            <a:chOff x="9157856" y="1889496"/>
            <a:chExt cx="2919145" cy="3181268"/>
          </a:xfrm>
        </p:grpSpPr>
        <p:sp>
          <p:nvSpPr>
            <p:cNvPr id="11220" name="Google Shape;11220;p115"/>
            <p:cNvSpPr txBox="1"/>
            <p:nvPr/>
          </p:nvSpPr>
          <p:spPr>
            <a:xfrm>
              <a:off x="10937009" y="3537239"/>
              <a:ext cx="1139992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YANG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generated</a:t>
              </a:r>
              <a:endParaRPr/>
            </a:p>
          </p:txBody>
        </p:sp>
        <p:cxnSp>
          <p:nvCxnSpPr>
            <p:cNvPr id="11221" name="Google Shape;11221;p115"/>
            <p:cNvCxnSpPr>
              <a:endCxn id="11172" idx="3"/>
            </p:cNvCxnSpPr>
            <p:nvPr/>
          </p:nvCxnSpPr>
          <p:spPr>
            <a:xfrm rot="10800000">
              <a:off x="10694705" y="1889496"/>
              <a:ext cx="305700" cy="1851300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2" name="Google Shape;11222;p115"/>
            <p:cNvCxnSpPr/>
            <p:nvPr/>
          </p:nvCxnSpPr>
          <p:spPr>
            <a:xfrm flipH="1">
              <a:off x="9157856" y="3743325"/>
              <a:ext cx="1843519" cy="1327439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1223" name="Google Shape;11223;p115"/>
            <p:cNvCxnSpPr/>
            <p:nvPr/>
          </p:nvCxnSpPr>
          <p:spPr>
            <a:xfrm rot="10800000">
              <a:off x="9754606" y="3416797"/>
              <a:ext cx="1240419" cy="323353"/>
            </a:xfrm>
            <a:prstGeom prst="straightConnector1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5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28" name="Shape 1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9" name="Google Shape;11229;p1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 </a:t>
            </a:r>
            <a:r>
              <a:rPr lang="en-US" sz="4400">
                <a:solidFill>
                  <a:srgbClr val="0000A8"/>
                </a:solidFill>
              </a:rPr>
              <a:t>Summary</a:t>
            </a:r>
            <a:endParaRPr sz="4400">
              <a:solidFill>
                <a:srgbClr val="0000A8"/>
              </a:solidFill>
            </a:endParaRPr>
          </a:p>
        </p:txBody>
      </p:sp>
      <p:sp>
        <p:nvSpPr>
          <p:cNvPr id="11230" name="Google Shape;11230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31" name="Google Shape;11231;p116"/>
          <p:cNvSpPr txBox="1"/>
          <p:nvPr/>
        </p:nvSpPr>
        <p:spPr>
          <a:xfrm>
            <a:off x="1008481" y="1307017"/>
            <a:ext cx="9385396" cy="4537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we’ve learned a lot!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approaches to network control plane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per-router control (traditional)</a:t>
            </a:r>
            <a:endParaRPr/>
          </a:p>
          <a:p>
            <a:pPr indent="-346075" lvl="1" marL="7461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logically centralized control (software defined networking)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routing algorithms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Internet: OSPF , BGP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controllers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in practice: ODL, ONOS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2" name="Google Shape;11232;p116"/>
          <p:cNvSpPr txBox="1"/>
          <p:nvPr/>
        </p:nvSpPr>
        <p:spPr>
          <a:xfrm>
            <a:off x="1021775" y="5643508"/>
            <a:ext cx="3202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next stop:  link layer!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37" name="Shape 1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8" name="Google Shape;11238;p1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</a:t>
            </a:r>
            <a:r>
              <a:rPr lang="en-US"/>
              <a:t>,</a:t>
            </a:r>
            <a:r>
              <a:rPr lang="en-US" sz="4400"/>
              <a:t> control plane:  </a:t>
            </a:r>
            <a:r>
              <a:rPr lang="en-US" sz="4400">
                <a:solidFill>
                  <a:srgbClr val="C00000"/>
                </a:solidFill>
              </a:rPr>
              <a:t>Done!</a:t>
            </a:r>
            <a:endParaRPr sz="4400">
              <a:solidFill>
                <a:srgbClr val="C00000"/>
              </a:solidFill>
            </a:endParaRPr>
          </a:p>
        </p:txBody>
      </p:sp>
      <p:pic>
        <p:nvPicPr>
          <p:cNvPr descr="A train crossing a bridge over a body of water&#10;&#10;Description automatically generated" id="11239" name="Google Shape;11239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11240" name="Google Shape;11240;p117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1" name="Google Shape;11241;p117"/>
          <p:cNvSpPr txBox="1"/>
          <p:nvPr/>
        </p:nvSpPr>
        <p:spPr>
          <a:xfrm>
            <a:off x="1199399" y="1416044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protocols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409575" lvl="0" marL="4667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2" name="Google Shape;11242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7" name="Shape 1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8" name="Google Shape;11248;p118"/>
          <p:cNvSpPr txBox="1"/>
          <p:nvPr>
            <p:ph type="title"/>
          </p:nvPr>
        </p:nvSpPr>
        <p:spPr>
          <a:xfrm>
            <a:off x="838200" y="2981689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Additional Chapter 5 slides</a:t>
            </a:r>
            <a:endParaRPr sz="4400"/>
          </a:p>
        </p:txBody>
      </p:sp>
      <p:sp>
        <p:nvSpPr>
          <p:cNvPr id="11249" name="Google Shape;11249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4" name="Shape 1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5" name="Google Shape;11255;p119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256" name="Google Shape;11256;p1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257" name="Google Shape;11257;p119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8" name="Google Shape;11258;p119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9" name="Google Shape;11259;p119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60" name="Google Shape;11260;p119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61" name="Google Shape;11261;p119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62" name="Google Shape;11262;p119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63" name="Google Shape;11263;p119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264" name="Google Shape;11264;p119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5" name="Google Shape;11265;p119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6" name="Google Shape;11266;p119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7" name="Google Shape;11267;p119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8" name="Google Shape;11268;p119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69" name="Google Shape;11269;p119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70" name="Google Shape;11270;p119"/>
          <p:cNvSpPr txBox="1"/>
          <p:nvPr/>
        </p:nvSpPr>
        <p:spPr>
          <a:xfrm rot="-5400000">
            <a:off x="3627362" y="222686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1" name="Google Shape;11271;p119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272" name="Google Shape;11272;p119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273" name="Google Shape;11273;p119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274" name="Google Shape;11274;p119"/>
          <p:cNvCxnSpPr/>
          <p:nvPr/>
        </p:nvCxnSpPr>
        <p:spPr>
          <a:xfrm>
            <a:off x="42536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75" name="Google Shape;11275;p119"/>
          <p:cNvCxnSpPr/>
          <p:nvPr/>
        </p:nvCxnSpPr>
        <p:spPr>
          <a:xfrm>
            <a:off x="39488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76" name="Google Shape;11276;p119"/>
          <p:cNvSpPr txBox="1"/>
          <p:nvPr/>
        </p:nvSpPr>
        <p:spPr>
          <a:xfrm>
            <a:off x="42536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77" name="Google Shape;11277;p119"/>
          <p:cNvSpPr txBox="1"/>
          <p:nvPr/>
        </p:nvSpPr>
        <p:spPr>
          <a:xfrm>
            <a:off x="39488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78" name="Google Shape;11278;p119"/>
          <p:cNvSpPr txBox="1"/>
          <p:nvPr/>
        </p:nvSpPr>
        <p:spPr>
          <a:xfrm>
            <a:off x="39488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79" name="Google Shape;11279;p119"/>
          <p:cNvSpPr txBox="1"/>
          <p:nvPr/>
        </p:nvSpPr>
        <p:spPr>
          <a:xfrm>
            <a:off x="39488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0" name="Google Shape;11280;p119"/>
          <p:cNvSpPr txBox="1"/>
          <p:nvPr/>
        </p:nvSpPr>
        <p:spPr>
          <a:xfrm>
            <a:off x="4274268" y="18720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11281" name="Google Shape;11281;p119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82" name="Google Shape;11282;p119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3" name="Google Shape;11283;p119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84" name="Google Shape;11284;p119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85" name="Google Shape;11285;p119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86" name="Google Shape;11286;p119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87" name="Google Shape;11287;p119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8" name="Google Shape;11288;p119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89" name="Google Shape;11289;p119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0" name="Google Shape;11290;p119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1" name="Google Shape;11291;p119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292" name="Google Shape;11292;p119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293" name="Google Shape;11293;p119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94" name="Google Shape;11294;p119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5" name="Google Shape;11295;p119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296" name="Google Shape;11296;p119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297" name="Google Shape;11297;p119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298" name="Google Shape;11298;p119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299" name="Google Shape;11299;p119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0" name="Google Shape;11300;p119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1" name="Google Shape;11301;p119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02" name="Google Shape;11302;p119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303" name="Google Shape;11303;p119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04" name="Google Shape;11304;p119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305" name="Google Shape;11305;p119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06" name="Google Shape;11306;p119"/>
          <p:cNvSpPr txBox="1"/>
          <p:nvPr/>
        </p:nvSpPr>
        <p:spPr>
          <a:xfrm>
            <a:off x="2196230" y="3700855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7" name="Google Shape;11307;p119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sp>
        <p:nvSpPr>
          <p:cNvPr id="11308" name="Google Shape;11308;p119"/>
          <p:cNvSpPr txBox="1"/>
          <p:nvPr/>
        </p:nvSpPr>
        <p:spPr>
          <a:xfrm>
            <a:off x="4237755" y="2207017"/>
            <a:ext cx="946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309" name="Google Shape;11309;p119"/>
          <p:cNvSpPr txBox="1"/>
          <p:nvPr/>
        </p:nvSpPr>
        <p:spPr>
          <a:xfrm>
            <a:off x="4237755" y="2522930"/>
            <a:ext cx="946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7   1   0</a:t>
            </a:r>
            <a:endParaRPr/>
          </a:p>
        </p:txBody>
      </p:sp>
      <p:cxnSp>
        <p:nvCxnSpPr>
          <p:cNvPr id="11310" name="Google Shape;11310;p119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1" name="Google Shape;11311;p119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2" name="Google Shape;11312;p119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3" name="Google Shape;11313;p119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4" name="Google Shape;11314;p119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5" name="Google Shape;11315;p119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6" name="Google Shape;11316;p119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317" name="Google Shape;11317;p119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  <p:grpSp>
        <p:nvGrpSpPr>
          <p:cNvPr id="11318" name="Google Shape;11318;p119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319" name="Google Shape;11319;p119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320" name="Google Shape;11320;p119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321" name="Google Shape;11321;p119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2" name="Google Shape;11322;p119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323" name="Google Shape;11323;p119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324" name="Google Shape;11324;p119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325" name="Google Shape;11325;p119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6" name="Google Shape;11326;p119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7" name="Google Shape;11327;p119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8" name="Google Shape;11328;p119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29" name="Google Shape;11329;p119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330" name="Google Shape;11330;p119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1" name="Google Shape;11331;p119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332" name="Google Shape;11332;p119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333" name="Google Shape;11333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34" name="Google Shape;11334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5" name="Google Shape;11335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36" name="Google Shape;11336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7" name="Google Shape;11337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38" name="Google Shape;11338;p119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339" name="Google Shape;11339;p119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0" name="Google Shape;11340;p119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341" name="Google Shape;11341;p119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2" name="Google Shape;11342;p119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3" name="Google Shape;11343;p119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44" name="Google Shape;11344;p119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345" name="Google Shape;11345;p119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346" name="Google Shape;11346;p119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47" name="Google Shape;11347;p119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348" name="Google Shape;11348;p119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9" name="Google Shape;11349;p119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350" name="Google Shape;11350;p119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351" name="Google Shape;11351;p119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2" name="Google Shape;11352;p119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353" name="Google Shape;11353;p119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54" name="Google Shape;11354;p119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5" name="Google Shape;11355;p119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6" name="Google Shape;11356;p119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7" name="Google Shape;11357;p119"/>
          <p:cNvSpPr/>
          <p:nvPr/>
        </p:nvSpPr>
        <p:spPr>
          <a:xfrm>
            <a:off x="4274268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8" name="Google Shape;11358;p119"/>
          <p:cNvSpPr/>
          <p:nvPr/>
        </p:nvSpPr>
        <p:spPr>
          <a:xfrm>
            <a:off x="4876322" y="3416550"/>
            <a:ext cx="3868367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 = min{c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(y), c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(y)} </a:t>
            </a:r>
            <a:b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= min{2+0 , 7+1} = 2</a:t>
            </a:r>
            <a:endParaRPr/>
          </a:p>
        </p:txBody>
      </p:sp>
      <p:cxnSp>
        <p:nvCxnSpPr>
          <p:cNvPr id="11359" name="Google Shape;11359;p119"/>
          <p:cNvCxnSpPr/>
          <p:nvPr/>
        </p:nvCxnSpPr>
        <p:spPr>
          <a:xfrm rot="10800000">
            <a:off x="4737817" y="2139668"/>
            <a:ext cx="310172" cy="1304989"/>
          </a:xfrm>
          <a:prstGeom prst="straightConnector1">
            <a:avLst/>
          </a:prstGeom>
          <a:noFill/>
          <a:ln cap="flat" cmpd="sng" w="12700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0" name="Google Shape;11360;p119"/>
          <p:cNvSpPr/>
          <p:nvPr/>
        </p:nvSpPr>
        <p:spPr>
          <a:xfrm>
            <a:off x="5921461" y="2260908"/>
            <a:ext cx="3660949" cy="726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 = 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min{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(z), c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x,z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D</a:t>
            </a:r>
            <a:r>
              <a:rPr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(z)</a:t>
            </a: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min{2+1 , 7+0} = 3</a:t>
            </a:r>
            <a:endParaRPr/>
          </a:p>
        </p:txBody>
      </p:sp>
      <p:cxnSp>
        <p:nvCxnSpPr>
          <p:cNvPr id="11361" name="Google Shape;11361;p119"/>
          <p:cNvCxnSpPr/>
          <p:nvPr/>
        </p:nvCxnSpPr>
        <p:spPr>
          <a:xfrm rot="10800000">
            <a:off x="5106812" y="2116725"/>
            <a:ext cx="805472" cy="338376"/>
          </a:xfrm>
          <a:prstGeom prst="straightConnector1">
            <a:avLst/>
          </a:prstGeom>
          <a:noFill/>
          <a:ln cap="flat" cmpd="sng" w="9525">
            <a:solidFill>
              <a:srgbClr val="000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62" name="Google Shape;11362;p119"/>
          <p:cNvSpPr txBox="1"/>
          <p:nvPr/>
        </p:nvSpPr>
        <p:spPr>
          <a:xfrm>
            <a:off x="4899743" y="1875230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363" name="Google Shape;11363;p119"/>
          <p:cNvSpPr txBox="1"/>
          <p:nvPr/>
        </p:nvSpPr>
        <p:spPr>
          <a:xfrm>
            <a:off x="4556843" y="1879992"/>
            <a:ext cx="3429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endParaRPr/>
          </a:p>
        </p:txBody>
      </p:sp>
      <p:sp>
        <p:nvSpPr>
          <p:cNvPr id="11364" name="Google Shape;11364;p119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5" name="Google Shape;11365;p119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366" name="Google Shape;11366;p119"/>
          <p:cNvSpPr txBox="1"/>
          <p:nvPr/>
        </p:nvSpPr>
        <p:spPr>
          <a:xfrm>
            <a:off x="4390155" y="1343417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67" name="Google Shape;11367;p119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368" name="Google Shape;11368;p119"/>
          <p:cNvGrpSpPr/>
          <p:nvPr/>
        </p:nvGrpSpPr>
        <p:grpSpPr>
          <a:xfrm>
            <a:off x="2743200" y="1891430"/>
            <a:ext cx="2491320" cy="352127"/>
            <a:chOff x="2743200" y="1891430"/>
            <a:chExt cx="2491320" cy="352127"/>
          </a:xfrm>
        </p:grpSpPr>
        <p:sp>
          <p:nvSpPr>
            <p:cNvPr id="11369" name="Google Shape;11369;p119"/>
            <p:cNvSpPr/>
            <p:nvPr/>
          </p:nvSpPr>
          <p:spPr>
            <a:xfrm>
              <a:off x="2743200" y="1891430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0" name="Google Shape;11370;p119"/>
            <p:cNvSpPr/>
            <p:nvPr/>
          </p:nvSpPr>
          <p:spPr>
            <a:xfrm>
              <a:off x="4883791" y="1892828"/>
              <a:ext cx="350729" cy="350729"/>
            </a:xfrm>
            <a:prstGeom prst="ellipse">
              <a:avLst/>
            </a:prstGeom>
            <a:noFill/>
            <a:ln cap="flat" cmpd="sng" w="349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5" name="Shape 1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" name="Google Shape;11376;p120"/>
          <p:cNvSpPr txBox="1"/>
          <p:nvPr>
            <p:ph type="title"/>
          </p:nvPr>
        </p:nvSpPr>
        <p:spPr>
          <a:xfrm>
            <a:off x="826624" y="174028"/>
            <a:ext cx="10893427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Distance vector: another example</a:t>
            </a:r>
            <a:endParaRPr/>
          </a:p>
        </p:txBody>
      </p:sp>
      <p:sp>
        <p:nvSpPr>
          <p:cNvPr id="11377" name="Google Shape;11377;p1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378" name="Google Shape;11378;p120"/>
          <p:cNvCxnSpPr/>
          <p:nvPr/>
        </p:nvCxnSpPr>
        <p:spPr>
          <a:xfrm>
            <a:off x="2196230" y="16482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9" name="Google Shape;11379;p120"/>
          <p:cNvCxnSpPr/>
          <p:nvPr/>
        </p:nvCxnSpPr>
        <p:spPr>
          <a:xfrm>
            <a:off x="1891430" y="18768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80" name="Google Shape;11380;p120"/>
          <p:cNvSpPr txBox="1"/>
          <p:nvPr/>
        </p:nvSpPr>
        <p:spPr>
          <a:xfrm>
            <a:off x="2196230" y="14910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81" name="Google Shape;11381;p120"/>
          <p:cNvSpPr txBox="1"/>
          <p:nvPr/>
        </p:nvSpPr>
        <p:spPr>
          <a:xfrm>
            <a:off x="1891430" y="1872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82" name="Google Shape;11382;p120"/>
          <p:cNvSpPr txBox="1"/>
          <p:nvPr/>
        </p:nvSpPr>
        <p:spPr>
          <a:xfrm>
            <a:off x="1891430" y="21768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83" name="Google Shape;11383;p120"/>
          <p:cNvSpPr txBox="1"/>
          <p:nvPr/>
        </p:nvSpPr>
        <p:spPr>
          <a:xfrm>
            <a:off x="1891430" y="2481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384" name="Google Shape;11384;p120"/>
          <p:cNvSpPr txBox="1"/>
          <p:nvPr/>
        </p:nvSpPr>
        <p:spPr>
          <a:xfrm>
            <a:off x="2196230" y="1872055"/>
            <a:ext cx="8826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0  2   7</a:t>
            </a:r>
            <a:endParaRPr/>
          </a:p>
        </p:txBody>
      </p:sp>
      <p:sp>
        <p:nvSpPr>
          <p:cNvPr id="11385" name="Google Shape;11385;p120"/>
          <p:cNvSpPr txBox="1"/>
          <p:nvPr/>
        </p:nvSpPr>
        <p:spPr>
          <a:xfrm>
            <a:off x="21962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6" name="Google Shape;11386;p120"/>
          <p:cNvSpPr txBox="1"/>
          <p:nvPr/>
        </p:nvSpPr>
        <p:spPr>
          <a:xfrm>
            <a:off x="2424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7" name="Google Shape;11387;p120"/>
          <p:cNvSpPr txBox="1"/>
          <p:nvPr/>
        </p:nvSpPr>
        <p:spPr>
          <a:xfrm>
            <a:off x="2805830" y="22530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8" name="Google Shape;11388;p120"/>
          <p:cNvSpPr txBox="1"/>
          <p:nvPr/>
        </p:nvSpPr>
        <p:spPr>
          <a:xfrm>
            <a:off x="21962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89" name="Google Shape;11389;p120"/>
          <p:cNvSpPr txBox="1"/>
          <p:nvPr/>
        </p:nvSpPr>
        <p:spPr>
          <a:xfrm>
            <a:off x="2424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0" name="Google Shape;11390;p120"/>
          <p:cNvSpPr txBox="1"/>
          <p:nvPr/>
        </p:nvSpPr>
        <p:spPr>
          <a:xfrm>
            <a:off x="2805830" y="25578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391" name="Google Shape;11391;p120"/>
          <p:cNvSpPr txBox="1"/>
          <p:nvPr/>
        </p:nvSpPr>
        <p:spPr>
          <a:xfrm>
            <a:off x="2329580" y="1359292"/>
            <a:ext cx="70643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392" name="Google Shape;11392;p120"/>
          <p:cNvSpPr txBox="1"/>
          <p:nvPr/>
        </p:nvSpPr>
        <p:spPr>
          <a:xfrm rot="-5400000">
            <a:off x="1495349" y="4011211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sp>
        <p:nvSpPr>
          <p:cNvPr id="11393" name="Google Shape;11393;p120"/>
          <p:cNvSpPr txBox="1"/>
          <p:nvPr/>
        </p:nvSpPr>
        <p:spPr>
          <a:xfrm rot="-5400000">
            <a:off x="1495348" y="5819374"/>
            <a:ext cx="53816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cxnSp>
        <p:nvCxnSpPr>
          <p:cNvPr id="11394" name="Google Shape;11394;p120"/>
          <p:cNvCxnSpPr/>
          <p:nvPr/>
        </p:nvCxnSpPr>
        <p:spPr>
          <a:xfrm>
            <a:off x="2196230" y="34008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95" name="Google Shape;11395;p120"/>
          <p:cNvCxnSpPr/>
          <p:nvPr/>
        </p:nvCxnSpPr>
        <p:spPr>
          <a:xfrm>
            <a:off x="1891430" y="36294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96" name="Google Shape;11396;p120"/>
          <p:cNvSpPr txBox="1"/>
          <p:nvPr/>
        </p:nvSpPr>
        <p:spPr>
          <a:xfrm>
            <a:off x="2196230" y="32436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397" name="Google Shape;11397;p120"/>
          <p:cNvSpPr txBox="1"/>
          <p:nvPr/>
        </p:nvSpPr>
        <p:spPr>
          <a:xfrm>
            <a:off x="1891430" y="36246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398" name="Google Shape;11398;p120"/>
          <p:cNvSpPr txBox="1"/>
          <p:nvPr/>
        </p:nvSpPr>
        <p:spPr>
          <a:xfrm>
            <a:off x="1891430" y="3929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399" name="Google Shape;11399;p120"/>
          <p:cNvSpPr txBox="1"/>
          <p:nvPr/>
        </p:nvSpPr>
        <p:spPr>
          <a:xfrm>
            <a:off x="1891430" y="4234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00" name="Google Shape;11400;p120"/>
          <p:cNvSpPr txBox="1"/>
          <p:nvPr/>
        </p:nvSpPr>
        <p:spPr>
          <a:xfrm>
            <a:off x="25010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1" name="Google Shape;11401;p120"/>
          <p:cNvSpPr txBox="1"/>
          <p:nvPr/>
        </p:nvSpPr>
        <p:spPr>
          <a:xfrm>
            <a:off x="2805830" y="36246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2" name="Google Shape;11402;p120"/>
          <p:cNvSpPr txBox="1"/>
          <p:nvPr/>
        </p:nvSpPr>
        <p:spPr>
          <a:xfrm>
            <a:off x="21962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3" name="Google Shape;11403;p120"/>
          <p:cNvSpPr txBox="1"/>
          <p:nvPr/>
        </p:nvSpPr>
        <p:spPr>
          <a:xfrm>
            <a:off x="2424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4" name="Google Shape;11404;p120"/>
          <p:cNvSpPr txBox="1"/>
          <p:nvPr/>
        </p:nvSpPr>
        <p:spPr>
          <a:xfrm>
            <a:off x="2805830" y="4310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05" name="Google Shape;11405;p120"/>
          <p:cNvSpPr txBox="1"/>
          <p:nvPr/>
        </p:nvSpPr>
        <p:spPr>
          <a:xfrm>
            <a:off x="2318468" y="3134117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cxnSp>
        <p:nvCxnSpPr>
          <p:cNvPr id="11406" name="Google Shape;11406;p120"/>
          <p:cNvCxnSpPr/>
          <p:nvPr/>
        </p:nvCxnSpPr>
        <p:spPr>
          <a:xfrm>
            <a:off x="2196230" y="5229617"/>
            <a:ext cx="0" cy="121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07" name="Google Shape;11407;p120"/>
          <p:cNvCxnSpPr/>
          <p:nvPr/>
        </p:nvCxnSpPr>
        <p:spPr>
          <a:xfrm>
            <a:off x="1891430" y="5458217"/>
            <a:ext cx="13716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8" name="Google Shape;11408;p120"/>
          <p:cNvSpPr txBox="1"/>
          <p:nvPr/>
        </p:nvSpPr>
        <p:spPr>
          <a:xfrm>
            <a:off x="2196230" y="5072455"/>
            <a:ext cx="9080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   y   z</a:t>
            </a:r>
            <a:endParaRPr/>
          </a:p>
        </p:txBody>
      </p:sp>
      <p:sp>
        <p:nvSpPr>
          <p:cNvPr id="11409" name="Google Shape;11409;p120"/>
          <p:cNvSpPr txBox="1"/>
          <p:nvPr/>
        </p:nvSpPr>
        <p:spPr>
          <a:xfrm>
            <a:off x="1891430" y="54534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11410" name="Google Shape;11410;p120"/>
          <p:cNvSpPr txBox="1"/>
          <p:nvPr/>
        </p:nvSpPr>
        <p:spPr>
          <a:xfrm>
            <a:off x="1891430" y="57582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/>
          </a:p>
        </p:txBody>
      </p:sp>
      <p:sp>
        <p:nvSpPr>
          <p:cNvPr id="11411" name="Google Shape;11411;p120"/>
          <p:cNvSpPr txBox="1"/>
          <p:nvPr/>
        </p:nvSpPr>
        <p:spPr>
          <a:xfrm>
            <a:off x="1891430" y="606305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endParaRPr/>
          </a:p>
        </p:txBody>
      </p:sp>
      <p:sp>
        <p:nvSpPr>
          <p:cNvPr id="11412" name="Google Shape;11412;p120"/>
          <p:cNvSpPr txBox="1"/>
          <p:nvPr/>
        </p:nvSpPr>
        <p:spPr>
          <a:xfrm>
            <a:off x="2196230" y="5839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3" name="Google Shape;11413;p120"/>
          <p:cNvSpPr txBox="1"/>
          <p:nvPr/>
        </p:nvSpPr>
        <p:spPr>
          <a:xfrm>
            <a:off x="2424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4" name="Google Shape;11414;p120"/>
          <p:cNvSpPr txBox="1"/>
          <p:nvPr/>
        </p:nvSpPr>
        <p:spPr>
          <a:xfrm>
            <a:off x="2805830" y="5834455"/>
            <a:ext cx="347663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</p:txBody>
      </p:sp>
      <p:sp>
        <p:nvSpPr>
          <p:cNvPr id="11415" name="Google Shape;11415;p120"/>
          <p:cNvSpPr txBox="1"/>
          <p:nvPr/>
        </p:nvSpPr>
        <p:spPr>
          <a:xfrm>
            <a:off x="21962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1416" name="Google Shape;11416;p120"/>
          <p:cNvSpPr txBox="1"/>
          <p:nvPr/>
        </p:nvSpPr>
        <p:spPr>
          <a:xfrm>
            <a:off x="2424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417" name="Google Shape;11417;p120"/>
          <p:cNvSpPr txBox="1"/>
          <p:nvPr/>
        </p:nvSpPr>
        <p:spPr>
          <a:xfrm>
            <a:off x="2805830" y="6139255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418" name="Google Shape;11418;p120"/>
          <p:cNvSpPr txBox="1"/>
          <p:nvPr/>
        </p:nvSpPr>
        <p:spPr>
          <a:xfrm>
            <a:off x="2340693" y="4940692"/>
            <a:ext cx="70643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to</a:t>
            </a:r>
            <a:endParaRPr/>
          </a:p>
        </p:txBody>
      </p:sp>
      <p:sp>
        <p:nvSpPr>
          <p:cNvPr id="11419" name="Google Shape;11419;p120"/>
          <p:cNvSpPr txBox="1"/>
          <p:nvPr/>
        </p:nvSpPr>
        <p:spPr>
          <a:xfrm>
            <a:off x="2200424" y="3658910"/>
            <a:ext cx="946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2   0   1</a:t>
            </a:r>
            <a:endParaRPr/>
          </a:p>
        </p:txBody>
      </p:sp>
      <p:sp>
        <p:nvSpPr>
          <p:cNvPr id="11420" name="Google Shape;11420;p120"/>
          <p:cNvSpPr txBox="1"/>
          <p:nvPr/>
        </p:nvSpPr>
        <p:spPr>
          <a:xfrm>
            <a:off x="2196230" y="5458217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∞ ∞  ∞</a:t>
            </a:r>
            <a:endParaRPr/>
          </a:p>
        </p:txBody>
      </p:sp>
      <p:cxnSp>
        <p:nvCxnSpPr>
          <p:cNvPr id="11421" name="Google Shape;11421;p120"/>
          <p:cNvCxnSpPr/>
          <p:nvPr/>
        </p:nvCxnSpPr>
        <p:spPr>
          <a:xfrm>
            <a:off x="3186830" y="2181617"/>
            <a:ext cx="685800" cy="1524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2" name="Google Shape;11422;p120"/>
          <p:cNvCxnSpPr/>
          <p:nvPr/>
        </p:nvCxnSpPr>
        <p:spPr>
          <a:xfrm>
            <a:off x="3110630" y="2257817"/>
            <a:ext cx="685800" cy="312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3" name="Google Shape;11423;p120"/>
          <p:cNvCxnSpPr/>
          <p:nvPr/>
        </p:nvCxnSpPr>
        <p:spPr>
          <a:xfrm flipH="1" rot="10800000">
            <a:off x="3110630" y="2715017"/>
            <a:ext cx="762000" cy="129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4" name="Google Shape;11424;p120"/>
          <p:cNvCxnSpPr/>
          <p:nvPr/>
        </p:nvCxnSpPr>
        <p:spPr>
          <a:xfrm>
            <a:off x="3110630" y="4315217"/>
            <a:ext cx="609600" cy="11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5" name="Google Shape;11425;p120"/>
          <p:cNvCxnSpPr/>
          <p:nvPr/>
        </p:nvCxnSpPr>
        <p:spPr>
          <a:xfrm flipH="1" rot="10800000">
            <a:off x="3110630" y="2791217"/>
            <a:ext cx="838200" cy="342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6" name="Google Shape;11426;p120"/>
          <p:cNvCxnSpPr/>
          <p:nvPr/>
        </p:nvCxnSpPr>
        <p:spPr>
          <a:xfrm flipH="1" rot="10800000">
            <a:off x="3186830" y="4543817"/>
            <a:ext cx="762000" cy="175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427" name="Google Shape;11427;p120"/>
          <p:cNvGrpSpPr/>
          <p:nvPr/>
        </p:nvGrpSpPr>
        <p:grpSpPr>
          <a:xfrm>
            <a:off x="9037572" y="2949053"/>
            <a:ext cx="2184400" cy="1212850"/>
            <a:chOff x="2352" y="0"/>
            <a:chExt cx="1376" cy="764"/>
          </a:xfrm>
        </p:grpSpPr>
        <p:sp>
          <p:nvSpPr>
            <p:cNvPr id="11428" name="Google Shape;11428;p120"/>
            <p:cNvSpPr/>
            <p:nvPr/>
          </p:nvSpPr>
          <p:spPr>
            <a:xfrm>
              <a:off x="2352" y="0"/>
              <a:ext cx="1376" cy="764"/>
            </a:xfrm>
            <a:custGeom>
              <a:rect b="b" l="l" r="r" t="t"/>
              <a:pathLst>
                <a:path extrusionOk="0" h="764" w="1376">
                  <a:moveTo>
                    <a:pt x="113" y="348"/>
                  </a:moveTo>
                  <a:cubicBezTo>
                    <a:pt x="166" y="270"/>
                    <a:pt x="296" y="218"/>
                    <a:pt x="395" y="162"/>
                  </a:cubicBezTo>
                  <a:cubicBezTo>
                    <a:pt x="494" y="106"/>
                    <a:pt x="583" y="0"/>
                    <a:pt x="710" y="9"/>
                  </a:cubicBezTo>
                  <a:cubicBezTo>
                    <a:pt x="837" y="18"/>
                    <a:pt x="1051" y="136"/>
                    <a:pt x="1160" y="219"/>
                  </a:cubicBezTo>
                  <a:cubicBezTo>
                    <a:pt x="1269" y="302"/>
                    <a:pt x="1376" y="426"/>
                    <a:pt x="1367" y="510"/>
                  </a:cubicBezTo>
                  <a:cubicBezTo>
                    <a:pt x="1358" y="594"/>
                    <a:pt x="1234" y="688"/>
                    <a:pt x="1103" y="726"/>
                  </a:cubicBezTo>
                  <a:cubicBezTo>
                    <a:pt x="972" y="764"/>
                    <a:pt x="749" y="754"/>
                    <a:pt x="578" y="738"/>
                  </a:cubicBezTo>
                  <a:cubicBezTo>
                    <a:pt x="407" y="722"/>
                    <a:pt x="154" y="695"/>
                    <a:pt x="77" y="630"/>
                  </a:cubicBezTo>
                  <a:cubicBezTo>
                    <a:pt x="0" y="565"/>
                    <a:pt x="60" y="426"/>
                    <a:pt x="113" y="348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429" name="Google Shape;11429;p120"/>
            <p:cNvGrpSpPr/>
            <p:nvPr/>
          </p:nvGrpSpPr>
          <p:grpSpPr>
            <a:xfrm>
              <a:off x="2448" y="70"/>
              <a:ext cx="1161" cy="676"/>
              <a:chOff x="-17" y="1282"/>
              <a:chExt cx="1161" cy="676"/>
            </a:xfrm>
          </p:grpSpPr>
          <p:sp>
            <p:nvSpPr>
              <p:cNvPr id="11430" name="Google Shape;11430;p120"/>
              <p:cNvSpPr/>
              <p:nvPr/>
            </p:nvSpPr>
            <p:spPr>
              <a:xfrm>
                <a:off x="246" y="1476"/>
                <a:ext cx="222" cy="180"/>
              </a:xfrm>
              <a:custGeom>
                <a:rect b="b" l="l" r="r" t="t"/>
                <a:pathLst>
                  <a:path extrusionOk="0" h="180" w="222">
                    <a:moveTo>
                      <a:pt x="0" y="180"/>
                    </a:moveTo>
                    <a:lnTo>
                      <a:pt x="222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1" name="Google Shape;11431;p120"/>
              <p:cNvSpPr/>
              <p:nvPr/>
            </p:nvSpPr>
            <p:spPr>
              <a:xfrm>
                <a:off x="-14" y="1712"/>
                <a:ext cx="313" cy="81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1432" name="Google Shape;11432;p120"/>
              <p:cNvCxnSpPr/>
              <p:nvPr/>
            </p:nvCxnSpPr>
            <p:spPr>
              <a:xfrm>
                <a:off x="-14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433" name="Google Shape;11433;p120"/>
              <p:cNvCxnSpPr/>
              <p:nvPr/>
            </p:nvCxnSpPr>
            <p:spPr>
              <a:xfrm>
                <a:off x="299" y="1705"/>
                <a:ext cx="1" cy="5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34" name="Google Shape;11434;p120"/>
              <p:cNvSpPr/>
              <p:nvPr/>
            </p:nvSpPr>
            <p:spPr>
              <a:xfrm>
                <a:off x="-14" y="1705"/>
                <a:ext cx="310" cy="49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5" name="Google Shape;11435;p120"/>
              <p:cNvSpPr/>
              <p:nvPr/>
            </p:nvSpPr>
            <p:spPr>
              <a:xfrm>
                <a:off x="-17" y="1646"/>
                <a:ext cx="313" cy="95"/>
              </a:xfrm>
              <a:prstGeom prst="ellipse">
                <a:avLst/>
              </a:prstGeom>
              <a:solidFill>
                <a:srgbClr val="CCCCFF"/>
              </a:solidFill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6" name="Google Shape;11436;p120"/>
              <p:cNvSpPr/>
              <p:nvPr/>
            </p:nvSpPr>
            <p:spPr>
              <a:xfrm>
                <a:off x="651" y="1476"/>
                <a:ext cx="216" cy="189"/>
              </a:xfrm>
              <a:custGeom>
                <a:rect b="b" l="l" r="r" t="t"/>
                <a:pathLst>
                  <a:path extrusionOk="0" h="189" w="216">
                    <a:moveTo>
                      <a:pt x="0" y="0"/>
                    </a:moveTo>
                    <a:lnTo>
                      <a:pt x="216" y="189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7" name="Google Shape;11437;p120"/>
              <p:cNvSpPr/>
              <p:nvPr/>
            </p:nvSpPr>
            <p:spPr>
              <a:xfrm>
                <a:off x="303" y="1740"/>
                <a:ext cx="540" cy="3"/>
              </a:xfrm>
              <a:custGeom>
                <a:rect b="b" l="l" r="r" t="t"/>
                <a:pathLst>
                  <a:path extrusionOk="0" h="3" w="540">
                    <a:moveTo>
                      <a:pt x="540" y="3"/>
                    </a:moveTo>
                    <a:lnTo>
                      <a:pt x="0" y="0"/>
                    </a:lnTo>
                  </a:path>
                </a:pathLst>
              </a:cu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38" name="Google Shape;11438;p120"/>
              <p:cNvGrpSpPr/>
              <p:nvPr/>
            </p:nvGrpSpPr>
            <p:grpSpPr>
              <a:xfrm>
                <a:off x="39" y="1594"/>
                <a:ext cx="196" cy="250"/>
                <a:chOff x="2959" y="2425"/>
                <a:chExt cx="197" cy="250"/>
              </a:xfrm>
            </p:grpSpPr>
            <p:sp>
              <p:nvSpPr>
                <p:cNvPr id="11439" name="Google Shape;11439;p120"/>
                <p:cNvSpPr/>
                <p:nvPr/>
              </p:nvSpPr>
              <p:spPr>
                <a:xfrm>
                  <a:off x="2982" y="2490"/>
                  <a:ext cx="144" cy="132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0" name="Google Shape;11440;p120"/>
                <p:cNvSpPr txBox="1"/>
                <p:nvPr/>
              </p:nvSpPr>
              <p:spPr>
                <a:xfrm>
                  <a:off x="2959" y="2425"/>
                  <a:ext cx="197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x</a:t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41" name="Google Shape;11441;p120"/>
              <p:cNvGrpSpPr/>
              <p:nvPr/>
            </p:nvGrpSpPr>
            <p:grpSpPr>
              <a:xfrm>
                <a:off x="828" y="1576"/>
                <a:ext cx="316" cy="288"/>
                <a:chOff x="1740" y="2272"/>
                <a:chExt cx="316" cy="288"/>
              </a:xfrm>
            </p:grpSpPr>
            <p:sp>
              <p:nvSpPr>
                <p:cNvPr id="11442" name="Google Shape;11442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43" name="Google Shape;11443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44" name="Google Shape;11444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45" name="Google Shape;11445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46" name="Google Shape;11446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47" name="Google Shape;11447;p120"/>
                <p:cNvGrpSpPr/>
                <p:nvPr/>
              </p:nvGrpSpPr>
              <p:grpSpPr>
                <a:xfrm>
                  <a:off x="1795" y="2272"/>
                  <a:ext cx="212" cy="288"/>
                  <a:chOff x="2951" y="2395"/>
                  <a:chExt cx="213" cy="288"/>
                </a:xfrm>
              </p:grpSpPr>
              <p:sp>
                <p:nvSpPr>
                  <p:cNvPr id="11448" name="Google Shape;11448;p120"/>
                  <p:cNvSpPr/>
                  <p:nvPr/>
                </p:nvSpPr>
                <p:spPr>
                  <a:xfrm>
                    <a:off x="2982" y="2490"/>
                    <a:ext cx="144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49" name="Google Shape;11449;p120"/>
                  <p:cNvSpPr txBox="1"/>
                  <p:nvPr/>
                </p:nvSpPr>
                <p:spPr>
                  <a:xfrm>
                    <a:off x="2951" y="2395"/>
                    <a:ext cx="213" cy="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400"/>
                      <a:buFont typeface="Arial"/>
                      <a:buNone/>
                    </a:pPr>
                    <a:r>
                      <a:rPr b="0" i="0" lang="en-US" sz="2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z</a:t>
                    </a:r>
                    <a:endParaRPr/>
                  </a:p>
                </p:txBody>
              </p:sp>
            </p:grpSp>
          </p:grpSp>
          <p:sp>
            <p:nvSpPr>
              <p:cNvPr id="11450" name="Google Shape;11450;p120"/>
              <p:cNvSpPr txBox="1"/>
              <p:nvPr/>
            </p:nvSpPr>
            <p:spPr>
              <a:xfrm>
                <a:off x="724" y="139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1" name="Google Shape;11451;p120"/>
              <p:cNvSpPr txBox="1"/>
              <p:nvPr/>
            </p:nvSpPr>
            <p:spPr>
              <a:xfrm>
                <a:off x="196" y="1394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52" name="Google Shape;11452;p120"/>
              <p:cNvSpPr txBox="1"/>
              <p:nvPr/>
            </p:nvSpPr>
            <p:spPr>
              <a:xfrm>
                <a:off x="481" y="1727"/>
                <a:ext cx="196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 b="0" i="0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453" name="Google Shape;11453;p120"/>
              <p:cNvGrpSpPr/>
              <p:nvPr/>
            </p:nvGrpSpPr>
            <p:grpSpPr>
              <a:xfrm>
                <a:off x="408" y="1282"/>
                <a:ext cx="316" cy="250"/>
                <a:chOff x="1740" y="2302"/>
                <a:chExt cx="316" cy="250"/>
              </a:xfrm>
            </p:grpSpPr>
            <p:sp>
              <p:nvSpPr>
                <p:cNvPr id="11454" name="Google Shape;11454;p120"/>
                <p:cNvSpPr/>
                <p:nvPr/>
              </p:nvSpPr>
              <p:spPr>
                <a:xfrm>
                  <a:off x="1743" y="2420"/>
                  <a:ext cx="313" cy="81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1455" name="Google Shape;11455;p120"/>
                <p:cNvCxnSpPr/>
                <p:nvPr/>
              </p:nvCxnSpPr>
              <p:spPr>
                <a:xfrm>
                  <a:off x="1743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56" name="Google Shape;11456;p120"/>
                <p:cNvCxnSpPr/>
                <p:nvPr/>
              </p:nvCxnSpPr>
              <p:spPr>
                <a:xfrm>
                  <a:off x="2056" y="2413"/>
                  <a:ext cx="0" cy="5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1457" name="Google Shape;11457;p120"/>
                <p:cNvSpPr/>
                <p:nvPr/>
              </p:nvSpPr>
              <p:spPr>
                <a:xfrm>
                  <a:off x="1743" y="2413"/>
                  <a:ext cx="310" cy="49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400"/>
                    <a:buFont typeface="Calibri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58" name="Google Shape;11458;p120"/>
                <p:cNvSpPr/>
                <p:nvPr/>
              </p:nvSpPr>
              <p:spPr>
                <a:xfrm>
                  <a:off x="1740" y="2354"/>
                  <a:ext cx="313" cy="95"/>
                </a:xfrm>
                <a:prstGeom prst="ellipse">
                  <a:avLst/>
                </a:prstGeom>
                <a:solidFill>
                  <a:srgbClr val="CCCCFF"/>
                </a:solidFill>
                <a:ln cap="flat" cmpd="sng" w="1270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459" name="Google Shape;11459;p120"/>
                <p:cNvGrpSpPr/>
                <p:nvPr/>
              </p:nvGrpSpPr>
              <p:grpSpPr>
                <a:xfrm>
                  <a:off x="1803" y="2302"/>
                  <a:ext cx="196" cy="250"/>
                  <a:chOff x="2958" y="2425"/>
                  <a:chExt cx="198" cy="250"/>
                </a:xfrm>
              </p:grpSpPr>
              <p:sp>
                <p:nvSpPr>
                  <p:cNvPr id="11460" name="Google Shape;11460;p120"/>
                  <p:cNvSpPr/>
                  <p:nvPr/>
                </p:nvSpPr>
                <p:spPr>
                  <a:xfrm>
                    <a:off x="2982" y="2490"/>
                    <a:ext cx="142" cy="132"/>
                  </a:xfrm>
                  <a:prstGeom prst="rect">
                    <a:avLst/>
                  </a:prstGeom>
                  <a:solidFill>
                    <a:srgbClr val="CCCC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461" name="Google Shape;11461;p120"/>
                  <p:cNvSpPr txBox="1"/>
                  <p:nvPr/>
                </p:nvSpPr>
                <p:spPr>
                  <a:xfrm>
                    <a:off x="2958" y="2425"/>
                    <a:ext cx="198" cy="25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0" i="0" lang="en-US" sz="20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y</a:t>
                    </a:r>
                    <a:endParaRPr b="0" i="0" sz="2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</p:grpSp>
      <p:sp>
        <p:nvSpPr>
          <p:cNvPr id="11462" name="Google Shape;11462;p120"/>
          <p:cNvSpPr txBox="1"/>
          <p:nvPr/>
        </p:nvSpPr>
        <p:spPr>
          <a:xfrm>
            <a:off x="1471097" y="1455629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3" name="Google Shape;11463;p120"/>
          <p:cNvSpPr/>
          <p:nvPr/>
        </p:nvSpPr>
        <p:spPr>
          <a:xfrm>
            <a:off x="2196230" y="18768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4" name="Google Shape;11464;p120"/>
          <p:cNvSpPr/>
          <p:nvPr/>
        </p:nvSpPr>
        <p:spPr>
          <a:xfrm>
            <a:off x="2196230" y="39342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5" name="Google Shape;11465;p120"/>
          <p:cNvSpPr/>
          <p:nvPr/>
        </p:nvSpPr>
        <p:spPr>
          <a:xfrm>
            <a:off x="2196230" y="6144017"/>
            <a:ext cx="1066800" cy="381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6" name="Google Shape;11466;p120"/>
          <p:cNvSpPr txBox="1"/>
          <p:nvPr/>
        </p:nvSpPr>
        <p:spPr>
          <a:xfrm>
            <a:off x="1499672" y="3214405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7" name="Google Shape;11467;p120"/>
          <p:cNvSpPr txBox="1"/>
          <p:nvPr/>
        </p:nvSpPr>
        <p:spPr>
          <a:xfrm>
            <a:off x="1480970" y="5037203"/>
            <a:ext cx="715260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aseline="-25000"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i="0" lang="en-US" sz="2400" u="none" cap="none" strike="noStrike">
                <a:solidFill>
                  <a:srgbClr val="0000A8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/>
          </a:p>
        </p:txBody>
      </p:sp>
      <p:sp>
        <p:nvSpPr>
          <p:cNvPr id="11468" name="Google Shape;11468;p120"/>
          <p:cNvSpPr txBox="1"/>
          <p:nvPr/>
        </p:nvSpPr>
        <p:spPr>
          <a:xfrm rot="-5400000">
            <a:off x="1538212" y="2268136"/>
            <a:ext cx="5381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endParaRPr/>
          </a:p>
        </p:txBody>
      </p:sp>
      <p:grpSp>
        <p:nvGrpSpPr>
          <p:cNvPr id="11469" name="Google Shape;11469;p120"/>
          <p:cNvGrpSpPr/>
          <p:nvPr/>
        </p:nvGrpSpPr>
        <p:grpSpPr>
          <a:xfrm>
            <a:off x="3737691" y="1343416"/>
            <a:ext cx="3792538" cy="5105400"/>
            <a:chOff x="2760663" y="1143000"/>
            <a:chExt cx="3792538" cy="5105400"/>
          </a:xfrm>
        </p:grpSpPr>
        <p:cxnSp>
          <p:nvCxnSpPr>
            <p:cNvPr id="11470" name="Google Shape;11470;p120"/>
            <p:cNvCxnSpPr/>
            <p:nvPr/>
          </p:nvCxnSpPr>
          <p:spPr>
            <a:xfrm>
              <a:off x="5486400" y="1524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1" name="Google Shape;11471;p120"/>
            <p:cNvCxnSpPr/>
            <p:nvPr/>
          </p:nvCxnSpPr>
          <p:spPr>
            <a:xfrm>
              <a:off x="5181600" y="1752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72" name="Google Shape;11472;p120"/>
            <p:cNvSpPr txBox="1"/>
            <p:nvPr/>
          </p:nvSpPr>
          <p:spPr>
            <a:xfrm>
              <a:off x="5486400" y="1366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73" name="Google Shape;11473;p120"/>
            <p:cNvSpPr txBox="1"/>
            <p:nvPr/>
          </p:nvSpPr>
          <p:spPr>
            <a:xfrm>
              <a:off x="5181600" y="1747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74" name="Google Shape;11474;p120"/>
            <p:cNvSpPr txBox="1"/>
            <p:nvPr/>
          </p:nvSpPr>
          <p:spPr>
            <a:xfrm>
              <a:off x="5181600" y="2052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75" name="Google Shape;11475;p120"/>
            <p:cNvSpPr txBox="1"/>
            <p:nvPr/>
          </p:nvSpPr>
          <p:spPr>
            <a:xfrm>
              <a:off x="5181600" y="2357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76" name="Google Shape;11476;p120"/>
            <p:cNvSpPr txBox="1"/>
            <p:nvPr/>
          </p:nvSpPr>
          <p:spPr>
            <a:xfrm>
              <a:off x="5486400" y="174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77" name="Google Shape;11477;p120"/>
            <p:cNvSpPr txBox="1"/>
            <p:nvPr/>
          </p:nvSpPr>
          <p:spPr>
            <a:xfrm rot="-5400000">
              <a:off x="4820443" y="2167732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78" name="Google Shape;11478;p120"/>
            <p:cNvSpPr txBox="1"/>
            <p:nvPr/>
          </p:nvSpPr>
          <p:spPr>
            <a:xfrm>
              <a:off x="5608638" y="12239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79" name="Google Shape;11479;p120"/>
            <p:cNvCxnSpPr/>
            <p:nvPr/>
          </p:nvCxnSpPr>
          <p:spPr>
            <a:xfrm>
              <a:off x="3276600" y="32004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0" name="Google Shape;11480;p120"/>
            <p:cNvCxnSpPr/>
            <p:nvPr/>
          </p:nvCxnSpPr>
          <p:spPr>
            <a:xfrm>
              <a:off x="2971800" y="34290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81" name="Google Shape;11481;p120"/>
            <p:cNvSpPr txBox="1"/>
            <p:nvPr/>
          </p:nvSpPr>
          <p:spPr>
            <a:xfrm>
              <a:off x="3276600" y="30432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82" name="Google Shape;11482;p120"/>
            <p:cNvSpPr txBox="1"/>
            <p:nvPr/>
          </p:nvSpPr>
          <p:spPr>
            <a:xfrm>
              <a:off x="2971800" y="3424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83" name="Google Shape;11483;p120"/>
            <p:cNvSpPr txBox="1"/>
            <p:nvPr/>
          </p:nvSpPr>
          <p:spPr>
            <a:xfrm>
              <a:off x="2971800" y="3729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84" name="Google Shape;11484;p120"/>
            <p:cNvSpPr txBox="1"/>
            <p:nvPr/>
          </p:nvSpPr>
          <p:spPr>
            <a:xfrm>
              <a:off x="2971800" y="4033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85" name="Google Shape;11485;p120"/>
            <p:cNvSpPr txBox="1"/>
            <p:nvPr/>
          </p:nvSpPr>
          <p:spPr>
            <a:xfrm>
              <a:off x="3276600" y="34242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486" name="Google Shape;11486;p120"/>
            <p:cNvSpPr txBox="1"/>
            <p:nvPr/>
          </p:nvSpPr>
          <p:spPr>
            <a:xfrm rot="-5400000">
              <a:off x="2643981" y="38219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87" name="Google Shape;11487;p120"/>
            <p:cNvSpPr txBox="1"/>
            <p:nvPr/>
          </p:nvSpPr>
          <p:spPr>
            <a:xfrm>
              <a:off x="3421063" y="2900363"/>
              <a:ext cx="706437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88" name="Google Shape;11488;p120"/>
            <p:cNvCxnSpPr/>
            <p:nvPr/>
          </p:nvCxnSpPr>
          <p:spPr>
            <a:xfrm>
              <a:off x="5486400" y="32766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9" name="Google Shape;11489;p120"/>
            <p:cNvCxnSpPr/>
            <p:nvPr/>
          </p:nvCxnSpPr>
          <p:spPr>
            <a:xfrm>
              <a:off x="5181600" y="35052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0" name="Google Shape;11490;p120"/>
            <p:cNvSpPr txBox="1"/>
            <p:nvPr/>
          </p:nvSpPr>
          <p:spPr>
            <a:xfrm>
              <a:off x="5486400" y="31194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491" name="Google Shape;11491;p120"/>
            <p:cNvSpPr txBox="1"/>
            <p:nvPr/>
          </p:nvSpPr>
          <p:spPr>
            <a:xfrm>
              <a:off x="5181600" y="3500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492" name="Google Shape;11492;p120"/>
            <p:cNvSpPr txBox="1"/>
            <p:nvPr/>
          </p:nvSpPr>
          <p:spPr>
            <a:xfrm>
              <a:off x="5181600" y="3805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493" name="Google Shape;11493;p120"/>
            <p:cNvSpPr txBox="1"/>
            <p:nvPr/>
          </p:nvSpPr>
          <p:spPr>
            <a:xfrm>
              <a:off x="5181600" y="41100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494" name="Google Shape;11494;p120"/>
            <p:cNvSpPr txBox="1"/>
            <p:nvPr/>
          </p:nvSpPr>
          <p:spPr>
            <a:xfrm>
              <a:off x="5486400" y="35004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495" name="Google Shape;11495;p120"/>
            <p:cNvSpPr txBox="1"/>
            <p:nvPr/>
          </p:nvSpPr>
          <p:spPr>
            <a:xfrm rot="-5400000">
              <a:off x="4820443" y="3898107"/>
              <a:ext cx="538163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496" name="Google Shape;11496;p120"/>
            <p:cNvSpPr txBox="1"/>
            <p:nvPr/>
          </p:nvSpPr>
          <p:spPr>
            <a:xfrm>
              <a:off x="5597525" y="296545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497" name="Google Shape;11497;p120"/>
            <p:cNvCxnSpPr/>
            <p:nvPr/>
          </p:nvCxnSpPr>
          <p:spPr>
            <a:xfrm>
              <a:off x="54102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8" name="Google Shape;11498;p120"/>
            <p:cNvCxnSpPr/>
            <p:nvPr/>
          </p:nvCxnSpPr>
          <p:spPr>
            <a:xfrm>
              <a:off x="51054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99" name="Google Shape;11499;p120"/>
            <p:cNvSpPr txBox="1"/>
            <p:nvPr/>
          </p:nvSpPr>
          <p:spPr>
            <a:xfrm>
              <a:off x="54102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0" name="Google Shape;11500;p120"/>
            <p:cNvSpPr txBox="1"/>
            <p:nvPr/>
          </p:nvSpPr>
          <p:spPr>
            <a:xfrm>
              <a:off x="51054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01" name="Google Shape;11501;p120"/>
            <p:cNvSpPr txBox="1"/>
            <p:nvPr/>
          </p:nvSpPr>
          <p:spPr>
            <a:xfrm>
              <a:off x="51054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02" name="Google Shape;11502;p120"/>
            <p:cNvSpPr txBox="1"/>
            <p:nvPr/>
          </p:nvSpPr>
          <p:spPr>
            <a:xfrm>
              <a:off x="51054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03" name="Google Shape;11503;p120"/>
            <p:cNvSpPr txBox="1"/>
            <p:nvPr/>
          </p:nvSpPr>
          <p:spPr>
            <a:xfrm>
              <a:off x="54102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0  2   3</a:t>
              </a:r>
              <a:endParaRPr/>
            </a:p>
          </p:txBody>
        </p:sp>
        <p:sp>
          <p:nvSpPr>
            <p:cNvPr id="11504" name="Google Shape;11504;p120"/>
            <p:cNvSpPr txBox="1"/>
            <p:nvPr/>
          </p:nvSpPr>
          <p:spPr>
            <a:xfrm rot="-5400000">
              <a:off x="4755357" y="556339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05" name="Google Shape;11505;p120"/>
            <p:cNvSpPr txBox="1"/>
            <p:nvPr/>
          </p:nvSpPr>
          <p:spPr>
            <a:xfrm>
              <a:off x="5521325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cxnSp>
          <p:nvCxnSpPr>
            <p:cNvPr id="11506" name="Google Shape;11506;p120"/>
            <p:cNvCxnSpPr/>
            <p:nvPr/>
          </p:nvCxnSpPr>
          <p:spPr>
            <a:xfrm>
              <a:off x="3276600" y="49530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7" name="Google Shape;11507;p120"/>
            <p:cNvCxnSpPr/>
            <p:nvPr/>
          </p:nvCxnSpPr>
          <p:spPr>
            <a:xfrm>
              <a:off x="2971800" y="51816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08" name="Google Shape;11508;p120"/>
            <p:cNvSpPr txBox="1"/>
            <p:nvPr/>
          </p:nvSpPr>
          <p:spPr>
            <a:xfrm>
              <a:off x="3276600" y="47958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09" name="Google Shape;11509;p120"/>
            <p:cNvSpPr txBox="1"/>
            <p:nvPr/>
          </p:nvSpPr>
          <p:spPr>
            <a:xfrm>
              <a:off x="2971800" y="51768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10" name="Google Shape;11510;p120"/>
            <p:cNvSpPr txBox="1"/>
            <p:nvPr/>
          </p:nvSpPr>
          <p:spPr>
            <a:xfrm>
              <a:off x="2971800" y="548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11" name="Google Shape;11511;p120"/>
            <p:cNvSpPr txBox="1"/>
            <p:nvPr/>
          </p:nvSpPr>
          <p:spPr>
            <a:xfrm>
              <a:off x="2971800" y="578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12" name="Google Shape;11512;p120"/>
            <p:cNvSpPr txBox="1"/>
            <p:nvPr/>
          </p:nvSpPr>
          <p:spPr>
            <a:xfrm>
              <a:off x="3276600" y="5176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0  2   7</a:t>
              </a:r>
              <a:endParaRPr/>
            </a:p>
          </p:txBody>
        </p:sp>
        <p:sp>
          <p:nvSpPr>
            <p:cNvPr id="11513" name="Google Shape;11513;p120"/>
            <p:cNvSpPr txBox="1"/>
            <p:nvPr/>
          </p:nvSpPr>
          <p:spPr>
            <a:xfrm rot="-5400000">
              <a:off x="2643982" y="55316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sp>
          <p:nvSpPr>
            <p:cNvPr id="11514" name="Google Shape;11514;p120"/>
            <p:cNvSpPr txBox="1"/>
            <p:nvPr/>
          </p:nvSpPr>
          <p:spPr>
            <a:xfrm>
              <a:off x="3409950" y="4664075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  <p:sp>
          <p:nvSpPr>
            <p:cNvPr id="11515" name="Google Shape;11515;p120"/>
            <p:cNvSpPr txBox="1"/>
            <p:nvPr/>
          </p:nvSpPr>
          <p:spPr>
            <a:xfrm>
              <a:off x="3276600" y="3771900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6" name="Google Shape;11516;p120"/>
            <p:cNvSpPr txBox="1"/>
            <p:nvPr/>
          </p:nvSpPr>
          <p:spPr>
            <a:xfrm>
              <a:off x="3276600" y="4110038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17" name="Google Shape;11517;p120"/>
            <p:cNvSpPr txBox="1"/>
            <p:nvPr/>
          </p:nvSpPr>
          <p:spPr>
            <a:xfrm>
              <a:off x="3276600" y="55578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18" name="Google Shape;11518;p120"/>
            <p:cNvSpPr txBox="1"/>
            <p:nvPr/>
          </p:nvSpPr>
          <p:spPr>
            <a:xfrm>
              <a:off x="32766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19" name="Google Shape;11519;p120"/>
            <p:cNvSpPr txBox="1"/>
            <p:nvPr/>
          </p:nvSpPr>
          <p:spPr>
            <a:xfrm>
              <a:off x="5486400" y="20955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20" name="Google Shape;11520;p120"/>
            <p:cNvSpPr txBox="1"/>
            <p:nvPr/>
          </p:nvSpPr>
          <p:spPr>
            <a:xfrm>
              <a:off x="5486400" y="2433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1" name="Google Shape;11521;p120"/>
            <p:cNvSpPr txBox="1"/>
            <p:nvPr/>
          </p:nvSpPr>
          <p:spPr>
            <a:xfrm>
              <a:off x="5486400" y="3825875"/>
              <a:ext cx="8826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2" name="Google Shape;11522;p120"/>
            <p:cNvSpPr txBox="1"/>
            <p:nvPr/>
          </p:nvSpPr>
          <p:spPr>
            <a:xfrm>
              <a:off x="5410200" y="5862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sp>
          <p:nvSpPr>
            <p:cNvPr id="11523" name="Google Shape;11523;p120"/>
            <p:cNvSpPr txBox="1"/>
            <p:nvPr/>
          </p:nvSpPr>
          <p:spPr>
            <a:xfrm>
              <a:off x="5410200" y="54816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2  0   1</a:t>
              </a:r>
              <a:endParaRPr/>
            </a:p>
          </p:txBody>
        </p:sp>
        <p:sp>
          <p:nvSpPr>
            <p:cNvPr id="11524" name="Google Shape;11524;p120"/>
            <p:cNvSpPr txBox="1"/>
            <p:nvPr/>
          </p:nvSpPr>
          <p:spPr>
            <a:xfrm>
              <a:off x="5486400" y="4110038"/>
              <a:ext cx="8826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3  1   0</a:t>
              </a:r>
              <a:endParaRPr/>
            </a:p>
          </p:txBody>
        </p:sp>
        <p:cxnSp>
          <p:nvCxnSpPr>
            <p:cNvPr id="11525" name="Google Shape;11525;p120"/>
            <p:cNvCxnSpPr/>
            <p:nvPr/>
          </p:nvCxnSpPr>
          <p:spPr>
            <a:xfrm>
              <a:off x="4267200" y="1981200"/>
              <a:ext cx="762000" cy="160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6" name="Google Shape;11526;p120"/>
            <p:cNvCxnSpPr/>
            <p:nvPr/>
          </p:nvCxnSpPr>
          <p:spPr>
            <a:xfrm>
              <a:off x="4191000" y="2057400"/>
              <a:ext cx="838200" cy="2971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7" name="Google Shape;11527;p120"/>
            <p:cNvCxnSpPr/>
            <p:nvPr/>
          </p:nvCxnSpPr>
          <p:spPr>
            <a:xfrm flipH="1" rot="10800000">
              <a:off x="4114800" y="2743200"/>
              <a:ext cx="1143000" cy="3200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28" name="Google Shape;11528;p120"/>
            <p:cNvCxnSpPr/>
            <p:nvPr/>
          </p:nvCxnSpPr>
          <p:spPr>
            <a:xfrm flipH="1" rot="10800000">
              <a:off x="4114800" y="4419600"/>
              <a:ext cx="1066800" cy="1676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29" name="Google Shape;11529;p120"/>
            <p:cNvSpPr/>
            <p:nvPr/>
          </p:nvSpPr>
          <p:spPr>
            <a:xfrm>
              <a:off x="3200400" y="5867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0" name="Google Shape;11530;p120"/>
            <p:cNvSpPr txBox="1"/>
            <p:nvPr/>
          </p:nvSpPr>
          <p:spPr>
            <a:xfrm rot="-5400000">
              <a:off x="2650332" y="2026444"/>
              <a:ext cx="538162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from</a:t>
              </a:r>
              <a:endParaRPr/>
            </a:p>
          </p:txBody>
        </p:sp>
        <p:cxnSp>
          <p:nvCxnSpPr>
            <p:cNvPr id="11531" name="Google Shape;11531;p120"/>
            <p:cNvCxnSpPr/>
            <p:nvPr/>
          </p:nvCxnSpPr>
          <p:spPr>
            <a:xfrm>
              <a:off x="3276600" y="1447800"/>
              <a:ext cx="0" cy="1219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2" name="Google Shape;11532;p120"/>
            <p:cNvCxnSpPr/>
            <p:nvPr/>
          </p:nvCxnSpPr>
          <p:spPr>
            <a:xfrm>
              <a:off x="2971800" y="1676400"/>
              <a:ext cx="1371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33" name="Google Shape;11533;p120"/>
            <p:cNvSpPr txBox="1"/>
            <p:nvPr/>
          </p:nvSpPr>
          <p:spPr>
            <a:xfrm>
              <a:off x="3276600" y="1290638"/>
              <a:ext cx="9080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   y   z</a:t>
              </a:r>
              <a:endParaRPr/>
            </a:p>
          </p:txBody>
        </p:sp>
        <p:sp>
          <p:nvSpPr>
            <p:cNvPr id="11534" name="Google Shape;11534;p120"/>
            <p:cNvSpPr txBox="1"/>
            <p:nvPr/>
          </p:nvSpPr>
          <p:spPr>
            <a:xfrm>
              <a:off x="2971800" y="16716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11535" name="Google Shape;11535;p120"/>
            <p:cNvSpPr txBox="1"/>
            <p:nvPr/>
          </p:nvSpPr>
          <p:spPr>
            <a:xfrm>
              <a:off x="2971800" y="19764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endParaRPr/>
            </a:p>
          </p:txBody>
        </p:sp>
        <p:sp>
          <p:nvSpPr>
            <p:cNvPr id="11536" name="Google Shape;11536;p120"/>
            <p:cNvSpPr txBox="1"/>
            <p:nvPr/>
          </p:nvSpPr>
          <p:spPr>
            <a:xfrm>
              <a:off x="2971800" y="2281238"/>
              <a:ext cx="2984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/>
            </a:p>
          </p:txBody>
        </p:sp>
        <p:sp>
          <p:nvSpPr>
            <p:cNvPr id="11537" name="Google Shape;11537;p120"/>
            <p:cNvSpPr txBox="1"/>
            <p:nvPr/>
          </p:nvSpPr>
          <p:spPr>
            <a:xfrm>
              <a:off x="3297238" y="1671638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1538" name="Google Shape;11538;p120"/>
            <p:cNvSpPr txBox="1"/>
            <p:nvPr/>
          </p:nvSpPr>
          <p:spPr>
            <a:xfrm>
              <a:off x="3260725" y="2006600"/>
              <a:ext cx="9461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2   0   1</a:t>
              </a:r>
              <a:endParaRPr/>
            </a:p>
          </p:txBody>
        </p:sp>
        <p:sp>
          <p:nvSpPr>
            <p:cNvPr id="11539" name="Google Shape;11539;p120"/>
            <p:cNvSpPr txBox="1"/>
            <p:nvPr/>
          </p:nvSpPr>
          <p:spPr>
            <a:xfrm>
              <a:off x="3260725" y="2322513"/>
              <a:ext cx="946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7   1   0</a:t>
              </a:r>
              <a:endParaRPr/>
            </a:p>
          </p:txBody>
        </p:sp>
        <p:sp>
          <p:nvSpPr>
            <p:cNvPr id="11540" name="Google Shape;11540;p120"/>
            <p:cNvSpPr/>
            <p:nvPr/>
          </p:nvSpPr>
          <p:spPr>
            <a:xfrm>
              <a:off x="3297238" y="1676400"/>
              <a:ext cx="1066800" cy="3810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1" name="Google Shape;11541;p120"/>
            <p:cNvSpPr txBox="1"/>
            <p:nvPr/>
          </p:nvSpPr>
          <p:spPr>
            <a:xfrm>
              <a:off x="3922713" y="1674813"/>
              <a:ext cx="3111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  <p:sp>
          <p:nvSpPr>
            <p:cNvPr id="11542" name="Google Shape;11542;p120"/>
            <p:cNvSpPr txBox="1"/>
            <p:nvPr/>
          </p:nvSpPr>
          <p:spPr>
            <a:xfrm>
              <a:off x="3579813" y="1679575"/>
              <a:ext cx="3429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 </a:t>
              </a:r>
              <a:endParaRPr/>
            </a:p>
          </p:txBody>
        </p:sp>
        <p:sp>
          <p:nvSpPr>
            <p:cNvPr id="11543" name="Google Shape;11543;p120"/>
            <p:cNvSpPr txBox="1"/>
            <p:nvPr/>
          </p:nvSpPr>
          <p:spPr>
            <a:xfrm>
              <a:off x="3413125" y="1143000"/>
              <a:ext cx="7064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cost to</a:t>
              </a:r>
              <a:endParaRPr/>
            </a:p>
          </p:txBody>
        </p:sp>
      </p:grpSp>
      <p:cxnSp>
        <p:nvCxnSpPr>
          <p:cNvPr id="11544" name="Google Shape;11544;p120"/>
          <p:cNvCxnSpPr/>
          <p:nvPr/>
        </p:nvCxnSpPr>
        <p:spPr>
          <a:xfrm>
            <a:off x="1586630" y="6545655"/>
            <a:ext cx="6417502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1545" name="Google Shape;11545;p120"/>
          <p:cNvSpPr txBox="1"/>
          <p:nvPr/>
        </p:nvSpPr>
        <p:spPr>
          <a:xfrm>
            <a:off x="7960443" y="6337692"/>
            <a:ext cx="6159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