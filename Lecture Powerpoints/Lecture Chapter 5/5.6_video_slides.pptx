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56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56" orient="horz"/>
        <p:guide pos="28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jp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Control Plane</a:t>
            </a:r>
            <a:endParaRPr sz="6000"/>
          </a:p>
        </p:txBody>
      </p:sp>
      <p:sp>
        <p:nvSpPr>
          <p:cNvPr id="55" name="Google Shape;55;p11"/>
          <p:cNvSpPr txBox="1"/>
          <p:nvPr>
            <p:ph idx="2" type="body"/>
          </p:nvPr>
        </p:nvSpPr>
        <p:spPr>
          <a:xfrm>
            <a:off x="661015" y="2338373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638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introduction</a:t>
            </a:r>
            <a:endParaRPr/>
          </a:p>
          <a:p>
            <a:pPr indent="-274638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600">
                <a:solidFill>
                  <a:srgbClr val="BFBFBF"/>
                </a:solidFill>
              </a:rPr>
              <a:t>routing algorithms</a:t>
            </a:r>
            <a:endParaRPr/>
          </a:p>
          <a:p>
            <a:pPr indent="-273050" lvl="1" marL="7461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</a:rPr>
              <a:t>link state</a:t>
            </a:r>
            <a:endParaRPr/>
          </a:p>
          <a:p>
            <a:pPr indent="-273050" lvl="1" marL="7461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</a:rPr>
              <a:t>distance vector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intra-ISP routing: OSPF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routing among ISPs: BGP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SDN control plane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13A3"/>
              </a:buClr>
              <a:buSzPct val="100000"/>
              <a:buChar char="▪"/>
            </a:pPr>
            <a:r>
              <a:rPr lang="en-US" sz="3200"/>
              <a:t>Internet Control Message Protocol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Network management, configuration</a:t>
            </a:r>
            <a:endParaRPr/>
          </a:p>
          <a:p>
            <a:pPr indent="-121284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None/>
            </a:pPr>
            <a:r>
              <a:t/>
            </a:r>
            <a:endParaRPr>
              <a:solidFill>
                <a:srgbClr val="BFBFBF"/>
              </a:solidFill>
            </a:endParaRPr>
          </a:p>
        </p:txBody>
      </p:sp>
      <p:grpSp>
        <p:nvGrpSpPr>
          <p:cNvPr id="56" name="Google Shape;56;p11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57" name="Google Shape;5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1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59" name="Google Shape;59;p11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60" name="Google Shape;60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" name="Google Shape;61;p11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ICMP: internet control message protocol</a:t>
            </a:r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981643" y="1479757"/>
            <a:ext cx="5644621" cy="494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527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by hosts and routers to communicate network-level information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reporting: unreachable host, network, port,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request/reply (used by ping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 “above” IP: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ICMP messages carried in IP datagrams, protocol number: 1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ICMP message: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type, code plus header and first 8 bytes of IP datagram causing error</a:t>
            </a:r>
            <a:endParaRPr/>
          </a:p>
        </p:txBody>
      </p:sp>
      <p:sp>
        <p:nvSpPr>
          <p:cNvPr id="69" name="Google Shape;69;p12"/>
          <p:cNvSpPr txBox="1"/>
          <p:nvPr/>
        </p:nvSpPr>
        <p:spPr>
          <a:xfrm>
            <a:off x="6987193" y="1763438"/>
            <a:ext cx="426085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     0         echo reply (ping)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0         dest. network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1         dest host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2         dest protocol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3         dest port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6         dest network unknown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7         dest host unknown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       0         source quench (congestion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control - not used)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       0         echo request (ping)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       0         route advertisement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     0         router discovery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     0         TTL expired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     0         bad IP header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3"/>
          <p:cNvCxnSpPr/>
          <p:nvPr/>
        </p:nvCxnSpPr>
        <p:spPr>
          <a:xfrm>
            <a:off x="2523068" y="1745295"/>
            <a:ext cx="288925" cy="2651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3"/>
          <p:cNvCxnSpPr/>
          <p:nvPr/>
        </p:nvCxnSpPr>
        <p:spPr>
          <a:xfrm flipH="1" rot="10800000">
            <a:off x="3316818" y="1796095"/>
            <a:ext cx="458788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3"/>
          <p:cNvCxnSpPr/>
          <p:nvPr/>
        </p:nvCxnSpPr>
        <p:spPr>
          <a:xfrm>
            <a:off x="4251856" y="1780220"/>
            <a:ext cx="485775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8" name="Google Shape;78;p13"/>
          <p:cNvGrpSpPr/>
          <p:nvPr/>
        </p:nvGrpSpPr>
        <p:grpSpPr>
          <a:xfrm>
            <a:off x="2687515" y="1862419"/>
            <a:ext cx="649995" cy="330505"/>
            <a:chOff x="7493876" y="2774731"/>
            <a:chExt cx="1481958" cy="894622"/>
          </a:xfrm>
        </p:grpSpPr>
        <p:sp>
          <p:nvSpPr>
            <p:cNvPr id="79" name="Google Shape;79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1" name="Google Shape;81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" name="Google Shape;82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6" name="Google Shape;86;p13"/>
          <p:cNvCxnSpPr/>
          <p:nvPr/>
        </p:nvCxnSpPr>
        <p:spPr>
          <a:xfrm flipH="1">
            <a:off x="4013731" y="1511933"/>
            <a:ext cx="34925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3"/>
          <p:cNvCxnSpPr/>
          <p:nvPr/>
        </p:nvCxnSpPr>
        <p:spPr>
          <a:xfrm>
            <a:off x="3981981" y="1911983"/>
            <a:ext cx="228600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" name="Google Shape;88;p13"/>
          <p:cNvGrpSpPr/>
          <p:nvPr/>
        </p:nvGrpSpPr>
        <p:grpSpPr>
          <a:xfrm>
            <a:off x="3636127" y="1646571"/>
            <a:ext cx="649995" cy="330505"/>
            <a:chOff x="7493876" y="2774731"/>
            <a:chExt cx="1481958" cy="894622"/>
          </a:xfrm>
        </p:grpSpPr>
        <p:sp>
          <p:nvSpPr>
            <p:cNvPr id="89" name="Google Shape;89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1" name="Google Shape;91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" name="Google Shape;92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6" name="Google Shape;96;p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Traceroute and ICMP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984900" y="5695721"/>
            <a:ext cx="9998917" cy="550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ICMP message arrives at source: record RTTs</a:t>
            </a:r>
            <a:endParaRPr/>
          </a:p>
          <a:p>
            <a:pPr indent="-285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6911937" y="2213510"/>
            <a:ext cx="3810000" cy="2005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0175" lvl="0" marL="282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8095562" y="2730905"/>
            <a:ext cx="3810000" cy="2568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stopping criteria: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UDP segment eventually arrives at destination host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 returns ICMP “port unreachable” message (type 3, code 3)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stops</a:t>
            </a:r>
            <a:endParaRPr/>
          </a:p>
        </p:txBody>
      </p:sp>
      <p:cxnSp>
        <p:nvCxnSpPr>
          <p:cNvPr id="100" name="Google Shape;100;p13"/>
          <p:cNvCxnSpPr/>
          <p:nvPr/>
        </p:nvCxnSpPr>
        <p:spPr>
          <a:xfrm flipH="1">
            <a:off x="5228168" y="1840545"/>
            <a:ext cx="620713" cy="1444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3"/>
          <p:cNvCxnSpPr/>
          <p:nvPr/>
        </p:nvCxnSpPr>
        <p:spPr>
          <a:xfrm>
            <a:off x="6347356" y="1805620"/>
            <a:ext cx="485775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3"/>
          <p:cNvCxnSpPr/>
          <p:nvPr/>
        </p:nvCxnSpPr>
        <p:spPr>
          <a:xfrm flipH="1">
            <a:off x="7285568" y="1751645"/>
            <a:ext cx="557213" cy="2778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3"/>
          <p:cNvCxnSpPr/>
          <p:nvPr/>
        </p:nvCxnSpPr>
        <p:spPr>
          <a:xfrm>
            <a:off x="5906031" y="1499233"/>
            <a:ext cx="228600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3"/>
          <p:cNvCxnSpPr/>
          <p:nvPr/>
        </p:nvCxnSpPr>
        <p:spPr>
          <a:xfrm flipH="1">
            <a:off x="4623331" y="2102483"/>
            <a:ext cx="34925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3"/>
          <p:cNvCxnSpPr/>
          <p:nvPr/>
        </p:nvCxnSpPr>
        <p:spPr>
          <a:xfrm>
            <a:off x="4978931" y="1607183"/>
            <a:ext cx="6350" cy="2603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13"/>
          <p:cNvSpPr txBox="1"/>
          <p:nvPr/>
        </p:nvSpPr>
        <p:spPr>
          <a:xfrm>
            <a:off x="2624668" y="1464308"/>
            <a:ext cx="1073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probes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3239031" y="2024695"/>
            <a:ext cx="1073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probes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4262968" y="1438908"/>
            <a:ext cx="1073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probes</a:t>
            </a:r>
            <a:endParaRPr/>
          </a:p>
        </p:txBody>
      </p:sp>
      <p:grpSp>
        <p:nvGrpSpPr>
          <p:cNvPr id="109" name="Google Shape;109;p13"/>
          <p:cNvGrpSpPr/>
          <p:nvPr/>
        </p:nvGrpSpPr>
        <p:grpSpPr>
          <a:xfrm>
            <a:off x="1754718" y="1400808"/>
            <a:ext cx="820738" cy="688975"/>
            <a:chOff x="-44" y="1473"/>
            <a:chExt cx="981" cy="1105"/>
          </a:xfrm>
        </p:grpSpPr>
        <p:pic>
          <p:nvPicPr>
            <p:cNvPr descr="desktop_computer_stylized_medium" id="110" name="Google Shape;11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13"/>
          <p:cNvGrpSpPr/>
          <p:nvPr/>
        </p:nvGrpSpPr>
        <p:grpSpPr>
          <a:xfrm flipH="1">
            <a:off x="7803093" y="1438908"/>
            <a:ext cx="754063" cy="669925"/>
            <a:chOff x="-44" y="1473"/>
            <a:chExt cx="981" cy="1105"/>
          </a:xfrm>
        </p:grpSpPr>
        <p:pic>
          <p:nvPicPr>
            <p:cNvPr descr="desktop_computer_stylized_medium" id="113" name="Google Shape;113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13"/>
          <p:cNvSpPr/>
          <p:nvPr/>
        </p:nvSpPr>
        <p:spPr>
          <a:xfrm>
            <a:off x="2526243" y="1721483"/>
            <a:ext cx="419100" cy="419100"/>
          </a:xfrm>
          <a:custGeom>
            <a:rect b="b" l="l" r="r" t="t"/>
            <a:pathLst>
              <a:path extrusionOk="0" h="264" w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2519893" y="1635758"/>
            <a:ext cx="1346200" cy="474662"/>
          </a:xfrm>
          <a:custGeom>
            <a:rect b="b" l="l" r="r" t="t"/>
            <a:pathLst>
              <a:path extrusionOk="0" h="299" w="848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938996" y="2521027"/>
            <a:ext cx="6396401" cy="3240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2575" lvl="0" marL="282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sends sets of UDP segments to destination</a:t>
            </a:r>
            <a:endParaRPr/>
          </a:p>
          <a:p>
            <a:pPr indent="-222250" lvl="1" marL="565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set has TTL =1,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set has TTL=2, etc.</a:t>
            </a:r>
            <a:endParaRPr/>
          </a:p>
          <a:p>
            <a:pPr indent="-282575" lvl="0" marL="2825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datagram in 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 set arrives to nth router:</a:t>
            </a:r>
            <a:endParaRPr/>
          </a:p>
          <a:p>
            <a:pPr indent="-1809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discards datagram and sends source ICMP message (type 11, code 0)</a:t>
            </a:r>
            <a:endParaRPr/>
          </a:p>
          <a:p>
            <a:pPr indent="-1809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 address of router where TTL expired is source IP address of  datagram containing this ICMP message</a:t>
            </a:r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>
            <a:off x="6775374" y="1828801"/>
            <a:ext cx="649995" cy="330505"/>
            <a:chOff x="7493876" y="2774731"/>
            <a:chExt cx="1481958" cy="894622"/>
          </a:xfrm>
        </p:grpSpPr>
        <p:sp>
          <p:nvSpPr>
            <p:cNvPr id="119" name="Google Shape;119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1" name="Google Shape;121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2" name="Google Shape;122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6" name="Google Shape;126;p13"/>
          <p:cNvGrpSpPr/>
          <p:nvPr/>
        </p:nvGrpSpPr>
        <p:grpSpPr>
          <a:xfrm>
            <a:off x="5748969" y="1683745"/>
            <a:ext cx="649995" cy="330505"/>
            <a:chOff x="7493876" y="2774731"/>
            <a:chExt cx="1481958" cy="894622"/>
          </a:xfrm>
        </p:grpSpPr>
        <p:sp>
          <p:nvSpPr>
            <p:cNvPr id="127" name="Google Shape;127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9" name="Google Shape;129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0" name="Google Shape;130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4" name="Google Shape;134;p13"/>
          <p:cNvGrpSpPr/>
          <p:nvPr/>
        </p:nvGrpSpPr>
        <p:grpSpPr>
          <a:xfrm>
            <a:off x="4623412" y="1847161"/>
            <a:ext cx="649995" cy="330505"/>
            <a:chOff x="7493876" y="2774731"/>
            <a:chExt cx="1481958" cy="894622"/>
          </a:xfrm>
        </p:grpSpPr>
        <p:sp>
          <p:nvSpPr>
            <p:cNvPr id="135" name="Google Shape;135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37" name="Google Shape;137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8" name="Google Shape;138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2" name="Google Shape;142;p13"/>
          <p:cNvSpPr/>
          <p:nvPr/>
        </p:nvSpPr>
        <p:spPr>
          <a:xfrm>
            <a:off x="2494493" y="1684970"/>
            <a:ext cx="2247900" cy="403225"/>
          </a:xfrm>
          <a:custGeom>
            <a:rect b="b" l="l" r="r" t="t"/>
            <a:pathLst>
              <a:path extrusionOk="0" h="254" w="1416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Data Plane</a:t>
            </a:r>
            <a:endParaRPr sz="6000"/>
          </a:p>
        </p:txBody>
      </p:sp>
      <p:grpSp>
        <p:nvGrpSpPr>
          <p:cNvPr id="149" name="Google Shape;149;p14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150" name="Google Shape;15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14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152" name="Google Shape;152;p14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153" name="Google Shape;153;p1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4" name="Google Shape;154;p14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5" name="Google Shape;155;p14"/>
          <p:cNvGrpSpPr/>
          <p:nvPr/>
        </p:nvGrpSpPr>
        <p:grpSpPr>
          <a:xfrm>
            <a:off x="7605684" y="6233684"/>
            <a:ext cx="6892924" cy="461665"/>
            <a:chOff x="731521" y="6141551"/>
            <a:chExt cx="6892924" cy="461665"/>
          </a:xfrm>
        </p:grpSpPr>
        <p:sp>
          <p:nvSpPr>
            <p:cNvPr id="156" name="Google Shape;156;p14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157" name="Google Shape;157;p14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158" name="Google Shape;158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9" name="Google Shape;159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60" name="Google Shape;160;p14"/>
          <p:cNvSpPr txBox="1"/>
          <p:nvPr/>
        </p:nvSpPr>
        <p:spPr>
          <a:xfrm>
            <a:off x="661015" y="2338373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lang="en-US" sz="36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algorithms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13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</a:t>
            </a:r>
            <a:endParaRPr/>
          </a:p>
          <a:p>
            <a:pPr indent="-121284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